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5131" autoAdjust="0"/>
  </p:normalViewPr>
  <p:slideViewPr>
    <p:cSldViewPr snapToGrid="0" snapToObjects="1">
      <p:cViewPr varScale="1">
        <p:scale>
          <a:sx n="62" d="100"/>
          <a:sy n="62" d="100"/>
        </p:scale>
        <p:origin x="57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376291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sz="1100" dirty="0">
                <a:latin typeface="Meiryo UI"/>
              </a:rPr>
              <a:t>皆さん、こんにちは。本日は、株式会社ライトパスのコーポレートサイト構築プロジェクトについて、6 </a:t>
            </a:r>
            <a:r>
              <a:rPr sz="1100" dirty="0" err="1">
                <a:latin typeface="Meiryo UI"/>
              </a:rPr>
              <a:t>分から</a:t>
            </a:r>
            <a:r>
              <a:rPr sz="1100" dirty="0">
                <a:latin typeface="Meiryo UI"/>
              </a:rPr>
              <a:t> 8 </a:t>
            </a:r>
            <a:r>
              <a:rPr sz="1100" dirty="0" err="1">
                <a:latin typeface="Meiryo UI"/>
              </a:rPr>
              <a:t>分ほどでお話しします</a:t>
            </a:r>
            <a:r>
              <a:rPr sz="1100" dirty="0">
                <a:latin typeface="Meiryo UI"/>
              </a:rPr>
              <a:t>。</a:t>
            </a:r>
          </a:p>
          <a:p>
            <a:r>
              <a:rPr sz="1100" dirty="0" err="1">
                <a:latin typeface="Meiryo UI"/>
              </a:rPr>
              <a:t>サイトは</a:t>
            </a:r>
            <a:r>
              <a:rPr sz="1100" dirty="0">
                <a:latin typeface="Meiryo UI"/>
              </a:rPr>
              <a:t> Next.js 15 と React 19、TypeScript、Tailwind CSS </a:t>
            </a:r>
            <a:r>
              <a:rPr sz="1100" dirty="0" err="1">
                <a:latin typeface="Meiryo UI"/>
              </a:rPr>
              <a:t>で構築しています</a:t>
            </a:r>
            <a:r>
              <a:rPr sz="1100" dirty="0">
                <a:latin typeface="Meiryo UI"/>
              </a:rPr>
              <a:t>。</a:t>
            </a:r>
          </a:p>
          <a:p>
            <a:r>
              <a:rPr sz="1100" dirty="0" err="1">
                <a:latin typeface="Meiryo UI"/>
              </a:rPr>
              <a:t>ウェブ制作に詳しくない方にも伝わるよう、要点を「要は</a:t>
            </a:r>
            <a:r>
              <a:rPr sz="1100" dirty="0">
                <a:latin typeface="Meiryo UI"/>
              </a:rPr>
              <a:t>！」</a:t>
            </a:r>
            <a:r>
              <a:rPr sz="1100" dirty="0" err="1">
                <a:latin typeface="Meiryo UI"/>
              </a:rPr>
              <a:t>というキーワードで整理しました</a:t>
            </a:r>
            <a:r>
              <a:rPr sz="1100" dirty="0">
                <a:latin typeface="Meiryo UI"/>
              </a:rPr>
              <a:t>。</a:t>
            </a:r>
          </a:p>
          <a:p>
            <a:r>
              <a:rPr sz="1100" dirty="0" err="1">
                <a:latin typeface="Meiryo UI"/>
              </a:rPr>
              <a:t>それでは、よろしくお願いいたします</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lang="ja-JP" altLang="en-US" sz="1100" dirty="0">
                <a:latin typeface="Meiryo UI"/>
              </a:rPr>
              <a:t>まず、</a:t>
            </a:r>
            <a:r>
              <a:rPr sz="1100" dirty="0">
                <a:latin typeface="Meiryo UI"/>
              </a:rPr>
              <a:t>プロジェクト全体像です。3 </a:t>
            </a:r>
            <a:r>
              <a:rPr sz="1100" dirty="0" err="1">
                <a:latin typeface="Meiryo UI"/>
              </a:rPr>
              <a:t>つの軸でご紹介します</a:t>
            </a:r>
            <a:r>
              <a:rPr sz="1100" dirty="0">
                <a:latin typeface="Meiryo UI"/>
              </a:rPr>
              <a:t>。</a:t>
            </a:r>
          </a:p>
          <a:p>
            <a:r>
              <a:rPr sz="1100" dirty="0" err="1">
                <a:latin typeface="Meiryo UI"/>
              </a:rPr>
              <a:t>左の</a:t>
            </a:r>
            <a:r>
              <a:rPr sz="1100" dirty="0">
                <a:latin typeface="Meiryo UI"/>
              </a:rPr>
              <a:t>「</a:t>
            </a:r>
            <a:r>
              <a:rPr lang="ja-JP" altLang="en-US" sz="1100" dirty="0">
                <a:latin typeface="Meiryo UI"/>
              </a:rPr>
              <a:t>使用ソフトウェア</a:t>
            </a:r>
            <a:r>
              <a:rPr sz="1100" dirty="0">
                <a:latin typeface="Meiryo UI"/>
              </a:rPr>
              <a:t>」は骨組みで、Next.js 15 と React 19、TypeScript、Tailwind CSS </a:t>
            </a:r>
            <a:r>
              <a:rPr sz="1100" dirty="0" err="1">
                <a:latin typeface="Meiryo UI"/>
              </a:rPr>
              <a:t>を採用。CSS</a:t>
            </a:r>
            <a:r>
              <a:rPr sz="1100" dirty="0">
                <a:latin typeface="Meiryo UI"/>
              </a:rPr>
              <a:t> Variables </a:t>
            </a:r>
            <a:r>
              <a:rPr sz="1100" dirty="0" err="1">
                <a:latin typeface="Meiryo UI"/>
              </a:rPr>
              <a:t>で色を集中管理しています</a:t>
            </a:r>
            <a:r>
              <a:rPr sz="1100" dirty="0">
                <a:latin typeface="Meiryo UI"/>
              </a:rPr>
              <a:t>。</a:t>
            </a:r>
          </a:p>
          <a:p>
            <a:r>
              <a:rPr sz="1100" dirty="0" err="1">
                <a:latin typeface="Meiryo UI"/>
              </a:rPr>
              <a:t>真ん中の「実装ページ」は、ホーム・会社案内・採用・お問い合わせ・プライバシーの</a:t>
            </a:r>
            <a:r>
              <a:rPr sz="1100" dirty="0">
                <a:latin typeface="Meiryo UI"/>
              </a:rPr>
              <a:t> 5 </a:t>
            </a:r>
            <a:r>
              <a:rPr sz="1100" dirty="0" err="1">
                <a:latin typeface="Meiryo UI"/>
              </a:rPr>
              <a:t>ページ。ホームには動画背景、採用にはメンバー写真カルーセルを実装しました</a:t>
            </a:r>
            <a:r>
              <a:rPr sz="1100" dirty="0">
                <a:latin typeface="Meiryo UI"/>
              </a:rPr>
              <a:t>。</a:t>
            </a:r>
          </a:p>
          <a:p>
            <a:r>
              <a:rPr sz="1100" dirty="0" err="1">
                <a:latin typeface="Meiryo UI"/>
              </a:rPr>
              <a:t>右の「重点アピール」は、セキュリティ、スマホ</a:t>
            </a:r>
            <a:r>
              <a:rPr sz="1100" dirty="0">
                <a:latin typeface="Meiryo UI"/>
              </a:rPr>
              <a:t> </a:t>
            </a:r>
            <a:r>
              <a:rPr sz="1100" dirty="0" err="1">
                <a:latin typeface="Meiryo UI"/>
              </a:rPr>
              <a:t>UX、動画とマーキ</a:t>
            </a:r>
            <a:r>
              <a:rPr sz="1100" dirty="0">
                <a:latin typeface="Meiryo UI"/>
              </a:rPr>
              <a:t>ー、</a:t>
            </a:r>
            <a:r>
              <a:rPr sz="1100" dirty="0" err="1">
                <a:latin typeface="Meiryo UI"/>
              </a:rPr>
              <a:t>そして日英切替の</a:t>
            </a:r>
            <a:r>
              <a:rPr sz="1100" dirty="0">
                <a:latin typeface="Meiryo UI"/>
              </a:rPr>
              <a:t> 4 </a:t>
            </a:r>
            <a:r>
              <a:rPr sz="1100" dirty="0" err="1">
                <a:latin typeface="Meiryo UI"/>
              </a:rPr>
              <a:t>つです</a:t>
            </a:r>
            <a:r>
              <a:rPr sz="1100" dirty="0">
                <a:latin typeface="Meiryo UI"/>
              </a:rPr>
              <a:t>。</a:t>
            </a:r>
          </a:p>
          <a:p>
            <a:r>
              <a:rPr sz="1100" dirty="0" err="1">
                <a:latin typeface="Meiryo UI"/>
              </a:rPr>
              <a:t>要は、本格的な会社サイトの全部入りを一式作りました</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lang="ja-JP" altLang="en-US" sz="1100" dirty="0">
                <a:latin typeface="Meiryo UI"/>
              </a:rPr>
              <a:t>コード</a:t>
            </a:r>
            <a:r>
              <a:rPr sz="1100" dirty="0">
                <a:latin typeface="Meiryo UI"/>
              </a:rPr>
              <a:t>デザインで最もこだわったのは「1 </a:t>
            </a:r>
            <a:r>
              <a:rPr sz="1100" dirty="0" err="1">
                <a:latin typeface="Meiryo UI"/>
              </a:rPr>
              <a:t>か所直せば全部変わる」の仕組みです</a:t>
            </a:r>
            <a:r>
              <a:rPr sz="1100" dirty="0">
                <a:latin typeface="Meiryo UI"/>
              </a:rPr>
              <a:t>。</a:t>
            </a:r>
          </a:p>
          <a:p>
            <a:r>
              <a:rPr sz="1100" dirty="0">
                <a:latin typeface="Meiryo UI"/>
              </a:rPr>
              <a:t>左側：globals.css </a:t>
            </a:r>
            <a:r>
              <a:rPr sz="1100" dirty="0" err="1">
                <a:latin typeface="Meiryo UI"/>
              </a:rPr>
              <a:t>に「primary</a:t>
            </a:r>
            <a:r>
              <a:rPr sz="1100" dirty="0">
                <a:latin typeface="Meiryo UI"/>
              </a:rPr>
              <a:t> は #EBC528」と 1 </a:t>
            </a:r>
            <a:r>
              <a:rPr sz="1100" dirty="0" err="1">
                <a:latin typeface="Meiryo UI"/>
              </a:rPr>
              <a:t>行書けば、サイトのボタン・下線・ホバー枠、全部の黄色がこの</a:t>
            </a:r>
            <a:r>
              <a:rPr sz="1100" dirty="0">
                <a:latin typeface="Meiryo UI"/>
              </a:rPr>
              <a:t> 1 </a:t>
            </a:r>
            <a:r>
              <a:rPr sz="1100" dirty="0" err="1">
                <a:latin typeface="Meiryo UI"/>
              </a:rPr>
              <a:t>か所を見にきます。将来「青にしたい」と言われても</a:t>
            </a:r>
            <a:r>
              <a:rPr sz="1100" dirty="0">
                <a:latin typeface="Meiryo UI"/>
              </a:rPr>
              <a:t> 1 </a:t>
            </a:r>
            <a:r>
              <a:rPr sz="1100" dirty="0" err="1">
                <a:latin typeface="Meiryo UI"/>
              </a:rPr>
              <a:t>行の書き換えで済みます</a:t>
            </a:r>
            <a:r>
              <a:rPr sz="1100" dirty="0">
                <a:latin typeface="Meiryo UI"/>
              </a:rPr>
              <a:t>。</a:t>
            </a:r>
          </a:p>
          <a:p>
            <a:r>
              <a:rPr sz="1100" dirty="0" err="1">
                <a:latin typeface="Meiryo UI"/>
              </a:rPr>
              <a:t>右上：見出しの下の黄色い下線を、左横の縦棒スタイルに変更しました。BEFORE</a:t>
            </a:r>
            <a:r>
              <a:rPr sz="1100" dirty="0">
                <a:latin typeface="Meiryo UI"/>
              </a:rPr>
              <a:t> / AFTER </a:t>
            </a:r>
            <a:r>
              <a:rPr sz="1100" dirty="0" err="1">
                <a:latin typeface="Meiryo UI"/>
              </a:rPr>
              <a:t>の通り、全ページの見出しが</a:t>
            </a:r>
            <a:r>
              <a:rPr sz="1100" dirty="0">
                <a:latin typeface="Meiryo UI"/>
              </a:rPr>
              <a:t>「</a:t>
            </a:r>
            <a:r>
              <a:rPr lang="ja-JP" altLang="en-US" sz="1100" dirty="0">
                <a:latin typeface="Meiryo UI"/>
              </a:rPr>
              <a:t>縦棒</a:t>
            </a:r>
            <a:r>
              <a:rPr sz="1100" dirty="0" err="1">
                <a:latin typeface="Meiryo UI"/>
              </a:rPr>
              <a:t>タイトル」の統一感で並びます</a:t>
            </a:r>
            <a:r>
              <a:rPr sz="1100" dirty="0">
                <a:latin typeface="Meiryo UI"/>
              </a:rPr>
              <a:t>。</a:t>
            </a:r>
          </a:p>
          <a:p>
            <a:r>
              <a:rPr sz="1100" dirty="0" err="1">
                <a:latin typeface="Meiryo UI"/>
              </a:rPr>
              <a:t>右下</a:t>
            </a:r>
            <a:r>
              <a:rPr sz="1100" dirty="0">
                <a:latin typeface="Meiryo UI"/>
              </a:rPr>
              <a:t> 3 </a:t>
            </a:r>
            <a:r>
              <a:rPr sz="1100" dirty="0" err="1">
                <a:latin typeface="Meiryo UI"/>
              </a:rPr>
              <a:t>つは統一原則。見本ベースの一貫性、カード高さとバナー高さの統一、そして本文全体の文字を</a:t>
            </a:r>
            <a:r>
              <a:rPr sz="1100" dirty="0">
                <a:latin typeface="Meiryo UI"/>
              </a:rPr>
              <a:t> 1 </a:t>
            </a:r>
            <a:r>
              <a:rPr sz="1100" dirty="0" err="1">
                <a:latin typeface="Meiryo UI"/>
              </a:rPr>
              <a:t>段階拡大して読みやすくしています</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sz="1100" dirty="0" err="1">
                <a:latin typeface="Meiryo UI"/>
              </a:rPr>
              <a:t>スマホ対応の工夫を</a:t>
            </a:r>
            <a:r>
              <a:rPr sz="1100" dirty="0">
                <a:latin typeface="Meiryo UI"/>
              </a:rPr>
              <a:t> 4 つ。</a:t>
            </a:r>
          </a:p>
          <a:p>
            <a:r>
              <a:rPr sz="1100" dirty="0" err="1">
                <a:latin typeface="Meiryo UI"/>
              </a:rPr>
              <a:t>左上：モバイルファースト設計。先に小さい画面を作って、大画面で上書きします。これで</a:t>
            </a:r>
            <a:r>
              <a:rPr sz="1100" dirty="0">
                <a:latin typeface="Meiryo UI"/>
              </a:rPr>
              <a:t> PC </a:t>
            </a:r>
            <a:r>
              <a:rPr sz="1100" dirty="0" err="1">
                <a:latin typeface="Meiryo UI"/>
              </a:rPr>
              <a:t>でもスマホでも崩れません</a:t>
            </a:r>
            <a:r>
              <a:rPr sz="1100" dirty="0">
                <a:latin typeface="Meiryo UI"/>
              </a:rPr>
              <a:t>。</a:t>
            </a:r>
          </a:p>
          <a:p>
            <a:r>
              <a:rPr sz="1100" dirty="0" err="1">
                <a:latin typeface="Meiryo UI"/>
              </a:rPr>
              <a:t>右上：ハンバーガ</a:t>
            </a:r>
            <a:r>
              <a:rPr sz="1100" dirty="0">
                <a:latin typeface="Meiryo UI"/>
              </a:rPr>
              <a:t>ー</a:t>
            </a:r>
            <a:r>
              <a:rPr lang="ja-JP" altLang="en-US" sz="1100" dirty="0">
                <a:latin typeface="Meiryo UI"/>
              </a:rPr>
              <a:t>メニュー</a:t>
            </a:r>
            <a:r>
              <a:rPr sz="1100" dirty="0" err="1">
                <a:latin typeface="Meiryo UI"/>
              </a:rPr>
              <a:t>を押すと右からメニュ</a:t>
            </a:r>
            <a:r>
              <a:rPr sz="1100" dirty="0">
                <a:latin typeface="Meiryo UI"/>
              </a:rPr>
              <a:t>ー。</a:t>
            </a:r>
            <a:r>
              <a:rPr sz="1100" dirty="0" err="1">
                <a:latin typeface="Meiryo UI"/>
              </a:rPr>
              <a:t>ESC・外側クリック・遷移で自動で閉じる、気の利いた作りです</a:t>
            </a:r>
            <a:r>
              <a:rPr sz="1100" dirty="0">
                <a:latin typeface="Meiryo UI"/>
              </a:rPr>
              <a:t>。</a:t>
            </a:r>
          </a:p>
          <a:p>
            <a:r>
              <a:rPr sz="1100" dirty="0" err="1">
                <a:latin typeface="Meiryo UI"/>
              </a:rPr>
              <a:t>左下：メニューを開いている間、後ろのページが一緒にスクロールしないようロック。無いとストレスになる細かな</a:t>
            </a:r>
            <a:r>
              <a:rPr sz="1100" dirty="0">
                <a:latin typeface="Meiryo UI"/>
              </a:rPr>
              <a:t> UX </a:t>
            </a:r>
            <a:r>
              <a:rPr sz="1100" dirty="0" err="1">
                <a:latin typeface="Meiryo UI"/>
              </a:rPr>
              <a:t>です</a:t>
            </a:r>
            <a:r>
              <a:rPr sz="1100" dirty="0">
                <a:latin typeface="Meiryo UI"/>
              </a:rPr>
              <a:t>。</a:t>
            </a:r>
          </a:p>
          <a:p>
            <a:r>
              <a:rPr sz="1100" dirty="0" err="1">
                <a:latin typeface="Meiryo UI"/>
              </a:rPr>
              <a:t>右下：アクセス情報の写真などをタップすると大きく表示。再利用可能な部品にしているので他のページでも同じ動きで使えます</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sz="1100" dirty="0" err="1">
                <a:latin typeface="Meiryo UI"/>
              </a:rPr>
              <a:t>アニメーションと</a:t>
            </a:r>
            <a:r>
              <a:rPr sz="1100" dirty="0">
                <a:latin typeface="Meiryo UI"/>
              </a:rPr>
              <a:t> TOP </a:t>
            </a:r>
            <a:r>
              <a:rPr sz="1100" dirty="0" err="1">
                <a:latin typeface="Meiryo UI"/>
              </a:rPr>
              <a:t>のヒーロー動画を合わせてご紹介します</a:t>
            </a:r>
            <a:r>
              <a:rPr sz="1100" dirty="0">
                <a:latin typeface="Meiryo UI"/>
              </a:rPr>
              <a:t>。</a:t>
            </a:r>
          </a:p>
          <a:p>
            <a:r>
              <a:rPr sz="1100" dirty="0" err="1">
                <a:latin typeface="Meiryo UI"/>
              </a:rPr>
              <a:t>左側は</a:t>
            </a:r>
            <a:r>
              <a:rPr sz="1100" dirty="0">
                <a:latin typeface="Meiryo UI"/>
              </a:rPr>
              <a:t> TOP </a:t>
            </a:r>
            <a:r>
              <a:rPr sz="1100" dirty="0" err="1">
                <a:latin typeface="Meiryo UI"/>
              </a:rPr>
              <a:t>ヒーローの歯車動画。ページを開くと</a:t>
            </a:r>
            <a:r>
              <a:rPr sz="1100" dirty="0">
                <a:latin typeface="Meiryo UI"/>
              </a:rPr>
              <a:t> 1.2 </a:t>
            </a:r>
            <a:r>
              <a:rPr sz="1100" dirty="0" err="1">
                <a:latin typeface="Meiryo UI"/>
              </a:rPr>
              <a:t>秒かけてふわっとフェードイン。そのまま</a:t>
            </a:r>
            <a:r>
              <a:rPr sz="1100" dirty="0">
                <a:latin typeface="Meiryo UI"/>
              </a:rPr>
              <a:t> 1 </a:t>
            </a:r>
            <a:r>
              <a:rPr sz="1100" dirty="0" err="1">
                <a:latin typeface="Meiryo UI"/>
              </a:rPr>
              <a:t>回だけ再生して、最後の状態でぴたっと止まります。HEVC</a:t>
            </a:r>
            <a:r>
              <a:rPr sz="1100" dirty="0">
                <a:latin typeface="Meiryo UI"/>
              </a:rPr>
              <a:t> の 6.4MB を H.264 の 676KB </a:t>
            </a:r>
            <a:r>
              <a:rPr sz="1100" dirty="0" err="1">
                <a:latin typeface="Meiryo UI"/>
              </a:rPr>
              <a:t>に圧縮し、約</a:t>
            </a:r>
            <a:r>
              <a:rPr sz="1100" dirty="0">
                <a:latin typeface="Meiryo UI"/>
              </a:rPr>
              <a:t> 1/10 </a:t>
            </a:r>
            <a:r>
              <a:rPr sz="1100" dirty="0" err="1">
                <a:latin typeface="Meiryo UI"/>
              </a:rPr>
              <a:t>化。可読性のため左は</a:t>
            </a:r>
            <a:r>
              <a:rPr sz="1100" dirty="0">
                <a:latin typeface="Meiryo UI"/>
              </a:rPr>
              <a:t> 80%、</a:t>
            </a:r>
            <a:r>
              <a:rPr sz="1100" dirty="0" err="1">
                <a:latin typeface="Meiryo UI"/>
              </a:rPr>
              <a:t>右は</a:t>
            </a:r>
            <a:r>
              <a:rPr sz="1100" dirty="0">
                <a:latin typeface="Meiryo UI"/>
              </a:rPr>
              <a:t> 40% </a:t>
            </a:r>
            <a:r>
              <a:rPr sz="1100" dirty="0" err="1">
                <a:latin typeface="Meiryo UI"/>
              </a:rPr>
              <a:t>の白グラデを重ねています。動きが苦手な方には静止画で即表示します</a:t>
            </a:r>
            <a:r>
              <a:rPr sz="1100" dirty="0">
                <a:latin typeface="Meiryo UI"/>
              </a:rPr>
              <a:t>。</a:t>
            </a:r>
          </a:p>
          <a:p>
            <a:r>
              <a:rPr sz="1100" dirty="0" err="1">
                <a:latin typeface="Meiryo UI"/>
              </a:rPr>
              <a:t>右側はスクロールで要素が現れる</a:t>
            </a:r>
            <a:r>
              <a:rPr sz="1100" dirty="0">
                <a:latin typeface="Meiryo UI"/>
              </a:rPr>
              <a:t> Reveal と、6 </a:t>
            </a:r>
            <a:r>
              <a:rPr sz="1100" dirty="0" err="1">
                <a:latin typeface="Meiryo UI"/>
              </a:rPr>
              <a:t>枚の写真マーキ</a:t>
            </a:r>
            <a:r>
              <a:rPr sz="1100" dirty="0">
                <a:latin typeface="Meiryo UI"/>
              </a:rPr>
              <a:t>ー。</a:t>
            </a:r>
            <a:r>
              <a:rPr sz="1100" dirty="0" err="1">
                <a:latin typeface="Meiryo UI"/>
              </a:rPr>
              <a:t>監視役は</a:t>
            </a:r>
            <a:r>
              <a:rPr sz="1100" dirty="0">
                <a:latin typeface="Meiryo UI"/>
              </a:rPr>
              <a:t> 1 </a:t>
            </a:r>
            <a:r>
              <a:rPr sz="1100" dirty="0" err="1">
                <a:latin typeface="Meiryo UI"/>
              </a:rPr>
              <a:t>個に集約して負担を軽くしています</a:t>
            </a:r>
            <a:r>
              <a:rPr sz="1100" dirty="0">
                <a:latin typeface="Meiryo UI"/>
              </a:rPr>
              <a:t>。</a:t>
            </a:r>
          </a:p>
          <a:p>
            <a:r>
              <a:rPr sz="1100" dirty="0" err="1">
                <a:latin typeface="Meiryo UI"/>
              </a:rPr>
              <a:t>そして重要なのが「表示保証</a:t>
            </a:r>
            <a:r>
              <a:rPr sz="1100" dirty="0">
                <a:latin typeface="Meiryo UI"/>
              </a:rPr>
              <a:t>」。</a:t>
            </a:r>
            <a:r>
              <a:rPr sz="1100" dirty="0" err="1">
                <a:latin typeface="Meiryo UI"/>
              </a:rPr>
              <a:t>マウント時にすでに画面内にある要素は即座に表示、下の要素はスクロールで発火、JS</a:t>
            </a:r>
            <a:r>
              <a:rPr sz="1100" dirty="0">
                <a:latin typeface="Meiryo UI"/>
              </a:rPr>
              <a:t> </a:t>
            </a:r>
            <a:r>
              <a:rPr sz="1100" dirty="0" err="1">
                <a:latin typeface="Meiryo UI"/>
              </a:rPr>
              <a:t>完全停止時も</a:t>
            </a:r>
            <a:r>
              <a:rPr sz="1100" dirty="0">
                <a:latin typeface="Meiryo UI"/>
              </a:rPr>
              <a:t> CSS </a:t>
            </a:r>
            <a:r>
              <a:rPr sz="1100" dirty="0" err="1">
                <a:latin typeface="Meiryo UI"/>
              </a:rPr>
              <a:t>フォールバックで</a:t>
            </a:r>
            <a:r>
              <a:rPr sz="1100" dirty="0">
                <a:latin typeface="Meiryo UI"/>
              </a:rPr>
              <a:t> 10 </a:t>
            </a:r>
            <a:r>
              <a:rPr sz="1100" dirty="0" err="1">
                <a:latin typeface="Meiryo UI"/>
              </a:rPr>
              <a:t>秒後に必ず表示、と</a:t>
            </a:r>
            <a:r>
              <a:rPr sz="1100" dirty="0">
                <a:latin typeface="Meiryo UI"/>
              </a:rPr>
              <a:t> 3 </a:t>
            </a:r>
            <a:r>
              <a:rPr sz="1100" dirty="0" err="1">
                <a:latin typeface="Meiryo UI"/>
              </a:rPr>
              <a:t>段構えで「見えなくなる」を根絶しています</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sz="1100" dirty="0" err="1">
                <a:latin typeface="Meiryo UI"/>
              </a:rPr>
              <a:t>ここは</a:t>
            </a:r>
            <a:r>
              <a:rPr sz="1100" dirty="0">
                <a:latin typeface="Meiryo UI"/>
              </a:rPr>
              <a:t> v6 </a:t>
            </a:r>
            <a:r>
              <a:rPr sz="1100" dirty="0" err="1">
                <a:latin typeface="Meiryo UI"/>
              </a:rPr>
              <a:t>で新設したスライドです。運用中に受けた</a:t>
            </a:r>
            <a:r>
              <a:rPr sz="1100" dirty="0">
                <a:latin typeface="Meiryo UI"/>
              </a:rPr>
              <a:t> 13 件のフィードバックを、3 </a:t>
            </a:r>
            <a:r>
              <a:rPr sz="1100" dirty="0" err="1">
                <a:latin typeface="Meiryo UI"/>
              </a:rPr>
              <a:t>カテゴリにまとめてご紹介します</a:t>
            </a:r>
            <a:r>
              <a:rPr sz="1100" dirty="0">
                <a:latin typeface="Meiryo UI"/>
              </a:rPr>
              <a:t>。</a:t>
            </a:r>
          </a:p>
          <a:p>
            <a:r>
              <a:rPr sz="1100" dirty="0" err="1">
                <a:latin typeface="Meiryo UI"/>
              </a:rPr>
              <a:t>左「見た目・体裁</a:t>
            </a:r>
            <a:r>
              <a:rPr sz="1100" dirty="0">
                <a:latin typeface="Meiryo UI"/>
              </a:rPr>
              <a:t>」：</a:t>
            </a:r>
            <a:r>
              <a:rPr sz="1100" dirty="0" err="1">
                <a:latin typeface="Meiryo UI"/>
              </a:rPr>
              <a:t>見出しを黄色縦棒スタイルに、特徴カード</a:t>
            </a:r>
            <a:r>
              <a:rPr sz="1100" dirty="0">
                <a:latin typeface="Meiryo UI"/>
              </a:rPr>
              <a:t> 3 </a:t>
            </a:r>
            <a:r>
              <a:rPr sz="1100" dirty="0" err="1">
                <a:latin typeface="Meiryo UI"/>
              </a:rPr>
              <a:t>枚を最大高に統一、説明文の折返しを改善、任意バッジを緑から灰色に、代表挨拶の日本語固有名詞が変な位置で切れないよう</a:t>
            </a:r>
            <a:r>
              <a:rPr sz="1100" dirty="0">
                <a:latin typeface="Meiryo UI"/>
              </a:rPr>
              <a:t> word-break </a:t>
            </a:r>
            <a:r>
              <a:rPr sz="1100" dirty="0" err="1">
                <a:latin typeface="Meiryo UI"/>
              </a:rPr>
              <a:t>を調整しました</a:t>
            </a:r>
            <a:r>
              <a:rPr sz="1100" dirty="0">
                <a:latin typeface="Meiryo UI"/>
              </a:rPr>
              <a:t>。</a:t>
            </a:r>
          </a:p>
          <a:p>
            <a:r>
              <a:rPr sz="1100" dirty="0" err="1">
                <a:latin typeface="Meiryo UI"/>
              </a:rPr>
              <a:t>真ん中「文言・データ</a:t>
            </a:r>
            <a:r>
              <a:rPr sz="1100" dirty="0">
                <a:latin typeface="Meiryo UI"/>
              </a:rPr>
              <a:t>」：</a:t>
            </a:r>
            <a:r>
              <a:rPr sz="1100" dirty="0" err="1">
                <a:latin typeface="Meiryo UI"/>
              </a:rPr>
              <a:t>事業内容の読点位置修正、代表挨拶冒頭の英字削除、案件実績に大手</a:t>
            </a:r>
            <a:r>
              <a:rPr sz="1100" dirty="0">
                <a:latin typeface="Meiryo UI"/>
              </a:rPr>
              <a:t> 5 </a:t>
            </a:r>
            <a:r>
              <a:rPr sz="1100" dirty="0" err="1">
                <a:latin typeface="Meiryo UI"/>
              </a:rPr>
              <a:t>社を追記、アクセスマップ説明の簡潔化、職種の説明文改訂を行いました</a:t>
            </a:r>
            <a:r>
              <a:rPr sz="1100" dirty="0">
                <a:latin typeface="Meiryo UI"/>
              </a:rPr>
              <a:t>。</a:t>
            </a:r>
          </a:p>
          <a:p>
            <a:r>
              <a:rPr sz="1100" dirty="0" err="1">
                <a:latin typeface="Meiryo UI"/>
              </a:rPr>
              <a:t>右「コンテンツ機能</a:t>
            </a:r>
            <a:r>
              <a:rPr sz="1100" dirty="0">
                <a:latin typeface="Meiryo UI"/>
              </a:rPr>
              <a:t>」：TOP </a:t>
            </a:r>
            <a:r>
              <a:rPr sz="1100" dirty="0" err="1">
                <a:latin typeface="Meiryo UI"/>
              </a:rPr>
              <a:t>マーキーを</a:t>
            </a:r>
            <a:r>
              <a:rPr sz="1100" dirty="0">
                <a:latin typeface="Meiryo UI"/>
              </a:rPr>
              <a:t> 3 </a:t>
            </a:r>
            <a:r>
              <a:rPr sz="1100" dirty="0" err="1">
                <a:latin typeface="Meiryo UI"/>
              </a:rPr>
              <a:t>枚から</a:t>
            </a:r>
            <a:r>
              <a:rPr sz="1100" dirty="0">
                <a:latin typeface="Meiryo UI"/>
              </a:rPr>
              <a:t> 6 </a:t>
            </a:r>
            <a:r>
              <a:rPr sz="1100" dirty="0" err="1">
                <a:latin typeface="Meiryo UI"/>
              </a:rPr>
              <a:t>枚に、採用カルーセルを</a:t>
            </a:r>
            <a:r>
              <a:rPr sz="1100" dirty="0">
                <a:latin typeface="Meiryo UI"/>
              </a:rPr>
              <a:t> 5 </a:t>
            </a:r>
            <a:r>
              <a:rPr sz="1100" dirty="0" err="1">
                <a:latin typeface="Meiryo UI"/>
              </a:rPr>
              <a:t>枚から</a:t>
            </a:r>
            <a:r>
              <a:rPr sz="1100" dirty="0">
                <a:latin typeface="Meiryo UI"/>
              </a:rPr>
              <a:t> 4 </a:t>
            </a:r>
            <a:r>
              <a:rPr sz="1100" dirty="0" err="1">
                <a:latin typeface="Meiryo UI"/>
              </a:rPr>
              <a:t>枚に、応募フローの「現場デビュ</a:t>
            </a:r>
            <a:r>
              <a:rPr sz="1100" dirty="0">
                <a:latin typeface="Meiryo UI"/>
              </a:rPr>
              <a:t>ー」</a:t>
            </a:r>
            <a:r>
              <a:rPr sz="1100" dirty="0" err="1">
                <a:latin typeface="Meiryo UI"/>
              </a:rPr>
              <a:t>文言を削除、動画をループから</a:t>
            </a:r>
            <a:r>
              <a:rPr sz="1100" dirty="0">
                <a:latin typeface="Meiryo UI"/>
              </a:rPr>
              <a:t> 1 </a:t>
            </a:r>
            <a:r>
              <a:rPr sz="1100" dirty="0" err="1">
                <a:latin typeface="Meiryo UI"/>
              </a:rPr>
              <a:t>回再生に切替</a:t>
            </a:r>
            <a:r>
              <a:rPr sz="1100" dirty="0">
                <a:latin typeface="Meiryo UI"/>
              </a:rPr>
              <a:t>。</a:t>
            </a:r>
          </a:p>
          <a:p>
            <a:r>
              <a:rPr sz="1100" dirty="0" err="1">
                <a:latin typeface="Meiryo UI"/>
              </a:rPr>
              <a:t>要は、細かい</a:t>
            </a:r>
            <a:r>
              <a:rPr sz="1100" dirty="0">
                <a:latin typeface="Meiryo UI"/>
              </a:rPr>
              <a:t> 1 点 1 </a:t>
            </a:r>
            <a:r>
              <a:rPr sz="1100" dirty="0" err="1">
                <a:latin typeface="Meiryo UI"/>
              </a:rPr>
              <a:t>点まで丁寧に仕上げた、ということです</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sz="1100" dirty="0" err="1">
                <a:latin typeface="Meiryo UI"/>
              </a:rPr>
              <a:t>セキュリティは</a:t>
            </a:r>
            <a:r>
              <a:rPr sz="1100" dirty="0">
                <a:latin typeface="Meiryo UI"/>
              </a:rPr>
              <a:t> 2 枚に分けてご紹介します。1 </a:t>
            </a:r>
            <a:r>
              <a:rPr sz="1100" dirty="0" err="1">
                <a:latin typeface="Meiryo UI"/>
              </a:rPr>
              <a:t>枚目は</a:t>
            </a:r>
            <a:r>
              <a:rPr sz="1100" dirty="0">
                <a:latin typeface="Meiryo UI"/>
              </a:rPr>
              <a:t> 3 </a:t>
            </a:r>
            <a:r>
              <a:rPr sz="1100" dirty="0" err="1">
                <a:latin typeface="Meiryo UI"/>
              </a:rPr>
              <a:t>層防御と</a:t>
            </a:r>
            <a:r>
              <a:rPr sz="1100" dirty="0">
                <a:latin typeface="Meiryo UI"/>
              </a:rPr>
              <a:t> PDF 3 </a:t>
            </a:r>
            <a:r>
              <a:rPr sz="1100" dirty="0" err="1">
                <a:latin typeface="Meiryo UI"/>
              </a:rPr>
              <a:t>層検証、API</a:t>
            </a:r>
            <a:r>
              <a:rPr sz="1100" dirty="0">
                <a:latin typeface="Meiryo UI"/>
              </a:rPr>
              <a:t> </a:t>
            </a:r>
            <a:r>
              <a:rPr sz="1100" dirty="0" err="1">
                <a:latin typeface="Meiryo UI"/>
              </a:rPr>
              <a:t>強化です</a:t>
            </a:r>
            <a:r>
              <a:rPr sz="1100" dirty="0">
                <a:latin typeface="Meiryo UI"/>
              </a:rPr>
              <a:t>。</a:t>
            </a:r>
          </a:p>
          <a:p>
            <a:r>
              <a:rPr sz="1100" dirty="0" err="1">
                <a:latin typeface="Meiryo UI"/>
              </a:rPr>
              <a:t>上段の</a:t>
            </a:r>
            <a:r>
              <a:rPr sz="1100" dirty="0">
                <a:latin typeface="Meiryo UI"/>
              </a:rPr>
              <a:t> 3 </a:t>
            </a:r>
            <a:r>
              <a:rPr sz="1100" dirty="0" err="1">
                <a:latin typeface="Meiryo UI"/>
              </a:rPr>
              <a:t>層防御</a:t>
            </a:r>
            <a:r>
              <a:rPr sz="1100" dirty="0">
                <a:latin typeface="Meiryo UI"/>
              </a:rPr>
              <a:t>：</a:t>
            </a:r>
          </a:p>
          <a:p>
            <a:r>
              <a:rPr sz="1100" dirty="0">
                <a:latin typeface="Meiryo UI"/>
              </a:rPr>
              <a:t>1 </a:t>
            </a:r>
            <a:r>
              <a:rPr sz="1100" dirty="0" err="1">
                <a:latin typeface="Meiryo UI"/>
              </a:rPr>
              <a:t>つ目「入り口で防ぐ」はセキュリティヘッダ。CSP</a:t>
            </a:r>
            <a:r>
              <a:rPr sz="1100" dirty="0">
                <a:latin typeface="Meiryo UI"/>
              </a:rPr>
              <a:t> </a:t>
            </a:r>
            <a:r>
              <a:rPr sz="1100" dirty="0" err="1">
                <a:latin typeface="Meiryo UI"/>
              </a:rPr>
              <a:t>でスクリプトの実行元を厳格に、XFO</a:t>
            </a:r>
            <a:r>
              <a:rPr sz="1100" dirty="0">
                <a:latin typeface="Meiryo UI"/>
              </a:rPr>
              <a:t> </a:t>
            </a:r>
            <a:r>
              <a:rPr sz="1100" dirty="0" err="1">
                <a:latin typeface="Meiryo UI"/>
              </a:rPr>
              <a:t>で他サイトへの埋め込みを禁止、HSTS</a:t>
            </a:r>
            <a:r>
              <a:rPr sz="1100" dirty="0">
                <a:latin typeface="Meiryo UI"/>
              </a:rPr>
              <a:t> </a:t>
            </a:r>
            <a:r>
              <a:rPr sz="1100" dirty="0" err="1">
                <a:latin typeface="Meiryo UI"/>
              </a:rPr>
              <a:t>で常に</a:t>
            </a:r>
            <a:r>
              <a:rPr sz="1100" dirty="0">
                <a:latin typeface="Meiryo UI"/>
              </a:rPr>
              <a:t> HTTPS </a:t>
            </a:r>
            <a:r>
              <a:rPr sz="1100" dirty="0" err="1">
                <a:latin typeface="Meiryo UI"/>
              </a:rPr>
              <a:t>を強制します</a:t>
            </a:r>
            <a:r>
              <a:rPr sz="1100" dirty="0">
                <a:latin typeface="Meiryo UI"/>
              </a:rPr>
              <a:t>。</a:t>
            </a:r>
          </a:p>
          <a:p>
            <a:r>
              <a:rPr sz="1100" dirty="0">
                <a:latin typeface="Meiryo UI"/>
              </a:rPr>
              <a:t>2 </a:t>
            </a:r>
            <a:r>
              <a:rPr sz="1100" dirty="0" err="1">
                <a:latin typeface="Meiryo UI"/>
              </a:rPr>
              <a:t>つ目「中身を確認する」は</a:t>
            </a:r>
            <a:r>
              <a:rPr sz="1100" dirty="0">
                <a:latin typeface="Meiryo UI"/>
              </a:rPr>
              <a:t> API </a:t>
            </a:r>
            <a:r>
              <a:rPr sz="1100" dirty="0" err="1">
                <a:latin typeface="Meiryo UI"/>
              </a:rPr>
              <a:t>とフォーム検証。PDF</a:t>
            </a:r>
            <a:r>
              <a:rPr sz="1100" dirty="0">
                <a:latin typeface="Meiryo UI"/>
              </a:rPr>
              <a:t> は 3 </a:t>
            </a:r>
            <a:r>
              <a:rPr sz="1100" dirty="0" err="1">
                <a:latin typeface="Meiryo UI"/>
              </a:rPr>
              <a:t>層で厳密に検証し、CSRF</a:t>
            </a:r>
            <a:r>
              <a:rPr sz="1100" dirty="0">
                <a:latin typeface="Meiryo UI"/>
              </a:rPr>
              <a:t> は Origin / </a:t>
            </a:r>
            <a:r>
              <a:rPr sz="1100" dirty="0" err="1">
                <a:latin typeface="Meiryo UI"/>
              </a:rPr>
              <a:t>Referer</a:t>
            </a:r>
            <a:r>
              <a:rPr sz="1100" dirty="0">
                <a:latin typeface="Meiryo UI"/>
              </a:rPr>
              <a:t> </a:t>
            </a:r>
            <a:r>
              <a:rPr sz="1100" dirty="0" err="1">
                <a:latin typeface="Meiryo UI"/>
              </a:rPr>
              <a:t>検証、POST</a:t>
            </a:r>
            <a:r>
              <a:rPr sz="1100" dirty="0">
                <a:latin typeface="Meiryo UI"/>
              </a:rPr>
              <a:t> </a:t>
            </a:r>
            <a:r>
              <a:rPr sz="1100" dirty="0" err="1">
                <a:latin typeface="Meiryo UI"/>
              </a:rPr>
              <a:t>以外は</a:t>
            </a:r>
            <a:r>
              <a:rPr sz="1100" dirty="0">
                <a:latin typeface="Meiryo UI"/>
              </a:rPr>
              <a:t> 405 </a:t>
            </a:r>
            <a:r>
              <a:rPr sz="1100" dirty="0" err="1">
                <a:latin typeface="Meiryo UI"/>
              </a:rPr>
              <a:t>で拒否します</a:t>
            </a:r>
            <a:r>
              <a:rPr sz="1100" dirty="0">
                <a:latin typeface="Meiryo UI"/>
              </a:rPr>
              <a:t>。</a:t>
            </a:r>
          </a:p>
          <a:p>
            <a:r>
              <a:rPr sz="1100" dirty="0">
                <a:latin typeface="Meiryo UI"/>
              </a:rPr>
              <a:t>3 つ目「露出を減らす」は情報の秘匿。サーバ種別を隠し、本番ソースマップは作らず、console.log </a:t>
            </a:r>
            <a:r>
              <a:rPr sz="1100" dirty="0" err="1">
                <a:latin typeface="Meiryo UI"/>
              </a:rPr>
              <a:t>も本番で除去します</a:t>
            </a:r>
            <a:r>
              <a:rPr sz="1100" dirty="0">
                <a:latin typeface="Meiryo UI"/>
              </a:rPr>
              <a:t>。</a:t>
            </a:r>
          </a:p>
          <a:p>
            <a:r>
              <a:rPr sz="1100" dirty="0" err="1">
                <a:latin typeface="Meiryo UI"/>
              </a:rPr>
              <a:t>下段は</a:t>
            </a:r>
            <a:r>
              <a:rPr sz="1100" dirty="0">
                <a:latin typeface="Meiryo UI"/>
              </a:rPr>
              <a:t> PDF 3 </a:t>
            </a:r>
            <a:r>
              <a:rPr sz="1100" dirty="0" err="1">
                <a:latin typeface="Meiryo UI"/>
              </a:rPr>
              <a:t>層検証</a:t>
            </a:r>
            <a:r>
              <a:rPr sz="1100" dirty="0">
                <a:latin typeface="Meiryo UI"/>
              </a:rPr>
              <a:t>。①</a:t>
            </a:r>
            <a:r>
              <a:rPr sz="1100" dirty="0" err="1">
                <a:latin typeface="Meiryo UI"/>
              </a:rPr>
              <a:t>拡張子</a:t>
            </a:r>
            <a:r>
              <a:rPr sz="1100" dirty="0">
                <a:latin typeface="Meiryo UI"/>
              </a:rPr>
              <a:t> → ②MIME → ③</a:t>
            </a:r>
            <a:r>
              <a:rPr sz="1100" dirty="0" err="1">
                <a:latin typeface="Meiryo UI"/>
              </a:rPr>
              <a:t>マジックバイト、で偽装はほぼ不可能。API</a:t>
            </a:r>
            <a:r>
              <a:rPr sz="1100" dirty="0">
                <a:latin typeface="Meiryo UI"/>
              </a:rPr>
              <a:t> </a:t>
            </a:r>
            <a:r>
              <a:rPr sz="1100" dirty="0" err="1">
                <a:latin typeface="Meiryo UI"/>
              </a:rPr>
              <a:t>強化として</a:t>
            </a:r>
            <a:r>
              <a:rPr sz="1100" dirty="0">
                <a:latin typeface="Meiryo UI"/>
              </a:rPr>
              <a:t> CSRF・405 </a:t>
            </a:r>
            <a:r>
              <a:rPr sz="1100" dirty="0" err="1">
                <a:latin typeface="Meiryo UI"/>
              </a:rPr>
              <a:t>拒否・CORS</a:t>
            </a:r>
            <a:r>
              <a:rPr sz="1100" dirty="0">
                <a:latin typeface="Meiryo UI"/>
              </a:rPr>
              <a:t> </a:t>
            </a:r>
            <a:r>
              <a:rPr sz="1100" dirty="0" err="1">
                <a:latin typeface="Meiryo UI"/>
              </a:rPr>
              <a:t>非応答・no-store・noindex</a:t>
            </a:r>
            <a:r>
              <a:rPr sz="1100" dirty="0">
                <a:latin typeface="Meiryo UI"/>
              </a:rPr>
              <a:t> </a:t>
            </a:r>
            <a:r>
              <a:rPr sz="1100" dirty="0" err="1">
                <a:latin typeface="Meiryo UI"/>
              </a:rPr>
              <a:t>を多層適用しています</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sz="1100" dirty="0">
                <a:latin typeface="Meiryo UI"/>
              </a:rPr>
              <a:t>セキュリティ 2 </a:t>
            </a:r>
            <a:r>
              <a:rPr sz="1100" dirty="0" err="1">
                <a:latin typeface="Meiryo UI"/>
              </a:rPr>
              <a:t>枚目</a:t>
            </a:r>
            <a:r>
              <a:rPr sz="1100" dirty="0">
                <a:latin typeface="Meiryo UI"/>
              </a:rPr>
              <a:t>。「</a:t>
            </a:r>
            <a:r>
              <a:rPr sz="1100" dirty="0" err="1">
                <a:latin typeface="Meiryo UI"/>
              </a:rPr>
              <a:t>結局どこまでやったの</a:t>
            </a:r>
            <a:r>
              <a:rPr sz="1100" dirty="0">
                <a:latin typeface="Meiryo UI"/>
              </a:rPr>
              <a:t>？」</a:t>
            </a:r>
            <a:r>
              <a:rPr sz="1100" dirty="0" err="1">
                <a:latin typeface="Meiryo UI"/>
              </a:rPr>
              <a:t>を数字で示します</a:t>
            </a:r>
            <a:r>
              <a:rPr sz="1100" dirty="0">
                <a:latin typeface="Meiryo UI"/>
              </a:rPr>
              <a:t>。</a:t>
            </a:r>
          </a:p>
          <a:p>
            <a:r>
              <a:rPr sz="1100" dirty="0" err="1">
                <a:latin typeface="Meiryo UI"/>
              </a:rPr>
              <a:t>業界標準のセキュリティチェックリスト</a:t>
            </a:r>
            <a:r>
              <a:rPr sz="1100" dirty="0">
                <a:latin typeface="Meiryo UI"/>
              </a:rPr>
              <a:t> 88 項目を、1 </a:t>
            </a:r>
            <a:r>
              <a:rPr sz="1100" dirty="0" err="1">
                <a:latin typeface="Meiryo UI"/>
              </a:rPr>
              <a:t>つずつ全て確認しました</a:t>
            </a:r>
            <a:r>
              <a:rPr sz="1100" dirty="0">
                <a:latin typeface="Meiryo UI"/>
              </a:rPr>
              <a:t>。</a:t>
            </a:r>
          </a:p>
          <a:p>
            <a:r>
              <a:rPr sz="1100" dirty="0" err="1">
                <a:latin typeface="Meiryo UI"/>
              </a:rPr>
              <a:t>内訳は、対応済が約</a:t>
            </a:r>
            <a:r>
              <a:rPr sz="1100" dirty="0">
                <a:latin typeface="Meiryo UI"/>
              </a:rPr>
              <a:t> 26 </a:t>
            </a:r>
            <a:r>
              <a:rPr sz="1100" dirty="0" err="1">
                <a:latin typeface="Meiryo UI"/>
              </a:rPr>
              <a:t>項目。CSP</a:t>
            </a:r>
            <a:r>
              <a:rPr sz="1100" dirty="0">
                <a:latin typeface="Meiryo UI"/>
              </a:rPr>
              <a:t> や HSTS、PDF 3 </a:t>
            </a:r>
            <a:r>
              <a:rPr sz="1100" dirty="0" err="1">
                <a:latin typeface="Meiryo UI"/>
              </a:rPr>
              <a:t>層検証、CSRF、SSRF、エラー保護など、今回のサイトに関係する項目は全て対応しています</a:t>
            </a:r>
            <a:r>
              <a:rPr sz="1100" dirty="0">
                <a:latin typeface="Meiryo UI"/>
              </a:rPr>
              <a:t>。</a:t>
            </a:r>
          </a:p>
          <a:p>
            <a:r>
              <a:rPr sz="1100" dirty="0" err="1">
                <a:latin typeface="Meiryo UI"/>
              </a:rPr>
              <a:t>非該当が約</a:t>
            </a:r>
            <a:r>
              <a:rPr sz="1100" dirty="0">
                <a:latin typeface="Meiryo UI"/>
              </a:rPr>
              <a:t> 56 </a:t>
            </a:r>
            <a:r>
              <a:rPr sz="1100" dirty="0" err="1">
                <a:latin typeface="Meiryo UI"/>
              </a:rPr>
              <a:t>項目。これは認証・JWT・DB</a:t>
            </a:r>
            <a:r>
              <a:rPr sz="1100" dirty="0">
                <a:latin typeface="Meiryo UI"/>
              </a:rPr>
              <a:t> </a:t>
            </a:r>
            <a:r>
              <a:rPr sz="1100" dirty="0" err="1">
                <a:latin typeface="Meiryo UI"/>
              </a:rPr>
              <a:t>クエリ・管理画面など、今回のサイトに存在しない機能の項目で、評価対象外の意味です</a:t>
            </a:r>
            <a:r>
              <a:rPr sz="1100" dirty="0">
                <a:latin typeface="Meiryo UI"/>
              </a:rPr>
              <a:t>。</a:t>
            </a:r>
          </a:p>
          <a:p>
            <a:r>
              <a:rPr sz="1100" dirty="0" err="1">
                <a:latin typeface="Meiryo UI"/>
              </a:rPr>
              <a:t>運用補完が約</a:t>
            </a:r>
            <a:r>
              <a:rPr sz="1100" dirty="0">
                <a:latin typeface="Meiryo UI"/>
              </a:rPr>
              <a:t> 6 </a:t>
            </a:r>
            <a:r>
              <a:rPr sz="1100" dirty="0" err="1">
                <a:latin typeface="Meiryo UI"/>
              </a:rPr>
              <a:t>項目。WAF、依存ライブラリの定期監査、ウイルススキャン、レート制限など、本番デプロイ時にインフラ側で補う領域です</a:t>
            </a:r>
            <a:r>
              <a:rPr sz="1100" dirty="0">
                <a:latin typeface="Meiryo UI"/>
              </a:rPr>
              <a:t>。</a:t>
            </a:r>
          </a:p>
          <a:p>
            <a:r>
              <a:rPr sz="1100" dirty="0" err="1">
                <a:latin typeface="Meiryo UI"/>
              </a:rPr>
              <a:t>要は、本サイトに該当する項目はすべて対応済み、というのが結論です</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sz="1100" dirty="0" err="1">
                <a:latin typeface="Meiryo UI"/>
              </a:rPr>
              <a:t>コードの工夫とパフォーマンスをまとめて</a:t>
            </a:r>
            <a:r>
              <a:rPr sz="1100" dirty="0">
                <a:latin typeface="Meiryo UI"/>
              </a:rPr>
              <a:t>。</a:t>
            </a:r>
          </a:p>
          <a:p>
            <a:r>
              <a:rPr sz="1100" dirty="0" err="1">
                <a:latin typeface="Meiryo UI"/>
              </a:rPr>
              <a:t>左側は日英切替</a:t>
            </a:r>
            <a:r>
              <a:rPr sz="1100" dirty="0">
                <a:latin typeface="Meiryo UI"/>
              </a:rPr>
              <a:t>。</a:t>
            </a:r>
            <a:r>
              <a:rPr lang="ja-JP" altLang="en-US" sz="1100" dirty="0">
                <a:latin typeface="Meiryo UI"/>
              </a:rPr>
              <a:t>サイト内</a:t>
            </a:r>
            <a:r>
              <a:rPr sz="1100" dirty="0" err="1">
                <a:latin typeface="Meiryo UI"/>
              </a:rPr>
              <a:t>右上の</a:t>
            </a:r>
            <a:r>
              <a:rPr sz="1100" dirty="0">
                <a:latin typeface="Meiryo UI"/>
              </a:rPr>
              <a:t> JP/EN </a:t>
            </a:r>
            <a:r>
              <a:rPr sz="1100" dirty="0" err="1">
                <a:latin typeface="Meiryo UI"/>
              </a:rPr>
              <a:t>ボタンを押すと、Provider</a:t>
            </a:r>
            <a:r>
              <a:rPr sz="1100" dirty="0">
                <a:latin typeface="Meiryo UI"/>
              </a:rPr>
              <a:t> </a:t>
            </a:r>
            <a:r>
              <a:rPr sz="1100" dirty="0" err="1">
                <a:latin typeface="Meiryo UI"/>
              </a:rPr>
              <a:t>が状態を更新して、useLanguage</a:t>
            </a:r>
            <a:r>
              <a:rPr sz="1100" dirty="0">
                <a:latin typeface="Meiryo UI"/>
              </a:rPr>
              <a:t> </a:t>
            </a:r>
            <a:r>
              <a:rPr sz="1100" dirty="0" err="1">
                <a:latin typeface="Meiryo UI"/>
              </a:rPr>
              <a:t>フック経由でサイトの全文字が瞬時に切り替わります。Localized</a:t>
            </a:r>
            <a:r>
              <a:rPr sz="1100" dirty="0">
                <a:latin typeface="Meiryo UI"/>
              </a:rPr>
              <a:t> </a:t>
            </a:r>
            <a:r>
              <a:rPr sz="1100" dirty="0" err="1">
                <a:latin typeface="Meiryo UI"/>
              </a:rPr>
              <a:t>型に日英を同居させ、英語表示ではふりがなを自動非表示、初回訪問はブラウザ言語を自動判定、localStorage</a:t>
            </a:r>
            <a:r>
              <a:rPr sz="1100" dirty="0">
                <a:latin typeface="Meiryo UI"/>
              </a:rPr>
              <a:t> </a:t>
            </a:r>
            <a:r>
              <a:rPr sz="1100" dirty="0" err="1">
                <a:latin typeface="Meiryo UI"/>
              </a:rPr>
              <a:t>で次回も維持と、気の利いた作り</a:t>
            </a:r>
            <a:r>
              <a:rPr lang="ja-JP" altLang="en-US" sz="1100" dirty="0">
                <a:latin typeface="Meiryo UI"/>
              </a:rPr>
              <a:t>にしています</a:t>
            </a:r>
            <a:r>
              <a:rPr sz="1100" dirty="0">
                <a:latin typeface="Meiryo UI"/>
              </a:rPr>
              <a:t>。</a:t>
            </a:r>
          </a:p>
          <a:p>
            <a:r>
              <a:rPr sz="1100" dirty="0" err="1">
                <a:latin typeface="Meiryo UI"/>
              </a:rPr>
              <a:t>右側はパフォーマンス</a:t>
            </a:r>
            <a:r>
              <a:rPr sz="1100" dirty="0">
                <a:latin typeface="Meiryo UI"/>
              </a:rPr>
              <a:t> 6 </a:t>
            </a:r>
            <a:r>
              <a:rPr sz="1100" dirty="0" err="1">
                <a:latin typeface="Meiryo UI"/>
              </a:rPr>
              <a:t>項目。画像は</a:t>
            </a:r>
            <a:r>
              <a:rPr sz="1100" dirty="0">
                <a:latin typeface="Meiryo UI"/>
              </a:rPr>
              <a:t> 50MB を 4MB </a:t>
            </a:r>
            <a:r>
              <a:rPr sz="1100" dirty="0" err="1">
                <a:latin typeface="Meiryo UI"/>
              </a:rPr>
              <a:t>に圧縮、next</a:t>
            </a:r>
            <a:r>
              <a:rPr sz="1100" dirty="0">
                <a:latin typeface="Meiryo UI"/>
              </a:rPr>
              <a:t>/image で AVIF や </a:t>
            </a:r>
            <a:r>
              <a:rPr sz="1100" dirty="0" err="1">
                <a:latin typeface="Meiryo UI"/>
              </a:rPr>
              <a:t>WebP</a:t>
            </a:r>
            <a:r>
              <a:rPr sz="1100" dirty="0">
                <a:latin typeface="Meiryo UI"/>
              </a:rPr>
              <a:t> </a:t>
            </a:r>
            <a:r>
              <a:rPr sz="1100" dirty="0" err="1">
                <a:latin typeface="Meiryo UI"/>
              </a:rPr>
              <a:t>を自動配信、Observer</a:t>
            </a:r>
            <a:r>
              <a:rPr sz="1100" dirty="0">
                <a:latin typeface="Meiryo UI"/>
              </a:rPr>
              <a:t> は 20 </a:t>
            </a:r>
            <a:r>
              <a:rPr sz="1100" dirty="0" err="1">
                <a:latin typeface="Meiryo UI"/>
              </a:rPr>
              <a:t>個から</a:t>
            </a:r>
            <a:r>
              <a:rPr sz="1100" dirty="0">
                <a:latin typeface="Meiryo UI"/>
              </a:rPr>
              <a:t> 1 </a:t>
            </a:r>
            <a:r>
              <a:rPr sz="1100" dirty="0" err="1">
                <a:latin typeface="Meiryo UI"/>
              </a:rPr>
              <a:t>個に集約、動画は</a:t>
            </a:r>
            <a:r>
              <a:rPr sz="1100" dirty="0">
                <a:latin typeface="Meiryo UI"/>
              </a:rPr>
              <a:t> 1/10 </a:t>
            </a:r>
            <a:r>
              <a:rPr sz="1100" dirty="0" err="1">
                <a:latin typeface="Meiryo UI"/>
              </a:rPr>
              <a:t>化、追加した</a:t>
            </a:r>
            <a:r>
              <a:rPr sz="1100" dirty="0">
                <a:latin typeface="Meiryo UI"/>
              </a:rPr>
              <a:t> PNG </a:t>
            </a:r>
            <a:r>
              <a:rPr sz="1100" dirty="0" err="1">
                <a:latin typeface="Meiryo UI"/>
              </a:rPr>
              <a:t>写真も</a:t>
            </a:r>
            <a:r>
              <a:rPr sz="1100" dirty="0">
                <a:latin typeface="Meiryo UI"/>
              </a:rPr>
              <a:t> JPG </a:t>
            </a:r>
            <a:r>
              <a:rPr sz="1100" dirty="0" err="1">
                <a:latin typeface="Meiryo UI"/>
              </a:rPr>
              <a:t>変換で</a:t>
            </a:r>
            <a:r>
              <a:rPr sz="1100" dirty="0">
                <a:latin typeface="Meiryo UI"/>
              </a:rPr>
              <a:t> 1/10、そして DNS </a:t>
            </a:r>
            <a:r>
              <a:rPr sz="1100" dirty="0" err="1">
                <a:latin typeface="Meiryo UI"/>
              </a:rPr>
              <a:t>プリフェッチで通信を先回りしています</a:t>
            </a:r>
            <a:r>
              <a:rPr sz="1100" dirty="0">
                <a:latin typeface="Meiryo UI"/>
              </a:rPr>
              <a:t>。</a:t>
            </a:r>
          </a:p>
          <a:p>
            <a:r>
              <a:rPr sz="1100" dirty="0" err="1">
                <a:latin typeface="Meiryo UI"/>
              </a:rPr>
              <a:t>要は、サクサク動く</a:t>
            </a:r>
            <a:r>
              <a:rPr lang="ja-JP" altLang="en-US" sz="1100" dirty="0">
                <a:latin typeface="Meiryo UI"/>
              </a:rPr>
              <a:t>サイト</a:t>
            </a:r>
            <a:r>
              <a:rPr sz="1100" dirty="0" err="1">
                <a:latin typeface="Meiryo UI"/>
              </a:rPr>
              <a:t>を多角的に作り込んだ、ということです</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sz="1100" dirty="0" err="1">
                <a:latin typeface="Meiryo UI"/>
              </a:rPr>
              <a:t>改めてまとめます</a:t>
            </a:r>
            <a:r>
              <a:rPr sz="1100" dirty="0">
                <a:latin typeface="Meiryo UI"/>
              </a:rPr>
              <a:t>。</a:t>
            </a:r>
          </a:p>
          <a:p>
            <a:r>
              <a:rPr sz="1100" dirty="0" err="1">
                <a:latin typeface="Meiryo UI"/>
              </a:rPr>
              <a:t>このサイトは</a:t>
            </a:r>
            <a:r>
              <a:rPr sz="1100" dirty="0">
                <a:latin typeface="Meiryo UI"/>
              </a:rPr>
              <a:t> 5 </a:t>
            </a:r>
            <a:r>
              <a:rPr sz="1100" dirty="0" err="1">
                <a:latin typeface="Meiryo UI"/>
              </a:rPr>
              <a:t>つの軸で作りました</a:t>
            </a:r>
            <a:r>
              <a:rPr sz="1100" dirty="0">
                <a:latin typeface="Meiryo UI"/>
              </a:rPr>
              <a:t>。</a:t>
            </a:r>
          </a:p>
          <a:p>
            <a:r>
              <a:rPr sz="1100" dirty="0" err="1">
                <a:latin typeface="Meiryo UI"/>
              </a:rPr>
              <a:t>セキュリティは</a:t>
            </a:r>
            <a:r>
              <a:rPr sz="1100" dirty="0">
                <a:latin typeface="Meiryo UI"/>
              </a:rPr>
              <a:t> 88 </a:t>
            </a:r>
            <a:r>
              <a:rPr sz="1100" dirty="0" err="1">
                <a:latin typeface="Meiryo UI"/>
              </a:rPr>
              <a:t>項目監査、CSP・PDF</a:t>
            </a:r>
            <a:r>
              <a:rPr sz="1100" dirty="0">
                <a:latin typeface="Meiryo UI"/>
              </a:rPr>
              <a:t> 3 </a:t>
            </a:r>
            <a:r>
              <a:rPr sz="1100" dirty="0" err="1">
                <a:latin typeface="Meiryo UI"/>
              </a:rPr>
              <a:t>層検証・CSRF・SSRF</a:t>
            </a:r>
            <a:r>
              <a:rPr sz="1100" dirty="0">
                <a:latin typeface="Meiryo UI"/>
              </a:rPr>
              <a:t> </a:t>
            </a:r>
            <a:r>
              <a:rPr sz="1100" dirty="0" err="1">
                <a:latin typeface="Meiryo UI"/>
              </a:rPr>
              <a:t>まで多層防御</a:t>
            </a:r>
            <a:r>
              <a:rPr sz="1100" dirty="0">
                <a:latin typeface="Meiryo UI"/>
              </a:rPr>
              <a:t>。</a:t>
            </a:r>
          </a:p>
          <a:p>
            <a:r>
              <a:rPr sz="1100" dirty="0" err="1">
                <a:latin typeface="Meiryo UI"/>
              </a:rPr>
              <a:t>モバイル</a:t>
            </a:r>
            <a:r>
              <a:rPr sz="1100" dirty="0">
                <a:latin typeface="Meiryo UI"/>
              </a:rPr>
              <a:t> UX </a:t>
            </a:r>
            <a:r>
              <a:rPr sz="1100" dirty="0" err="1">
                <a:latin typeface="Meiryo UI"/>
              </a:rPr>
              <a:t>はドロワ</a:t>
            </a:r>
            <a:r>
              <a:rPr sz="1100" dirty="0">
                <a:latin typeface="Meiryo UI"/>
              </a:rPr>
              <a:t>ー、</a:t>
            </a:r>
            <a:r>
              <a:rPr sz="1100" dirty="0" err="1">
                <a:latin typeface="Meiryo UI"/>
              </a:rPr>
              <a:t>背景固定、タップ拡大</a:t>
            </a:r>
            <a:r>
              <a:rPr sz="1100" dirty="0">
                <a:latin typeface="Meiryo UI"/>
              </a:rPr>
              <a:t>。</a:t>
            </a:r>
          </a:p>
          <a:p>
            <a:r>
              <a:rPr sz="1100" dirty="0" err="1">
                <a:latin typeface="Meiryo UI"/>
              </a:rPr>
              <a:t>ビジュアルは歯車動画の</a:t>
            </a:r>
            <a:r>
              <a:rPr sz="1100" dirty="0">
                <a:latin typeface="Meiryo UI"/>
              </a:rPr>
              <a:t> 1 回再生、6 </a:t>
            </a:r>
            <a:r>
              <a:rPr sz="1100" dirty="0" err="1">
                <a:latin typeface="Meiryo UI"/>
              </a:rPr>
              <a:t>枚の写真マーキ</a:t>
            </a:r>
            <a:r>
              <a:rPr sz="1100" dirty="0">
                <a:latin typeface="Meiryo UI"/>
              </a:rPr>
              <a:t>ー、</a:t>
            </a:r>
            <a:r>
              <a:rPr sz="1100" dirty="0" err="1">
                <a:latin typeface="Meiryo UI"/>
              </a:rPr>
              <a:t>そして統一感のある縦棒見出し</a:t>
            </a:r>
            <a:r>
              <a:rPr sz="1100" dirty="0">
                <a:latin typeface="Meiryo UI"/>
              </a:rPr>
              <a:t>。</a:t>
            </a:r>
          </a:p>
          <a:p>
            <a:r>
              <a:rPr sz="1100" dirty="0" err="1">
                <a:latin typeface="Meiryo UI"/>
              </a:rPr>
              <a:t>国際化は</a:t>
            </a:r>
            <a:r>
              <a:rPr sz="1100" dirty="0">
                <a:latin typeface="Meiryo UI"/>
              </a:rPr>
              <a:t> JP/EN </a:t>
            </a:r>
            <a:r>
              <a:rPr sz="1100" dirty="0" err="1">
                <a:latin typeface="Meiryo UI"/>
              </a:rPr>
              <a:t>ボタン</a:t>
            </a:r>
            <a:r>
              <a:rPr sz="1100" dirty="0">
                <a:latin typeface="Meiryo UI"/>
              </a:rPr>
              <a:t> 1 </a:t>
            </a:r>
            <a:r>
              <a:rPr sz="1100" dirty="0" err="1">
                <a:latin typeface="Meiryo UI"/>
              </a:rPr>
              <a:t>つで全切替</a:t>
            </a:r>
            <a:r>
              <a:rPr sz="1100" dirty="0">
                <a:latin typeface="Meiryo UI"/>
              </a:rPr>
              <a:t>。</a:t>
            </a:r>
          </a:p>
          <a:p>
            <a:r>
              <a:rPr sz="1100" dirty="0" err="1">
                <a:latin typeface="Meiryo UI"/>
              </a:rPr>
              <a:t>性能と表示保証は、画像</a:t>
            </a:r>
            <a:r>
              <a:rPr sz="1100" dirty="0">
                <a:latin typeface="Meiryo UI"/>
              </a:rPr>
              <a:t> 50MB を 4MB </a:t>
            </a:r>
            <a:r>
              <a:rPr sz="1100" dirty="0" err="1">
                <a:latin typeface="Meiryo UI"/>
              </a:rPr>
              <a:t>に圧縮、Observer</a:t>
            </a:r>
            <a:r>
              <a:rPr sz="1100" dirty="0">
                <a:latin typeface="Meiryo UI"/>
              </a:rPr>
              <a:t> </a:t>
            </a:r>
            <a:r>
              <a:rPr sz="1100" dirty="0" err="1">
                <a:latin typeface="Meiryo UI"/>
              </a:rPr>
              <a:t>集約、そして「消えない設計」で、リロードや遷移でも確実に見えるサイトに仕上げました</a:t>
            </a:r>
            <a:r>
              <a:rPr sz="1100" dirty="0">
                <a:latin typeface="Meiryo UI"/>
              </a:rPr>
              <a:t>。</a:t>
            </a:r>
          </a:p>
          <a:p>
            <a:r>
              <a:rPr sz="1100" dirty="0" err="1">
                <a:latin typeface="Meiryo UI"/>
              </a:rPr>
              <a:t>ご清聴ありがとうございました。質問があればお願いいたします</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EBC528"/>
          </a:solidFill>
          <a:ln/>
        </p:spPr>
        <p:txBody>
          <a:bodyPr/>
          <a:lstStyle/>
          <a:p>
            <a:endParaRPr lang="ja-JP" altLang="en-US"/>
          </a:p>
        </p:txBody>
      </p:sp>
      <p:sp>
        <p:nvSpPr>
          <p:cNvPr id="3" name="Text 1"/>
          <p:cNvSpPr/>
          <p:nvPr/>
        </p:nvSpPr>
        <p:spPr>
          <a:xfrm>
            <a:off x="1097280" y="1554480"/>
            <a:ext cx="10058400" cy="502920"/>
          </a:xfrm>
          <a:prstGeom prst="rect">
            <a:avLst/>
          </a:prstGeom>
          <a:noFill/>
          <a:ln/>
        </p:spPr>
        <p:txBody>
          <a:bodyPr wrap="square" lIns="0" tIns="0" rIns="0" bIns="0" rtlCol="0" anchor="ctr"/>
          <a:lstStyle/>
          <a:p>
            <a:pPr marL="0" indent="0">
              <a:buNone/>
            </a:pPr>
            <a:r>
              <a:rPr lang="en-US" sz="1600" b="1" kern="0" spc="800" dirty="0">
                <a:solidFill>
                  <a:srgbClr val="EBC528"/>
                </a:solidFill>
                <a:latin typeface="Meiryo UI" pitchFamily="34" charset="0"/>
                <a:ea typeface="Meiryo UI" pitchFamily="34" charset="-122"/>
                <a:cs typeface="Meiryo UI" pitchFamily="34" charset="-120"/>
              </a:rPr>
              <a:t>CORPORATE WEBSITE PITCH</a:t>
            </a:r>
            <a:endParaRPr lang="en-US" sz="1600" dirty="0">
              <a:latin typeface="Meiryo UI"/>
              <a:ea typeface="Meiryo UI"/>
            </a:endParaRPr>
          </a:p>
        </p:txBody>
      </p:sp>
      <p:sp>
        <p:nvSpPr>
          <p:cNvPr id="4" name="Text 2"/>
          <p:cNvSpPr/>
          <p:nvPr/>
        </p:nvSpPr>
        <p:spPr>
          <a:xfrm>
            <a:off x="1097280" y="2194560"/>
            <a:ext cx="10058400" cy="1097280"/>
          </a:xfrm>
          <a:prstGeom prst="rect">
            <a:avLst/>
          </a:prstGeom>
          <a:noFill/>
          <a:ln/>
        </p:spPr>
        <p:txBody>
          <a:bodyPr wrap="square" lIns="0" tIns="0" rIns="0" bIns="0" rtlCol="0" anchor="ctr"/>
          <a:lstStyle/>
          <a:p>
            <a:pPr marL="0" indent="0">
              <a:buNone/>
            </a:pPr>
            <a:r>
              <a:rPr lang="en-US" altLang="ja-JP" sz="5400" b="1" dirty="0">
                <a:solidFill>
                  <a:srgbClr val="FFFFFF"/>
                </a:solidFill>
                <a:latin typeface="Meiryo UI" pitchFamily="34" charset="0"/>
                <a:ea typeface="Meiryo UI" pitchFamily="34" charset="-122"/>
                <a:cs typeface="Meiryo UI" pitchFamily="34" charset="-120"/>
              </a:rPr>
              <a:t>LPCC</a:t>
            </a:r>
            <a:r>
              <a:rPr lang="ja-JP" altLang="en-US" sz="5400" b="1" dirty="0">
                <a:solidFill>
                  <a:srgbClr val="FFFFFF"/>
                </a:solidFill>
                <a:latin typeface="Meiryo UI" pitchFamily="34" charset="0"/>
                <a:ea typeface="Meiryo UI" pitchFamily="34" charset="-122"/>
                <a:cs typeface="Meiryo UI" pitchFamily="34" charset="-120"/>
              </a:rPr>
              <a:t>　サイト作成</a:t>
            </a:r>
            <a:r>
              <a:rPr lang="en-US" altLang="ja-JP" sz="5400" b="1" dirty="0">
                <a:solidFill>
                  <a:srgbClr val="FFFFFF"/>
                </a:solidFill>
                <a:latin typeface="Meiryo UI" pitchFamily="34" charset="0"/>
                <a:ea typeface="Meiryo UI" pitchFamily="34" charset="-122"/>
                <a:cs typeface="Meiryo UI" pitchFamily="34" charset="-120"/>
              </a:rPr>
              <a:t>PJ-</a:t>
            </a:r>
            <a:r>
              <a:rPr lang="ja-JP" altLang="en-US" sz="5400" b="1" dirty="0">
                <a:solidFill>
                  <a:srgbClr val="FFFFFF"/>
                </a:solidFill>
                <a:latin typeface="Meiryo UI" pitchFamily="34" charset="0"/>
                <a:ea typeface="Meiryo UI" pitchFamily="34" charset="-122"/>
                <a:cs typeface="Meiryo UI" pitchFamily="34" charset="-120"/>
              </a:rPr>
              <a:t>とっておき</a:t>
            </a:r>
            <a:r>
              <a:rPr lang="en-US" altLang="ja-JP" sz="5400" b="1" dirty="0">
                <a:solidFill>
                  <a:srgbClr val="FFFFFF"/>
                </a:solidFill>
                <a:latin typeface="Meiryo UI" pitchFamily="34" charset="0"/>
                <a:ea typeface="Meiryo UI" pitchFamily="34" charset="-122"/>
                <a:cs typeface="Meiryo UI" pitchFamily="34" charset="-120"/>
              </a:rPr>
              <a:t>-</a:t>
            </a:r>
            <a:endParaRPr lang="en-US" sz="5400" dirty="0">
              <a:latin typeface="Meiryo UI"/>
              <a:ea typeface="Meiryo UI"/>
            </a:endParaRPr>
          </a:p>
        </p:txBody>
      </p:sp>
      <p:sp>
        <p:nvSpPr>
          <p:cNvPr id="5" name="Text 3"/>
          <p:cNvSpPr/>
          <p:nvPr/>
        </p:nvSpPr>
        <p:spPr>
          <a:xfrm>
            <a:off x="1097280" y="3383280"/>
            <a:ext cx="10058400" cy="640080"/>
          </a:xfrm>
          <a:prstGeom prst="rect">
            <a:avLst/>
          </a:prstGeom>
          <a:noFill/>
          <a:ln/>
        </p:spPr>
        <p:txBody>
          <a:bodyPr wrap="square" lIns="0" tIns="0" rIns="0" bIns="0" rtlCol="0" anchor="ctr"/>
          <a:lstStyle/>
          <a:p>
            <a:pPr marL="0" indent="0">
              <a:buNone/>
            </a:pPr>
            <a:r>
              <a:rPr lang="en-US" sz="2400" dirty="0">
                <a:solidFill>
                  <a:srgbClr val="FFFFFF"/>
                </a:solidFill>
                <a:latin typeface="Meiryo UI" pitchFamily="34" charset="0"/>
                <a:ea typeface="Meiryo UI" pitchFamily="34" charset="-122"/>
                <a:cs typeface="Meiryo UI" pitchFamily="34" charset="-120"/>
              </a:rPr>
              <a:t>セキュリティ・モバイル・アニメーションを軸にした実装</a:t>
            </a:r>
            <a:endParaRPr lang="en-US" sz="2400" dirty="0">
              <a:latin typeface="Meiryo UI"/>
              <a:ea typeface="Meiryo UI"/>
            </a:endParaRPr>
          </a:p>
        </p:txBody>
      </p:sp>
      <p:sp>
        <p:nvSpPr>
          <p:cNvPr id="6" name="Shape 4"/>
          <p:cNvSpPr/>
          <p:nvPr/>
        </p:nvSpPr>
        <p:spPr>
          <a:xfrm>
            <a:off x="1097280" y="4251960"/>
            <a:ext cx="1463040" cy="54864"/>
          </a:xfrm>
          <a:prstGeom prst="rect">
            <a:avLst/>
          </a:prstGeom>
          <a:solidFill>
            <a:srgbClr val="EBC528"/>
          </a:solidFill>
          <a:ln/>
        </p:spPr>
        <p:txBody>
          <a:bodyPr/>
          <a:lstStyle/>
          <a:p>
            <a:endParaRPr lang="ja-JP" altLang="en-US"/>
          </a:p>
        </p:txBody>
      </p:sp>
      <p:sp>
        <p:nvSpPr>
          <p:cNvPr id="7" name="Text 5"/>
          <p:cNvSpPr/>
          <p:nvPr/>
        </p:nvSpPr>
        <p:spPr>
          <a:xfrm>
            <a:off x="1097280" y="4434840"/>
            <a:ext cx="10058400" cy="411480"/>
          </a:xfrm>
          <a:prstGeom prst="rect">
            <a:avLst/>
          </a:prstGeom>
          <a:noFill/>
          <a:ln/>
        </p:spPr>
        <p:txBody>
          <a:bodyPr wrap="square" lIns="0" tIns="0" rIns="0" bIns="0" rtlCol="0" anchor="ctr"/>
          <a:lstStyle/>
          <a:p>
            <a:pPr marL="0" indent="0">
              <a:buNone/>
            </a:pPr>
            <a:r>
              <a:rPr lang="en-US" sz="1600" dirty="0">
                <a:solidFill>
                  <a:srgbClr val="CBD5E1"/>
                </a:solidFill>
                <a:latin typeface="Meiryo UI" pitchFamily="34" charset="0"/>
                <a:ea typeface="Meiryo UI" pitchFamily="34" charset="-122"/>
                <a:cs typeface="Meiryo UI" pitchFamily="34" charset="-120"/>
              </a:rPr>
              <a:t>Next.js 15 + React 19 + TypeScript + Tailwind CSS</a:t>
            </a:r>
            <a:endParaRPr lang="en-US" sz="1600" dirty="0">
              <a:latin typeface="Meiryo UI"/>
              <a:ea typeface="Meiryo UI"/>
            </a:endParaRPr>
          </a:p>
        </p:txBody>
      </p:sp>
      <p:sp>
        <p:nvSpPr>
          <p:cNvPr id="8" name="Text 6"/>
          <p:cNvSpPr/>
          <p:nvPr/>
        </p:nvSpPr>
        <p:spPr>
          <a:xfrm>
            <a:off x="1097280" y="4983480"/>
            <a:ext cx="10058400" cy="411480"/>
          </a:xfrm>
          <a:prstGeom prst="rect">
            <a:avLst/>
          </a:prstGeom>
          <a:noFill/>
          <a:ln/>
        </p:spPr>
        <p:txBody>
          <a:bodyPr wrap="square" lIns="0" tIns="0" rIns="0" bIns="0" rtlCol="0" anchor="ctr"/>
          <a:lstStyle/>
          <a:p>
            <a:pPr marL="0" indent="0">
              <a:buNone/>
            </a:pPr>
            <a:r>
              <a:rPr lang="en-US" sz="1600" dirty="0">
                <a:solidFill>
                  <a:srgbClr val="CBD5E1"/>
                </a:solidFill>
                <a:latin typeface="Meiryo UI" pitchFamily="34" charset="0"/>
                <a:ea typeface="Meiryo UI" pitchFamily="34" charset="-122"/>
                <a:cs typeface="Meiryo UI" pitchFamily="34" charset="-120"/>
              </a:rPr>
              <a:t>6-8 分のプレゼンテーション（初心者向け・v6 最新版）</a:t>
            </a:r>
            <a:endParaRPr lang="en-US" sz="1600" dirty="0">
              <a:latin typeface="Meiryo UI"/>
              <a:ea typeface="Meiryo UI"/>
            </a:endParaRPr>
          </a:p>
        </p:txBody>
      </p:sp>
      <p:sp>
        <p:nvSpPr>
          <p:cNvPr id="9" name="Text 7"/>
          <p:cNvSpPr/>
          <p:nvPr/>
        </p:nvSpPr>
        <p:spPr>
          <a:xfrm>
            <a:off x="1097280" y="5943600"/>
            <a:ext cx="5486400" cy="365760"/>
          </a:xfrm>
          <a:prstGeom prst="rect">
            <a:avLst/>
          </a:prstGeom>
          <a:noFill/>
          <a:ln/>
        </p:spPr>
        <p:txBody>
          <a:bodyPr wrap="square" lIns="0" tIns="0" rIns="0" bIns="0" rtlCol="0" anchor="ctr"/>
          <a:lstStyle/>
          <a:p>
            <a:pPr marL="0" indent="0">
              <a:buNone/>
            </a:pPr>
            <a:r>
              <a:rPr lang="en-US" sz="1400" dirty="0">
                <a:solidFill>
                  <a:srgbClr val="94A3B8"/>
                </a:solidFill>
                <a:latin typeface="Meiryo UI" pitchFamily="34" charset="0"/>
                <a:ea typeface="Meiryo UI" pitchFamily="34" charset="-122"/>
                <a:cs typeface="Meiryo UI" pitchFamily="34" charset="-120"/>
              </a:rPr>
              <a:t>株式会社ライトパス</a:t>
            </a:r>
            <a:endParaRPr lang="en-US" sz="1400" dirty="0">
              <a:latin typeface="Meiryo UI"/>
              <a:ea typeface="Meiryo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01  OVERVIEW</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プロジェクト概要</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最新のレシピで「ちゃんと動く本格的な会社サイト」を一式作りました。</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安全・スマホ対応・気持ちいい動き・日英対応 ぜんぶ入りです。</a:t>
            </a:r>
            <a:endParaRPr lang="en-US" sz="1800" dirty="0">
              <a:latin typeface="Meiryo UI"/>
              <a:ea typeface="Meiryo UI"/>
            </a:endParaRPr>
          </a:p>
        </p:txBody>
      </p:sp>
      <p:sp>
        <p:nvSpPr>
          <p:cNvPr id="10" name="Shape 8"/>
          <p:cNvSpPr/>
          <p:nvPr/>
        </p:nvSpPr>
        <p:spPr>
          <a:xfrm>
            <a:off x="548640" y="2971800"/>
            <a:ext cx="3566160" cy="3246120"/>
          </a:xfrm>
          <a:prstGeom prst="rect">
            <a:avLst/>
          </a:prstGeom>
          <a:solidFill>
            <a:srgbClr val="F8FAFC"/>
          </a:solidFill>
          <a:ln w="6350">
            <a:solidFill>
              <a:srgbClr val="E2E8F0"/>
            </a:solidFill>
            <a:prstDash val="solid"/>
          </a:ln>
        </p:spPr>
        <p:txBody>
          <a:bodyPr/>
          <a:lstStyle/>
          <a:p>
            <a:endParaRPr lang="ja-JP" altLang="en-US"/>
          </a:p>
        </p:txBody>
      </p:sp>
      <p:sp>
        <p:nvSpPr>
          <p:cNvPr id="11" name="Shape 9"/>
          <p:cNvSpPr/>
          <p:nvPr/>
        </p:nvSpPr>
        <p:spPr>
          <a:xfrm>
            <a:off x="548640" y="2971800"/>
            <a:ext cx="3566160" cy="548640"/>
          </a:xfrm>
          <a:prstGeom prst="rect">
            <a:avLst/>
          </a:prstGeom>
          <a:solidFill>
            <a:srgbClr val="EBC528"/>
          </a:solidFill>
          <a:ln/>
        </p:spPr>
        <p:txBody>
          <a:bodyPr/>
          <a:lstStyle/>
          <a:p>
            <a:endParaRPr lang="ja-JP" altLang="en-US"/>
          </a:p>
        </p:txBody>
      </p:sp>
      <p:sp>
        <p:nvSpPr>
          <p:cNvPr id="12" name="Text 10"/>
          <p:cNvSpPr/>
          <p:nvPr/>
        </p:nvSpPr>
        <p:spPr>
          <a:xfrm>
            <a:off x="777240" y="2971800"/>
            <a:ext cx="3200400" cy="548640"/>
          </a:xfrm>
          <a:prstGeom prst="rect">
            <a:avLst/>
          </a:prstGeom>
          <a:noFill/>
          <a:ln/>
        </p:spPr>
        <p:txBody>
          <a:bodyPr wrap="square" lIns="0" tIns="0" rIns="0" bIns="0" rtlCol="0" anchor="ctr"/>
          <a:lstStyle/>
          <a:p>
            <a:pPr marL="0" indent="0">
              <a:buNone/>
            </a:pPr>
            <a:r>
              <a:rPr lang="ja-JP" altLang="en-US" sz="1700" b="1" dirty="0">
                <a:solidFill>
                  <a:srgbClr val="0F172A"/>
                </a:solidFill>
                <a:latin typeface="Meiryo UI" pitchFamily="34" charset="0"/>
                <a:ea typeface="Meiryo UI" pitchFamily="34" charset="-122"/>
              </a:rPr>
              <a:t>使用ソフトウェア</a:t>
            </a:r>
            <a:endParaRPr lang="en-US" sz="1700" dirty="0">
              <a:latin typeface="Meiryo UI"/>
              <a:ea typeface="Meiryo UI"/>
            </a:endParaRPr>
          </a:p>
        </p:txBody>
      </p:sp>
      <p:sp>
        <p:nvSpPr>
          <p:cNvPr id="13" name="Text 11"/>
          <p:cNvSpPr/>
          <p:nvPr/>
        </p:nvSpPr>
        <p:spPr>
          <a:xfrm>
            <a:off x="777240" y="3611880"/>
            <a:ext cx="3200400" cy="2514600"/>
          </a:xfrm>
          <a:prstGeom prst="rect">
            <a:avLst/>
          </a:prstGeom>
          <a:noFill/>
          <a:ln/>
        </p:spPr>
        <p:txBody>
          <a:bodyPr wrap="square" rtlCol="0" anchor="ctr"/>
          <a:lstStyle/>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Next.js 15 (App Router)</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React 19 / TypeScript</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Tailwind CSS 3.4</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CSS Variables でテーマ管理</a:t>
            </a:r>
            <a:endParaRPr lang="en-US" sz="1400" dirty="0">
              <a:latin typeface="Meiryo UI"/>
              <a:ea typeface="Meiryo UI"/>
            </a:endParaRPr>
          </a:p>
        </p:txBody>
      </p:sp>
      <p:sp>
        <p:nvSpPr>
          <p:cNvPr id="14" name="Shape 12"/>
          <p:cNvSpPr/>
          <p:nvPr/>
        </p:nvSpPr>
        <p:spPr>
          <a:xfrm>
            <a:off x="4343400" y="2971800"/>
            <a:ext cx="3566160" cy="3246120"/>
          </a:xfrm>
          <a:prstGeom prst="rect">
            <a:avLst/>
          </a:prstGeom>
          <a:solidFill>
            <a:srgbClr val="F8FAFC"/>
          </a:solidFill>
          <a:ln w="6350">
            <a:solidFill>
              <a:srgbClr val="E2E8F0"/>
            </a:solidFill>
            <a:prstDash val="solid"/>
          </a:ln>
        </p:spPr>
        <p:txBody>
          <a:bodyPr/>
          <a:lstStyle/>
          <a:p>
            <a:endParaRPr lang="ja-JP" altLang="en-US"/>
          </a:p>
        </p:txBody>
      </p:sp>
      <p:sp>
        <p:nvSpPr>
          <p:cNvPr id="15" name="Shape 13"/>
          <p:cNvSpPr/>
          <p:nvPr/>
        </p:nvSpPr>
        <p:spPr>
          <a:xfrm>
            <a:off x="4343400" y="2971800"/>
            <a:ext cx="3566160" cy="548640"/>
          </a:xfrm>
          <a:prstGeom prst="rect">
            <a:avLst/>
          </a:prstGeom>
          <a:solidFill>
            <a:srgbClr val="10B981"/>
          </a:solidFill>
          <a:ln/>
        </p:spPr>
        <p:txBody>
          <a:bodyPr/>
          <a:lstStyle/>
          <a:p>
            <a:endParaRPr lang="ja-JP" altLang="en-US"/>
          </a:p>
        </p:txBody>
      </p:sp>
      <p:sp>
        <p:nvSpPr>
          <p:cNvPr id="16" name="Text 14"/>
          <p:cNvSpPr/>
          <p:nvPr/>
        </p:nvSpPr>
        <p:spPr>
          <a:xfrm>
            <a:off x="4572000" y="2971800"/>
            <a:ext cx="3200400" cy="548640"/>
          </a:xfrm>
          <a:prstGeom prst="rect">
            <a:avLst/>
          </a:prstGeom>
          <a:noFill/>
          <a:ln/>
        </p:spPr>
        <p:txBody>
          <a:bodyPr wrap="square" lIns="0" tIns="0" rIns="0" bIns="0" rtlCol="0" anchor="ctr"/>
          <a:lstStyle/>
          <a:p>
            <a:pPr marL="0" indent="0">
              <a:buNone/>
            </a:pPr>
            <a:r>
              <a:rPr lang="en-US" sz="1700" b="1" dirty="0">
                <a:solidFill>
                  <a:srgbClr val="FFFFFF"/>
                </a:solidFill>
                <a:latin typeface="Meiryo UI" pitchFamily="34" charset="0"/>
                <a:ea typeface="Meiryo UI" pitchFamily="34" charset="-122"/>
                <a:cs typeface="Meiryo UI" pitchFamily="34" charset="-120"/>
              </a:rPr>
              <a:t>実装ページ</a:t>
            </a:r>
            <a:endParaRPr lang="en-US" sz="1700" dirty="0">
              <a:latin typeface="Meiryo UI"/>
              <a:ea typeface="Meiryo UI"/>
            </a:endParaRPr>
          </a:p>
        </p:txBody>
      </p:sp>
      <p:sp>
        <p:nvSpPr>
          <p:cNvPr id="17" name="Text 15"/>
          <p:cNvSpPr/>
          <p:nvPr/>
        </p:nvSpPr>
        <p:spPr>
          <a:xfrm>
            <a:off x="4572000" y="3611880"/>
            <a:ext cx="3200400" cy="2514600"/>
          </a:xfrm>
          <a:prstGeom prst="rect">
            <a:avLst/>
          </a:prstGeom>
          <a:noFill/>
          <a:ln/>
        </p:spPr>
        <p:txBody>
          <a:bodyPr wrap="square" rtlCol="0" anchor="ctr"/>
          <a:lstStyle/>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ホーム（動画背景）</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会社案内</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採用（カルーセル 4 枚）</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お問い合わせ / プライバシー</a:t>
            </a:r>
            <a:endParaRPr lang="en-US" sz="1400" dirty="0">
              <a:latin typeface="Meiryo UI"/>
              <a:ea typeface="Meiryo UI"/>
            </a:endParaRPr>
          </a:p>
        </p:txBody>
      </p:sp>
      <p:sp>
        <p:nvSpPr>
          <p:cNvPr id="18" name="Shape 16"/>
          <p:cNvSpPr/>
          <p:nvPr/>
        </p:nvSpPr>
        <p:spPr>
          <a:xfrm>
            <a:off x="8138160" y="2971800"/>
            <a:ext cx="3566160" cy="3246120"/>
          </a:xfrm>
          <a:prstGeom prst="rect">
            <a:avLst/>
          </a:prstGeom>
          <a:solidFill>
            <a:srgbClr val="F8FAFC"/>
          </a:solidFill>
          <a:ln w="6350">
            <a:solidFill>
              <a:srgbClr val="E2E8F0"/>
            </a:solidFill>
            <a:prstDash val="solid"/>
          </a:ln>
        </p:spPr>
        <p:txBody>
          <a:bodyPr/>
          <a:lstStyle/>
          <a:p>
            <a:endParaRPr lang="ja-JP" altLang="en-US"/>
          </a:p>
        </p:txBody>
      </p:sp>
      <p:sp>
        <p:nvSpPr>
          <p:cNvPr id="19" name="Shape 17"/>
          <p:cNvSpPr/>
          <p:nvPr/>
        </p:nvSpPr>
        <p:spPr>
          <a:xfrm>
            <a:off x="8138160" y="2971800"/>
            <a:ext cx="3566160" cy="548640"/>
          </a:xfrm>
          <a:prstGeom prst="rect">
            <a:avLst/>
          </a:prstGeom>
          <a:solidFill>
            <a:srgbClr val="EF4444"/>
          </a:solidFill>
          <a:ln/>
        </p:spPr>
        <p:txBody>
          <a:bodyPr/>
          <a:lstStyle/>
          <a:p>
            <a:endParaRPr lang="ja-JP" altLang="en-US"/>
          </a:p>
        </p:txBody>
      </p:sp>
      <p:sp>
        <p:nvSpPr>
          <p:cNvPr id="20" name="Text 18"/>
          <p:cNvSpPr/>
          <p:nvPr/>
        </p:nvSpPr>
        <p:spPr>
          <a:xfrm>
            <a:off x="8366760" y="2971800"/>
            <a:ext cx="3200400" cy="548640"/>
          </a:xfrm>
          <a:prstGeom prst="rect">
            <a:avLst/>
          </a:prstGeom>
          <a:noFill/>
          <a:ln/>
        </p:spPr>
        <p:txBody>
          <a:bodyPr wrap="square" lIns="0" tIns="0" rIns="0" bIns="0" rtlCol="0" anchor="ctr"/>
          <a:lstStyle/>
          <a:p>
            <a:pPr marL="0" indent="0">
              <a:buNone/>
            </a:pPr>
            <a:r>
              <a:rPr lang="en-US" sz="1700" b="1" dirty="0">
                <a:solidFill>
                  <a:srgbClr val="FFFFFF"/>
                </a:solidFill>
                <a:latin typeface="Meiryo UI" pitchFamily="34" charset="0"/>
                <a:ea typeface="Meiryo UI" pitchFamily="34" charset="-122"/>
                <a:cs typeface="Meiryo UI" pitchFamily="34" charset="-120"/>
              </a:rPr>
              <a:t>重点アピール</a:t>
            </a:r>
            <a:endParaRPr lang="en-US" sz="1700" dirty="0">
              <a:latin typeface="Meiryo UI"/>
              <a:ea typeface="Meiryo UI"/>
            </a:endParaRPr>
          </a:p>
        </p:txBody>
      </p:sp>
      <p:sp>
        <p:nvSpPr>
          <p:cNvPr id="21" name="Text 19"/>
          <p:cNvSpPr/>
          <p:nvPr/>
        </p:nvSpPr>
        <p:spPr>
          <a:xfrm>
            <a:off x="8366760" y="3611880"/>
            <a:ext cx="3200400" cy="2514600"/>
          </a:xfrm>
          <a:prstGeom prst="rect">
            <a:avLst/>
          </a:prstGeom>
          <a:noFill/>
          <a:ln/>
        </p:spPr>
        <p:txBody>
          <a:bodyPr wrap="square" rtlCol="0" anchor="ctr"/>
          <a:lstStyle/>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セキュリティ（多層防御）</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スマホ用 UX</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動画・カルーセル・マーキー</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日英切替（i18n）</a:t>
            </a:r>
            <a:endParaRPr lang="en-US" sz="1400" dirty="0">
              <a:latin typeface="Meiryo UI"/>
              <a:ea typeface="Meiryo UI"/>
            </a:endParaRPr>
          </a:p>
        </p:txBody>
      </p:sp>
      <p:sp>
        <p:nvSpPr>
          <p:cNvPr id="22" name="Text 20"/>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23" name="Text 21"/>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2 / 10</a:t>
            </a:r>
            <a:endParaRPr lang="en-US" sz="1000" dirty="0">
              <a:latin typeface="Meiryo UI"/>
              <a:ea typeface="Meiryo UI"/>
            </a:endParaRPr>
          </a:p>
        </p:txBody>
      </p:sp>
      <p:pic>
        <p:nvPicPr>
          <p:cNvPr id="24" name="Picture 23"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02  DESIGN</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デザインで工夫したところ</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色は 1 か所で管理し、見出しは「▎」風の黄色縦棒で統一。</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後から色変えも見た目調整も、少ない編集で全ページ一括反映できます。</a:t>
            </a:r>
            <a:endParaRPr lang="en-US" sz="1800" dirty="0">
              <a:latin typeface="Meiryo UI"/>
              <a:ea typeface="Meiryo UI"/>
            </a:endParaRPr>
          </a:p>
        </p:txBody>
      </p:sp>
      <p:sp>
        <p:nvSpPr>
          <p:cNvPr id="10" name="Shape 8"/>
          <p:cNvSpPr/>
          <p:nvPr/>
        </p:nvSpPr>
        <p:spPr>
          <a:xfrm>
            <a:off x="548640" y="2971800"/>
            <a:ext cx="5486400" cy="3246120"/>
          </a:xfrm>
          <a:prstGeom prst="rect">
            <a:avLst/>
          </a:prstGeom>
          <a:solidFill>
            <a:srgbClr val="F8FAFC"/>
          </a:solidFill>
          <a:ln w="6350">
            <a:solidFill>
              <a:srgbClr val="E2E8F0"/>
            </a:solidFill>
            <a:prstDash val="solid"/>
          </a:ln>
        </p:spPr>
        <p:txBody>
          <a:bodyPr/>
          <a:lstStyle/>
          <a:p>
            <a:endParaRPr lang="ja-JP" altLang="en-US"/>
          </a:p>
        </p:txBody>
      </p:sp>
      <p:sp>
        <p:nvSpPr>
          <p:cNvPr id="11" name="Text 9"/>
          <p:cNvSpPr/>
          <p:nvPr/>
        </p:nvSpPr>
        <p:spPr>
          <a:xfrm>
            <a:off x="822960" y="3063240"/>
            <a:ext cx="4937760" cy="365760"/>
          </a:xfrm>
          <a:prstGeom prst="rect">
            <a:avLst/>
          </a:prstGeom>
          <a:noFill/>
          <a:ln/>
        </p:spPr>
        <p:txBody>
          <a:bodyPr wrap="square" lIns="0" tIns="0" rIns="0" bIns="0" rtlCol="0" anchor="ctr"/>
          <a:lstStyle/>
          <a:p>
            <a:pPr marL="0" indent="0">
              <a:buNone/>
            </a:pPr>
            <a:r>
              <a:rPr lang="en-US" sz="1600" b="1" dirty="0">
                <a:solidFill>
                  <a:srgbClr val="0F172A"/>
                </a:solidFill>
                <a:latin typeface="Meiryo UI" pitchFamily="34" charset="0"/>
                <a:ea typeface="Meiryo UI" pitchFamily="34" charset="-122"/>
                <a:cs typeface="Meiryo UI" pitchFamily="34" charset="-120"/>
              </a:rPr>
              <a:t>テーマカラーの集中管理</a:t>
            </a:r>
            <a:endParaRPr lang="en-US" sz="1600" dirty="0">
              <a:latin typeface="Meiryo UI"/>
              <a:ea typeface="Meiryo UI"/>
            </a:endParaRPr>
          </a:p>
        </p:txBody>
      </p:sp>
      <p:sp>
        <p:nvSpPr>
          <p:cNvPr id="12" name="Shape 10"/>
          <p:cNvSpPr/>
          <p:nvPr/>
        </p:nvSpPr>
        <p:spPr>
          <a:xfrm>
            <a:off x="822960" y="3566160"/>
            <a:ext cx="1371600" cy="822960"/>
          </a:xfrm>
          <a:prstGeom prst="rect">
            <a:avLst/>
          </a:prstGeom>
          <a:solidFill>
            <a:srgbClr val="EBC528"/>
          </a:solidFill>
          <a:ln/>
        </p:spPr>
        <p:txBody>
          <a:bodyPr/>
          <a:lstStyle/>
          <a:p>
            <a:endParaRPr lang="ja-JP" altLang="en-US"/>
          </a:p>
        </p:txBody>
      </p:sp>
      <p:sp>
        <p:nvSpPr>
          <p:cNvPr id="13" name="Text 11"/>
          <p:cNvSpPr/>
          <p:nvPr/>
        </p:nvSpPr>
        <p:spPr>
          <a:xfrm>
            <a:off x="822960" y="3566160"/>
            <a:ext cx="1371600" cy="365760"/>
          </a:xfrm>
          <a:prstGeom prst="rect">
            <a:avLst/>
          </a:prstGeom>
          <a:noFill/>
          <a:ln/>
        </p:spPr>
        <p:txBody>
          <a:bodyPr wrap="square" lIns="0" tIns="0" rIns="0" bIns="0" rtlCol="0" anchor="t"/>
          <a:lstStyle/>
          <a:p>
            <a:pPr marL="0" indent="0" algn="ctr">
              <a:buNone/>
            </a:pPr>
            <a:r>
              <a:rPr lang="en-US" sz="1000" b="1" dirty="0">
                <a:solidFill>
                  <a:srgbClr val="0F172A"/>
                </a:solidFill>
                <a:latin typeface="Meiryo UI" pitchFamily="34" charset="0"/>
                <a:ea typeface="Meiryo UI" pitchFamily="34" charset="-122"/>
                <a:cs typeface="Meiryo UI" pitchFamily="34" charset="-120"/>
              </a:rPr>
              <a:t>PRIMARY</a:t>
            </a:r>
            <a:endParaRPr lang="en-US" sz="1000" dirty="0">
              <a:latin typeface="Meiryo UI"/>
              <a:ea typeface="Meiryo UI"/>
            </a:endParaRPr>
          </a:p>
        </p:txBody>
      </p:sp>
      <p:sp>
        <p:nvSpPr>
          <p:cNvPr id="14" name="Text 12"/>
          <p:cNvSpPr/>
          <p:nvPr/>
        </p:nvSpPr>
        <p:spPr>
          <a:xfrm>
            <a:off x="822960" y="3886200"/>
            <a:ext cx="1371600" cy="457200"/>
          </a:xfrm>
          <a:prstGeom prst="rect">
            <a:avLst/>
          </a:prstGeom>
          <a:noFill/>
          <a:ln/>
        </p:spPr>
        <p:txBody>
          <a:bodyPr wrap="square" lIns="0" tIns="0" rIns="0" bIns="0" rtlCol="0" anchor="ctr"/>
          <a:lstStyle/>
          <a:p>
            <a:pPr marL="0" indent="0" algn="ctr">
              <a:buNone/>
            </a:pPr>
            <a:r>
              <a:rPr lang="en-US" sz="1200" b="1" dirty="0">
                <a:solidFill>
                  <a:srgbClr val="0F172A"/>
                </a:solidFill>
                <a:latin typeface="Meiryo UI" pitchFamily="34" charset="0"/>
                <a:ea typeface="Meiryo UI" pitchFamily="34" charset="-122"/>
                <a:cs typeface="Meiryo UI" pitchFamily="34" charset="-120"/>
              </a:rPr>
              <a:t>#EBC528</a:t>
            </a:r>
            <a:endParaRPr lang="en-US" sz="1200" dirty="0">
              <a:latin typeface="Meiryo UI"/>
              <a:ea typeface="Meiryo UI"/>
            </a:endParaRPr>
          </a:p>
        </p:txBody>
      </p:sp>
      <p:sp>
        <p:nvSpPr>
          <p:cNvPr id="15" name="Shape 13"/>
          <p:cNvSpPr/>
          <p:nvPr/>
        </p:nvSpPr>
        <p:spPr>
          <a:xfrm>
            <a:off x="2331720" y="3566160"/>
            <a:ext cx="1371600" cy="822960"/>
          </a:xfrm>
          <a:prstGeom prst="rect">
            <a:avLst/>
          </a:prstGeom>
          <a:solidFill>
            <a:srgbClr val="0F172A"/>
          </a:solidFill>
          <a:ln/>
        </p:spPr>
        <p:txBody>
          <a:bodyPr/>
          <a:lstStyle/>
          <a:p>
            <a:endParaRPr lang="ja-JP" altLang="en-US"/>
          </a:p>
        </p:txBody>
      </p:sp>
      <p:sp>
        <p:nvSpPr>
          <p:cNvPr id="16" name="Text 14"/>
          <p:cNvSpPr/>
          <p:nvPr/>
        </p:nvSpPr>
        <p:spPr>
          <a:xfrm>
            <a:off x="2331720" y="3566160"/>
            <a:ext cx="1371600" cy="365760"/>
          </a:xfrm>
          <a:prstGeom prst="rect">
            <a:avLst/>
          </a:prstGeom>
          <a:noFill/>
          <a:ln/>
        </p:spPr>
        <p:txBody>
          <a:bodyPr wrap="square" lIns="0" tIns="0" rIns="0" bIns="0" rtlCol="0" anchor="t"/>
          <a:lstStyle/>
          <a:p>
            <a:pPr marL="0" indent="0" algn="ctr">
              <a:buNone/>
            </a:pPr>
            <a:r>
              <a:rPr lang="en-US" sz="1000" b="1" dirty="0">
                <a:solidFill>
                  <a:srgbClr val="EBC528"/>
                </a:solidFill>
                <a:latin typeface="Meiryo UI" pitchFamily="34" charset="0"/>
                <a:ea typeface="Meiryo UI" pitchFamily="34" charset="-122"/>
                <a:cs typeface="Meiryo UI" pitchFamily="34" charset="-120"/>
              </a:rPr>
              <a:t>ACCENT</a:t>
            </a:r>
            <a:endParaRPr lang="en-US" sz="1000" dirty="0">
              <a:latin typeface="Meiryo UI"/>
              <a:ea typeface="Meiryo UI"/>
            </a:endParaRPr>
          </a:p>
        </p:txBody>
      </p:sp>
      <p:sp>
        <p:nvSpPr>
          <p:cNvPr id="17" name="Text 15"/>
          <p:cNvSpPr/>
          <p:nvPr/>
        </p:nvSpPr>
        <p:spPr>
          <a:xfrm>
            <a:off x="2331720" y="3886200"/>
            <a:ext cx="1371600" cy="457200"/>
          </a:xfrm>
          <a:prstGeom prst="rect">
            <a:avLst/>
          </a:prstGeom>
          <a:noFill/>
          <a:ln/>
        </p:spPr>
        <p:txBody>
          <a:bodyPr wrap="square" lIns="0" tIns="0" rIns="0" bIns="0" rtlCol="0" anchor="ctr"/>
          <a:lstStyle/>
          <a:p>
            <a:pPr marL="0" indent="0" algn="ctr">
              <a:buNone/>
            </a:pPr>
            <a:r>
              <a:rPr lang="en-US" sz="1200" b="1" dirty="0">
                <a:solidFill>
                  <a:srgbClr val="EBC528"/>
                </a:solidFill>
                <a:latin typeface="Meiryo UI" pitchFamily="34" charset="0"/>
                <a:ea typeface="Meiryo UI" pitchFamily="34" charset="-122"/>
                <a:cs typeface="Meiryo UI" pitchFamily="34" charset="-120"/>
              </a:rPr>
              <a:t>#0F172A</a:t>
            </a:r>
            <a:endParaRPr lang="en-US" sz="1200" dirty="0">
              <a:latin typeface="Meiryo UI"/>
              <a:ea typeface="Meiryo UI"/>
            </a:endParaRPr>
          </a:p>
        </p:txBody>
      </p:sp>
      <p:sp>
        <p:nvSpPr>
          <p:cNvPr id="18" name="Shape 16"/>
          <p:cNvSpPr/>
          <p:nvPr/>
        </p:nvSpPr>
        <p:spPr>
          <a:xfrm>
            <a:off x="3840480" y="3566160"/>
            <a:ext cx="1371600" cy="822960"/>
          </a:xfrm>
          <a:prstGeom prst="rect">
            <a:avLst/>
          </a:prstGeom>
          <a:solidFill>
            <a:srgbClr val="F8FAFC"/>
          </a:solidFill>
          <a:ln w="6350">
            <a:solidFill>
              <a:srgbClr val="E2E8F0"/>
            </a:solidFill>
            <a:prstDash val="solid"/>
          </a:ln>
        </p:spPr>
        <p:txBody>
          <a:bodyPr/>
          <a:lstStyle/>
          <a:p>
            <a:endParaRPr lang="ja-JP" altLang="en-US"/>
          </a:p>
        </p:txBody>
      </p:sp>
      <p:sp>
        <p:nvSpPr>
          <p:cNvPr id="19" name="Text 17"/>
          <p:cNvSpPr/>
          <p:nvPr/>
        </p:nvSpPr>
        <p:spPr>
          <a:xfrm>
            <a:off x="3840480" y="3566160"/>
            <a:ext cx="1371600" cy="365760"/>
          </a:xfrm>
          <a:prstGeom prst="rect">
            <a:avLst/>
          </a:prstGeom>
          <a:noFill/>
          <a:ln/>
        </p:spPr>
        <p:txBody>
          <a:bodyPr wrap="square" lIns="0" tIns="0" rIns="0" bIns="0" rtlCol="0" anchor="t"/>
          <a:lstStyle/>
          <a:p>
            <a:pPr marL="0" indent="0" algn="ctr">
              <a:buNone/>
            </a:pPr>
            <a:r>
              <a:rPr lang="en-US" sz="1000" b="1" dirty="0">
                <a:solidFill>
                  <a:srgbClr val="0F172A"/>
                </a:solidFill>
                <a:latin typeface="Meiryo UI" pitchFamily="34" charset="0"/>
                <a:ea typeface="Meiryo UI" pitchFamily="34" charset="-122"/>
                <a:cs typeface="Meiryo UI" pitchFamily="34" charset="-120"/>
              </a:rPr>
              <a:t>BG</a:t>
            </a:r>
            <a:endParaRPr lang="en-US" sz="1000" dirty="0">
              <a:latin typeface="Meiryo UI"/>
              <a:ea typeface="Meiryo UI"/>
            </a:endParaRPr>
          </a:p>
        </p:txBody>
      </p:sp>
      <p:sp>
        <p:nvSpPr>
          <p:cNvPr id="20" name="Text 18"/>
          <p:cNvSpPr/>
          <p:nvPr/>
        </p:nvSpPr>
        <p:spPr>
          <a:xfrm>
            <a:off x="3840480" y="3886200"/>
            <a:ext cx="1371600" cy="457200"/>
          </a:xfrm>
          <a:prstGeom prst="rect">
            <a:avLst/>
          </a:prstGeom>
          <a:noFill/>
          <a:ln/>
        </p:spPr>
        <p:txBody>
          <a:bodyPr wrap="square" lIns="0" tIns="0" rIns="0" bIns="0" rtlCol="0" anchor="ctr"/>
          <a:lstStyle/>
          <a:p>
            <a:pPr marL="0" indent="0" algn="ctr">
              <a:buNone/>
            </a:pPr>
            <a:r>
              <a:rPr lang="en-US" sz="1200" b="1" dirty="0">
                <a:solidFill>
                  <a:srgbClr val="0F172A"/>
                </a:solidFill>
                <a:latin typeface="Meiryo UI" pitchFamily="34" charset="0"/>
                <a:ea typeface="Meiryo UI" pitchFamily="34" charset="-122"/>
                <a:cs typeface="Meiryo UI" pitchFamily="34" charset="-120"/>
              </a:rPr>
              <a:t>#F8FAFC</a:t>
            </a:r>
            <a:endParaRPr lang="en-US" sz="1200" dirty="0">
              <a:latin typeface="Meiryo UI"/>
              <a:ea typeface="Meiryo UI"/>
            </a:endParaRPr>
          </a:p>
        </p:txBody>
      </p:sp>
      <p:sp>
        <p:nvSpPr>
          <p:cNvPr id="21" name="Text 19"/>
          <p:cNvSpPr/>
          <p:nvPr/>
        </p:nvSpPr>
        <p:spPr>
          <a:xfrm>
            <a:off x="822960" y="4572000"/>
            <a:ext cx="4937760" cy="457200"/>
          </a:xfrm>
          <a:prstGeom prst="rect">
            <a:avLst/>
          </a:prstGeom>
          <a:solidFill>
            <a:srgbClr val="0F172A"/>
          </a:solidFill>
          <a:ln/>
        </p:spPr>
        <p:txBody>
          <a:bodyPr wrap="square" lIns="101600" tIns="101600" rIns="101600" bIns="101600" rtlCol="0" anchor="ctr"/>
          <a:lstStyle/>
          <a:p>
            <a:pPr marL="0" indent="0">
              <a:buNone/>
            </a:pPr>
            <a:r>
              <a:rPr lang="en-US" sz="1400" b="1" dirty="0">
                <a:solidFill>
                  <a:srgbClr val="EBC528"/>
                </a:solidFill>
                <a:latin typeface="Meiryo UI" pitchFamily="34" charset="0"/>
                <a:ea typeface="Meiryo UI" pitchFamily="34" charset="-122"/>
                <a:cs typeface="Meiryo UI" pitchFamily="34" charset="-120"/>
              </a:rPr>
              <a:t>--color-primary: #ebc528;</a:t>
            </a:r>
            <a:endParaRPr lang="en-US" sz="1400" dirty="0">
              <a:latin typeface="Meiryo UI"/>
              <a:ea typeface="Meiryo UI"/>
            </a:endParaRPr>
          </a:p>
        </p:txBody>
      </p:sp>
      <p:sp>
        <p:nvSpPr>
          <p:cNvPr id="22" name="Text 20"/>
          <p:cNvSpPr/>
          <p:nvPr/>
        </p:nvSpPr>
        <p:spPr>
          <a:xfrm>
            <a:off x="822960" y="5120640"/>
            <a:ext cx="4937760" cy="457200"/>
          </a:xfrm>
          <a:prstGeom prst="rect">
            <a:avLst/>
          </a:prstGeom>
          <a:noFill/>
          <a:ln/>
        </p:spPr>
        <p:txBody>
          <a:bodyPr wrap="square" lIns="0" tIns="0" rIns="0" bIns="0" rtlCol="0" anchor="ctr"/>
          <a:lstStyle/>
          <a:p>
            <a:pPr marL="0" indent="0">
              <a:buNone/>
            </a:pPr>
            <a:r>
              <a:rPr lang="en-US" sz="1100" i="1" dirty="0">
                <a:solidFill>
                  <a:srgbClr val="64748B"/>
                </a:solidFill>
                <a:latin typeface="Meiryo UI" pitchFamily="34" charset="0"/>
                <a:ea typeface="Meiryo UI" pitchFamily="34" charset="-122"/>
                <a:cs typeface="Meiryo UI" pitchFamily="34" charset="-120"/>
              </a:rPr>
              <a:t>この 1 行を書き換えるだけで、ボタン・下線・ホバー枠の色が全ページ切替</a:t>
            </a:r>
            <a:endParaRPr lang="en-US" sz="1100" dirty="0">
              <a:latin typeface="Meiryo UI"/>
              <a:ea typeface="Meiryo UI"/>
            </a:endParaRPr>
          </a:p>
        </p:txBody>
      </p:sp>
      <p:sp>
        <p:nvSpPr>
          <p:cNvPr id="23" name="Text 21"/>
          <p:cNvSpPr/>
          <p:nvPr/>
        </p:nvSpPr>
        <p:spPr>
          <a:xfrm>
            <a:off x="6355080" y="2911499"/>
            <a:ext cx="5212080" cy="365760"/>
          </a:xfrm>
          <a:prstGeom prst="rect">
            <a:avLst/>
          </a:prstGeom>
          <a:noFill/>
          <a:ln/>
        </p:spPr>
        <p:txBody>
          <a:bodyPr wrap="square" lIns="0" tIns="0" rIns="0" bIns="0" rtlCol="0" anchor="ctr"/>
          <a:lstStyle/>
          <a:p>
            <a:pPr marL="0" indent="0">
              <a:buNone/>
            </a:pPr>
            <a:r>
              <a:rPr lang="en-US" sz="1600" b="1" dirty="0">
                <a:solidFill>
                  <a:srgbClr val="0F172A"/>
                </a:solidFill>
                <a:latin typeface="Meiryo UI" pitchFamily="34" charset="0"/>
                <a:ea typeface="Meiryo UI" pitchFamily="34" charset="-122"/>
                <a:cs typeface="Meiryo UI" pitchFamily="34" charset="-120"/>
              </a:rPr>
              <a:t>見出しスタイル：縦棒に統一</a:t>
            </a:r>
            <a:endParaRPr lang="en-US" sz="1600" dirty="0">
              <a:latin typeface="Meiryo UI"/>
              <a:ea typeface="Meiryo UI"/>
            </a:endParaRPr>
          </a:p>
        </p:txBody>
      </p:sp>
      <p:sp>
        <p:nvSpPr>
          <p:cNvPr id="24" name="Text 22"/>
          <p:cNvSpPr/>
          <p:nvPr/>
        </p:nvSpPr>
        <p:spPr>
          <a:xfrm>
            <a:off x="6400800" y="3394154"/>
            <a:ext cx="914400" cy="274320"/>
          </a:xfrm>
          <a:prstGeom prst="rect">
            <a:avLst/>
          </a:prstGeom>
          <a:noFill/>
          <a:ln/>
        </p:spPr>
        <p:txBody>
          <a:bodyPr wrap="square" lIns="0" tIns="0" rIns="0" bIns="0" rtlCol="0" anchor="ctr"/>
          <a:lstStyle/>
          <a:p>
            <a:pPr marL="0" indent="0">
              <a:buNone/>
            </a:pPr>
            <a:r>
              <a:rPr lang="en-US" sz="1000" b="1" dirty="0">
                <a:solidFill>
                  <a:srgbClr val="64748B"/>
                </a:solidFill>
                <a:latin typeface="Meiryo UI" pitchFamily="34" charset="0"/>
                <a:ea typeface="Meiryo UI" pitchFamily="34" charset="-122"/>
                <a:cs typeface="Meiryo UI" pitchFamily="34" charset="-120"/>
              </a:rPr>
              <a:t>BEFORE</a:t>
            </a:r>
            <a:endParaRPr lang="en-US" sz="1000" dirty="0">
              <a:latin typeface="Meiryo UI"/>
              <a:ea typeface="Meiryo UI"/>
            </a:endParaRPr>
          </a:p>
        </p:txBody>
      </p:sp>
      <p:sp>
        <p:nvSpPr>
          <p:cNvPr id="25" name="Text 23"/>
          <p:cNvSpPr/>
          <p:nvPr/>
        </p:nvSpPr>
        <p:spPr>
          <a:xfrm>
            <a:off x="7360920" y="3348434"/>
            <a:ext cx="4206240" cy="384048"/>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アクセスマップ</a:t>
            </a:r>
            <a:endParaRPr lang="en-US" sz="1800" dirty="0">
              <a:latin typeface="Meiryo UI"/>
              <a:ea typeface="Meiryo UI"/>
            </a:endParaRPr>
          </a:p>
        </p:txBody>
      </p:sp>
      <p:sp>
        <p:nvSpPr>
          <p:cNvPr id="26" name="Shape 24"/>
          <p:cNvSpPr/>
          <p:nvPr/>
        </p:nvSpPr>
        <p:spPr>
          <a:xfrm>
            <a:off x="7360920" y="3714194"/>
            <a:ext cx="2194560" cy="45720"/>
          </a:xfrm>
          <a:prstGeom prst="rect">
            <a:avLst/>
          </a:prstGeom>
          <a:solidFill>
            <a:srgbClr val="EBC528"/>
          </a:solidFill>
          <a:ln/>
        </p:spPr>
        <p:txBody>
          <a:bodyPr/>
          <a:lstStyle/>
          <a:p>
            <a:endParaRPr lang="ja-JP" altLang="en-US"/>
          </a:p>
        </p:txBody>
      </p:sp>
      <p:sp>
        <p:nvSpPr>
          <p:cNvPr id="27" name="Text 25"/>
          <p:cNvSpPr/>
          <p:nvPr/>
        </p:nvSpPr>
        <p:spPr>
          <a:xfrm>
            <a:off x="6400800" y="4034234"/>
            <a:ext cx="914400" cy="274320"/>
          </a:xfrm>
          <a:prstGeom prst="rect">
            <a:avLst/>
          </a:prstGeom>
          <a:noFill/>
          <a:ln/>
        </p:spPr>
        <p:txBody>
          <a:bodyPr wrap="square" lIns="0" tIns="0" rIns="0" bIns="0" rtlCol="0" anchor="ctr"/>
          <a:lstStyle/>
          <a:p>
            <a:pPr marL="0" indent="0">
              <a:buNone/>
            </a:pPr>
            <a:r>
              <a:rPr lang="en-US" sz="1000" b="1" dirty="0">
                <a:solidFill>
                  <a:srgbClr val="64748B"/>
                </a:solidFill>
                <a:latin typeface="Meiryo UI" pitchFamily="34" charset="0"/>
                <a:ea typeface="Meiryo UI" pitchFamily="34" charset="-122"/>
                <a:cs typeface="Meiryo UI" pitchFamily="34" charset="-120"/>
              </a:rPr>
              <a:t>AFTER</a:t>
            </a:r>
            <a:endParaRPr lang="en-US" sz="1000" dirty="0">
              <a:latin typeface="Meiryo UI"/>
              <a:ea typeface="Meiryo UI"/>
            </a:endParaRPr>
          </a:p>
        </p:txBody>
      </p:sp>
      <p:sp>
        <p:nvSpPr>
          <p:cNvPr id="28" name="Shape 26"/>
          <p:cNvSpPr/>
          <p:nvPr/>
        </p:nvSpPr>
        <p:spPr>
          <a:xfrm>
            <a:off x="7360920" y="4006802"/>
            <a:ext cx="91440" cy="384048"/>
          </a:xfrm>
          <a:prstGeom prst="rect">
            <a:avLst/>
          </a:prstGeom>
          <a:solidFill>
            <a:srgbClr val="EBC528"/>
          </a:solidFill>
          <a:ln/>
        </p:spPr>
        <p:txBody>
          <a:bodyPr/>
          <a:lstStyle/>
          <a:p>
            <a:endParaRPr lang="ja-JP" altLang="en-US"/>
          </a:p>
        </p:txBody>
      </p:sp>
      <p:sp>
        <p:nvSpPr>
          <p:cNvPr id="29" name="Text 27"/>
          <p:cNvSpPr/>
          <p:nvPr/>
        </p:nvSpPr>
        <p:spPr>
          <a:xfrm>
            <a:off x="7543800" y="3988514"/>
            <a:ext cx="4023360" cy="384048"/>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アクセスマップ</a:t>
            </a:r>
            <a:endParaRPr lang="en-US" sz="1800" dirty="0">
              <a:latin typeface="Meiryo UI"/>
              <a:ea typeface="Meiryo UI"/>
            </a:endParaRPr>
          </a:p>
        </p:txBody>
      </p:sp>
      <p:sp>
        <p:nvSpPr>
          <p:cNvPr id="30" name="Shape 28"/>
          <p:cNvSpPr/>
          <p:nvPr/>
        </p:nvSpPr>
        <p:spPr>
          <a:xfrm>
            <a:off x="6400800" y="4582874"/>
            <a:ext cx="5212080" cy="502920"/>
          </a:xfrm>
          <a:prstGeom prst="rect">
            <a:avLst/>
          </a:prstGeom>
          <a:solidFill>
            <a:srgbClr val="FFFFFF"/>
          </a:solidFill>
          <a:ln w="6350">
            <a:solidFill>
              <a:srgbClr val="E2E8F0"/>
            </a:solidFill>
            <a:prstDash val="solid"/>
          </a:ln>
        </p:spPr>
        <p:txBody>
          <a:bodyPr/>
          <a:lstStyle/>
          <a:p>
            <a:endParaRPr lang="ja-JP" altLang="en-US"/>
          </a:p>
        </p:txBody>
      </p:sp>
      <p:sp>
        <p:nvSpPr>
          <p:cNvPr id="31" name="Shape 29"/>
          <p:cNvSpPr/>
          <p:nvPr/>
        </p:nvSpPr>
        <p:spPr>
          <a:xfrm>
            <a:off x="6400800" y="4582874"/>
            <a:ext cx="73152" cy="502920"/>
          </a:xfrm>
          <a:prstGeom prst="rect">
            <a:avLst/>
          </a:prstGeom>
          <a:solidFill>
            <a:srgbClr val="EBC528"/>
          </a:solidFill>
          <a:ln/>
        </p:spPr>
        <p:txBody>
          <a:bodyPr/>
          <a:lstStyle/>
          <a:p>
            <a:endParaRPr lang="ja-JP" altLang="en-US"/>
          </a:p>
        </p:txBody>
      </p:sp>
      <p:sp>
        <p:nvSpPr>
          <p:cNvPr id="32" name="Text 30"/>
          <p:cNvSpPr/>
          <p:nvPr/>
        </p:nvSpPr>
        <p:spPr>
          <a:xfrm>
            <a:off x="6583680" y="4619450"/>
            <a:ext cx="493776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01  見本ベースの統一感</a:t>
            </a:r>
            <a:endParaRPr lang="en-US" sz="1100" dirty="0">
              <a:latin typeface="Meiryo UI"/>
              <a:ea typeface="Meiryo UI"/>
            </a:endParaRPr>
          </a:p>
        </p:txBody>
      </p:sp>
      <p:sp>
        <p:nvSpPr>
          <p:cNvPr id="33" name="Text 31"/>
          <p:cNvSpPr/>
          <p:nvPr/>
        </p:nvSpPr>
        <p:spPr>
          <a:xfrm>
            <a:off x="6583680" y="4838906"/>
            <a:ext cx="493776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ヘッダー帯 → 各セクション の流れを全ページで共通化</a:t>
            </a:r>
            <a:endParaRPr lang="en-US" sz="1000" dirty="0">
              <a:latin typeface="Meiryo UI"/>
              <a:ea typeface="Meiryo UI"/>
            </a:endParaRPr>
          </a:p>
        </p:txBody>
      </p:sp>
      <p:sp>
        <p:nvSpPr>
          <p:cNvPr id="34" name="Shape 32"/>
          <p:cNvSpPr/>
          <p:nvPr/>
        </p:nvSpPr>
        <p:spPr>
          <a:xfrm>
            <a:off x="6400800" y="5149802"/>
            <a:ext cx="5212080" cy="502920"/>
          </a:xfrm>
          <a:prstGeom prst="rect">
            <a:avLst/>
          </a:prstGeom>
          <a:solidFill>
            <a:srgbClr val="FFFFFF"/>
          </a:solidFill>
          <a:ln w="6350">
            <a:solidFill>
              <a:srgbClr val="E2E8F0"/>
            </a:solidFill>
            <a:prstDash val="solid"/>
          </a:ln>
        </p:spPr>
        <p:txBody>
          <a:bodyPr/>
          <a:lstStyle/>
          <a:p>
            <a:endParaRPr lang="ja-JP" altLang="en-US"/>
          </a:p>
        </p:txBody>
      </p:sp>
      <p:sp>
        <p:nvSpPr>
          <p:cNvPr id="35" name="Shape 33"/>
          <p:cNvSpPr/>
          <p:nvPr/>
        </p:nvSpPr>
        <p:spPr>
          <a:xfrm>
            <a:off x="6400800" y="5149802"/>
            <a:ext cx="73152" cy="502920"/>
          </a:xfrm>
          <a:prstGeom prst="rect">
            <a:avLst/>
          </a:prstGeom>
          <a:solidFill>
            <a:srgbClr val="EBC528"/>
          </a:solidFill>
          <a:ln/>
        </p:spPr>
        <p:txBody>
          <a:bodyPr/>
          <a:lstStyle/>
          <a:p>
            <a:endParaRPr lang="ja-JP" altLang="en-US"/>
          </a:p>
        </p:txBody>
      </p:sp>
      <p:sp>
        <p:nvSpPr>
          <p:cNvPr id="36" name="Text 34"/>
          <p:cNvSpPr/>
          <p:nvPr/>
        </p:nvSpPr>
        <p:spPr>
          <a:xfrm>
            <a:off x="6583680" y="5186378"/>
            <a:ext cx="493776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02  カード高さ・バナー統一</a:t>
            </a:r>
            <a:endParaRPr lang="en-US" sz="1100" dirty="0">
              <a:latin typeface="Meiryo UI"/>
              <a:ea typeface="Meiryo UI"/>
            </a:endParaRPr>
          </a:p>
        </p:txBody>
      </p:sp>
      <p:sp>
        <p:nvSpPr>
          <p:cNvPr id="37" name="Text 35"/>
          <p:cNvSpPr/>
          <p:nvPr/>
        </p:nvSpPr>
        <p:spPr>
          <a:xfrm>
            <a:off x="6583680" y="5405834"/>
            <a:ext cx="493776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特徴カード 3 枚は最大高に合わせ、バナーはアスペクト比固定</a:t>
            </a:r>
            <a:endParaRPr lang="en-US" sz="1000" dirty="0">
              <a:latin typeface="Meiryo UI"/>
              <a:ea typeface="Meiryo UI"/>
            </a:endParaRPr>
          </a:p>
        </p:txBody>
      </p:sp>
      <p:sp>
        <p:nvSpPr>
          <p:cNvPr id="38" name="Shape 36"/>
          <p:cNvSpPr/>
          <p:nvPr/>
        </p:nvSpPr>
        <p:spPr>
          <a:xfrm>
            <a:off x="6400800" y="5716730"/>
            <a:ext cx="5212080" cy="502920"/>
          </a:xfrm>
          <a:prstGeom prst="rect">
            <a:avLst/>
          </a:prstGeom>
          <a:solidFill>
            <a:srgbClr val="FFFFFF"/>
          </a:solidFill>
          <a:ln w="6350">
            <a:solidFill>
              <a:srgbClr val="E2E8F0"/>
            </a:solidFill>
            <a:prstDash val="solid"/>
          </a:ln>
        </p:spPr>
        <p:txBody>
          <a:bodyPr/>
          <a:lstStyle/>
          <a:p>
            <a:endParaRPr lang="ja-JP" altLang="en-US"/>
          </a:p>
        </p:txBody>
      </p:sp>
      <p:sp>
        <p:nvSpPr>
          <p:cNvPr id="39" name="Shape 37"/>
          <p:cNvSpPr/>
          <p:nvPr/>
        </p:nvSpPr>
        <p:spPr>
          <a:xfrm>
            <a:off x="6400800" y="5716730"/>
            <a:ext cx="73152" cy="502920"/>
          </a:xfrm>
          <a:prstGeom prst="rect">
            <a:avLst/>
          </a:prstGeom>
          <a:solidFill>
            <a:srgbClr val="EBC528"/>
          </a:solidFill>
          <a:ln/>
        </p:spPr>
        <p:txBody>
          <a:bodyPr/>
          <a:lstStyle/>
          <a:p>
            <a:endParaRPr lang="ja-JP" altLang="en-US"/>
          </a:p>
        </p:txBody>
      </p:sp>
      <p:sp>
        <p:nvSpPr>
          <p:cNvPr id="40" name="Text 38"/>
          <p:cNvSpPr/>
          <p:nvPr/>
        </p:nvSpPr>
        <p:spPr>
          <a:xfrm>
            <a:off x="6583680" y="5753306"/>
            <a:ext cx="493776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03  読みやすさ 全体拡大</a:t>
            </a:r>
            <a:endParaRPr lang="en-US" sz="1100" dirty="0">
              <a:latin typeface="Meiryo UI"/>
              <a:ea typeface="Meiryo UI"/>
            </a:endParaRPr>
          </a:p>
        </p:txBody>
      </p:sp>
      <p:sp>
        <p:nvSpPr>
          <p:cNvPr id="41" name="Text 39"/>
          <p:cNvSpPr/>
          <p:nvPr/>
        </p:nvSpPr>
        <p:spPr>
          <a:xfrm>
            <a:off x="6583680" y="5972762"/>
            <a:ext cx="493776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全テキスト 1 段階拡大、説明文は max-w-4xl で 1 行収まり</a:t>
            </a:r>
            <a:endParaRPr lang="en-US" sz="1000" dirty="0">
              <a:latin typeface="Meiryo UI"/>
              <a:ea typeface="Meiryo UI"/>
            </a:endParaRPr>
          </a:p>
        </p:txBody>
      </p:sp>
      <p:sp>
        <p:nvSpPr>
          <p:cNvPr id="42" name="Text 40"/>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43" name="Text 41"/>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3 / 10</a:t>
            </a:r>
            <a:endParaRPr lang="en-US" sz="1000" dirty="0">
              <a:latin typeface="Meiryo UI"/>
              <a:ea typeface="Meiryo UI"/>
            </a:endParaRPr>
          </a:p>
        </p:txBody>
      </p:sp>
      <p:pic>
        <p:nvPicPr>
          <p:cNvPr id="44" name="Picture 43"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03  KEY POINT</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スマホ用サイトの工夫</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スマホでも PC でも見やすく崩れない設計。</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指で気持ちよく操作できる工夫を全ページに入れています。</a:t>
            </a:r>
            <a:endParaRPr lang="en-US" sz="1800" dirty="0">
              <a:latin typeface="Meiryo UI"/>
              <a:ea typeface="Meiryo UI"/>
            </a:endParaRPr>
          </a:p>
        </p:txBody>
      </p:sp>
      <p:sp>
        <p:nvSpPr>
          <p:cNvPr id="10" name="Shape 8"/>
          <p:cNvSpPr/>
          <p:nvPr/>
        </p:nvSpPr>
        <p:spPr>
          <a:xfrm>
            <a:off x="548640" y="2971800"/>
            <a:ext cx="5486400" cy="1600200"/>
          </a:xfrm>
          <a:prstGeom prst="rect">
            <a:avLst/>
          </a:prstGeom>
          <a:solidFill>
            <a:srgbClr val="F8FAFC"/>
          </a:solidFill>
          <a:ln w="6350">
            <a:solidFill>
              <a:srgbClr val="E2E8F0"/>
            </a:solidFill>
            <a:prstDash val="solid"/>
          </a:ln>
        </p:spPr>
        <p:txBody>
          <a:bodyPr/>
          <a:lstStyle/>
          <a:p>
            <a:endParaRPr lang="ja-JP" altLang="en-US"/>
          </a:p>
        </p:txBody>
      </p:sp>
      <p:sp>
        <p:nvSpPr>
          <p:cNvPr id="11" name="Shape 9"/>
          <p:cNvSpPr/>
          <p:nvPr/>
        </p:nvSpPr>
        <p:spPr>
          <a:xfrm>
            <a:off x="777240" y="3246120"/>
            <a:ext cx="685800" cy="685800"/>
          </a:xfrm>
          <a:prstGeom prst="ellipse">
            <a:avLst/>
          </a:prstGeom>
          <a:solidFill>
            <a:srgbClr val="2563EB"/>
          </a:solidFill>
          <a:ln/>
        </p:spPr>
        <p:txBody>
          <a:bodyPr/>
          <a:lstStyle/>
          <a:p>
            <a:endParaRPr lang="ja-JP" altLang="en-US"/>
          </a:p>
        </p:txBody>
      </p:sp>
      <p:sp>
        <p:nvSpPr>
          <p:cNvPr id="12" name="Text 10"/>
          <p:cNvSpPr/>
          <p:nvPr/>
        </p:nvSpPr>
        <p:spPr>
          <a:xfrm>
            <a:off x="777240" y="3246120"/>
            <a:ext cx="68580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Meiryo UI" pitchFamily="34" charset="0"/>
                <a:ea typeface="Meiryo UI" pitchFamily="34" charset="-122"/>
                <a:cs typeface="Meiryo UI" pitchFamily="34" charset="-120"/>
              </a:rPr>
              <a:t>M</a:t>
            </a:r>
            <a:endParaRPr lang="en-US" sz="2400" dirty="0">
              <a:latin typeface="Meiryo UI"/>
              <a:ea typeface="Meiryo UI"/>
            </a:endParaRPr>
          </a:p>
        </p:txBody>
      </p:sp>
      <p:sp>
        <p:nvSpPr>
          <p:cNvPr id="13" name="Text 11"/>
          <p:cNvSpPr/>
          <p:nvPr/>
        </p:nvSpPr>
        <p:spPr>
          <a:xfrm>
            <a:off x="1600200" y="3108960"/>
            <a:ext cx="429768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モバイルファースト設計</a:t>
            </a:r>
            <a:endParaRPr lang="en-US" sz="1500" dirty="0">
              <a:latin typeface="Meiryo UI"/>
              <a:ea typeface="Meiryo UI"/>
            </a:endParaRPr>
          </a:p>
        </p:txBody>
      </p:sp>
      <p:sp>
        <p:nvSpPr>
          <p:cNvPr id="14" name="Text 12"/>
          <p:cNvSpPr/>
          <p:nvPr/>
        </p:nvSpPr>
        <p:spPr>
          <a:xfrm>
            <a:off x="1600200" y="3474720"/>
            <a:ext cx="4297680" cy="64008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「スマホ前提で作って大画面で上書き」する書き方。PC でも崩れない</a:t>
            </a:r>
            <a:endParaRPr lang="en-US" sz="1200" dirty="0">
              <a:latin typeface="Meiryo UI"/>
              <a:ea typeface="Meiryo UI"/>
            </a:endParaRPr>
          </a:p>
        </p:txBody>
      </p:sp>
      <p:sp>
        <p:nvSpPr>
          <p:cNvPr id="15" name="Shape 13"/>
          <p:cNvSpPr/>
          <p:nvPr/>
        </p:nvSpPr>
        <p:spPr>
          <a:xfrm>
            <a:off x="1600200" y="416052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16" name="Text 14"/>
          <p:cNvSpPr/>
          <p:nvPr/>
        </p:nvSpPr>
        <p:spPr>
          <a:xfrm>
            <a:off x="160020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sm: 640px</a:t>
            </a:r>
            <a:endParaRPr lang="en-US" sz="1000" dirty="0">
              <a:latin typeface="Meiryo UI"/>
              <a:ea typeface="Meiryo UI"/>
            </a:endParaRPr>
          </a:p>
        </p:txBody>
      </p:sp>
      <p:sp>
        <p:nvSpPr>
          <p:cNvPr id="17" name="Shape 15"/>
          <p:cNvSpPr/>
          <p:nvPr/>
        </p:nvSpPr>
        <p:spPr>
          <a:xfrm>
            <a:off x="3063240" y="416052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18" name="Text 16"/>
          <p:cNvSpPr/>
          <p:nvPr/>
        </p:nvSpPr>
        <p:spPr>
          <a:xfrm>
            <a:off x="306324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md: 768px</a:t>
            </a:r>
            <a:endParaRPr lang="en-US" sz="1000" dirty="0">
              <a:latin typeface="Meiryo UI"/>
              <a:ea typeface="Meiryo UI"/>
            </a:endParaRPr>
          </a:p>
        </p:txBody>
      </p:sp>
      <p:sp>
        <p:nvSpPr>
          <p:cNvPr id="19" name="Shape 17"/>
          <p:cNvSpPr/>
          <p:nvPr/>
        </p:nvSpPr>
        <p:spPr>
          <a:xfrm>
            <a:off x="4526280" y="416052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20" name="Text 18"/>
          <p:cNvSpPr/>
          <p:nvPr/>
        </p:nvSpPr>
        <p:spPr>
          <a:xfrm>
            <a:off x="452628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lg: 1024px</a:t>
            </a:r>
            <a:endParaRPr lang="en-US" sz="1000" dirty="0">
              <a:latin typeface="Meiryo UI"/>
              <a:ea typeface="Meiryo UI"/>
            </a:endParaRPr>
          </a:p>
        </p:txBody>
      </p:sp>
      <p:sp>
        <p:nvSpPr>
          <p:cNvPr id="21" name="Shape 19"/>
          <p:cNvSpPr/>
          <p:nvPr/>
        </p:nvSpPr>
        <p:spPr>
          <a:xfrm>
            <a:off x="6172200" y="2971800"/>
            <a:ext cx="5486400" cy="1600200"/>
          </a:xfrm>
          <a:prstGeom prst="rect">
            <a:avLst/>
          </a:prstGeom>
          <a:solidFill>
            <a:srgbClr val="F8FAFC"/>
          </a:solidFill>
          <a:ln w="6350">
            <a:solidFill>
              <a:srgbClr val="E2E8F0"/>
            </a:solidFill>
            <a:prstDash val="solid"/>
          </a:ln>
        </p:spPr>
        <p:txBody>
          <a:bodyPr/>
          <a:lstStyle/>
          <a:p>
            <a:endParaRPr lang="ja-JP" altLang="en-US"/>
          </a:p>
        </p:txBody>
      </p:sp>
      <p:sp>
        <p:nvSpPr>
          <p:cNvPr id="22" name="Shape 20"/>
          <p:cNvSpPr/>
          <p:nvPr/>
        </p:nvSpPr>
        <p:spPr>
          <a:xfrm>
            <a:off x="6400800" y="3246120"/>
            <a:ext cx="685800" cy="685800"/>
          </a:xfrm>
          <a:prstGeom prst="ellipse">
            <a:avLst/>
          </a:prstGeom>
          <a:solidFill>
            <a:srgbClr val="EBC528"/>
          </a:solidFill>
          <a:ln/>
        </p:spPr>
        <p:txBody>
          <a:bodyPr/>
          <a:lstStyle/>
          <a:p>
            <a:endParaRPr lang="ja-JP" altLang="en-US"/>
          </a:p>
        </p:txBody>
      </p:sp>
      <p:sp>
        <p:nvSpPr>
          <p:cNvPr id="23" name="Text 21"/>
          <p:cNvSpPr/>
          <p:nvPr/>
        </p:nvSpPr>
        <p:spPr>
          <a:xfrm>
            <a:off x="6400800" y="3246120"/>
            <a:ext cx="685800" cy="685800"/>
          </a:xfrm>
          <a:prstGeom prst="rect">
            <a:avLst/>
          </a:prstGeom>
          <a:noFill/>
          <a:ln/>
        </p:spPr>
        <p:txBody>
          <a:bodyPr wrap="square" lIns="0" tIns="0" rIns="0" bIns="0" rtlCol="0" anchor="ctr"/>
          <a:lstStyle/>
          <a:p>
            <a:pPr marL="0" indent="0" algn="ctr">
              <a:buNone/>
            </a:pPr>
            <a:r>
              <a:rPr lang="en-US" sz="2400" b="1" dirty="0">
                <a:solidFill>
                  <a:srgbClr val="0F172A"/>
                </a:solidFill>
                <a:latin typeface="Meiryo UI" pitchFamily="34" charset="0"/>
                <a:ea typeface="Meiryo UI" pitchFamily="34" charset="-122"/>
                <a:cs typeface="Meiryo UI" pitchFamily="34" charset="-120"/>
              </a:rPr>
              <a:t>≡</a:t>
            </a:r>
            <a:endParaRPr lang="en-US" sz="2400" dirty="0">
              <a:latin typeface="Meiryo UI"/>
              <a:ea typeface="Meiryo UI"/>
            </a:endParaRPr>
          </a:p>
        </p:txBody>
      </p:sp>
      <p:sp>
        <p:nvSpPr>
          <p:cNvPr id="24" name="Text 22"/>
          <p:cNvSpPr/>
          <p:nvPr/>
        </p:nvSpPr>
        <p:spPr>
          <a:xfrm>
            <a:off x="7223760" y="3108960"/>
            <a:ext cx="429768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右からスライドメニュー</a:t>
            </a:r>
            <a:endParaRPr lang="en-US" sz="1500" dirty="0">
              <a:latin typeface="Meiryo UI"/>
              <a:ea typeface="Meiryo UI"/>
            </a:endParaRPr>
          </a:p>
        </p:txBody>
      </p:sp>
      <p:sp>
        <p:nvSpPr>
          <p:cNvPr id="25" name="Text 23"/>
          <p:cNvSpPr/>
          <p:nvPr/>
        </p:nvSpPr>
        <p:spPr>
          <a:xfrm>
            <a:off x="7223760" y="3474720"/>
            <a:ext cx="4297680" cy="64008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ハンバーガーを押すと右からメニュー。ESC・外側クリック・遷移で自動で閉じる</a:t>
            </a:r>
            <a:endParaRPr lang="en-US" sz="1200" dirty="0">
              <a:latin typeface="Meiryo UI"/>
              <a:ea typeface="Meiryo UI"/>
            </a:endParaRPr>
          </a:p>
        </p:txBody>
      </p:sp>
      <p:sp>
        <p:nvSpPr>
          <p:cNvPr id="26" name="Shape 24"/>
          <p:cNvSpPr/>
          <p:nvPr/>
        </p:nvSpPr>
        <p:spPr>
          <a:xfrm>
            <a:off x="7223760" y="416052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27" name="Text 25"/>
          <p:cNvSpPr/>
          <p:nvPr/>
        </p:nvSpPr>
        <p:spPr>
          <a:xfrm>
            <a:off x="722376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useState</a:t>
            </a:r>
            <a:endParaRPr lang="en-US" sz="1000" dirty="0">
              <a:latin typeface="Meiryo UI"/>
              <a:ea typeface="Meiryo UI"/>
            </a:endParaRPr>
          </a:p>
        </p:txBody>
      </p:sp>
      <p:sp>
        <p:nvSpPr>
          <p:cNvPr id="28" name="Shape 26"/>
          <p:cNvSpPr/>
          <p:nvPr/>
        </p:nvSpPr>
        <p:spPr>
          <a:xfrm>
            <a:off x="8686800" y="416052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29" name="Text 27"/>
          <p:cNvSpPr/>
          <p:nvPr/>
        </p:nvSpPr>
        <p:spPr>
          <a:xfrm>
            <a:off x="868680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ESC キー</a:t>
            </a:r>
            <a:endParaRPr lang="en-US" sz="1000" dirty="0">
              <a:latin typeface="Meiryo UI"/>
              <a:ea typeface="Meiryo UI"/>
            </a:endParaRPr>
          </a:p>
        </p:txBody>
      </p:sp>
      <p:sp>
        <p:nvSpPr>
          <p:cNvPr id="30" name="Shape 28"/>
          <p:cNvSpPr/>
          <p:nvPr/>
        </p:nvSpPr>
        <p:spPr>
          <a:xfrm>
            <a:off x="10149840" y="416052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31" name="Text 29"/>
          <p:cNvSpPr/>
          <p:nvPr/>
        </p:nvSpPr>
        <p:spPr>
          <a:xfrm>
            <a:off x="1014984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遷移検知</a:t>
            </a:r>
            <a:endParaRPr lang="en-US" sz="1000" dirty="0">
              <a:latin typeface="Meiryo UI"/>
              <a:ea typeface="Meiryo UI"/>
            </a:endParaRPr>
          </a:p>
        </p:txBody>
      </p:sp>
      <p:sp>
        <p:nvSpPr>
          <p:cNvPr id="32" name="Shape 30"/>
          <p:cNvSpPr/>
          <p:nvPr/>
        </p:nvSpPr>
        <p:spPr>
          <a:xfrm>
            <a:off x="548640" y="4663440"/>
            <a:ext cx="5486400" cy="1600200"/>
          </a:xfrm>
          <a:prstGeom prst="rect">
            <a:avLst/>
          </a:prstGeom>
          <a:solidFill>
            <a:srgbClr val="F8FAFC"/>
          </a:solidFill>
          <a:ln w="6350">
            <a:solidFill>
              <a:srgbClr val="E2E8F0"/>
            </a:solidFill>
            <a:prstDash val="solid"/>
          </a:ln>
        </p:spPr>
        <p:txBody>
          <a:bodyPr/>
          <a:lstStyle/>
          <a:p>
            <a:endParaRPr lang="ja-JP" altLang="en-US"/>
          </a:p>
        </p:txBody>
      </p:sp>
      <p:sp>
        <p:nvSpPr>
          <p:cNvPr id="33" name="Shape 31"/>
          <p:cNvSpPr/>
          <p:nvPr/>
        </p:nvSpPr>
        <p:spPr>
          <a:xfrm>
            <a:off x="777240" y="4937760"/>
            <a:ext cx="685800" cy="685800"/>
          </a:xfrm>
          <a:prstGeom prst="ellipse">
            <a:avLst/>
          </a:prstGeom>
          <a:solidFill>
            <a:srgbClr val="10B981"/>
          </a:solidFill>
          <a:ln/>
        </p:spPr>
        <p:txBody>
          <a:bodyPr/>
          <a:lstStyle/>
          <a:p>
            <a:endParaRPr lang="ja-JP" altLang="en-US"/>
          </a:p>
        </p:txBody>
      </p:sp>
      <p:sp>
        <p:nvSpPr>
          <p:cNvPr id="34" name="Text 32"/>
          <p:cNvSpPr/>
          <p:nvPr/>
        </p:nvSpPr>
        <p:spPr>
          <a:xfrm>
            <a:off x="777240" y="4937760"/>
            <a:ext cx="68580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Meiryo UI" pitchFamily="34" charset="0"/>
                <a:ea typeface="Meiryo UI" pitchFamily="34" charset="-122"/>
                <a:cs typeface="Meiryo UI" pitchFamily="34" charset="-120"/>
              </a:rPr>
              <a:t>↕</a:t>
            </a:r>
            <a:endParaRPr lang="en-US" sz="2400" dirty="0">
              <a:latin typeface="Meiryo UI"/>
              <a:ea typeface="Meiryo UI"/>
            </a:endParaRPr>
          </a:p>
        </p:txBody>
      </p:sp>
      <p:sp>
        <p:nvSpPr>
          <p:cNvPr id="35" name="Text 33"/>
          <p:cNvSpPr/>
          <p:nvPr/>
        </p:nvSpPr>
        <p:spPr>
          <a:xfrm>
            <a:off x="1600200" y="4800600"/>
            <a:ext cx="429768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メニュー中は背景固定</a:t>
            </a:r>
            <a:endParaRPr lang="en-US" sz="1500" dirty="0">
              <a:latin typeface="Meiryo UI"/>
              <a:ea typeface="Meiryo UI"/>
            </a:endParaRPr>
          </a:p>
        </p:txBody>
      </p:sp>
      <p:sp>
        <p:nvSpPr>
          <p:cNvPr id="36" name="Text 34"/>
          <p:cNvSpPr/>
          <p:nvPr/>
        </p:nvSpPr>
        <p:spPr>
          <a:xfrm>
            <a:off x="1600200" y="5166360"/>
            <a:ext cx="4297680" cy="64008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メニューを開いている間、背景ページが一緒にスクロールしない工夫</a:t>
            </a:r>
            <a:endParaRPr lang="en-US" sz="1200" dirty="0">
              <a:latin typeface="Meiryo UI"/>
              <a:ea typeface="Meiryo UI"/>
            </a:endParaRPr>
          </a:p>
        </p:txBody>
      </p:sp>
      <p:sp>
        <p:nvSpPr>
          <p:cNvPr id="37" name="Shape 35"/>
          <p:cNvSpPr/>
          <p:nvPr/>
        </p:nvSpPr>
        <p:spPr>
          <a:xfrm>
            <a:off x="1600200" y="585216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38" name="Text 36"/>
          <p:cNvSpPr/>
          <p:nvPr/>
        </p:nvSpPr>
        <p:spPr>
          <a:xfrm>
            <a:off x="160020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body lock</a:t>
            </a:r>
            <a:endParaRPr lang="en-US" sz="1000" dirty="0">
              <a:latin typeface="Meiryo UI"/>
              <a:ea typeface="Meiryo UI"/>
            </a:endParaRPr>
          </a:p>
        </p:txBody>
      </p:sp>
      <p:sp>
        <p:nvSpPr>
          <p:cNvPr id="39" name="Shape 37"/>
          <p:cNvSpPr/>
          <p:nvPr/>
        </p:nvSpPr>
        <p:spPr>
          <a:xfrm>
            <a:off x="3063240" y="585216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40" name="Text 38"/>
          <p:cNvSpPr/>
          <p:nvPr/>
        </p:nvSpPr>
        <p:spPr>
          <a:xfrm>
            <a:off x="306324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状態復元</a:t>
            </a:r>
            <a:endParaRPr lang="en-US" sz="1000" dirty="0">
              <a:latin typeface="Meiryo UI"/>
              <a:ea typeface="Meiryo UI"/>
            </a:endParaRPr>
          </a:p>
        </p:txBody>
      </p:sp>
      <p:sp>
        <p:nvSpPr>
          <p:cNvPr id="41" name="Shape 39"/>
          <p:cNvSpPr/>
          <p:nvPr/>
        </p:nvSpPr>
        <p:spPr>
          <a:xfrm>
            <a:off x="4526280" y="585216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42" name="Text 40"/>
          <p:cNvSpPr/>
          <p:nvPr/>
        </p:nvSpPr>
        <p:spPr>
          <a:xfrm>
            <a:off x="452628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UX 安定</a:t>
            </a:r>
            <a:endParaRPr lang="en-US" sz="1000" dirty="0">
              <a:latin typeface="Meiryo UI"/>
              <a:ea typeface="Meiryo UI"/>
            </a:endParaRPr>
          </a:p>
        </p:txBody>
      </p:sp>
      <p:sp>
        <p:nvSpPr>
          <p:cNvPr id="43" name="Shape 41"/>
          <p:cNvSpPr/>
          <p:nvPr/>
        </p:nvSpPr>
        <p:spPr>
          <a:xfrm>
            <a:off x="6172200" y="4663440"/>
            <a:ext cx="5486400" cy="1600200"/>
          </a:xfrm>
          <a:prstGeom prst="rect">
            <a:avLst/>
          </a:prstGeom>
          <a:solidFill>
            <a:srgbClr val="F8FAFC"/>
          </a:solidFill>
          <a:ln w="6350">
            <a:solidFill>
              <a:srgbClr val="E2E8F0"/>
            </a:solidFill>
            <a:prstDash val="solid"/>
          </a:ln>
        </p:spPr>
        <p:txBody>
          <a:bodyPr/>
          <a:lstStyle/>
          <a:p>
            <a:endParaRPr lang="ja-JP" altLang="en-US"/>
          </a:p>
        </p:txBody>
      </p:sp>
      <p:sp>
        <p:nvSpPr>
          <p:cNvPr id="44" name="Shape 42"/>
          <p:cNvSpPr/>
          <p:nvPr/>
        </p:nvSpPr>
        <p:spPr>
          <a:xfrm>
            <a:off x="6400800" y="4937760"/>
            <a:ext cx="685800" cy="685800"/>
          </a:xfrm>
          <a:prstGeom prst="ellipse">
            <a:avLst/>
          </a:prstGeom>
          <a:solidFill>
            <a:srgbClr val="7C3AED"/>
          </a:solidFill>
          <a:ln/>
        </p:spPr>
        <p:txBody>
          <a:bodyPr/>
          <a:lstStyle/>
          <a:p>
            <a:endParaRPr lang="ja-JP" altLang="en-US"/>
          </a:p>
        </p:txBody>
      </p:sp>
      <p:sp>
        <p:nvSpPr>
          <p:cNvPr id="45" name="Text 43"/>
          <p:cNvSpPr/>
          <p:nvPr/>
        </p:nvSpPr>
        <p:spPr>
          <a:xfrm>
            <a:off x="6400800" y="4937760"/>
            <a:ext cx="68580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Meiryo UI" pitchFamily="34" charset="0"/>
                <a:ea typeface="Meiryo UI" pitchFamily="34" charset="-122"/>
                <a:cs typeface="Meiryo UI" pitchFamily="34" charset="-120"/>
              </a:rPr>
              <a:t>+</a:t>
            </a:r>
            <a:endParaRPr lang="en-US" sz="2400" dirty="0">
              <a:latin typeface="Meiryo UI"/>
              <a:ea typeface="Meiryo UI"/>
            </a:endParaRPr>
          </a:p>
        </p:txBody>
      </p:sp>
      <p:sp>
        <p:nvSpPr>
          <p:cNvPr id="46" name="Text 44"/>
          <p:cNvSpPr/>
          <p:nvPr/>
        </p:nvSpPr>
        <p:spPr>
          <a:xfrm>
            <a:off x="7223760" y="4800600"/>
            <a:ext cx="429768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タップで画像拡大</a:t>
            </a:r>
            <a:endParaRPr lang="en-US" sz="1500" dirty="0">
              <a:latin typeface="Meiryo UI"/>
              <a:ea typeface="Meiryo UI"/>
            </a:endParaRPr>
          </a:p>
        </p:txBody>
      </p:sp>
      <p:sp>
        <p:nvSpPr>
          <p:cNvPr id="47" name="Text 45"/>
          <p:cNvSpPr/>
          <p:nvPr/>
        </p:nvSpPr>
        <p:spPr>
          <a:xfrm>
            <a:off x="7223760" y="5166360"/>
            <a:ext cx="4297680" cy="64008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アクセス情報の写真などをタップすると大きく見られる再利用可能な部品</a:t>
            </a:r>
            <a:endParaRPr lang="en-US" sz="1200" dirty="0">
              <a:latin typeface="Meiryo UI"/>
              <a:ea typeface="Meiryo UI"/>
            </a:endParaRPr>
          </a:p>
        </p:txBody>
      </p:sp>
      <p:sp>
        <p:nvSpPr>
          <p:cNvPr id="48" name="Shape 46"/>
          <p:cNvSpPr/>
          <p:nvPr/>
        </p:nvSpPr>
        <p:spPr>
          <a:xfrm>
            <a:off x="7223760" y="585216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49" name="Text 47"/>
          <p:cNvSpPr/>
          <p:nvPr/>
        </p:nvSpPr>
        <p:spPr>
          <a:xfrm>
            <a:off x="722376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タップ拡大</a:t>
            </a:r>
            <a:endParaRPr lang="en-US" sz="1000" dirty="0">
              <a:latin typeface="Meiryo UI"/>
              <a:ea typeface="Meiryo UI"/>
            </a:endParaRPr>
          </a:p>
        </p:txBody>
      </p:sp>
      <p:sp>
        <p:nvSpPr>
          <p:cNvPr id="50" name="Shape 48"/>
          <p:cNvSpPr/>
          <p:nvPr/>
        </p:nvSpPr>
        <p:spPr>
          <a:xfrm>
            <a:off x="8686800" y="585216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51" name="Text 49"/>
          <p:cNvSpPr/>
          <p:nvPr/>
        </p:nvSpPr>
        <p:spPr>
          <a:xfrm>
            <a:off x="868680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背景で閉じる</a:t>
            </a:r>
            <a:endParaRPr lang="en-US" sz="1000" dirty="0">
              <a:latin typeface="Meiryo UI"/>
              <a:ea typeface="Meiryo UI"/>
            </a:endParaRPr>
          </a:p>
        </p:txBody>
      </p:sp>
      <p:sp>
        <p:nvSpPr>
          <p:cNvPr id="52" name="Shape 50"/>
          <p:cNvSpPr/>
          <p:nvPr/>
        </p:nvSpPr>
        <p:spPr>
          <a:xfrm>
            <a:off x="10149840" y="5852160"/>
            <a:ext cx="1371600" cy="329184"/>
          </a:xfrm>
          <a:prstGeom prst="rect">
            <a:avLst/>
          </a:prstGeom>
          <a:solidFill>
            <a:srgbClr val="FFFFFF"/>
          </a:solidFill>
          <a:ln w="6350">
            <a:solidFill>
              <a:srgbClr val="E2E8F0"/>
            </a:solidFill>
            <a:prstDash val="solid"/>
          </a:ln>
        </p:spPr>
        <p:txBody>
          <a:bodyPr/>
          <a:lstStyle/>
          <a:p>
            <a:endParaRPr lang="ja-JP" altLang="en-US"/>
          </a:p>
        </p:txBody>
      </p:sp>
      <p:sp>
        <p:nvSpPr>
          <p:cNvPr id="53" name="Text 51"/>
          <p:cNvSpPr/>
          <p:nvPr/>
        </p:nvSpPr>
        <p:spPr>
          <a:xfrm>
            <a:off x="1014984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再利用可</a:t>
            </a:r>
            <a:endParaRPr lang="en-US" sz="1000" dirty="0">
              <a:latin typeface="Meiryo UI"/>
              <a:ea typeface="Meiryo UI"/>
            </a:endParaRPr>
          </a:p>
        </p:txBody>
      </p:sp>
      <p:sp>
        <p:nvSpPr>
          <p:cNvPr id="54" name="Text 52"/>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55" name="Text 53"/>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4 / 10</a:t>
            </a:r>
            <a:endParaRPr lang="en-US" sz="1000" dirty="0">
              <a:latin typeface="Meiryo UI"/>
              <a:ea typeface="Meiryo UI"/>
            </a:endParaRPr>
          </a:p>
        </p:txBody>
      </p:sp>
      <p:pic>
        <p:nvPicPr>
          <p:cNvPr id="56" name="Picture 55"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04  KEY POINT</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アニメーション ＋ ヒーロー動画</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TOP は歯車動画がふわっと出て 1 回だけ再生。以降はスクロールで各要素がフェードイン。</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「動きが苦手」設定にも配慮し、常に確実に見える表示保証も入れています。</a:t>
            </a:r>
            <a:endParaRPr lang="en-US" sz="1800" dirty="0">
              <a:latin typeface="Meiryo UI"/>
              <a:ea typeface="Meiryo UI"/>
            </a:endParaRPr>
          </a:p>
        </p:txBody>
      </p:sp>
      <p:sp>
        <p:nvSpPr>
          <p:cNvPr id="10" name="Shape 8"/>
          <p:cNvSpPr/>
          <p:nvPr/>
        </p:nvSpPr>
        <p:spPr>
          <a:xfrm>
            <a:off x="548640" y="2971800"/>
            <a:ext cx="5486400" cy="3246120"/>
          </a:xfrm>
          <a:prstGeom prst="rect">
            <a:avLst/>
          </a:prstGeom>
          <a:solidFill>
            <a:srgbClr val="F8FAFC"/>
          </a:solidFill>
          <a:ln w="6350">
            <a:solidFill>
              <a:srgbClr val="E2E8F0"/>
            </a:solidFill>
            <a:prstDash val="solid"/>
          </a:ln>
        </p:spPr>
        <p:txBody>
          <a:bodyPr/>
          <a:lstStyle/>
          <a:p>
            <a:endParaRPr lang="ja-JP" altLang="en-US"/>
          </a:p>
        </p:txBody>
      </p:sp>
      <p:sp>
        <p:nvSpPr>
          <p:cNvPr id="11" name="Text 9"/>
          <p:cNvSpPr/>
          <p:nvPr/>
        </p:nvSpPr>
        <p:spPr>
          <a:xfrm>
            <a:off x="822960" y="3063240"/>
            <a:ext cx="4937760" cy="365760"/>
          </a:xfrm>
          <a:prstGeom prst="rect">
            <a:avLst/>
          </a:prstGeom>
          <a:noFill/>
          <a:ln/>
        </p:spPr>
        <p:txBody>
          <a:bodyPr wrap="square" lIns="0" tIns="0" rIns="0" bIns="0" rtlCol="0" anchor="ctr"/>
          <a:lstStyle/>
          <a:p>
            <a:pPr marL="0" indent="0">
              <a:buNone/>
            </a:pPr>
            <a:r>
              <a:rPr lang="en-US" sz="1600" b="1" dirty="0">
                <a:solidFill>
                  <a:srgbClr val="0F172A"/>
                </a:solidFill>
                <a:latin typeface="Meiryo UI" pitchFamily="34" charset="0"/>
                <a:ea typeface="Meiryo UI" pitchFamily="34" charset="-122"/>
                <a:cs typeface="Meiryo UI" pitchFamily="34" charset="-120"/>
              </a:rPr>
              <a:t>TOP ヒーロー：歯車動画</a:t>
            </a:r>
            <a:endParaRPr lang="en-US" sz="1600" dirty="0">
              <a:latin typeface="Meiryo UI"/>
              <a:ea typeface="Meiryo UI"/>
            </a:endParaRPr>
          </a:p>
        </p:txBody>
      </p:sp>
      <p:sp>
        <p:nvSpPr>
          <p:cNvPr id="12" name="Shape 10"/>
          <p:cNvSpPr/>
          <p:nvPr/>
        </p:nvSpPr>
        <p:spPr>
          <a:xfrm>
            <a:off x="822960" y="3474720"/>
            <a:ext cx="4937760" cy="502920"/>
          </a:xfrm>
          <a:prstGeom prst="rect">
            <a:avLst/>
          </a:prstGeom>
          <a:solidFill>
            <a:srgbClr val="FFFFFF"/>
          </a:solidFill>
          <a:ln w="6350">
            <a:solidFill>
              <a:srgbClr val="E2E8F0"/>
            </a:solidFill>
            <a:prstDash val="solid"/>
          </a:ln>
        </p:spPr>
        <p:txBody>
          <a:bodyPr/>
          <a:lstStyle/>
          <a:p>
            <a:endParaRPr lang="ja-JP" altLang="en-US"/>
          </a:p>
        </p:txBody>
      </p:sp>
      <p:sp>
        <p:nvSpPr>
          <p:cNvPr id="13" name="Shape 11"/>
          <p:cNvSpPr/>
          <p:nvPr/>
        </p:nvSpPr>
        <p:spPr>
          <a:xfrm>
            <a:off x="822960" y="3474720"/>
            <a:ext cx="73152" cy="502920"/>
          </a:xfrm>
          <a:prstGeom prst="rect">
            <a:avLst/>
          </a:prstGeom>
          <a:solidFill>
            <a:srgbClr val="EBC528"/>
          </a:solidFill>
          <a:ln/>
        </p:spPr>
        <p:txBody>
          <a:bodyPr/>
          <a:lstStyle/>
          <a:p>
            <a:endParaRPr lang="ja-JP" altLang="en-US"/>
          </a:p>
        </p:txBody>
      </p:sp>
      <p:sp>
        <p:nvSpPr>
          <p:cNvPr id="14" name="Text 12"/>
          <p:cNvSpPr/>
          <p:nvPr/>
        </p:nvSpPr>
        <p:spPr>
          <a:xfrm>
            <a:off x="1005840" y="351129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ふわっとフェードイン</a:t>
            </a:r>
            <a:endParaRPr lang="en-US" sz="1100" dirty="0">
              <a:latin typeface="Meiryo UI"/>
              <a:ea typeface="Meiryo UI"/>
            </a:endParaRPr>
          </a:p>
        </p:txBody>
      </p:sp>
      <p:sp>
        <p:nvSpPr>
          <p:cNvPr id="15" name="Text 13"/>
          <p:cNvSpPr/>
          <p:nvPr/>
        </p:nvSpPr>
        <p:spPr>
          <a:xfrm>
            <a:off x="1005840" y="373075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opacity 0 → 0.6 に 1.2 秒。CSS animation で SSR/CSR 双方確実発火</a:t>
            </a:r>
            <a:endParaRPr lang="en-US" sz="1000" dirty="0">
              <a:latin typeface="Meiryo UI"/>
              <a:ea typeface="Meiryo UI"/>
            </a:endParaRPr>
          </a:p>
        </p:txBody>
      </p:sp>
      <p:sp>
        <p:nvSpPr>
          <p:cNvPr id="16" name="Shape 14"/>
          <p:cNvSpPr/>
          <p:nvPr/>
        </p:nvSpPr>
        <p:spPr>
          <a:xfrm>
            <a:off x="822960" y="4023360"/>
            <a:ext cx="4937760" cy="502920"/>
          </a:xfrm>
          <a:prstGeom prst="rect">
            <a:avLst/>
          </a:prstGeom>
          <a:solidFill>
            <a:srgbClr val="FFFFFF"/>
          </a:solidFill>
          <a:ln w="6350">
            <a:solidFill>
              <a:srgbClr val="E2E8F0"/>
            </a:solidFill>
            <a:prstDash val="solid"/>
          </a:ln>
        </p:spPr>
        <p:txBody>
          <a:bodyPr/>
          <a:lstStyle/>
          <a:p>
            <a:endParaRPr lang="ja-JP" altLang="en-US"/>
          </a:p>
        </p:txBody>
      </p:sp>
      <p:sp>
        <p:nvSpPr>
          <p:cNvPr id="17" name="Shape 15"/>
          <p:cNvSpPr/>
          <p:nvPr/>
        </p:nvSpPr>
        <p:spPr>
          <a:xfrm>
            <a:off x="822960" y="4023360"/>
            <a:ext cx="73152" cy="502920"/>
          </a:xfrm>
          <a:prstGeom prst="rect">
            <a:avLst/>
          </a:prstGeom>
          <a:solidFill>
            <a:srgbClr val="EBC528"/>
          </a:solidFill>
          <a:ln/>
        </p:spPr>
        <p:txBody>
          <a:bodyPr/>
          <a:lstStyle/>
          <a:p>
            <a:endParaRPr lang="ja-JP" altLang="en-US"/>
          </a:p>
        </p:txBody>
      </p:sp>
      <p:sp>
        <p:nvSpPr>
          <p:cNvPr id="18" name="Text 16"/>
          <p:cNvSpPr/>
          <p:nvPr/>
        </p:nvSpPr>
        <p:spPr>
          <a:xfrm>
            <a:off x="1005840" y="405993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1 回だけ再生 → 終端停止</a:t>
            </a:r>
            <a:endParaRPr lang="en-US" sz="1100" dirty="0">
              <a:latin typeface="Meiryo UI"/>
              <a:ea typeface="Meiryo UI"/>
            </a:endParaRPr>
          </a:p>
        </p:txBody>
      </p:sp>
      <p:sp>
        <p:nvSpPr>
          <p:cNvPr id="19" name="Text 17"/>
          <p:cNvSpPr/>
          <p:nvPr/>
        </p:nvSpPr>
        <p:spPr>
          <a:xfrm>
            <a:off x="1005840" y="427939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loop 廃止。ended イベントで pause() し最終フレームで静止</a:t>
            </a:r>
            <a:endParaRPr lang="en-US" sz="1000" dirty="0">
              <a:latin typeface="Meiryo UI"/>
              <a:ea typeface="Meiryo UI"/>
            </a:endParaRPr>
          </a:p>
        </p:txBody>
      </p:sp>
      <p:sp>
        <p:nvSpPr>
          <p:cNvPr id="20" name="Shape 18"/>
          <p:cNvSpPr/>
          <p:nvPr/>
        </p:nvSpPr>
        <p:spPr>
          <a:xfrm>
            <a:off x="822960" y="4572000"/>
            <a:ext cx="4937760" cy="502920"/>
          </a:xfrm>
          <a:prstGeom prst="rect">
            <a:avLst/>
          </a:prstGeom>
          <a:solidFill>
            <a:srgbClr val="FFFFFF"/>
          </a:solidFill>
          <a:ln w="6350">
            <a:solidFill>
              <a:srgbClr val="E2E8F0"/>
            </a:solidFill>
            <a:prstDash val="solid"/>
          </a:ln>
        </p:spPr>
        <p:txBody>
          <a:bodyPr/>
          <a:lstStyle/>
          <a:p>
            <a:endParaRPr lang="ja-JP" altLang="en-US"/>
          </a:p>
        </p:txBody>
      </p:sp>
      <p:sp>
        <p:nvSpPr>
          <p:cNvPr id="21" name="Shape 19"/>
          <p:cNvSpPr/>
          <p:nvPr/>
        </p:nvSpPr>
        <p:spPr>
          <a:xfrm>
            <a:off x="822960" y="4572000"/>
            <a:ext cx="73152" cy="502920"/>
          </a:xfrm>
          <a:prstGeom prst="rect">
            <a:avLst/>
          </a:prstGeom>
          <a:solidFill>
            <a:srgbClr val="EBC528"/>
          </a:solidFill>
          <a:ln/>
        </p:spPr>
        <p:txBody>
          <a:bodyPr/>
          <a:lstStyle/>
          <a:p>
            <a:endParaRPr lang="ja-JP" altLang="en-US"/>
          </a:p>
        </p:txBody>
      </p:sp>
      <p:sp>
        <p:nvSpPr>
          <p:cNvPr id="22" name="Text 20"/>
          <p:cNvSpPr/>
          <p:nvPr/>
        </p:nvSpPr>
        <p:spPr>
          <a:xfrm>
            <a:off x="1005840" y="460857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軽量化</a:t>
            </a:r>
            <a:endParaRPr lang="en-US" sz="1100" dirty="0">
              <a:latin typeface="Meiryo UI"/>
              <a:ea typeface="Meiryo UI"/>
            </a:endParaRPr>
          </a:p>
        </p:txBody>
      </p:sp>
      <p:sp>
        <p:nvSpPr>
          <p:cNvPr id="23" name="Text 21"/>
          <p:cNvSpPr/>
          <p:nvPr/>
        </p:nvSpPr>
        <p:spPr>
          <a:xfrm>
            <a:off x="1005840" y="482803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HEVC .mov 6.4MB → H.264 .mp4 676KB（約 1/10）</a:t>
            </a:r>
            <a:endParaRPr lang="en-US" sz="1000" dirty="0">
              <a:latin typeface="Meiryo UI"/>
              <a:ea typeface="Meiryo UI"/>
            </a:endParaRPr>
          </a:p>
        </p:txBody>
      </p:sp>
      <p:sp>
        <p:nvSpPr>
          <p:cNvPr id="24" name="Shape 22"/>
          <p:cNvSpPr/>
          <p:nvPr/>
        </p:nvSpPr>
        <p:spPr>
          <a:xfrm>
            <a:off x="822960" y="5120640"/>
            <a:ext cx="4937760" cy="502920"/>
          </a:xfrm>
          <a:prstGeom prst="rect">
            <a:avLst/>
          </a:prstGeom>
          <a:solidFill>
            <a:srgbClr val="FFFFFF"/>
          </a:solidFill>
          <a:ln w="6350">
            <a:solidFill>
              <a:srgbClr val="E2E8F0"/>
            </a:solidFill>
            <a:prstDash val="solid"/>
          </a:ln>
        </p:spPr>
        <p:txBody>
          <a:bodyPr/>
          <a:lstStyle/>
          <a:p>
            <a:endParaRPr lang="ja-JP" altLang="en-US"/>
          </a:p>
        </p:txBody>
      </p:sp>
      <p:sp>
        <p:nvSpPr>
          <p:cNvPr id="25" name="Shape 23"/>
          <p:cNvSpPr/>
          <p:nvPr/>
        </p:nvSpPr>
        <p:spPr>
          <a:xfrm>
            <a:off x="822960" y="5120640"/>
            <a:ext cx="73152" cy="502920"/>
          </a:xfrm>
          <a:prstGeom prst="rect">
            <a:avLst/>
          </a:prstGeom>
          <a:solidFill>
            <a:srgbClr val="EBC528"/>
          </a:solidFill>
          <a:ln/>
        </p:spPr>
        <p:txBody>
          <a:bodyPr/>
          <a:lstStyle/>
          <a:p>
            <a:endParaRPr lang="ja-JP" altLang="en-US"/>
          </a:p>
        </p:txBody>
      </p:sp>
      <p:sp>
        <p:nvSpPr>
          <p:cNvPr id="26" name="Text 24"/>
          <p:cNvSpPr/>
          <p:nvPr/>
        </p:nvSpPr>
        <p:spPr>
          <a:xfrm>
            <a:off x="1005840" y="515721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白系グラデ左 80% → 右 40%</a:t>
            </a:r>
            <a:endParaRPr lang="en-US" sz="1100" dirty="0">
              <a:latin typeface="Meiryo UI"/>
              <a:ea typeface="Meiryo UI"/>
            </a:endParaRPr>
          </a:p>
        </p:txBody>
      </p:sp>
      <p:sp>
        <p:nvSpPr>
          <p:cNvPr id="27" name="Text 25"/>
          <p:cNvSpPr/>
          <p:nvPr/>
        </p:nvSpPr>
        <p:spPr>
          <a:xfrm>
            <a:off x="1005840" y="537667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キャッチコピーの可読性確保 ＋ 動画の躍動感両立</a:t>
            </a:r>
            <a:endParaRPr lang="en-US" sz="1000" dirty="0">
              <a:latin typeface="Meiryo UI"/>
              <a:ea typeface="Meiryo UI"/>
            </a:endParaRPr>
          </a:p>
        </p:txBody>
      </p:sp>
      <p:sp>
        <p:nvSpPr>
          <p:cNvPr id="28" name="Shape 26"/>
          <p:cNvSpPr/>
          <p:nvPr/>
        </p:nvSpPr>
        <p:spPr>
          <a:xfrm>
            <a:off x="822960" y="5669280"/>
            <a:ext cx="4937760" cy="502920"/>
          </a:xfrm>
          <a:prstGeom prst="rect">
            <a:avLst/>
          </a:prstGeom>
          <a:solidFill>
            <a:srgbClr val="FFFFFF"/>
          </a:solidFill>
          <a:ln w="6350">
            <a:solidFill>
              <a:srgbClr val="E2E8F0"/>
            </a:solidFill>
            <a:prstDash val="solid"/>
          </a:ln>
        </p:spPr>
        <p:txBody>
          <a:bodyPr/>
          <a:lstStyle/>
          <a:p>
            <a:endParaRPr lang="ja-JP" altLang="en-US"/>
          </a:p>
        </p:txBody>
      </p:sp>
      <p:sp>
        <p:nvSpPr>
          <p:cNvPr id="29" name="Shape 27"/>
          <p:cNvSpPr/>
          <p:nvPr/>
        </p:nvSpPr>
        <p:spPr>
          <a:xfrm>
            <a:off x="822960" y="5669280"/>
            <a:ext cx="73152" cy="502920"/>
          </a:xfrm>
          <a:prstGeom prst="rect">
            <a:avLst/>
          </a:prstGeom>
          <a:solidFill>
            <a:srgbClr val="EBC528"/>
          </a:solidFill>
          <a:ln/>
        </p:spPr>
        <p:txBody>
          <a:bodyPr/>
          <a:lstStyle/>
          <a:p>
            <a:endParaRPr lang="ja-JP" altLang="en-US"/>
          </a:p>
        </p:txBody>
      </p:sp>
      <p:sp>
        <p:nvSpPr>
          <p:cNvPr id="30" name="Text 28"/>
          <p:cNvSpPr/>
          <p:nvPr/>
        </p:nvSpPr>
        <p:spPr>
          <a:xfrm>
            <a:off x="1005840" y="570585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reduced-motion 配慮</a:t>
            </a:r>
            <a:endParaRPr lang="en-US" sz="1100" dirty="0">
              <a:latin typeface="Meiryo UI"/>
              <a:ea typeface="Meiryo UI"/>
            </a:endParaRPr>
          </a:p>
        </p:txBody>
      </p:sp>
      <p:sp>
        <p:nvSpPr>
          <p:cNvPr id="31" name="Text 29"/>
          <p:cNvSpPr/>
          <p:nvPr/>
        </p:nvSpPr>
        <p:spPr>
          <a:xfrm>
            <a:off x="1005840" y="592531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動きが苦手な人には静止画（PageTop_bg.png）で即表示</a:t>
            </a:r>
            <a:endParaRPr lang="en-US" sz="1000" dirty="0">
              <a:latin typeface="Meiryo UI"/>
              <a:ea typeface="Meiryo UI"/>
            </a:endParaRPr>
          </a:p>
        </p:txBody>
      </p:sp>
      <p:sp>
        <p:nvSpPr>
          <p:cNvPr id="32" name="Shape 30"/>
          <p:cNvSpPr/>
          <p:nvPr/>
        </p:nvSpPr>
        <p:spPr>
          <a:xfrm>
            <a:off x="6400800" y="2971800"/>
            <a:ext cx="5212080" cy="3246120"/>
          </a:xfrm>
          <a:prstGeom prst="rect">
            <a:avLst/>
          </a:prstGeom>
          <a:solidFill>
            <a:srgbClr val="F8FAFC"/>
          </a:solidFill>
          <a:ln w="6350">
            <a:solidFill>
              <a:srgbClr val="E2E8F0"/>
            </a:solidFill>
            <a:prstDash val="solid"/>
          </a:ln>
        </p:spPr>
        <p:txBody>
          <a:bodyPr/>
          <a:lstStyle/>
          <a:p>
            <a:endParaRPr lang="ja-JP" altLang="en-US"/>
          </a:p>
        </p:txBody>
      </p:sp>
      <p:sp>
        <p:nvSpPr>
          <p:cNvPr id="33" name="Text 31"/>
          <p:cNvSpPr/>
          <p:nvPr/>
        </p:nvSpPr>
        <p:spPr>
          <a:xfrm>
            <a:off x="6675120" y="3063240"/>
            <a:ext cx="4663440" cy="365760"/>
          </a:xfrm>
          <a:prstGeom prst="rect">
            <a:avLst/>
          </a:prstGeom>
          <a:noFill/>
          <a:ln/>
        </p:spPr>
        <p:txBody>
          <a:bodyPr wrap="square" lIns="0" tIns="0" rIns="0" bIns="0" rtlCol="0" anchor="ctr"/>
          <a:lstStyle/>
          <a:p>
            <a:pPr marL="0" indent="0">
              <a:buNone/>
            </a:pPr>
            <a:r>
              <a:rPr lang="en-US" sz="1600" b="1" dirty="0">
                <a:solidFill>
                  <a:srgbClr val="0F172A"/>
                </a:solidFill>
                <a:latin typeface="Meiryo UI" pitchFamily="34" charset="0"/>
                <a:ea typeface="Meiryo UI" pitchFamily="34" charset="-122"/>
                <a:cs typeface="Meiryo UI" pitchFamily="34" charset="-120"/>
              </a:rPr>
              <a:t>スクロール Reveal ＋ 写真バンド（6 枚マーキー）</a:t>
            </a:r>
            <a:endParaRPr lang="en-US" sz="1600" dirty="0">
              <a:latin typeface="Meiryo UI"/>
              <a:ea typeface="Meiryo UI"/>
            </a:endParaRPr>
          </a:p>
        </p:txBody>
      </p:sp>
      <p:sp>
        <p:nvSpPr>
          <p:cNvPr id="34" name="Shape 32"/>
          <p:cNvSpPr/>
          <p:nvPr/>
        </p:nvSpPr>
        <p:spPr>
          <a:xfrm>
            <a:off x="6675120" y="3474720"/>
            <a:ext cx="4663440" cy="502920"/>
          </a:xfrm>
          <a:prstGeom prst="rect">
            <a:avLst/>
          </a:prstGeom>
          <a:solidFill>
            <a:srgbClr val="FFFFFF"/>
          </a:solidFill>
          <a:ln w="6350">
            <a:solidFill>
              <a:srgbClr val="E2E8F0"/>
            </a:solidFill>
            <a:prstDash val="solid"/>
          </a:ln>
        </p:spPr>
        <p:txBody>
          <a:bodyPr/>
          <a:lstStyle/>
          <a:p>
            <a:endParaRPr lang="ja-JP" altLang="en-US"/>
          </a:p>
        </p:txBody>
      </p:sp>
      <p:sp>
        <p:nvSpPr>
          <p:cNvPr id="35" name="Shape 33"/>
          <p:cNvSpPr/>
          <p:nvPr/>
        </p:nvSpPr>
        <p:spPr>
          <a:xfrm>
            <a:off x="6675120" y="3474720"/>
            <a:ext cx="73152" cy="502920"/>
          </a:xfrm>
          <a:prstGeom prst="rect">
            <a:avLst/>
          </a:prstGeom>
          <a:solidFill>
            <a:srgbClr val="10B981"/>
          </a:solidFill>
          <a:ln/>
        </p:spPr>
        <p:txBody>
          <a:bodyPr/>
          <a:lstStyle/>
          <a:p>
            <a:endParaRPr lang="ja-JP" altLang="en-US"/>
          </a:p>
        </p:txBody>
      </p:sp>
      <p:sp>
        <p:nvSpPr>
          <p:cNvPr id="36" name="Text 34"/>
          <p:cNvSpPr/>
          <p:nvPr/>
        </p:nvSpPr>
        <p:spPr>
          <a:xfrm>
            <a:off x="6858000" y="351129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共有 Observer 1 個で 20 要素監視</a:t>
            </a:r>
            <a:endParaRPr lang="en-US" sz="1100" dirty="0">
              <a:latin typeface="Meiryo UI"/>
              <a:ea typeface="Meiryo UI"/>
            </a:endParaRPr>
          </a:p>
        </p:txBody>
      </p:sp>
      <p:sp>
        <p:nvSpPr>
          <p:cNvPr id="37" name="Text 35"/>
          <p:cNvSpPr/>
          <p:nvPr/>
        </p:nvSpPr>
        <p:spPr>
          <a:xfrm>
            <a:off x="6858000" y="373075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メモリ・CPU 節約。fade-up/scale/slide の 6 種を場所別に使い分け</a:t>
            </a:r>
            <a:endParaRPr lang="en-US" sz="1000" dirty="0">
              <a:latin typeface="Meiryo UI"/>
              <a:ea typeface="Meiryo UI"/>
            </a:endParaRPr>
          </a:p>
        </p:txBody>
      </p:sp>
      <p:sp>
        <p:nvSpPr>
          <p:cNvPr id="38" name="Shape 36"/>
          <p:cNvSpPr/>
          <p:nvPr/>
        </p:nvSpPr>
        <p:spPr>
          <a:xfrm>
            <a:off x="6675120" y="4023360"/>
            <a:ext cx="4663440" cy="502920"/>
          </a:xfrm>
          <a:prstGeom prst="rect">
            <a:avLst/>
          </a:prstGeom>
          <a:solidFill>
            <a:srgbClr val="FFFFFF"/>
          </a:solidFill>
          <a:ln w="6350">
            <a:solidFill>
              <a:srgbClr val="E2E8F0"/>
            </a:solidFill>
            <a:prstDash val="solid"/>
          </a:ln>
        </p:spPr>
        <p:txBody>
          <a:bodyPr/>
          <a:lstStyle/>
          <a:p>
            <a:endParaRPr lang="ja-JP" altLang="en-US"/>
          </a:p>
        </p:txBody>
      </p:sp>
      <p:sp>
        <p:nvSpPr>
          <p:cNvPr id="39" name="Shape 37"/>
          <p:cNvSpPr/>
          <p:nvPr/>
        </p:nvSpPr>
        <p:spPr>
          <a:xfrm>
            <a:off x="6675120" y="4023360"/>
            <a:ext cx="73152" cy="502920"/>
          </a:xfrm>
          <a:prstGeom prst="rect">
            <a:avLst/>
          </a:prstGeom>
          <a:solidFill>
            <a:srgbClr val="10B981"/>
          </a:solidFill>
          <a:ln/>
        </p:spPr>
        <p:txBody>
          <a:bodyPr/>
          <a:lstStyle/>
          <a:p>
            <a:endParaRPr lang="ja-JP" altLang="en-US"/>
          </a:p>
        </p:txBody>
      </p:sp>
      <p:sp>
        <p:nvSpPr>
          <p:cNvPr id="40" name="Text 38"/>
          <p:cNvSpPr/>
          <p:nvPr/>
        </p:nvSpPr>
        <p:spPr>
          <a:xfrm>
            <a:off x="6858000" y="405993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6 枚の写真マーキー（52s ループ）</a:t>
            </a:r>
            <a:endParaRPr lang="en-US" sz="1100" dirty="0">
              <a:latin typeface="Meiryo UI"/>
              <a:ea typeface="Meiryo UI"/>
            </a:endParaRPr>
          </a:p>
        </p:txBody>
      </p:sp>
      <p:sp>
        <p:nvSpPr>
          <p:cNvPr id="41" name="Text 39"/>
          <p:cNvSpPr/>
          <p:nvPr/>
        </p:nvSpPr>
        <p:spPr>
          <a:xfrm>
            <a:off x="6858000" y="427939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採用に近い日常写真を 6 枚。ホバーで一時停止、指で操作しやすい</a:t>
            </a:r>
            <a:endParaRPr lang="en-US" sz="1000" dirty="0">
              <a:latin typeface="Meiryo UI"/>
              <a:ea typeface="Meiryo UI"/>
            </a:endParaRPr>
          </a:p>
        </p:txBody>
      </p:sp>
      <p:sp>
        <p:nvSpPr>
          <p:cNvPr id="42" name="Shape 40"/>
          <p:cNvSpPr/>
          <p:nvPr/>
        </p:nvSpPr>
        <p:spPr>
          <a:xfrm>
            <a:off x="6675120" y="4572000"/>
            <a:ext cx="4663440" cy="502920"/>
          </a:xfrm>
          <a:prstGeom prst="rect">
            <a:avLst/>
          </a:prstGeom>
          <a:solidFill>
            <a:srgbClr val="FFFFFF"/>
          </a:solidFill>
          <a:ln w="6350">
            <a:solidFill>
              <a:srgbClr val="E2E8F0"/>
            </a:solidFill>
            <a:prstDash val="solid"/>
          </a:ln>
        </p:spPr>
        <p:txBody>
          <a:bodyPr/>
          <a:lstStyle/>
          <a:p>
            <a:endParaRPr lang="ja-JP" altLang="en-US"/>
          </a:p>
        </p:txBody>
      </p:sp>
      <p:sp>
        <p:nvSpPr>
          <p:cNvPr id="43" name="Shape 41"/>
          <p:cNvSpPr/>
          <p:nvPr/>
        </p:nvSpPr>
        <p:spPr>
          <a:xfrm>
            <a:off x="6675120" y="4572000"/>
            <a:ext cx="73152" cy="502920"/>
          </a:xfrm>
          <a:prstGeom prst="rect">
            <a:avLst/>
          </a:prstGeom>
          <a:solidFill>
            <a:srgbClr val="10B981"/>
          </a:solidFill>
          <a:ln/>
        </p:spPr>
        <p:txBody>
          <a:bodyPr/>
          <a:lstStyle/>
          <a:p>
            <a:endParaRPr lang="ja-JP" altLang="en-US"/>
          </a:p>
        </p:txBody>
      </p:sp>
      <p:sp>
        <p:nvSpPr>
          <p:cNvPr id="44" name="Text 42"/>
          <p:cNvSpPr/>
          <p:nvPr/>
        </p:nvSpPr>
        <p:spPr>
          <a:xfrm>
            <a:off x="6858000" y="460857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表示保証：同期可視判定</a:t>
            </a:r>
            <a:endParaRPr lang="en-US" sz="1100" dirty="0">
              <a:latin typeface="Meiryo UI"/>
              <a:ea typeface="Meiryo UI"/>
            </a:endParaRPr>
          </a:p>
        </p:txBody>
      </p:sp>
      <p:sp>
        <p:nvSpPr>
          <p:cNvPr id="45" name="Text 43"/>
          <p:cNvSpPr/>
          <p:nvPr/>
        </p:nvSpPr>
        <p:spPr>
          <a:xfrm>
            <a:off x="6858000" y="482803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マウント時にビューポート内なら即時表示（Observer 待ちを省略）</a:t>
            </a:r>
            <a:endParaRPr lang="en-US" sz="1000" dirty="0">
              <a:latin typeface="Meiryo UI"/>
              <a:ea typeface="Meiryo UI"/>
            </a:endParaRPr>
          </a:p>
        </p:txBody>
      </p:sp>
      <p:sp>
        <p:nvSpPr>
          <p:cNvPr id="46" name="Shape 44"/>
          <p:cNvSpPr/>
          <p:nvPr/>
        </p:nvSpPr>
        <p:spPr>
          <a:xfrm>
            <a:off x="6675120" y="5120640"/>
            <a:ext cx="4663440" cy="502920"/>
          </a:xfrm>
          <a:prstGeom prst="rect">
            <a:avLst/>
          </a:prstGeom>
          <a:solidFill>
            <a:srgbClr val="FFFFFF"/>
          </a:solidFill>
          <a:ln w="6350">
            <a:solidFill>
              <a:srgbClr val="E2E8F0"/>
            </a:solidFill>
            <a:prstDash val="solid"/>
          </a:ln>
        </p:spPr>
        <p:txBody>
          <a:bodyPr/>
          <a:lstStyle/>
          <a:p>
            <a:endParaRPr lang="ja-JP" altLang="en-US"/>
          </a:p>
        </p:txBody>
      </p:sp>
      <p:sp>
        <p:nvSpPr>
          <p:cNvPr id="47" name="Shape 45"/>
          <p:cNvSpPr/>
          <p:nvPr/>
        </p:nvSpPr>
        <p:spPr>
          <a:xfrm>
            <a:off x="6675120" y="5120640"/>
            <a:ext cx="73152" cy="502920"/>
          </a:xfrm>
          <a:prstGeom prst="rect">
            <a:avLst/>
          </a:prstGeom>
          <a:solidFill>
            <a:srgbClr val="10B981"/>
          </a:solidFill>
          <a:ln/>
        </p:spPr>
        <p:txBody>
          <a:bodyPr/>
          <a:lstStyle/>
          <a:p>
            <a:endParaRPr lang="ja-JP" altLang="en-US"/>
          </a:p>
        </p:txBody>
      </p:sp>
      <p:sp>
        <p:nvSpPr>
          <p:cNvPr id="48" name="Text 46"/>
          <p:cNvSpPr/>
          <p:nvPr/>
        </p:nvSpPr>
        <p:spPr>
          <a:xfrm>
            <a:off x="6858000" y="515721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表示保証：CSS フォールバック</a:t>
            </a:r>
            <a:endParaRPr lang="en-US" sz="1100" dirty="0">
              <a:latin typeface="Meiryo UI"/>
              <a:ea typeface="Meiryo UI"/>
            </a:endParaRPr>
          </a:p>
        </p:txBody>
      </p:sp>
      <p:sp>
        <p:nvSpPr>
          <p:cNvPr id="49" name="Text 47"/>
          <p:cNvSpPr/>
          <p:nvPr/>
        </p:nvSpPr>
        <p:spPr>
          <a:xfrm>
            <a:off x="6858000" y="537667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万一 JS が死んでも 10 秒で必ず表示。「消えて見えない」を根絶</a:t>
            </a:r>
            <a:endParaRPr lang="en-US" sz="1000" dirty="0">
              <a:latin typeface="Meiryo UI"/>
              <a:ea typeface="Meiryo UI"/>
            </a:endParaRPr>
          </a:p>
        </p:txBody>
      </p:sp>
      <p:sp>
        <p:nvSpPr>
          <p:cNvPr id="50" name="Shape 48"/>
          <p:cNvSpPr/>
          <p:nvPr/>
        </p:nvSpPr>
        <p:spPr>
          <a:xfrm>
            <a:off x="6675120" y="5669280"/>
            <a:ext cx="4663440" cy="502920"/>
          </a:xfrm>
          <a:prstGeom prst="rect">
            <a:avLst/>
          </a:prstGeom>
          <a:solidFill>
            <a:srgbClr val="FFFFFF"/>
          </a:solidFill>
          <a:ln w="6350">
            <a:solidFill>
              <a:srgbClr val="E2E8F0"/>
            </a:solidFill>
            <a:prstDash val="solid"/>
          </a:ln>
        </p:spPr>
        <p:txBody>
          <a:bodyPr/>
          <a:lstStyle/>
          <a:p>
            <a:endParaRPr lang="ja-JP" altLang="en-US"/>
          </a:p>
        </p:txBody>
      </p:sp>
      <p:sp>
        <p:nvSpPr>
          <p:cNvPr id="51" name="Shape 49"/>
          <p:cNvSpPr/>
          <p:nvPr/>
        </p:nvSpPr>
        <p:spPr>
          <a:xfrm>
            <a:off x="6675120" y="5669280"/>
            <a:ext cx="73152" cy="502920"/>
          </a:xfrm>
          <a:prstGeom prst="rect">
            <a:avLst/>
          </a:prstGeom>
          <a:solidFill>
            <a:srgbClr val="10B981"/>
          </a:solidFill>
          <a:ln/>
        </p:spPr>
        <p:txBody>
          <a:bodyPr/>
          <a:lstStyle/>
          <a:p>
            <a:endParaRPr lang="ja-JP" altLang="en-US"/>
          </a:p>
        </p:txBody>
      </p:sp>
      <p:sp>
        <p:nvSpPr>
          <p:cNvPr id="52" name="Text 50"/>
          <p:cNvSpPr/>
          <p:nvPr/>
        </p:nvSpPr>
        <p:spPr>
          <a:xfrm>
            <a:off x="6858000" y="570585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reduced-motion で全アニメ停止</a:t>
            </a:r>
            <a:endParaRPr lang="en-US" sz="1100" dirty="0">
              <a:latin typeface="Meiryo UI"/>
              <a:ea typeface="Meiryo UI"/>
            </a:endParaRPr>
          </a:p>
        </p:txBody>
      </p:sp>
      <p:sp>
        <p:nvSpPr>
          <p:cNvPr id="53" name="Text 51"/>
          <p:cNvSpPr/>
          <p:nvPr/>
        </p:nvSpPr>
        <p:spPr>
          <a:xfrm>
            <a:off x="6858000" y="592531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動きが苦手な人には即時表示。CSS の @media で一括制御</a:t>
            </a:r>
            <a:endParaRPr lang="en-US" sz="1000" dirty="0">
              <a:latin typeface="Meiryo UI"/>
              <a:ea typeface="Meiryo UI"/>
            </a:endParaRPr>
          </a:p>
        </p:txBody>
      </p:sp>
      <p:sp>
        <p:nvSpPr>
          <p:cNvPr id="54" name="Text 52"/>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55" name="Text 53"/>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5 / 10</a:t>
            </a:r>
            <a:endParaRPr lang="en-US" sz="1000" dirty="0">
              <a:latin typeface="Meiryo UI"/>
              <a:ea typeface="Meiryo UI"/>
            </a:endParaRPr>
          </a:p>
        </p:txBody>
      </p:sp>
      <p:pic>
        <p:nvPicPr>
          <p:cNvPr id="56" name="Picture 55"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05  LATEST UPDATES</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ハッカソン中の追加改修（一括反映）</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運用中のフィードバックを 13 件まとめて反映。</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細かい体裁修正から機能追加まで、全ページに手を入れて仕上げました。</a:t>
            </a:r>
            <a:endParaRPr lang="en-US" sz="1800" dirty="0">
              <a:latin typeface="Meiryo UI"/>
              <a:ea typeface="Meiryo UI"/>
            </a:endParaRPr>
          </a:p>
        </p:txBody>
      </p:sp>
      <p:sp>
        <p:nvSpPr>
          <p:cNvPr id="10" name="Shape 8"/>
          <p:cNvSpPr/>
          <p:nvPr/>
        </p:nvSpPr>
        <p:spPr>
          <a:xfrm>
            <a:off x="548640" y="2971800"/>
            <a:ext cx="3566160" cy="3246120"/>
          </a:xfrm>
          <a:prstGeom prst="rect">
            <a:avLst/>
          </a:prstGeom>
          <a:solidFill>
            <a:srgbClr val="FFFFFF"/>
          </a:solidFill>
          <a:ln w="6350">
            <a:solidFill>
              <a:srgbClr val="E2E8F0"/>
            </a:solidFill>
            <a:prstDash val="solid"/>
          </a:ln>
        </p:spPr>
        <p:txBody>
          <a:bodyPr/>
          <a:lstStyle/>
          <a:p>
            <a:endParaRPr lang="ja-JP" altLang="en-US"/>
          </a:p>
        </p:txBody>
      </p:sp>
      <p:sp>
        <p:nvSpPr>
          <p:cNvPr id="11" name="Shape 9"/>
          <p:cNvSpPr/>
          <p:nvPr/>
        </p:nvSpPr>
        <p:spPr>
          <a:xfrm>
            <a:off x="548640" y="2971800"/>
            <a:ext cx="3566160" cy="640080"/>
          </a:xfrm>
          <a:prstGeom prst="rect">
            <a:avLst/>
          </a:prstGeom>
          <a:solidFill>
            <a:srgbClr val="2563EB"/>
          </a:solidFill>
          <a:ln/>
        </p:spPr>
        <p:txBody>
          <a:bodyPr/>
          <a:lstStyle/>
          <a:p>
            <a:endParaRPr lang="ja-JP" altLang="en-US"/>
          </a:p>
        </p:txBody>
      </p:sp>
      <p:sp>
        <p:nvSpPr>
          <p:cNvPr id="12" name="Text 10"/>
          <p:cNvSpPr/>
          <p:nvPr/>
        </p:nvSpPr>
        <p:spPr>
          <a:xfrm>
            <a:off x="731520" y="2971800"/>
            <a:ext cx="3200400" cy="640080"/>
          </a:xfrm>
          <a:prstGeom prst="rect">
            <a:avLst/>
          </a:prstGeom>
          <a:noFill/>
          <a:ln/>
        </p:spPr>
        <p:txBody>
          <a:bodyPr wrap="square" lIns="0" tIns="0" rIns="0" bIns="0" rtlCol="0" anchor="ctr"/>
          <a:lstStyle/>
          <a:p>
            <a:pPr marL="0" indent="0">
              <a:buNone/>
            </a:pPr>
            <a:r>
              <a:rPr lang="en-US" sz="1400" b="1" dirty="0">
                <a:solidFill>
                  <a:srgbClr val="FFFFFF"/>
                </a:solidFill>
                <a:latin typeface="Meiryo UI" pitchFamily="34" charset="0"/>
                <a:ea typeface="Meiryo UI" pitchFamily="34" charset="-122"/>
                <a:cs typeface="Meiryo UI" pitchFamily="34" charset="-120"/>
              </a:rPr>
              <a:t>見た目・体裁</a:t>
            </a:r>
            <a:endParaRPr lang="en-US" sz="1400" dirty="0">
              <a:latin typeface="Meiryo UI"/>
              <a:ea typeface="Meiryo UI"/>
            </a:endParaRPr>
          </a:p>
        </p:txBody>
      </p:sp>
      <p:sp>
        <p:nvSpPr>
          <p:cNvPr id="13" name="Text 11"/>
          <p:cNvSpPr/>
          <p:nvPr/>
        </p:nvSpPr>
        <p:spPr>
          <a:xfrm>
            <a:off x="731520" y="3749040"/>
            <a:ext cx="3200400" cy="2377440"/>
          </a:xfrm>
          <a:prstGeom prst="rect">
            <a:avLst/>
          </a:prstGeom>
          <a:noFill/>
          <a:ln/>
        </p:spPr>
        <p:txBody>
          <a:bodyPr wrap="square" rtlCol="0" anchor="ctr"/>
          <a:lstStyle/>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見出しを黄色縦棒スタイルに統一</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特徴カード 3 枚を最大高に統一</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説明文の折返し改善（max-w-4xl）</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任意バッジ 緑 → 灰色に変更</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代表挨拶に word-break: keep-all</a:t>
            </a:r>
            <a:endParaRPr lang="en-US" sz="1200" dirty="0">
              <a:latin typeface="Meiryo UI"/>
              <a:ea typeface="Meiryo UI"/>
            </a:endParaRPr>
          </a:p>
        </p:txBody>
      </p:sp>
      <p:sp>
        <p:nvSpPr>
          <p:cNvPr id="14" name="Shape 12"/>
          <p:cNvSpPr/>
          <p:nvPr/>
        </p:nvSpPr>
        <p:spPr>
          <a:xfrm>
            <a:off x="4343400" y="2971800"/>
            <a:ext cx="3566160" cy="3246120"/>
          </a:xfrm>
          <a:prstGeom prst="rect">
            <a:avLst/>
          </a:prstGeom>
          <a:solidFill>
            <a:srgbClr val="FFFFFF"/>
          </a:solidFill>
          <a:ln w="6350">
            <a:solidFill>
              <a:srgbClr val="E2E8F0"/>
            </a:solidFill>
            <a:prstDash val="solid"/>
          </a:ln>
        </p:spPr>
        <p:txBody>
          <a:bodyPr/>
          <a:lstStyle/>
          <a:p>
            <a:endParaRPr lang="ja-JP" altLang="en-US"/>
          </a:p>
        </p:txBody>
      </p:sp>
      <p:sp>
        <p:nvSpPr>
          <p:cNvPr id="15" name="Shape 13"/>
          <p:cNvSpPr/>
          <p:nvPr/>
        </p:nvSpPr>
        <p:spPr>
          <a:xfrm>
            <a:off x="4343400" y="2971800"/>
            <a:ext cx="3566160" cy="640080"/>
          </a:xfrm>
          <a:prstGeom prst="rect">
            <a:avLst/>
          </a:prstGeom>
          <a:solidFill>
            <a:srgbClr val="F59E0B"/>
          </a:solidFill>
          <a:ln/>
        </p:spPr>
        <p:txBody>
          <a:bodyPr/>
          <a:lstStyle/>
          <a:p>
            <a:endParaRPr lang="ja-JP" altLang="en-US"/>
          </a:p>
        </p:txBody>
      </p:sp>
      <p:sp>
        <p:nvSpPr>
          <p:cNvPr id="16" name="Text 14"/>
          <p:cNvSpPr/>
          <p:nvPr/>
        </p:nvSpPr>
        <p:spPr>
          <a:xfrm>
            <a:off x="4526280" y="2971800"/>
            <a:ext cx="3200400" cy="640080"/>
          </a:xfrm>
          <a:prstGeom prst="rect">
            <a:avLst/>
          </a:prstGeom>
          <a:noFill/>
          <a:ln/>
        </p:spPr>
        <p:txBody>
          <a:bodyPr wrap="square" lIns="0" tIns="0" rIns="0" bIns="0" rtlCol="0" anchor="ctr"/>
          <a:lstStyle/>
          <a:p>
            <a:pPr marL="0" indent="0">
              <a:buNone/>
            </a:pPr>
            <a:r>
              <a:rPr lang="en-US" sz="1400" b="1" dirty="0">
                <a:solidFill>
                  <a:srgbClr val="FFFFFF"/>
                </a:solidFill>
                <a:latin typeface="Meiryo UI" pitchFamily="34" charset="0"/>
                <a:ea typeface="Meiryo UI" pitchFamily="34" charset="-122"/>
                <a:cs typeface="Meiryo UI" pitchFamily="34" charset="-120"/>
              </a:rPr>
              <a:t>文言・データ</a:t>
            </a:r>
            <a:endParaRPr lang="en-US" sz="1400" dirty="0">
              <a:latin typeface="Meiryo UI"/>
              <a:ea typeface="Meiryo UI"/>
            </a:endParaRPr>
          </a:p>
        </p:txBody>
      </p:sp>
      <p:sp>
        <p:nvSpPr>
          <p:cNvPr id="17" name="Text 15"/>
          <p:cNvSpPr/>
          <p:nvPr/>
        </p:nvSpPr>
        <p:spPr>
          <a:xfrm>
            <a:off x="4526280" y="3749040"/>
            <a:ext cx="3200400" cy="2377440"/>
          </a:xfrm>
          <a:prstGeom prst="rect">
            <a:avLst/>
          </a:prstGeom>
          <a:noFill/>
          <a:ln/>
        </p:spPr>
        <p:txBody>
          <a:bodyPr wrap="square" rtlCol="0" anchor="ctr"/>
          <a:lstStyle/>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事業内容の読点修正</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代表挨拶 冒頭の英字削除</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案件実績 5 社を追記</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アクセスマップ説明の簡潔化</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職種説明文（インフラ／HD）改訂</a:t>
            </a:r>
            <a:endParaRPr lang="en-US" sz="1200" dirty="0">
              <a:latin typeface="Meiryo UI"/>
              <a:ea typeface="Meiryo UI"/>
            </a:endParaRPr>
          </a:p>
        </p:txBody>
      </p:sp>
      <p:sp>
        <p:nvSpPr>
          <p:cNvPr id="18" name="Shape 16"/>
          <p:cNvSpPr/>
          <p:nvPr/>
        </p:nvSpPr>
        <p:spPr>
          <a:xfrm>
            <a:off x="8138160" y="2971800"/>
            <a:ext cx="3566160" cy="3246120"/>
          </a:xfrm>
          <a:prstGeom prst="rect">
            <a:avLst/>
          </a:prstGeom>
          <a:solidFill>
            <a:srgbClr val="FFFFFF"/>
          </a:solidFill>
          <a:ln w="6350">
            <a:solidFill>
              <a:srgbClr val="E2E8F0"/>
            </a:solidFill>
            <a:prstDash val="solid"/>
          </a:ln>
        </p:spPr>
        <p:txBody>
          <a:bodyPr/>
          <a:lstStyle/>
          <a:p>
            <a:endParaRPr lang="ja-JP" altLang="en-US"/>
          </a:p>
        </p:txBody>
      </p:sp>
      <p:sp>
        <p:nvSpPr>
          <p:cNvPr id="19" name="Shape 17"/>
          <p:cNvSpPr/>
          <p:nvPr/>
        </p:nvSpPr>
        <p:spPr>
          <a:xfrm>
            <a:off x="8138160" y="2971800"/>
            <a:ext cx="3566160" cy="640080"/>
          </a:xfrm>
          <a:prstGeom prst="rect">
            <a:avLst/>
          </a:prstGeom>
          <a:solidFill>
            <a:srgbClr val="10B981"/>
          </a:solidFill>
          <a:ln/>
        </p:spPr>
        <p:txBody>
          <a:bodyPr/>
          <a:lstStyle/>
          <a:p>
            <a:endParaRPr lang="ja-JP" altLang="en-US"/>
          </a:p>
        </p:txBody>
      </p:sp>
      <p:sp>
        <p:nvSpPr>
          <p:cNvPr id="20" name="Text 18"/>
          <p:cNvSpPr/>
          <p:nvPr/>
        </p:nvSpPr>
        <p:spPr>
          <a:xfrm>
            <a:off x="8321040" y="2971800"/>
            <a:ext cx="3200400" cy="640080"/>
          </a:xfrm>
          <a:prstGeom prst="rect">
            <a:avLst/>
          </a:prstGeom>
          <a:noFill/>
          <a:ln/>
        </p:spPr>
        <p:txBody>
          <a:bodyPr wrap="square" lIns="0" tIns="0" rIns="0" bIns="0" rtlCol="0" anchor="ctr"/>
          <a:lstStyle/>
          <a:p>
            <a:pPr marL="0" indent="0">
              <a:buNone/>
            </a:pPr>
            <a:r>
              <a:rPr lang="en-US" sz="1400" b="1" dirty="0">
                <a:solidFill>
                  <a:srgbClr val="FFFFFF"/>
                </a:solidFill>
                <a:latin typeface="Meiryo UI" pitchFamily="34" charset="0"/>
                <a:ea typeface="Meiryo UI" pitchFamily="34" charset="-122"/>
                <a:cs typeface="Meiryo UI" pitchFamily="34" charset="-120"/>
              </a:rPr>
              <a:t>コンテンツ機能</a:t>
            </a:r>
            <a:endParaRPr lang="en-US" sz="1400" dirty="0">
              <a:latin typeface="Meiryo UI"/>
              <a:ea typeface="Meiryo UI"/>
            </a:endParaRPr>
          </a:p>
        </p:txBody>
      </p:sp>
      <p:sp>
        <p:nvSpPr>
          <p:cNvPr id="21" name="Text 19"/>
          <p:cNvSpPr/>
          <p:nvPr/>
        </p:nvSpPr>
        <p:spPr>
          <a:xfrm>
            <a:off x="8321040" y="3749040"/>
            <a:ext cx="3200400" cy="2377440"/>
          </a:xfrm>
          <a:prstGeom prst="rect">
            <a:avLst/>
          </a:prstGeom>
          <a:noFill/>
          <a:ln/>
        </p:spPr>
        <p:txBody>
          <a:bodyPr wrap="square" rtlCol="0" anchor="ctr"/>
          <a:lstStyle/>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TOP マーキー 3 → 6 枚化</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採用カルーセル 5 → 4 枚化</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現場デビュー文言 削除</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エントリー注記文の簡潔化</a:t>
            </a:r>
            <a:endParaRPr lang="en-US" sz="1200" dirty="0">
              <a:latin typeface="Meiryo UI"/>
              <a:ea typeface="Meiryo UI"/>
            </a:endParaRPr>
          </a:p>
          <a:p>
            <a:pPr marL="342900" indent="-342900">
              <a:spcAft>
                <a:spcPts val="600"/>
              </a:spcAft>
              <a:buSzPct val="100000"/>
              <a:buChar char="•"/>
            </a:pPr>
            <a:r>
              <a:rPr lang="en-US" sz="1200" dirty="0">
                <a:solidFill>
                  <a:srgbClr val="1E293B"/>
                </a:solidFill>
                <a:latin typeface="Meiryo UI" pitchFamily="34" charset="0"/>
                <a:ea typeface="Meiryo UI" pitchFamily="34" charset="-122"/>
                <a:cs typeface="Meiryo UI" pitchFamily="34" charset="-120"/>
              </a:rPr>
              <a:t>動画：ふわっと 1 回再生化</a:t>
            </a:r>
            <a:endParaRPr lang="en-US" sz="1200" dirty="0">
              <a:latin typeface="Meiryo UI"/>
              <a:ea typeface="Meiryo UI"/>
            </a:endParaRPr>
          </a:p>
        </p:txBody>
      </p:sp>
      <p:sp>
        <p:nvSpPr>
          <p:cNvPr id="22" name="Text 20"/>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23" name="Text 21"/>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6 / 10</a:t>
            </a:r>
            <a:endParaRPr lang="en-US" sz="1000" dirty="0">
              <a:latin typeface="Meiryo UI"/>
              <a:ea typeface="Meiryo UI"/>
            </a:endParaRPr>
          </a:p>
        </p:txBody>
      </p:sp>
      <p:pic>
        <p:nvPicPr>
          <p:cNvPr id="24" name="Picture 23"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06  SECURITY</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セキュリティ ①｜3 層防御 ＋ PDF 3 層検証</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「入り口で防ぐ」「中身を確認する」「露出を減らす」の 3 段構え。</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履歴書 PDF は 3 層で偽装を見破り、API は多角的に守っています。</a:t>
            </a:r>
            <a:endParaRPr lang="en-US" sz="1800" dirty="0">
              <a:latin typeface="Meiryo UI"/>
              <a:ea typeface="Meiryo UI"/>
            </a:endParaRPr>
          </a:p>
        </p:txBody>
      </p:sp>
      <p:sp>
        <p:nvSpPr>
          <p:cNvPr id="10" name="Shape 8"/>
          <p:cNvSpPr/>
          <p:nvPr/>
        </p:nvSpPr>
        <p:spPr>
          <a:xfrm>
            <a:off x="548640" y="2971800"/>
            <a:ext cx="3566160" cy="1645920"/>
          </a:xfrm>
          <a:prstGeom prst="rect">
            <a:avLst/>
          </a:prstGeom>
          <a:solidFill>
            <a:srgbClr val="FFFFFF"/>
          </a:solidFill>
          <a:ln w="6350">
            <a:solidFill>
              <a:srgbClr val="E2E8F0"/>
            </a:solidFill>
            <a:prstDash val="solid"/>
          </a:ln>
        </p:spPr>
        <p:txBody>
          <a:bodyPr/>
          <a:lstStyle/>
          <a:p>
            <a:endParaRPr lang="ja-JP" altLang="en-US"/>
          </a:p>
        </p:txBody>
      </p:sp>
      <p:sp>
        <p:nvSpPr>
          <p:cNvPr id="11" name="Shape 9"/>
          <p:cNvSpPr/>
          <p:nvPr/>
        </p:nvSpPr>
        <p:spPr>
          <a:xfrm>
            <a:off x="548640" y="2971800"/>
            <a:ext cx="3566160" cy="502920"/>
          </a:xfrm>
          <a:prstGeom prst="rect">
            <a:avLst/>
          </a:prstGeom>
          <a:solidFill>
            <a:srgbClr val="EF4444"/>
          </a:solidFill>
          <a:ln/>
        </p:spPr>
        <p:txBody>
          <a:bodyPr/>
          <a:lstStyle/>
          <a:p>
            <a:endParaRPr lang="ja-JP" altLang="en-US"/>
          </a:p>
        </p:txBody>
      </p:sp>
      <p:sp>
        <p:nvSpPr>
          <p:cNvPr id="12" name="Text 10"/>
          <p:cNvSpPr/>
          <p:nvPr/>
        </p:nvSpPr>
        <p:spPr>
          <a:xfrm>
            <a:off x="685800" y="2990088"/>
            <a:ext cx="3291840" cy="256032"/>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1. 入り口で防ぐ</a:t>
            </a:r>
            <a:endParaRPr lang="en-US" sz="1200" dirty="0">
              <a:latin typeface="Meiryo UI"/>
              <a:ea typeface="Meiryo UI"/>
            </a:endParaRPr>
          </a:p>
        </p:txBody>
      </p:sp>
      <p:sp>
        <p:nvSpPr>
          <p:cNvPr id="13" name="Text 11"/>
          <p:cNvSpPr/>
          <p:nvPr/>
        </p:nvSpPr>
        <p:spPr>
          <a:xfrm>
            <a:off x="685800" y="3227832"/>
            <a:ext cx="3291840" cy="219456"/>
          </a:xfrm>
          <a:prstGeom prst="rect">
            <a:avLst/>
          </a:prstGeom>
          <a:noFill/>
          <a:ln/>
        </p:spPr>
        <p:txBody>
          <a:bodyPr wrap="square" lIns="0" tIns="0" rIns="0" bIns="0" rtlCol="0" anchor="ctr"/>
          <a:lstStyle/>
          <a:p>
            <a:pPr marL="0" indent="0">
              <a:buNone/>
            </a:pPr>
            <a:r>
              <a:rPr lang="en-US" sz="1000" dirty="0">
                <a:solidFill>
                  <a:srgbClr val="FFFFFF"/>
                </a:solidFill>
                <a:latin typeface="Meiryo UI" pitchFamily="34" charset="0"/>
                <a:ea typeface="Meiryo UI" pitchFamily="34" charset="-122"/>
                <a:cs typeface="Meiryo UI" pitchFamily="34" charset="-120"/>
              </a:rPr>
              <a:t>セキュリティヘッダ</a:t>
            </a:r>
            <a:endParaRPr lang="en-US" sz="1000" dirty="0">
              <a:latin typeface="Meiryo UI"/>
              <a:ea typeface="Meiryo UI"/>
            </a:endParaRPr>
          </a:p>
        </p:txBody>
      </p:sp>
      <p:sp>
        <p:nvSpPr>
          <p:cNvPr id="14" name="Text 12"/>
          <p:cNvSpPr/>
          <p:nvPr/>
        </p:nvSpPr>
        <p:spPr>
          <a:xfrm>
            <a:off x="731520" y="3520440"/>
            <a:ext cx="3200400" cy="1051560"/>
          </a:xfrm>
          <a:prstGeom prst="rect">
            <a:avLst/>
          </a:prstGeom>
          <a:noFill/>
          <a:ln/>
        </p:spPr>
        <p:txBody>
          <a:bodyPr wrap="square" rtlCol="0" anchor="ctr"/>
          <a:lstStyle/>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Content-Security-Policy</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XFO + frame-ancestors</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HSTS / COOP</a:t>
            </a:r>
            <a:endParaRPr lang="en-US" sz="1100" dirty="0">
              <a:latin typeface="Meiryo UI"/>
              <a:ea typeface="Meiryo UI"/>
            </a:endParaRPr>
          </a:p>
        </p:txBody>
      </p:sp>
      <p:sp>
        <p:nvSpPr>
          <p:cNvPr id="15" name="Shape 13"/>
          <p:cNvSpPr/>
          <p:nvPr/>
        </p:nvSpPr>
        <p:spPr>
          <a:xfrm>
            <a:off x="4343400" y="2971800"/>
            <a:ext cx="3566160" cy="1645920"/>
          </a:xfrm>
          <a:prstGeom prst="rect">
            <a:avLst/>
          </a:prstGeom>
          <a:solidFill>
            <a:srgbClr val="FFFFFF"/>
          </a:solidFill>
          <a:ln w="6350">
            <a:solidFill>
              <a:srgbClr val="E2E8F0"/>
            </a:solidFill>
            <a:prstDash val="solid"/>
          </a:ln>
        </p:spPr>
        <p:txBody>
          <a:bodyPr/>
          <a:lstStyle/>
          <a:p>
            <a:endParaRPr lang="ja-JP" altLang="en-US"/>
          </a:p>
        </p:txBody>
      </p:sp>
      <p:sp>
        <p:nvSpPr>
          <p:cNvPr id="16" name="Shape 14"/>
          <p:cNvSpPr/>
          <p:nvPr/>
        </p:nvSpPr>
        <p:spPr>
          <a:xfrm>
            <a:off x="4343400" y="2971800"/>
            <a:ext cx="3566160" cy="502920"/>
          </a:xfrm>
          <a:prstGeom prst="rect">
            <a:avLst/>
          </a:prstGeom>
          <a:solidFill>
            <a:srgbClr val="F59E0B"/>
          </a:solidFill>
          <a:ln/>
        </p:spPr>
        <p:txBody>
          <a:bodyPr/>
          <a:lstStyle/>
          <a:p>
            <a:endParaRPr lang="ja-JP" altLang="en-US"/>
          </a:p>
        </p:txBody>
      </p:sp>
      <p:sp>
        <p:nvSpPr>
          <p:cNvPr id="17" name="Text 15"/>
          <p:cNvSpPr/>
          <p:nvPr/>
        </p:nvSpPr>
        <p:spPr>
          <a:xfrm>
            <a:off x="4480560" y="2990088"/>
            <a:ext cx="3291840" cy="256032"/>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2. 中身を確認する</a:t>
            </a:r>
            <a:endParaRPr lang="en-US" sz="1200" dirty="0">
              <a:latin typeface="Meiryo UI"/>
              <a:ea typeface="Meiryo UI"/>
            </a:endParaRPr>
          </a:p>
        </p:txBody>
      </p:sp>
      <p:sp>
        <p:nvSpPr>
          <p:cNvPr id="18" name="Text 16"/>
          <p:cNvSpPr/>
          <p:nvPr/>
        </p:nvSpPr>
        <p:spPr>
          <a:xfrm>
            <a:off x="4480560" y="3227832"/>
            <a:ext cx="3291840" cy="219456"/>
          </a:xfrm>
          <a:prstGeom prst="rect">
            <a:avLst/>
          </a:prstGeom>
          <a:noFill/>
          <a:ln/>
        </p:spPr>
        <p:txBody>
          <a:bodyPr wrap="square" lIns="0" tIns="0" rIns="0" bIns="0" rtlCol="0" anchor="ctr"/>
          <a:lstStyle/>
          <a:p>
            <a:pPr marL="0" indent="0">
              <a:buNone/>
            </a:pPr>
            <a:r>
              <a:rPr lang="en-US" sz="1000" dirty="0">
                <a:solidFill>
                  <a:srgbClr val="FFFFFF"/>
                </a:solidFill>
                <a:latin typeface="Meiryo UI" pitchFamily="34" charset="0"/>
                <a:ea typeface="Meiryo UI" pitchFamily="34" charset="-122"/>
                <a:cs typeface="Meiryo UI" pitchFamily="34" charset="-120"/>
              </a:rPr>
              <a:t>API / フォーム検証</a:t>
            </a:r>
            <a:endParaRPr lang="en-US" sz="1000" dirty="0">
              <a:latin typeface="Meiryo UI"/>
              <a:ea typeface="Meiryo UI"/>
            </a:endParaRPr>
          </a:p>
        </p:txBody>
      </p:sp>
      <p:sp>
        <p:nvSpPr>
          <p:cNvPr id="19" name="Text 17"/>
          <p:cNvSpPr/>
          <p:nvPr/>
        </p:nvSpPr>
        <p:spPr>
          <a:xfrm>
            <a:off x="4526280" y="3520440"/>
            <a:ext cx="3200400" cy="1051560"/>
          </a:xfrm>
          <a:prstGeom prst="rect">
            <a:avLst/>
          </a:prstGeom>
          <a:noFill/>
          <a:ln/>
        </p:spPr>
        <p:txBody>
          <a:bodyPr wrap="square" rtlCol="0" anchor="ctr"/>
          <a:lstStyle/>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PDF 3 層検証</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Origin / Referer 検証（CSRF）</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POST 以外 405 拒否</a:t>
            </a:r>
            <a:endParaRPr lang="en-US" sz="1100" dirty="0">
              <a:latin typeface="Meiryo UI"/>
              <a:ea typeface="Meiryo UI"/>
            </a:endParaRPr>
          </a:p>
        </p:txBody>
      </p:sp>
      <p:sp>
        <p:nvSpPr>
          <p:cNvPr id="20" name="Shape 18"/>
          <p:cNvSpPr/>
          <p:nvPr/>
        </p:nvSpPr>
        <p:spPr>
          <a:xfrm>
            <a:off x="8138160" y="2971800"/>
            <a:ext cx="3566160" cy="1645920"/>
          </a:xfrm>
          <a:prstGeom prst="rect">
            <a:avLst/>
          </a:prstGeom>
          <a:solidFill>
            <a:srgbClr val="FFFFFF"/>
          </a:solidFill>
          <a:ln w="6350">
            <a:solidFill>
              <a:srgbClr val="E2E8F0"/>
            </a:solidFill>
            <a:prstDash val="solid"/>
          </a:ln>
        </p:spPr>
        <p:txBody>
          <a:bodyPr/>
          <a:lstStyle/>
          <a:p>
            <a:endParaRPr lang="ja-JP" altLang="en-US"/>
          </a:p>
        </p:txBody>
      </p:sp>
      <p:sp>
        <p:nvSpPr>
          <p:cNvPr id="21" name="Shape 19"/>
          <p:cNvSpPr/>
          <p:nvPr/>
        </p:nvSpPr>
        <p:spPr>
          <a:xfrm>
            <a:off x="8138160" y="2971800"/>
            <a:ext cx="3566160" cy="502920"/>
          </a:xfrm>
          <a:prstGeom prst="rect">
            <a:avLst/>
          </a:prstGeom>
          <a:solidFill>
            <a:srgbClr val="10B981"/>
          </a:solidFill>
          <a:ln/>
        </p:spPr>
        <p:txBody>
          <a:bodyPr/>
          <a:lstStyle/>
          <a:p>
            <a:endParaRPr lang="ja-JP" altLang="en-US"/>
          </a:p>
        </p:txBody>
      </p:sp>
      <p:sp>
        <p:nvSpPr>
          <p:cNvPr id="22" name="Text 20"/>
          <p:cNvSpPr/>
          <p:nvPr/>
        </p:nvSpPr>
        <p:spPr>
          <a:xfrm>
            <a:off x="8275320" y="2990088"/>
            <a:ext cx="3291840" cy="256032"/>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3. 露出を減らす</a:t>
            </a:r>
            <a:endParaRPr lang="en-US" sz="1200" dirty="0">
              <a:latin typeface="Meiryo UI"/>
              <a:ea typeface="Meiryo UI"/>
            </a:endParaRPr>
          </a:p>
        </p:txBody>
      </p:sp>
      <p:sp>
        <p:nvSpPr>
          <p:cNvPr id="23" name="Text 21"/>
          <p:cNvSpPr/>
          <p:nvPr/>
        </p:nvSpPr>
        <p:spPr>
          <a:xfrm>
            <a:off x="8275320" y="3227832"/>
            <a:ext cx="3291840" cy="219456"/>
          </a:xfrm>
          <a:prstGeom prst="rect">
            <a:avLst/>
          </a:prstGeom>
          <a:noFill/>
          <a:ln/>
        </p:spPr>
        <p:txBody>
          <a:bodyPr wrap="square" lIns="0" tIns="0" rIns="0" bIns="0" rtlCol="0" anchor="ctr"/>
          <a:lstStyle/>
          <a:p>
            <a:pPr marL="0" indent="0">
              <a:buNone/>
            </a:pPr>
            <a:r>
              <a:rPr lang="en-US" sz="1000" dirty="0">
                <a:solidFill>
                  <a:srgbClr val="FFFFFF"/>
                </a:solidFill>
                <a:latin typeface="Meiryo UI" pitchFamily="34" charset="0"/>
                <a:ea typeface="Meiryo UI" pitchFamily="34" charset="-122"/>
                <a:cs typeface="Meiryo UI" pitchFamily="34" charset="-120"/>
              </a:rPr>
              <a:t>情報の秘匿</a:t>
            </a:r>
            <a:endParaRPr lang="en-US" sz="1000" dirty="0">
              <a:latin typeface="Meiryo UI"/>
              <a:ea typeface="Meiryo UI"/>
            </a:endParaRPr>
          </a:p>
        </p:txBody>
      </p:sp>
      <p:sp>
        <p:nvSpPr>
          <p:cNvPr id="24" name="Text 22"/>
          <p:cNvSpPr/>
          <p:nvPr/>
        </p:nvSpPr>
        <p:spPr>
          <a:xfrm>
            <a:off x="8321040" y="3520440"/>
            <a:ext cx="3200400" cy="1051560"/>
          </a:xfrm>
          <a:prstGeom prst="rect">
            <a:avLst/>
          </a:prstGeom>
          <a:noFill/>
          <a:ln/>
        </p:spPr>
        <p:txBody>
          <a:bodyPr wrap="square" rtlCol="0" anchor="ctr"/>
          <a:lstStyle/>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X-Powered-By 無効化</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本番ソースマップ生成なし</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console.log を本番除去</a:t>
            </a:r>
            <a:endParaRPr lang="en-US" sz="1100" dirty="0">
              <a:latin typeface="Meiryo UI"/>
              <a:ea typeface="Meiryo UI"/>
            </a:endParaRPr>
          </a:p>
        </p:txBody>
      </p:sp>
      <p:sp>
        <p:nvSpPr>
          <p:cNvPr id="25" name="Text 23"/>
          <p:cNvSpPr/>
          <p:nvPr/>
        </p:nvSpPr>
        <p:spPr>
          <a:xfrm>
            <a:off x="548640" y="4754880"/>
            <a:ext cx="1106424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PDF 3 層検証 ＋ API 強化</a:t>
            </a:r>
            <a:endParaRPr lang="en-US" sz="1500" dirty="0">
              <a:latin typeface="Meiryo UI"/>
              <a:ea typeface="Meiryo UI"/>
            </a:endParaRPr>
          </a:p>
        </p:txBody>
      </p:sp>
      <p:sp>
        <p:nvSpPr>
          <p:cNvPr id="26" name="Shape 24"/>
          <p:cNvSpPr/>
          <p:nvPr/>
        </p:nvSpPr>
        <p:spPr>
          <a:xfrm>
            <a:off x="548640" y="5166360"/>
            <a:ext cx="2468880" cy="1005840"/>
          </a:xfrm>
          <a:prstGeom prst="rect">
            <a:avLst/>
          </a:prstGeom>
          <a:solidFill>
            <a:srgbClr val="EBC528"/>
          </a:solidFill>
          <a:ln/>
        </p:spPr>
        <p:txBody>
          <a:bodyPr/>
          <a:lstStyle/>
          <a:p>
            <a:endParaRPr lang="ja-JP" altLang="en-US"/>
          </a:p>
        </p:txBody>
      </p:sp>
      <p:sp>
        <p:nvSpPr>
          <p:cNvPr id="27" name="Text 25"/>
          <p:cNvSpPr/>
          <p:nvPr/>
        </p:nvSpPr>
        <p:spPr>
          <a:xfrm>
            <a:off x="685800" y="5184648"/>
            <a:ext cx="457200" cy="274320"/>
          </a:xfrm>
          <a:prstGeom prst="rect">
            <a:avLst/>
          </a:prstGeom>
          <a:noFill/>
          <a:ln/>
        </p:spPr>
        <p:txBody>
          <a:bodyPr wrap="square" lIns="0" tIns="0" rIns="0" bIns="0" rtlCol="0" anchor="ctr"/>
          <a:lstStyle/>
          <a:p>
            <a:pPr marL="0" indent="0">
              <a:buNone/>
            </a:pPr>
            <a:r>
              <a:rPr lang="en-US" sz="1200" b="1" dirty="0">
                <a:solidFill>
                  <a:srgbClr val="0F172A"/>
                </a:solidFill>
                <a:latin typeface="Meiryo UI" pitchFamily="34" charset="0"/>
                <a:ea typeface="Meiryo UI" pitchFamily="34" charset="-122"/>
                <a:cs typeface="Meiryo UI" pitchFamily="34" charset="-120"/>
              </a:rPr>
              <a:t>①</a:t>
            </a:r>
            <a:endParaRPr lang="en-US" sz="1200" dirty="0">
              <a:latin typeface="Meiryo UI"/>
              <a:ea typeface="Meiryo UI"/>
            </a:endParaRPr>
          </a:p>
        </p:txBody>
      </p:sp>
      <p:sp>
        <p:nvSpPr>
          <p:cNvPr id="28" name="Text 26"/>
          <p:cNvSpPr/>
          <p:nvPr/>
        </p:nvSpPr>
        <p:spPr>
          <a:xfrm>
            <a:off x="685800" y="5349240"/>
            <a:ext cx="2194560" cy="32004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拡張子</a:t>
            </a:r>
            <a:endParaRPr lang="en-US" sz="1500" dirty="0">
              <a:latin typeface="Meiryo UI"/>
              <a:ea typeface="Meiryo UI"/>
            </a:endParaRPr>
          </a:p>
        </p:txBody>
      </p:sp>
      <p:sp>
        <p:nvSpPr>
          <p:cNvPr id="29" name="Shape 27"/>
          <p:cNvSpPr/>
          <p:nvPr/>
        </p:nvSpPr>
        <p:spPr>
          <a:xfrm>
            <a:off x="685800" y="5696712"/>
            <a:ext cx="2194560" cy="365760"/>
          </a:xfrm>
          <a:prstGeom prst="rect">
            <a:avLst/>
          </a:prstGeom>
          <a:solidFill>
            <a:srgbClr val="FFFFFF"/>
          </a:solidFill>
          <a:ln/>
        </p:spPr>
        <p:txBody>
          <a:bodyPr/>
          <a:lstStyle/>
          <a:p>
            <a:endParaRPr lang="ja-JP" altLang="en-US"/>
          </a:p>
        </p:txBody>
      </p:sp>
      <p:sp>
        <p:nvSpPr>
          <p:cNvPr id="30" name="Text 28"/>
          <p:cNvSpPr/>
          <p:nvPr/>
        </p:nvSpPr>
        <p:spPr>
          <a:xfrm>
            <a:off x="685800" y="5696712"/>
            <a:ext cx="2194560" cy="365760"/>
          </a:xfrm>
          <a:prstGeom prst="rect">
            <a:avLst/>
          </a:prstGeom>
          <a:noFill/>
          <a:ln/>
        </p:spPr>
        <p:txBody>
          <a:bodyPr wrap="square" lIns="0" tIns="0" rIns="0" bIns="0" rtlCol="0" anchor="ctr"/>
          <a:lstStyle/>
          <a:p>
            <a:pPr marL="0" indent="0" algn="ctr">
              <a:buNone/>
            </a:pPr>
            <a:r>
              <a:rPr lang="en-US" sz="1000" b="1" dirty="0">
                <a:solidFill>
                  <a:srgbClr val="0F172A"/>
                </a:solidFill>
                <a:latin typeface="Meiryo UI" pitchFamily="34" charset="0"/>
                <a:ea typeface="Meiryo UI" pitchFamily="34" charset="-122"/>
                <a:cs typeface="Meiryo UI" pitchFamily="34" charset="-120"/>
              </a:rPr>
              <a:t>.pdf で終わるか</a:t>
            </a:r>
            <a:endParaRPr lang="en-US" sz="1000" dirty="0">
              <a:latin typeface="Meiryo UI"/>
              <a:ea typeface="Meiryo UI"/>
            </a:endParaRPr>
          </a:p>
        </p:txBody>
      </p:sp>
      <p:sp>
        <p:nvSpPr>
          <p:cNvPr id="31" name="Shape 29"/>
          <p:cNvSpPr/>
          <p:nvPr/>
        </p:nvSpPr>
        <p:spPr>
          <a:xfrm>
            <a:off x="3154680" y="5166360"/>
            <a:ext cx="2468880" cy="1005840"/>
          </a:xfrm>
          <a:prstGeom prst="rect">
            <a:avLst/>
          </a:prstGeom>
          <a:solidFill>
            <a:srgbClr val="F59E0B"/>
          </a:solidFill>
          <a:ln/>
        </p:spPr>
        <p:txBody>
          <a:bodyPr/>
          <a:lstStyle/>
          <a:p>
            <a:endParaRPr lang="ja-JP" altLang="en-US"/>
          </a:p>
        </p:txBody>
      </p:sp>
      <p:sp>
        <p:nvSpPr>
          <p:cNvPr id="32" name="Text 30"/>
          <p:cNvSpPr/>
          <p:nvPr/>
        </p:nvSpPr>
        <p:spPr>
          <a:xfrm>
            <a:off x="3291840" y="5184648"/>
            <a:ext cx="457200" cy="274320"/>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②</a:t>
            </a:r>
            <a:endParaRPr lang="en-US" sz="1200" dirty="0">
              <a:latin typeface="Meiryo UI"/>
              <a:ea typeface="Meiryo UI"/>
            </a:endParaRPr>
          </a:p>
        </p:txBody>
      </p:sp>
      <p:sp>
        <p:nvSpPr>
          <p:cNvPr id="33" name="Text 31"/>
          <p:cNvSpPr/>
          <p:nvPr/>
        </p:nvSpPr>
        <p:spPr>
          <a:xfrm>
            <a:off x="3291840" y="5349240"/>
            <a:ext cx="2194560" cy="320040"/>
          </a:xfrm>
          <a:prstGeom prst="rect">
            <a:avLst/>
          </a:prstGeom>
          <a:noFill/>
          <a:ln/>
        </p:spPr>
        <p:txBody>
          <a:bodyPr wrap="square" lIns="0" tIns="0" rIns="0" bIns="0" rtlCol="0" anchor="ctr"/>
          <a:lstStyle/>
          <a:p>
            <a:pPr marL="0" indent="0">
              <a:buNone/>
            </a:pPr>
            <a:r>
              <a:rPr lang="en-US" sz="1500" b="1" dirty="0">
                <a:solidFill>
                  <a:srgbClr val="FFFFFF"/>
                </a:solidFill>
                <a:latin typeface="Meiryo UI" pitchFamily="34" charset="0"/>
                <a:ea typeface="Meiryo UI" pitchFamily="34" charset="-122"/>
                <a:cs typeface="Meiryo UI" pitchFamily="34" charset="-120"/>
              </a:rPr>
              <a:t>MIME</a:t>
            </a:r>
            <a:endParaRPr lang="en-US" sz="1500" dirty="0">
              <a:latin typeface="Meiryo UI"/>
              <a:ea typeface="Meiryo UI"/>
            </a:endParaRPr>
          </a:p>
        </p:txBody>
      </p:sp>
      <p:sp>
        <p:nvSpPr>
          <p:cNvPr id="34" name="Shape 32"/>
          <p:cNvSpPr/>
          <p:nvPr/>
        </p:nvSpPr>
        <p:spPr>
          <a:xfrm>
            <a:off x="3291840" y="5696712"/>
            <a:ext cx="2194560" cy="365760"/>
          </a:xfrm>
          <a:prstGeom prst="rect">
            <a:avLst/>
          </a:prstGeom>
          <a:solidFill>
            <a:srgbClr val="FFFFFF"/>
          </a:solidFill>
          <a:ln/>
        </p:spPr>
        <p:txBody>
          <a:bodyPr/>
          <a:lstStyle/>
          <a:p>
            <a:endParaRPr lang="ja-JP" altLang="en-US"/>
          </a:p>
        </p:txBody>
      </p:sp>
      <p:sp>
        <p:nvSpPr>
          <p:cNvPr id="35" name="Text 33"/>
          <p:cNvSpPr/>
          <p:nvPr/>
        </p:nvSpPr>
        <p:spPr>
          <a:xfrm>
            <a:off x="3291840" y="5696712"/>
            <a:ext cx="2194560" cy="365760"/>
          </a:xfrm>
          <a:prstGeom prst="rect">
            <a:avLst/>
          </a:prstGeom>
          <a:noFill/>
          <a:ln/>
        </p:spPr>
        <p:txBody>
          <a:bodyPr wrap="square" lIns="0" tIns="0" rIns="0" bIns="0" rtlCol="0" anchor="ctr"/>
          <a:lstStyle/>
          <a:p>
            <a:pPr marL="0" indent="0" algn="ctr">
              <a:buNone/>
            </a:pPr>
            <a:r>
              <a:rPr lang="en-US" sz="1000" b="1" dirty="0">
                <a:solidFill>
                  <a:srgbClr val="F59E0B"/>
                </a:solidFill>
                <a:latin typeface="Meiryo UI" pitchFamily="34" charset="0"/>
                <a:ea typeface="Meiryo UI" pitchFamily="34" charset="-122"/>
                <a:cs typeface="Meiryo UI" pitchFamily="34" charset="-120"/>
              </a:rPr>
              <a:t>application/pdf</a:t>
            </a:r>
            <a:endParaRPr lang="en-US" sz="1000" dirty="0">
              <a:latin typeface="Meiryo UI"/>
              <a:ea typeface="Meiryo UI"/>
            </a:endParaRPr>
          </a:p>
        </p:txBody>
      </p:sp>
      <p:sp>
        <p:nvSpPr>
          <p:cNvPr id="36" name="Shape 34"/>
          <p:cNvSpPr/>
          <p:nvPr/>
        </p:nvSpPr>
        <p:spPr>
          <a:xfrm>
            <a:off x="5760720" y="5166360"/>
            <a:ext cx="2468880" cy="1005840"/>
          </a:xfrm>
          <a:prstGeom prst="rect">
            <a:avLst/>
          </a:prstGeom>
          <a:solidFill>
            <a:srgbClr val="EF4444"/>
          </a:solidFill>
          <a:ln/>
        </p:spPr>
        <p:txBody>
          <a:bodyPr/>
          <a:lstStyle/>
          <a:p>
            <a:endParaRPr lang="ja-JP" altLang="en-US"/>
          </a:p>
        </p:txBody>
      </p:sp>
      <p:sp>
        <p:nvSpPr>
          <p:cNvPr id="37" name="Text 35"/>
          <p:cNvSpPr/>
          <p:nvPr/>
        </p:nvSpPr>
        <p:spPr>
          <a:xfrm>
            <a:off x="5897880" y="5184648"/>
            <a:ext cx="457200" cy="274320"/>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③</a:t>
            </a:r>
            <a:endParaRPr lang="en-US" sz="1200" dirty="0">
              <a:latin typeface="Meiryo UI"/>
              <a:ea typeface="Meiryo UI"/>
            </a:endParaRPr>
          </a:p>
        </p:txBody>
      </p:sp>
      <p:sp>
        <p:nvSpPr>
          <p:cNvPr id="38" name="Text 36"/>
          <p:cNvSpPr/>
          <p:nvPr/>
        </p:nvSpPr>
        <p:spPr>
          <a:xfrm>
            <a:off x="5897880" y="5349240"/>
            <a:ext cx="2194560" cy="320040"/>
          </a:xfrm>
          <a:prstGeom prst="rect">
            <a:avLst/>
          </a:prstGeom>
          <a:noFill/>
          <a:ln/>
        </p:spPr>
        <p:txBody>
          <a:bodyPr wrap="square" lIns="0" tIns="0" rIns="0" bIns="0" rtlCol="0" anchor="ctr"/>
          <a:lstStyle/>
          <a:p>
            <a:pPr marL="0" indent="0">
              <a:buNone/>
            </a:pPr>
            <a:r>
              <a:rPr lang="en-US" sz="1500" b="1" dirty="0">
                <a:solidFill>
                  <a:srgbClr val="FFFFFF"/>
                </a:solidFill>
                <a:latin typeface="Meiryo UI" pitchFamily="34" charset="0"/>
                <a:ea typeface="Meiryo UI" pitchFamily="34" charset="-122"/>
                <a:cs typeface="Meiryo UI" pitchFamily="34" charset="-120"/>
              </a:rPr>
              <a:t>マジックバイト</a:t>
            </a:r>
            <a:endParaRPr lang="en-US" sz="1500" dirty="0">
              <a:latin typeface="Meiryo UI"/>
              <a:ea typeface="Meiryo UI"/>
            </a:endParaRPr>
          </a:p>
        </p:txBody>
      </p:sp>
      <p:sp>
        <p:nvSpPr>
          <p:cNvPr id="39" name="Shape 37"/>
          <p:cNvSpPr/>
          <p:nvPr/>
        </p:nvSpPr>
        <p:spPr>
          <a:xfrm>
            <a:off x="5897880" y="5696712"/>
            <a:ext cx="2194560" cy="365760"/>
          </a:xfrm>
          <a:prstGeom prst="rect">
            <a:avLst/>
          </a:prstGeom>
          <a:solidFill>
            <a:srgbClr val="FFFFFF"/>
          </a:solidFill>
          <a:ln/>
        </p:spPr>
        <p:txBody>
          <a:bodyPr/>
          <a:lstStyle/>
          <a:p>
            <a:endParaRPr lang="ja-JP" altLang="en-US"/>
          </a:p>
        </p:txBody>
      </p:sp>
      <p:sp>
        <p:nvSpPr>
          <p:cNvPr id="40" name="Text 38"/>
          <p:cNvSpPr/>
          <p:nvPr/>
        </p:nvSpPr>
        <p:spPr>
          <a:xfrm>
            <a:off x="5897880" y="5696712"/>
            <a:ext cx="2194560" cy="365760"/>
          </a:xfrm>
          <a:prstGeom prst="rect">
            <a:avLst/>
          </a:prstGeom>
          <a:noFill/>
          <a:ln/>
        </p:spPr>
        <p:txBody>
          <a:bodyPr wrap="square" lIns="0" tIns="0" rIns="0" bIns="0" rtlCol="0" anchor="ctr"/>
          <a:lstStyle/>
          <a:p>
            <a:pPr marL="0" indent="0" algn="ctr">
              <a:buNone/>
            </a:pPr>
            <a:r>
              <a:rPr lang="en-US" sz="1000" b="1" dirty="0">
                <a:solidFill>
                  <a:srgbClr val="EF4444"/>
                </a:solidFill>
                <a:latin typeface="Meiryo UI" pitchFamily="34" charset="0"/>
                <a:ea typeface="Meiryo UI" pitchFamily="34" charset="-122"/>
                <a:cs typeface="Meiryo UI" pitchFamily="34" charset="-120"/>
              </a:rPr>
              <a:t>%PDF- = 0x25...</a:t>
            </a:r>
            <a:endParaRPr lang="en-US" sz="1000" dirty="0">
              <a:latin typeface="Meiryo UI"/>
              <a:ea typeface="Meiryo UI"/>
            </a:endParaRPr>
          </a:p>
        </p:txBody>
      </p:sp>
      <p:sp>
        <p:nvSpPr>
          <p:cNvPr id="41" name="Shape 39"/>
          <p:cNvSpPr/>
          <p:nvPr/>
        </p:nvSpPr>
        <p:spPr>
          <a:xfrm>
            <a:off x="8458200" y="5166360"/>
            <a:ext cx="3154680" cy="1005840"/>
          </a:xfrm>
          <a:prstGeom prst="rect">
            <a:avLst/>
          </a:prstGeom>
          <a:solidFill>
            <a:srgbClr val="0F172A"/>
          </a:solidFill>
          <a:ln/>
        </p:spPr>
        <p:txBody>
          <a:bodyPr/>
          <a:lstStyle/>
          <a:p>
            <a:endParaRPr lang="ja-JP" altLang="en-US"/>
          </a:p>
        </p:txBody>
      </p:sp>
      <p:sp>
        <p:nvSpPr>
          <p:cNvPr id="42" name="Text 40"/>
          <p:cNvSpPr/>
          <p:nvPr/>
        </p:nvSpPr>
        <p:spPr>
          <a:xfrm>
            <a:off x="8549640" y="5166360"/>
            <a:ext cx="3017520" cy="274320"/>
          </a:xfrm>
          <a:prstGeom prst="rect">
            <a:avLst/>
          </a:prstGeom>
          <a:noFill/>
          <a:ln/>
        </p:spPr>
        <p:txBody>
          <a:bodyPr wrap="square" lIns="0" tIns="0" rIns="0" bIns="0" rtlCol="0" anchor="t"/>
          <a:lstStyle/>
          <a:p>
            <a:pPr marL="0" indent="0">
              <a:buNone/>
            </a:pPr>
            <a:r>
              <a:rPr lang="en-US" sz="1100" b="1" dirty="0">
                <a:solidFill>
                  <a:srgbClr val="EBC528"/>
                </a:solidFill>
                <a:latin typeface="Meiryo UI" pitchFamily="34" charset="0"/>
                <a:ea typeface="Meiryo UI" pitchFamily="34" charset="-122"/>
                <a:cs typeface="Meiryo UI" pitchFamily="34" charset="-120"/>
              </a:rPr>
              <a:t>API 強化</a:t>
            </a:r>
            <a:endParaRPr lang="en-US" sz="1100" dirty="0">
              <a:latin typeface="Meiryo UI"/>
              <a:ea typeface="Meiryo UI"/>
            </a:endParaRPr>
          </a:p>
        </p:txBody>
      </p:sp>
      <p:sp>
        <p:nvSpPr>
          <p:cNvPr id="43" name="Shape 41"/>
          <p:cNvSpPr/>
          <p:nvPr/>
        </p:nvSpPr>
        <p:spPr>
          <a:xfrm>
            <a:off x="8549640" y="5440680"/>
            <a:ext cx="960120" cy="274320"/>
          </a:xfrm>
          <a:prstGeom prst="rect">
            <a:avLst/>
          </a:prstGeom>
          <a:solidFill>
            <a:srgbClr val="EF4444"/>
          </a:solidFill>
          <a:ln/>
        </p:spPr>
        <p:txBody>
          <a:bodyPr/>
          <a:lstStyle/>
          <a:p>
            <a:endParaRPr lang="ja-JP" altLang="en-US"/>
          </a:p>
        </p:txBody>
      </p:sp>
      <p:sp>
        <p:nvSpPr>
          <p:cNvPr id="44" name="Text 42"/>
          <p:cNvSpPr/>
          <p:nvPr/>
        </p:nvSpPr>
        <p:spPr>
          <a:xfrm>
            <a:off x="8549640" y="5440680"/>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CSRF</a:t>
            </a:r>
            <a:endParaRPr lang="en-US" sz="900" dirty="0">
              <a:latin typeface="Meiryo UI"/>
              <a:ea typeface="Meiryo UI"/>
            </a:endParaRPr>
          </a:p>
        </p:txBody>
      </p:sp>
      <p:sp>
        <p:nvSpPr>
          <p:cNvPr id="45" name="Shape 43"/>
          <p:cNvSpPr/>
          <p:nvPr/>
        </p:nvSpPr>
        <p:spPr>
          <a:xfrm>
            <a:off x="9555480" y="5440680"/>
            <a:ext cx="960120" cy="274320"/>
          </a:xfrm>
          <a:prstGeom prst="rect">
            <a:avLst/>
          </a:prstGeom>
          <a:solidFill>
            <a:srgbClr val="F59E0B"/>
          </a:solidFill>
          <a:ln/>
        </p:spPr>
        <p:txBody>
          <a:bodyPr/>
          <a:lstStyle/>
          <a:p>
            <a:endParaRPr lang="ja-JP" altLang="en-US"/>
          </a:p>
        </p:txBody>
      </p:sp>
      <p:sp>
        <p:nvSpPr>
          <p:cNvPr id="46" name="Text 44"/>
          <p:cNvSpPr/>
          <p:nvPr/>
        </p:nvSpPr>
        <p:spPr>
          <a:xfrm>
            <a:off x="9555480" y="5440680"/>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405 拒否</a:t>
            </a:r>
            <a:endParaRPr lang="en-US" sz="900" dirty="0">
              <a:latin typeface="Meiryo UI"/>
              <a:ea typeface="Meiryo UI"/>
            </a:endParaRPr>
          </a:p>
        </p:txBody>
      </p:sp>
      <p:sp>
        <p:nvSpPr>
          <p:cNvPr id="47" name="Shape 45"/>
          <p:cNvSpPr/>
          <p:nvPr/>
        </p:nvSpPr>
        <p:spPr>
          <a:xfrm>
            <a:off x="10561320" y="5440680"/>
            <a:ext cx="960120" cy="274320"/>
          </a:xfrm>
          <a:prstGeom prst="rect">
            <a:avLst/>
          </a:prstGeom>
          <a:solidFill>
            <a:srgbClr val="2563EB"/>
          </a:solidFill>
          <a:ln/>
        </p:spPr>
        <p:txBody>
          <a:bodyPr/>
          <a:lstStyle/>
          <a:p>
            <a:endParaRPr lang="ja-JP" altLang="en-US"/>
          </a:p>
        </p:txBody>
      </p:sp>
      <p:sp>
        <p:nvSpPr>
          <p:cNvPr id="48" name="Text 46"/>
          <p:cNvSpPr/>
          <p:nvPr/>
        </p:nvSpPr>
        <p:spPr>
          <a:xfrm>
            <a:off x="10561320" y="5440680"/>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CORS 非応答</a:t>
            </a:r>
            <a:endParaRPr lang="en-US" sz="900" dirty="0">
              <a:latin typeface="Meiryo UI"/>
              <a:ea typeface="Meiryo UI"/>
            </a:endParaRPr>
          </a:p>
        </p:txBody>
      </p:sp>
      <p:sp>
        <p:nvSpPr>
          <p:cNvPr id="49" name="Shape 47"/>
          <p:cNvSpPr/>
          <p:nvPr/>
        </p:nvSpPr>
        <p:spPr>
          <a:xfrm>
            <a:off x="8549640" y="5769864"/>
            <a:ext cx="960120" cy="274320"/>
          </a:xfrm>
          <a:prstGeom prst="rect">
            <a:avLst/>
          </a:prstGeom>
          <a:solidFill>
            <a:srgbClr val="10B981"/>
          </a:solidFill>
          <a:ln/>
        </p:spPr>
        <p:txBody>
          <a:bodyPr/>
          <a:lstStyle/>
          <a:p>
            <a:endParaRPr lang="ja-JP" altLang="en-US"/>
          </a:p>
        </p:txBody>
      </p:sp>
      <p:sp>
        <p:nvSpPr>
          <p:cNvPr id="50" name="Text 48"/>
          <p:cNvSpPr/>
          <p:nvPr/>
        </p:nvSpPr>
        <p:spPr>
          <a:xfrm>
            <a:off x="8549640" y="5769864"/>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no-store</a:t>
            </a:r>
            <a:endParaRPr lang="en-US" sz="900" dirty="0">
              <a:latin typeface="Meiryo UI"/>
              <a:ea typeface="Meiryo UI"/>
            </a:endParaRPr>
          </a:p>
        </p:txBody>
      </p:sp>
      <p:sp>
        <p:nvSpPr>
          <p:cNvPr id="51" name="Shape 49"/>
          <p:cNvSpPr/>
          <p:nvPr/>
        </p:nvSpPr>
        <p:spPr>
          <a:xfrm>
            <a:off x="9555480" y="5769864"/>
            <a:ext cx="960120" cy="274320"/>
          </a:xfrm>
          <a:prstGeom prst="rect">
            <a:avLst/>
          </a:prstGeom>
          <a:solidFill>
            <a:srgbClr val="7C3AED"/>
          </a:solidFill>
          <a:ln/>
        </p:spPr>
        <p:txBody>
          <a:bodyPr/>
          <a:lstStyle/>
          <a:p>
            <a:endParaRPr lang="ja-JP" altLang="en-US"/>
          </a:p>
        </p:txBody>
      </p:sp>
      <p:sp>
        <p:nvSpPr>
          <p:cNvPr id="52" name="Text 50"/>
          <p:cNvSpPr/>
          <p:nvPr/>
        </p:nvSpPr>
        <p:spPr>
          <a:xfrm>
            <a:off x="9555480" y="5769864"/>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noindex</a:t>
            </a:r>
            <a:endParaRPr lang="en-US" sz="900" dirty="0">
              <a:latin typeface="Meiryo UI"/>
              <a:ea typeface="Meiryo UI"/>
            </a:endParaRPr>
          </a:p>
        </p:txBody>
      </p:sp>
      <p:sp>
        <p:nvSpPr>
          <p:cNvPr id="53" name="Text 51"/>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54" name="Text 52"/>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7 / 10</a:t>
            </a:r>
            <a:endParaRPr lang="en-US" sz="1000" dirty="0">
              <a:latin typeface="Meiryo UI"/>
              <a:ea typeface="Meiryo UI"/>
            </a:endParaRPr>
          </a:p>
        </p:txBody>
      </p:sp>
      <p:pic>
        <p:nvPicPr>
          <p:cNvPr id="55" name="Picture 54"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07  SECURITY</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セキュリティ ②｜88 項目チェックリスト対応</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err="1">
                <a:solidFill>
                  <a:srgbClr val="0F172A"/>
                </a:solidFill>
                <a:latin typeface="Meiryo UI" pitchFamily="34" charset="0"/>
                <a:ea typeface="Meiryo UI" pitchFamily="34" charset="-122"/>
                <a:cs typeface="Meiryo UI" pitchFamily="34" charset="-120"/>
              </a:rPr>
              <a:t>業界標準のセキュリティチェックリスト</a:t>
            </a:r>
            <a:r>
              <a:rPr lang="en-US" sz="1800" b="1" dirty="0">
                <a:solidFill>
                  <a:srgbClr val="0F172A"/>
                </a:solidFill>
                <a:latin typeface="Meiryo UI" pitchFamily="34" charset="0"/>
                <a:ea typeface="Meiryo UI" pitchFamily="34" charset="-122"/>
                <a:cs typeface="Meiryo UI" pitchFamily="34" charset="-120"/>
              </a:rPr>
              <a:t> 88 項目をぜんぶ確認しました。</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本サイトに関係する項目には、すべて対応済みです。</a:t>
            </a:r>
            <a:endParaRPr lang="en-US" sz="1800" dirty="0">
              <a:latin typeface="Meiryo UI"/>
              <a:ea typeface="Meiryo UI"/>
            </a:endParaRPr>
          </a:p>
        </p:txBody>
      </p:sp>
      <p:sp>
        <p:nvSpPr>
          <p:cNvPr id="10" name="Shape 8"/>
          <p:cNvSpPr/>
          <p:nvPr/>
        </p:nvSpPr>
        <p:spPr>
          <a:xfrm>
            <a:off x="548640" y="2971800"/>
            <a:ext cx="3200400" cy="3246120"/>
          </a:xfrm>
          <a:prstGeom prst="rect">
            <a:avLst/>
          </a:prstGeom>
          <a:solidFill>
            <a:srgbClr val="0F172A"/>
          </a:solidFill>
          <a:ln/>
        </p:spPr>
        <p:txBody>
          <a:bodyPr/>
          <a:lstStyle/>
          <a:p>
            <a:endParaRPr lang="ja-JP" altLang="en-US"/>
          </a:p>
        </p:txBody>
      </p:sp>
      <p:sp>
        <p:nvSpPr>
          <p:cNvPr id="11" name="Text 9"/>
          <p:cNvSpPr/>
          <p:nvPr/>
        </p:nvSpPr>
        <p:spPr>
          <a:xfrm>
            <a:off x="548640" y="3017520"/>
            <a:ext cx="3200400" cy="1554480"/>
          </a:xfrm>
          <a:prstGeom prst="rect">
            <a:avLst/>
          </a:prstGeom>
          <a:noFill/>
          <a:ln/>
        </p:spPr>
        <p:txBody>
          <a:bodyPr wrap="square" lIns="0" tIns="0" rIns="0" bIns="0" rtlCol="0" anchor="ctr"/>
          <a:lstStyle/>
          <a:p>
            <a:pPr marL="0" indent="0" algn="ctr">
              <a:buNone/>
            </a:pPr>
            <a:r>
              <a:rPr lang="en-US" sz="9600" b="1" dirty="0">
                <a:solidFill>
                  <a:srgbClr val="EBC528"/>
                </a:solidFill>
                <a:latin typeface="Meiryo UI" pitchFamily="34" charset="0"/>
                <a:ea typeface="Meiryo UI" pitchFamily="34" charset="-122"/>
                <a:cs typeface="Meiryo UI" pitchFamily="34" charset="-120"/>
              </a:rPr>
              <a:t>88</a:t>
            </a:r>
            <a:endParaRPr lang="en-US" sz="9600" dirty="0">
              <a:latin typeface="Meiryo UI"/>
              <a:ea typeface="Meiryo UI"/>
            </a:endParaRPr>
          </a:p>
        </p:txBody>
      </p:sp>
      <p:sp>
        <p:nvSpPr>
          <p:cNvPr id="12" name="Text 10"/>
          <p:cNvSpPr/>
          <p:nvPr/>
        </p:nvSpPr>
        <p:spPr>
          <a:xfrm>
            <a:off x="548640" y="4526280"/>
            <a:ext cx="3200400" cy="365760"/>
          </a:xfrm>
          <a:prstGeom prst="rect">
            <a:avLst/>
          </a:prstGeom>
          <a:noFill/>
          <a:ln/>
        </p:spPr>
        <p:txBody>
          <a:bodyPr wrap="square" lIns="0" tIns="0" rIns="0" bIns="0" rtlCol="0" anchor="ctr"/>
          <a:lstStyle/>
          <a:p>
            <a:pPr marL="0" indent="0" algn="ctr">
              <a:buNone/>
            </a:pPr>
            <a:r>
              <a:rPr lang="en-US" sz="1300" b="1" kern="0" spc="600" dirty="0">
                <a:solidFill>
                  <a:srgbClr val="EBC528"/>
                </a:solidFill>
                <a:latin typeface="Meiryo UI" pitchFamily="34" charset="0"/>
                <a:ea typeface="Meiryo UI" pitchFamily="34" charset="-122"/>
                <a:cs typeface="Meiryo UI" pitchFamily="34" charset="-120"/>
              </a:rPr>
              <a:t>ITEMS AUDITED</a:t>
            </a:r>
            <a:endParaRPr lang="en-US" sz="1300" dirty="0">
              <a:latin typeface="Meiryo UI"/>
              <a:ea typeface="Meiryo UI"/>
            </a:endParaRPr>
          </a:p>
        </p:txBody>
      </p:sp>
      <p:sp>
        <p:nvSpPr>
          <p:cNvPr id="13" name="Text 11"/>
          <p:cNvSpPr/>
          <p:nvPr/>
        </p:nvSpPr>
        <p:spPr>
          <a:xfrm>
            <a:off x="548640" y="4937760"/>
            <a:ext cx="3200400" cy="365760"/>
          </a:xfrm>
          <a:prstGeom prst="rect">
            <a:avLst/>
          </a:prstGeom>
          <a:noFill/>
          <a:ln/>
        </p:spPr>
        <p:txBody>
          <a:bodyPr wrap="square" lIns="0" tIns="0" rIns="0" bIns="0" rtlCol="0" anchor="ctr"/>
          <a:lstStyle/>
          <a:p>
            <a:pPr marL="0" indent="0" algn="ctr">
              <a:buNone/>
            </a:pPr>
            <a:r>
              <a:rPr lang="en-US" sz="1100" dirty="0">
                <a:solidFill>
                  <a:srgbClr val="FFFFFF"/>
                </a:solidFill>
                <a:latin typeface="Meiryo UI" pitchFamily="34" charset="0"/>
                <a:ea typeface="Meiryo UI" pitchFamily="34" charset="-122"/>
                <a:cs typeface="Meiryo UI" pitchFamily="34" charset="-120"/>
              </a:rPr>
              <a:t>OWASP 系の脆弱性チェックリスト</a:t>
            </a:r>
            <a:endParaRPr lang="en-US" sz="1100" dirty="0">
              <a:latin typeface="Meiryo UI"/>
              <a:ea typeface="Meiryo UI"/>
            </a:endParaRPr>
          </a:p>
        </p:txBody>
      </p:sp>
      <p:sp>
        <p:nvSpPr>
          <p:cNvPr id="14" name="Text 12"/>
          <p:cNvSpPr/>
          <p:nvPr/>
        </p:nvSpPr>
        <p:spPr>
          <a:xfrm>
            <a:off x="548640" y="5257800"/>
            <a:ext cx="3200400" cy="365760"/>
          </a:xfrm>
          <a:prstGeom prst="rect">
            <a:avLst/>
          </a:prstGeom>
          <a:noFill/>
          <a:ln/>
        </p:spPr>
        <p:txBody>
          <a:bodyPr wrap="square" lIns="0" tIns="0" rIns="0" bIns="0" rtlCol="0" anchor="ctr"/>
          <a:lstStyle/>
          <a:p>
            <a:pPr marL="0" indent="0" algn="ctr">
              <a:buNone/>
            </a:pPr>
            <a:r>
              <a:rPr lang="en-US" sz="1000" dirty="0">
                <a:solidFill>
                  <a:srgbClr val="94A3B8"/>
                </a:solidFill>
                <a:latin typeface="Meiryo UI" pitchFamily="34" charset="0"/>
                <a:ea typeface="Meiryo UI" pitchFamily="34" charset="-122"/>
                <a:cs typeface="Meiryo UI" pitchFamily="34" charset="-120"/>
              </a:rPr>
              <a:t>Critical / High / Medium / Low / Info</a:t>
            </a:r>
            <a:endParaRPr lang="en-US" sz="1000" dirty="0">
              <a:latin typeface="Meiryo UI"/>
              <a:ea typeface="Meiryo UI"/>
            </a:endParaRPr>
          </a:p>
        </p:txBody>
      </p:sp>
      <p:sp>
        <p:nvSpPr>
          <p:cNvPr id="15" name="Text 13"/>
          <p:cNvSpPr/>
          <p:nvPr/>
        </p:nvSpPr>
        <p:spPr>
          <a:xfrm>
            <a:off x="548640" y="5760720"/>
            <a:ext cx="3200400" cy="365760"/>
          </a:xfrm>
          <a:prstGeom prst="rect">
            <a:avLst/>
          </a:prstGeom>
          <a:noFill/>
          <a:ln/>
        </p:spPr>
        <p:txBody>
          <a:bodyPr wrap="square" lIns="0" tIns="0" rIns="0" bIns="0" rtlCol="0" anchor="ctr"/>
          <a:lstStyle/>
          <a:p>
            <a:pPr marL="0" indent="0" algn="ctr">
              <a:buNone/>
            </a:pPr>
            <a:r>
              <a:rPr lang="en-US" sz="1200" b="1" dirty="0">
                <a:solidFill>
                  <a:srgbClr val="EBC528"/>
                </a:solidFill>
                <a:latin typeface="Meiryo UI" pitchFamily="34" charset="0"/>
                <a:ea typeface="Meiryo UI" pitchFamily="34" charset="-122"/>
                <a:cs typeface="Meiryo UI" pitchFamily="34" charset="-120"/>
              </a:rPr>
              <a:t>→ 全 88 項目を照合</a:t>
            </a:r>
            <a:endParaRPr lang="en-US" sz="1200" dirty="0">
              <a:latin typeface="Meiryo UI"/>
              <a:ea typeface="Meiryo UI"/>
            </a:endParaRPr>
          </a:p>
        </p:txBody>
      </p:sp>
      <p:sp>
        <p:nvSpPr>
          <p:cNvPr id="16" name="Shape 14"/>
          <p:cNvSpPr/>
          <p:nvPr/>
        </p:nvSpPr>
        <p:spPr>
          <a:xfrm>
            <a:off x="3977640" y="2971800"/>
            <a:ext cx="7635240" cy="1005840"/>
          </a:xfrm>
          <a:prstGeom prst="rect">
            <a:avLst/>
          </a:prstGeom>
          <a:solidFill>
            <a:srgbClr val="F8FAFC"/>
          </a:solidFill>
          <a:ln w="6350">
            <a:solidFill>
              <a:srgbClr val="E2E8F0"/>
            </a:solidFill>
            <a:prstDash val="solid"/>
          </a:ln>
        </p:spPr>
        <p:txBody>
          <a:bodyPr/>
          <a:lstStyle/>
          <a:p>
            <a:endParaRPr lang="ja-JP" altLang="en-US"/>
          </a:p>
        </p:txBody>
      </p:sp>
      <p:sp>
        <p:nvSpPr>
          <p:cNvPr id="17" name="Shape 15"/>
          <p:cNvSpPr/>
          <p:nvPr/>
        </p:nvSpPr>
        <p:spPr>
          <a:xfrm>
            <a:off x="3977640" y="2971800"/>
            <a:ext cx="109728" cy="1005840"/>
          </a:xfrm>
          <a:prstGeom prst="rect">
            <a:avLst/>
          </a:prstGeom>
          <a:solidFill>
            <a:srgbClr val="10B981"/>
          </a:solidFill>
          <a:ln/>
        </p:spPr>
        <p:txBody>
          <a:bodyPr/>
          <a:lstStyle/>
          <a:p>
            <a:endParaRPr lang="ja-JP" altLang="en-US"/>
          </a:p>
        </p:txBody>
      </p:sp>
      <p:sp>
        <p:nvSpPr>
          <p:cNvPr id="18" name="Text 16"/>
          <p:cNvSpPr/>
          <p:nvPr/>
        </p:nvSpPr>
        <p:spPr>
          <a:xfrm>
            <a:off x="4206240" y="3081528"/>
            <a:ext cx="3200400" cy="365760"/>
          </a:xfrm>
          <a:prstGeom prst="rect">
            <a:avLst/>
          </a:prstGeom>
          <a:noFill/>
          <a:ln/>
        </p:spPr>
        <p:txBody>
          <a:bodyPr wrap="square" lIns="0" tIns="0" rIns="0" bIns="0" rtlCol="0" anchor="ctr"/>
          <a:lstStyle/>
          <a:p>
            <a:pPr marL="0" indent="0">
              <a:buNone/>
            </a:pPr>
            <a:r>
              <a:rPr lang="en-US" sz="2000" b="1" dirty="0">
                <a:solidFill>
                  <a:srgbClr val="0F172A"/>
                </a:solidFill>
                <a:latin typeface="Meiryo UI" pitchFamily="34" charset="0"/>
                <a:ea typeface="Meiryo UI" pitchFamily="34" charset="-122"/>
                <a:cs typeface="Meiryo UI" pitchFamily="34" charset="-120"/>
              </a:rPr>
              <a:t>対応済</a:t>
            </a:r>
            <a:endParaRPr lang="en-US" sz="2000" dirty="0">
              <a:latin typeface="Meiryo UI"/>
              <a:ea typeface="Meiryo UI"/>
            </a:endParaRPr>
          </a:p>
        </p:txBody>
      </p:sp>
      <p:sp>
        <p:nvSpPr>
          <p:cNvPr id="19" name="Shape 17"/>
          <p:cNvSpPr/>
          <p:nvPr/>
        </p:nvSpPr>
        <p:spPr>
          <a:xfrm>
            <a:off x="9418320" y="3118104"/>
            <a:ext cx="2011680" cy="384048"/>
          </a:xfrm>
          <a:prstGeom prst="rect">
            <a:avLst/>
          </a:prstGeom>
          <a:solidFill>
            <a:srgbClr val="10B981"/>
          </a:solidFill>
          <a:ln/>
        </p:spPr>
        <p:txBody>
          <a:bodyPr/>
          <a:lstStyle/>
          <a:p>
            <a:endParaRPr lang="ja-JP" altLang="en-US"/>
          </a:p>
        </p:txBody>
      </p:sp>
      <p:sp>
        <p:nvSpPr>
          <p:cNvPr id="20" name="Text 18"/>
          <p:cNvSpPr/>
          <p:nvPr/>
        </p:nvSpPr>
        <p:spPr>
          <a:xfrm>
            <a:off x="9418320" y="3118104"/>
            <a:ext cx="2011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約 26 項目</a:t>
            </a:r>
            <a:endParaRPr lang="en-US" sz="1300" dirty="0">
              <a:latin typeface="Meiryo UI"/>
              <a:ea typeface="Meiryo UI"/>
            </a:endParaRPr>
          </a:p>
        </p:txBody>
      </p:sp>
      <p:sp>
        <p:nvSpPr>
          <p:cNvPr id="21" name="Text 19"/>
          <p:cNvSpPr/>
          <p:nvPr/>
        </p:nvSpPr>
        <p:spPr>
          <a:xfrm>
            <a:off x="4206240" y="3483864"/>
            <a:ext cx="7223760" cy="45720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CSP・HSTS・XFO・PDF 3 層・CSRF・SSRF・エラー保護 等</a:t>
            </a:r>
            <a:endParaRPr lang="en-US" sz="1200" dirty="0">
              <a:latin typeface="Meiryo UI"/>
              <a:ea typeface="Meiryo UI"/>
            </a:endParaRPr>
          </a:p>
        </p:txBody>
      </p:sp>
      <p:sp>
        <p:nvSpPr>
          <p:cNvPr id="22" name="Shape 20"/>
          <p:cNvSpPr/>
          <p:nvPr/>
        </p:nvSpPr>
        <p:spPr>
          <a:xfrm>
            <a:off x="3977640" y="4069080"/>
            <a:ext cx="7635240" cy="1005840"/>
          </a:xfrm>
          <a:prstGeom prst="rect">
            <a:avLst/>
          </a:prstGeom>
          <a:solidFill>
            <a:srgbClr val="F8FAFC"/>
          </a:solidFill>
          <a:ln w="6350">
            <a:solidFill>
              <a:srgbClr val="E2E8F0"/>
            </a:solidFill>
            <a:prstDash val="solid"/>
          </a:ln>
        </p:spPr>
        <p:txBody>
          <a:bodyPr/>
          <a:lstStyle/>
          <a:p>
            <a:endParaRPr lang="ja-JP" altLang="en-US"/>
          </a:p>
        </p:txBody>
      </p:sp>
      <p:sp>
        <p:nvSpPr>
          <p:cNvPr id="23" name="Shape 21"/>
          <p:cNvSpPr/>
          <p:nvPr/>
        </p:nvSpPr>
        <p:spPr>
          <a:xfrm>
            <a:off x="3977640" y="4069080"/>
            <a:ext cx="109728" cy="1005840"/>
          </a:xfrm>
          <a:prstGeom prst="rect">
            <a:avLst/>
          </a:prstGeom>
          <a:solidFill>
            <a:srgbClr val="334155"/>
          </a:solidFill>
          <a:ln/>
        </p:spPr>
        <p:txBody>
          <a:bodyPr/>
          <a:lstStyle/>
          <a:p>
            <a:endParaRPr lang="ja-JP" altLang="en-US"/>
          </a:p>
        </p:txBody>
      </p:sp>
      <p:sp>
        <p:nvSpPr>
          <p:cNvPr id="24" name="Text 22"/>
          <p:cNvSpPr/>
          <p:nvPr/>
        </p:nvSpPr>
        <p:spPr>
          <a:xfrm>
            <a:off x="4206240" y="4178808"/>
            <a:ext cx="3200400" cy="365760"/>
          </a:xfrm>
          <a:prstGeom prst="rect">
            <a:avLst/>
          </a:prstGeom>
          <a:noFill/>
          <a:ln/>
        </p:spPr>
        <p:txBody>
          <a:bodyPr wrap="square" lIns="0" tIns="0" rIns="0" bIns="0" rtlCol="0" anchor="ctr"/>
          <a:lstStyle/>
          <a:p>
            <a:pPr marL="0" indent="0">
              <a:buNone/>
            </a:pPr>
            <a:r>
              <a:rPr lang="en-US" sz="2000" b="1" dirty="0">
                <a:solidFill>
                  <a:srgbClr val="0F172A"/>
                </a:solidFill>
                <a:latin typeface="Meiryo UI" pitchFamily="34" charset="0"/>
                <a:ea typeface="Meiryo UI" pitchFamily="34" charset="-122"/>
                <a:cs typeface="Meiryo UI" pitchFamily="34" charset="-120"/>
              </a:rPr>
              <a:t>非該当</a:t>
            </a:r>
            <a:endParaRPr lang="en-US" sz="2000" dirty="0">
              <a:latin typeface="Meiryo UI"/>
              <a:ea typeface="Meiryo UI"/>
            </a:endParaRPr>
          </a:p>
        </p:txBody>
      </p:sp>
      <p:sp>
        <p:nvSpPr>
          <p:cNvPr id="25" name="Shape 23"/>
          <p:cNvSpPr/>
          <p:nvPr/>
        </p:nvSpPr>
        <p:spPr>
          <a:xfrm>
            <a:off x="9418320" y="4215384"/>
            <a:ext cx="2011680" cy="384048"/>
          </a:xfrm>
          <a:prstGeom prst="rect">
            <a:avLst/>
          </a:prstGeom>
          <a:solidFill>
            <a:srgbClr val="334155"/>
          </a:solidFill>
          <a:ln/>
        </p:spPr>
        <p:txBody>
          <a:bodyPr/>
          <a:lstStyle/>
          <a:p>
            <a:endParaRPr lang="ja-JP" altLang="en-US"/>
          </a:p>
        </p:txBody>
      </p:sp>
      <p:sp>
        <p:nvSpPr>
          <p:cNvPr id="26" name="Text 24"/>
          <p:cNvSpPr/>
          <p:nvPr/>
        </p:nvSpPr>
        <p:spPr>
          <a:xfrm>
            <a:off x="9418320" y="4215384"/>
            <a:ext cx="2011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約 56 項目</a:t>
            </a:r>
            <a:endParaRPr lang="en-US" sz="1300" dirty="0">
              <a:latin typeface="Meiryo UI"/>
              <a:ea typeface="Meiryo UI"/>
            </a:endParaRPr>
          </a:p>
        </p:txBody>
      </p:sp>
      <p:sp>
        <p:nvSpPr>
          <p:cNvPr id="27" name="Text 25"/>
          <p:cNvSpPr/>
          <p:nvPr/>
        </p:nvSpPr>
        <p:spPr>
          <a:xfrm>
            <a:off x="4206240" y="4581144"/>
            <a:ext cx="7223760" cy="45720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認証・JWT・DB クエリ・Cookie・管理画面 など（機能なし）</a:t>
            </a:r>
            <a:endParaRPr lang="en-US" sz="1200" dirty="0">
              <a:latin typeface="Meiryo UI"/>
              <a:ea typeface="Meiryo UI"/>
            </a:endParaRPr>
          </a:p>
        </p:txBody>
      </p:sp>
      <p:sp>
        <p:nvSpPr>
          <p:cNvPr id="28" name="Shape 26"/>
          <p:cNvSpPr/>
          <p:nvPr/>
        </p:nvSpPr>
        <p:spPr>
          <a:xfrm>
            <a:off x="3977640" y="5166360"/>
            <a:ext cx="7635240" cy="1005840"/>
          </a:xfrm>
          <a:prstGeom prst="rect">
            <a:avLst/>
          </a:prstGeom>
          <a:solidFill>
            <a:srgbClr val="F8FAFC"/>
          </a:solidFill>
          <a:ln w="6350">
            <a:solidFill>
              <a:srgbClr val="E2E8F0"/>
            </a:solidFill>
            <a:prstDash val="solid"/>
          </a:ln>
        </p:spPr>
        <p:txBody>
          <a:bodyPr/>
          <a:lstStyle/>
          <a:p>
            <a:endParaRPr lang="ja-JP" altLang="en-US"/>
          </a:p>
        </p:txBody>
      </p:sp>
      <p:sp>
        <p:nvSpPr>
          <p:cNvPr id="29" name="Shape 27"/>
          <p:cNvSpPr/>
          <p:nvPr/>
        </p:nvSpPr>
        <p:spPr>
          <a:xfrm>
            <a:off x="3977640" y="5166360"/>
            <a:ext cx="109728" cy="1005840"/>
          </a:xfrm>
          <a:prstGeom prst="rect">
            <a:avLst/>
          </a:prstGeom>
          <a:solidFill>
            <a:srgbClr val="F59E0B"/>
          </a:solidFill>
          <a:ln/>
        </p:spPr>
        <p:txBody>
          <a:bodyPr/>
          <a:lstStyle/>
          <a:p>
            <a:endParaRPr lang="ja-JP" altLang="en-US"/>
          </a:p>
        </p:txBody>
      </p:sp>
      <p:sp>
        <p:nvSpPr>
          <p:cNvPr id="30" name="Text 28"/>
          <p:cNvSpPr/>
          <p:nvPr/>
        </p:nvSpPr>
        <p:spPr>
          <a:xfrm>
            <a:off x="4206240" y="5276088"/>
            <a:ext cx="3200400" cy="365760"/>
          </a:xfrm>
          <a:prstGeom prst="rect">
            <a:avLst/>
          </a:prstGeom>
          <a:noFill/>
          <a:ln/>
        </p:spPr>
        <p:txBody>
          <a:bodyPr wrap="square" lIns="0" tIns="0" rIns="0" bIns="0" rtlCol="0" anchor="ctr"/>
          <a:lstStyle/>
          <a:p>
            <a:pPr marL="0" indent="0">
              <a:buNone/>
            </a:pPr>
            <a:r>
              <a:rPr lang="en-US" sz="2000" b="1" dirty="0">
                <a:solidFill>
                  <a:srgbClr val="0F172A"/>
                </a:solidFill>
                <a:latin typeface="Meiryo UI" pitchFamily="34" charset="0"/>
                <a:ea typeface="Meiryo UI" pitchFamily="34" charset="-122"/>
                <a:cs typeface="Meiryo UI" pitchFamily="34" charset="-120"/>
              </a:rPr>
              <a:t>運用補完</a:t>
            </a:r>
            <a:endParaRPr lang="en-US" sz="2000" dirty="0">
              <a:latin typeface="Meiryo UI"/>
              <a:ea typeface="Meiryo UI"/>
            </a:endParaRPr>
          </a:p>
        </p:txBody>
      </p:sp>
      <p:sp>
        <p:nvSpPr>
          <p:cNvPr id="31" name="Shape 29"/>
          <p:cNvSpPr/>
          <p:nvPr/>
        </p:nvSpPr>
        <p:spPr>
          <a:xfrm>
            <a:off x="9418320" y="5312664"/>
            <a:ext cx="2011680" cy="384048"/>
          </a:xfrm>
          <a:prstGeom prst="rect">
            <a:avLst/>
          </a:prstGeom>
          <a:solidFill>
            <a:srgbClr val="F59E0B"/>
          </a:solidFill>
          <a:ln/>
        </p:spPr>
        <p:txBody>
          <a:bodyPr/>
          <a:lstStyle/>
          <a:p>
            <a:endParaRPr lang="ja-JP" altLang="en-US"/>
          </a:p>
        </p:txBody>
      </p:sp>
      <p:sp>
        <p:nvSpPr>
          <p:cNvPr id="32" name="Text 30"/>
          <p:cNvSpPr/>
          <p:nvPr/>
        </p:nvSpPr>
        <p:spPr>
          <a:xfrm>
            <a:off x="9418320" y="5312664"/>
            <a:ext cx="2011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約 6 項目</a:t>
            </a:r>
            <a:endParaRPr lang="en-US" sz="1300" dirty="0">
              <a:latin typeface="Meiryo UI"/>
              <a:ea typeface="Meiryo UI"/>
            </a:endParaRPr>
          </a:p>
        </p:txBody>
      </p:sp>
      <p:sp>
        <p:nvSpPr>
          <p:cNvPr id="33" name="Text 31"/>
          <p:cNvSpPr/>
          <p:nvPr/>
        </p:nvSpPr>
        <p:spPr>
          <a:xfrm>
            <a:off x="4206240" y="5678424"/>
            <a:ext cx="7223760" cy="45720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WAF・npm audit CI・AV スキャン・レート制限 等</a:t>
            </a:r>
            <a:endParaRPr lang="en-US" sz="1200" dirty="0">
              <a:latin typeface="Meiryo UI"/>
              <a:ea typeface="Meiryo UI"/>
            </a:endParaRPr>
          </a:p>
        </p:txBody>
      </p:sp>
      <p:sp>
        <p:nvSpPr>
          <p:cNvPr id="34" name="Text 32"/>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35" name="Text 33"/>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8 / 10</a:t>
            </a:r>
            <a:endParaRPr lang="en-US" sz="1000" dirty="0">
              <a:latin typeface="Meiryo UI"/>
              <a:ea typeface="Meiryo UI"/>
            </a:endParaRPr>
          </a:p>
        </p:txBody>
      </p:sp>
      <p:pic>
        <p:nvPicPr>
          <p:cNvPr id="36" name="Picture 35"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08  CODE &amp; PERF</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コードの工夫 ＋ パフォーマンス</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「1 か所直せば全部変わる」の徹底と、「サクサク動く」多角的最適化。</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画像は 50MB → 4MB、動画は 1/10、監視役は 20 個 → 1 個 まで削減しました。</a:t>
            </a:r>
            <a:endParaRPr lang="en-US" sz="1800" dirty="0">
              <a:latin typeface="Meiryo UI"/>
              <a:ea typeface="Meiryo UI"/>
            </a:endParaRPr>
          </a:p>
        </p:txBody>
      </p:sp>
      <p:sp>
        <p:nvSpPr>
          <p:cNvPr id="10" name="Shape 8"/>
          <p:cNvSpPr/>
          <p:nvPr/>
        </p:nvSpPr>
        <p:spPr>
          <a:xfrm>
            <a:off x="548640" y="2971800"/>
            <a:ext cx="5486400" cy="3246120"/>
          </a:xfrm>
          <a:prstGeom prst="rect">
            <a:avLst/>
          </a:prstGeom>
          <a:solidFill>
            <a:srgbClr val="F8FAFC"/>
          </a:solidFill>
          <a:ln w="6350">
            <a:solidFill>
              <a:srgbClr val="E2E8F0"/>
            </a:solidFill>
            <a:prstDash val="solid"/>
          </a:ln>
        </p:spPr>
        <p:txBody>
          <a:bodyPr/>
          <a:lstStyle/>
          <a:p>
            <a:endParaRPr lang="ja-JP" altLang="en-US"/>
          </a:p>
        </p:txBody>
      </p:sp>
      <p:sp>
        <p:nvSpPr>
          <p:cNvPr id="11" name="Text 9"/>
          <p:cNvSpPr/>
          <p:nvPr/>
        </p:nvSpPr>
        <p:spPr>
          <a:xfrm>
            <a:off x="822960" y="3063240"/>
            <a:ext cx="4937760" cy="365760"/>
          </a:xfrm>
          <a:prstGeom prst="rect">
            <a:avLst/>
          </a:prstGeom>
          <a:noFill/>
          <a:ln/>
        </p:spPr>
        <p:txBody>
          <a:bodyPr wrap="square" lIns="0" tIns="0" rIns="0" bIns="0" rtlCol="0" anchor="ctr"/>
          <a:lstStyle/>
          <a:p>
            <a:pPr marL="0" indent="0">
              <a:buNone/>
            </a:pPr>
            <a:r>
              <a:rPr lang="en-US" sz="1400" b="1" dirty="0">
                <a:solidFill>
                  <a:srgbClr val="0F172A"/>
                </a:solidFill>
                <a:latin typeface="Meiryo UI" pitchFamily="34" charset="0"/>
                <a:ea typeface="Meiryo UI" pitchFamily="34" charset="-122"/>
                <a:cs typeface="Meiryo UI" pitchFamily="34" charset="-120"/>
              </a:rPr>
              <a:t>日英切替（i18n）：JP/EN ボタン 1 つで全切替</a:t>
            </a:r>
            <a:endParaRPr lang="en-US" sz="1400" dirty="0">
              <a:latin typeface="Meiryo UI"/>
              <a:ea typeface="Meiryo UI"/>
            </a:endParaRPr>
          </a:p>
        </p:txBody>
      </p:sp>
      <p:sp>
        <p:nvSpPr>
          <p:cNvPr id="12" name="Shape 10"/>
          <p:cNvSpPr/>
          <p:nvPr/>
        </p:nvSpPr>
        <p:spPr>
          <a:xfrm>
            <a:off x="822960" y="3520440"/>
            <a:ext cx="1188720" cy="822960"/>
          </a:xfrm>
          <a:prstGeom prst="rect">
            <a:avLst/>
          </a:prstGeom>
          <a:solidFill>
            <a:srgbClr val="EBC528"/>
          </a:solidFill>
          <a:ln/>
        </p:spPr>
        <p:txBody>
          <a:bodyPr/>
          <a:lstStyle/>
          <a:p>
            <a:endParaRPr lang="ja-JP" altLang="en-US"/>
          </a:p>
        </p:txBody>
      </p:sp>
      <p:sp>
        <p:nvSpPr>
          <p:cNvPr id="13" name="Text 11"/>
          <p:cNvSpPr/>
          <p:nvPr/>
        </p:nvSpPr>
        <p:spPr>
          <a:xfrm>
            <a:off x="822960" y="3520440"/>
            <a:ext cx="1188720" cy="822960"/>
          </a:xfrm>
          <a:prstGeom prst="rect">
            <a:avLst/>
          </a:prstGeom>
          <a:noFill/>
          <a:ln/>
        </p:spPr>
        <p:txBody>
          <a:bodyPr wrap="square" lIns="0" tIns="0" rIns="0" bIns="0" rtlCol="0" anchor="ctr"/>
          <a:lstStyle/>
          <a:p>
            <a:pPr marL="0" indent="0" algn="ctr">
              <a:buNone/>
            </a:pPr>
            <a:r>
              <a:rPr lang="en-US" sz="1100" b="1" dirty="0">
                <a:solidFill>
                  <a:srgbClr val="0F172A"/>
                </a:solidFill>
                <a:latin typeface="Meiryo UI" pitchFamily="34" charset="0"/>
                <a:ea typeface="Meiryo UI" pitchFamily="34" charset="-122"/>
                <a:cs typeface="Meiryo UI" pitchFamily="34" charset="-120"/>
              </a:rPr>
              <a:t>[JP|EN]</a:t>
            </a:r>
            <a:endParaRPr lang="en-US" sz="1100" dirty="0">
              <a:latin typeface="Meiryo UI"/>
              <a:ea typeface="Meiryo UI"/>
            </a:endParaRPr>
          </a:p>
        </p:txBody>
      </p:sp>
      <p:sp>
        <p:nvSpPr>
          <p:cNvPr id="14" name="Text 12"/>
          <p:cNvSpPr/>
          <p:nvPr/>
        </p:nvSpPr>
        <p:spPr>
          <a:xfrm>
            <a:off x="2011680" y="3657600"/>
            <a:ext cx="91440" cy="548640"/>
          </a:xfrm>
          <a:prstGeom prst="rect">
            <a:avLst/>
          </a:prstGeom>
          <a:noFill/>
          <a:ln/>
        </p:spPr>
        <p:txBody>
          <a:bodyPr wrap="square" lIns="0" tIns="0" rIns="0" bIns="0" rtlCol="0" anchor="ctr"/>
          <a:lstStyle/>
          <a:p>
            <a:pPr marL="0" indent="0" algn="ctr">
              <a:buNone/>
            </a:pPr>
            <a:r>
              <a:rPr lang="en-US" sz="1800" b="1" dirty="0">
                <a:solidFill>
                  <a:srgbClr val="0F172A"/>
                </a:solidFill>
                <a:latin typeface="Meiryo UI" pitchFamily="34" charset="0"/>
                <a:ea typeface="Meiryo UI" pitchFamily="34" charset="-122"/>
                <a:cs typeface="Meiryo UI" pitchFamily="34" charset="-120"/>
              </a:rPr>
              <a:t>&gt;</a:t>
            </a:r>
            <a:endParaRPr lang="en-US" sz="1800" dirty="0">
              <a:latin typeface="Meiryo UI"/>
              <a:ea typeface="Meiryo UI"/>
            </a:endParaRPr>
          </a:p>
        </p:txBody>
      </p:sp>
      <p:sp>
        <p:nvSpPr>
          <p:cNvPr id="15" name="Shape 13"/>
          <p:cNvSpPr/>
          <p:nvPr/>
        </p:nvSpPr>
        <p:spPr>
          <a:xfrm>
            <a:off x="2103120" y="3520440"/>
            <a:ext cx="1188720" cy="822960"/>
          </a:xfrm>
          <a:prstGeom prst="rect">
            <a:avLst/>
          </a:prstGeom>
          <a:solidFill>
            <a:srgbClr val="F59E0B"/>
          </a:solidFill>
          <a:ln/>
        </p:spPr>
        <p:txBody>
          <a:bodyPr/>
          <a:lstStyle/>
          <a:p>
            <a:endParaRPr lang="ja-JP" altLang="en-US"/>
          </a:p>
        </p:txBody>
      </p:sp>
      <p:sp>
        <p:nvSpPr>
          <p:cNvPr id="16" name="Text 14"/>
          <p:cNvSpPr/>
          <p:nvPr/>
        </p:nvSpPr>
        <p:spPr>
          <a:xfrm>
            <a:off x="2103120" y="3520440"/>
            <a:ext cx="11887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itchFamily="34" charset="0"/>
                <a:ea typeface="Meiryo UI" pitchFamily="34" charset="-122"/>
                <a:cs typeface="Meiryo UI" pitchFamily="34" charset="-120"/>
              </a:rPr>
              <a:t>Provider</a:t>
            </a:r>
            <a:endParaRPr lang="en-US" sz="1100" dirty="0">
              <a:latin typeface="Meiryo UI"/>
              <a:ea typeface="Meiryo UI"/>
            </a:endParaRPr>
          </a:p>
        </p:txBody>
      </p:sp>
      <p:sp>
        <p:nvSpPr>
          <p:cNvPr id="17" name="Text 15"/>
          <p:cNvSpPr/>
          <p:nvPr/>
        </p:nvSpPr>
        <p:spPr>
          <a:xfrm>
            <a:off x="3291840" y="3657600"/>
            <a:ext cx="91440" cy="548640"/>
          </a:xfrm>
          <a:prstGeom prst="rect">
            <a:avLst/>
          </a:prstGeom>
          <a:noFill/>
          <a:ln/>
        </p:spPr>
        <p:txBody>
          <a:bodyPr wrap="square" lIns="0" tIns="0" rIns="0" bIns="0" rtlCol="0" anchor="ctr"/>
          <a:lstStyle/>
          <a:p>
            <a:pPr marL="0" indent="0" algn="ctr">
              <a:buNone/>
            </a:pPr>
            <a:r>
              <a:rPr lang="en-US" sz="1800" b="1" dirty="0">
                <a:solidFill>
                  <a:srgbClr val="0F172A"/>
                </a:solidFill>
                <a:latin typeface="Meiryo UI" pitchFamily="34" charset="0"/>
                <a:ea typeface="Meiryo UI" pitchFamily="34" charset="-122"/>
                <a:cs typeface="Meiryo UI" pitchFamily="34" charset="-120"/>
              </a:rPr>
              <a:t>&gt;</a:t>
            </a:r>
            <a:endParaRPr lang="en-US" sz="1800" dirty="0">
              <a:latin typeface="Meiryo UI"/>
              <a:ea typeface="Meiryo UI"/>
            </a:endParaRPr>
          </a:p>
        </p:txBody>
      </p:sp>
      <p:sp>
        <p:nvSpPr>
          <p:cNvPr id="18" name="Shape 16"/>
          <p:cNvSpPr/>
          <p:nvPr/>
        </p:nvSpPr>
        <p:spPr>
          <a:xfrm>
            <a:off x="3383280" y="3520440"/>
            <a:ext cx="1188720" cy="822960"/>
          </a:xfrm>
          <a:prstGeom prst="rect">
            <a:avLst/>
          </a:prstGeom>
          <a:solidFill>
            <a:srgbClr val="10B981"/>
          </a:solidFill>
          <a:ln/>
        </p:spPr>
        <p:txBody>
          <a:bodyPr/>
          <a:lstStyle/>
          <a:p>
            <a:endParaRPr lang="ja-JP" altLang="en-US"/>
          </a:p>
        </p:txBody>
      </p:sp>
      <p:sp>
        <p:nvSpPr>
          <p:cNvPr id="19" name="Text 17"/>
          <p:cNvSpPr/>
          <p:nvPr/>
        </p:nvSpPr>
        <p:spPr>
          <a:xfrm>
            <a:off x="3383280" y="3520440"/>
            <a:ext cx="11887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itchFamily="34" charset="0"/>
                <a:ea typeface="Meiryo UI" pitchFamily="34" charset="-122"/>
                <a:cs typeface="Meiryo UI" pitchFamily="34" charset="-120"/>
              </a:rPr>
              <a:t>useLanguage()</a:t>
            </a:r>
            <a:endParaRPr lang="en-US" sz="1100" dirty="0">
              <a:latin typeface="Meiryo UI"/>
              <a:ea typeface="Meiryo UI"/>
            </a:endParaRPr>
          </a:p>
        </p:txBody>
      </p:sp>
      <p:sp>
        <p:nvSpPr>
          <p:cNvPr id="20" name="Text 18"/>
          <p:cNvSpPr/>
          <p:nvPr/>
        </p:nvSpPr>
        <p:spPr>
          <a:xfrm>
            <a:off x="4572000" y="3657600"/>
            <a:ext cx="91440" cy="548640"/>
          </a:xfrm>
          <a:prstGeom prst="rect">
            <a:avLst/>
          </a:prstGeom>
          <a:noFill/>
          <a:ln/>
        </p:spPr>
        <p:txBody>
          <a:bodyPr wrap="square" lIns="0" tIns="0" rIns="0" bIns="0" rtlCol="0" anchor="ctr"/>
          <a:lstStyle/>
          <a:p>
            <a:pPr marL="0" indent="0" algn="ctr">
              <a:buNone/>
            </a:pPr>
            <a:r>
              <a:rPr lang="en-US" sz="1800" b="1" dirty="0">
                <a:solidFill>
                  <a:srgbClr val="0F172A"/>
                </a:solidFill>
                <a:latin typeface="Meiryo UI" pitchFamily="34" charset="0"/>
                <a:ea typeface="Meiryo UI" pitchFamily="34" charset="-122"/>
                <a:cs typeface="Meiryo UI" pitchFamily="34" charset="-120"/>
              </a:rPr>
              <a:t>&gt;</a:t>
            </a:r>
            <a:endParaRPr lang="en-US" sz="1800" dirty="0">
              <a:latin typeface="Meiryo UI"/>
              <a:ea typeface="Meiryo UI"/>
            </a:endParaRPr>
          </a:p>
        </p:txBody>
      </p:sp>
      <p:sp>
        <p:nvSpPr>
          <p:cNvPr id="21" name="Shape 19"/>
          <p:cNvSpPr/>
          <p:nvPr/>
        </p:nvSpPr>
        <p:spPr>
          <a:xfrm>
            <a:off x="4663440" y="3520440"/>
            <a:ext cx="1188720" cy="822960"/>
          </a:xfrm>
          <a:prstGeom prst="rect">
            <a:avLst/>
          </a:prstGeom>
          <a:solidFill>
            <a:srgbClr val="2563EB"/>
          </a:solidFill>
          <a:ln/>
        </p:spPr>
        <p:txBody>
          <a:bodyPr/>
          <a:lstStyle/>
          <a:p>
            <a:endParaRPr lang="ja-JP" altLang="en-US"/>
          </a:p>
        </p:txBody>
      </p:sp>
      <p:sp>
        <p:nvSpPr>
          <p:cNvPr id="22" name="Text 20"/>
          <p:cNvSpPr/>
          <p:nvPr/>
        </p:nvSpPr>
        <p:spPr>
          <a:xfrm>
            <a:off x="4663440" y="3520440"/>
            <a:ext cx="11887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itchFamily="34" charset="0"/>
                <a:ea typeface="Meiryo UI" pitchFamily="34" charset="-122"/>
                <a:cs typeface="Meiryo UI" pitchFamily="34" charset="-120"/>
              </a:rPr>
              <a:t>ラベル/文/alt</a:t>
            </a:r>
            <a:endParaRPr lang="en-US" sz="1100" dirty="0">
              <a:latin typeface="Meiryo UI"/>
              <a:ea typeface="Meiryo UI"/>
            </a:endParaRPr>
          </a:p>
        </p:txBody>
      </p:sp>
      <p:sp>
        <p:nvSpPr>
          <p:cNvPr id="23" name="Text 21"/>
          <p:cNvSpPr/>
          <p:nvPr/>
        </p:nvSpPr>
        <p:spPr>
          <a:xfrm>
            <a:off x="822960" y="4480560"/>
            <a:ext cx="4937760" cy="1554480"/>
          </a:xfrm>
          <a:prstGeom prst="rect">
            <a:avLst/>
          </a:prstGeom>
          <a:noFill/>
          <a:ln/>
        </p:spPr>
        <p:txBody>
          <a:bodyPr wrap="square" rtlCol="0" anchor="ctr"/>
          <a:lstStyle/>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Localized&lt;T&gt; 型で ja/en を 1 データに</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英語表示時はふりがなを自動非表示</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初回訪問はブラウザ言語で自動判定</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localStorage に保存し次回も維持</a:t>
            </a:r>
            <a:endParaRPr lang="en-US" sz="1100" dirty="0">
              <a:latin typeface="Meiryo UI"/>
              <a:ea typeface="Meiryo UI"/>
            </a:endParaRPr>
          </a:p>
        </p:txBody>
      </p:sp>
      <p:sp>
        <p:nvSpPr>
          <p:cNvPr id="24" name="Text 22"/>
          <p:cNvSpPr/>
          <p:nvPr/>
        </p:nvSpPr>
        <p:spPr>
          <a:xfrm>
            <a:off x="6400800" y="3063240"/>
            <a:ext cx="5212080" cy="365760"/>
          </a:xfrm>
          <a:prstGeom prst="rect">
            <a:avLst/>
          </a:prstGeom>
          <a:noFill/>
          <a:ln/>
        </p:spPr>
        <p:txBody>
          <a:bodyPr wrap="square" lIns="0" tIns="0" rIns="0" bIns="0" rtlCol="0" anchor="ctr"/>
          <a:lstStyle/>
          <a:p>
            <a:pPr marL="0" indent="0">
              <a:buNone/>
            </a:pPr>
            <a:r>
              <a:rPr lang="en-US" sz="1400" b="1" dirty="0">
                <a:solidFill>
                  <a:srgbClr val="0F172A"/>
                </a:solidFill>
                <a:latin typeface="Meiryo UI" pitchFamily="34" charset="0"/>
                <a:ea typeface="Meiryo UI" pitchFamily="34" charset="-122"/>
                <a:cs typeface="Meiryo UI" pitchFamily="34" charset="-120"/>
              </a:rPr>
              <a:t>パフォーマンス最適化 6 項目</a:t>
            </a:r>
            <a:endParaRPr lang="en-US" sz="1400" dirty="0">
              <a:latin typeface="Meiryo UI"/>
              <a:ea typeface="Meiryo UI"/>
            </a:endParaRPr>
          </a:p>
        </p:txBody>
      </p:sp>
      <p:sp>
        <p:nvSpPr>
          <p:cNvPr id="25" name="Shape 23"/>
          <p:cNvSpPr/>
          <p:nvPr/>
        </p:nvSpPr>
        <p:spPr>
          <a:xfrm>
            <a:off x="6400800" y="3474720"/>
            <a:ext cx="5212080" cy="393192"/>
          </a:xfrm>
          <a:prstGeom prst="rect">
            <a:avLst/>
          </a:prstGeom>
          <a:solidFill>
            <a:srgbClr val="F8FAFC"/>
          </a:solidFill>
          <a:ln w="6350">
            <a:solidFill>
              <a:srgbClr val="E2E8F0"/>
            </a:solidFill>
            <a:prstDash val="solid"/>
          </a:ln>
        </p:spPr>
        <p:txBody>
          <a:bodyPr/>
          <a:lstStyle/>
          <a:p>
            <a:endParaRPr lang="ja-JP" altLang="en-US"/>
          </a:p>
        </p:txBody>
      </p:sp>
      <p:sp>
        <p:nvSpPr>
          <p:cNvPr id="26" name="Shape 24"/>
          <p:cNvSpPr/>
          <p:nvPr/>
        </p:nvSpPr>
        <p:spPr>
          <a:xfrm>
            <a:off x="6400800" y="3474720"/>
            <a:ext cx="1005840" cy="393192"/>
          </a:xfrm>
          <a:prstGeom prst="rect">
            <a:avLst/>
          </a:prstGeom>
          <a:solidFill>
            <a:srgbClr val="0F172A"/>
          </a:solidFill>
          <a:ln/>
        </p:spPr>
        <p:txBody>
          <a:bodyPr/>
          <a:lstStyle/>
          <a:p>
            <a:endParaRPr lang="ja-JP" altLang="en-US"/>
          </a:p>
        </p:txBody>
      </p:sp>
      <p:sp>
        <p:nvSpPr>
          <p:cNvPr id="27" name="Text 25"/>
          <p:cNvSpPr/>
          <p:nvPr/>
        </p:nvSpPr>
        <p:spPr>
          <a:xfrm>
            <a:off x="6400800" y="3474720"/>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画像圧縮</a:t>
            </a:r>
            <a:endParaRPr lang="en-US" sz="1000" dirty="0">
              <a:latin typeface="Meiryo UI"/>
              <a:ea typeface="Meiryo UI"/>
            </a:endParaRPr>
          </a:p>
        </p:txBody>
      </p:sp>
      <p:sp>
        <p:nvSpPr>
          <p:cNvPr id="28" name="Text 26"/>
          <p:cNvSpPr/>
          <p:nvPr/>
        </p:nvSpPr>
        <p:spPr>
          <a:xfrm>
            <a:off x="7498080" y="3493008"/>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50MB → 4MB (sharp)</a:t>
            </a:r>
            <a:endParaRPr lang="en-US" sz="1100" dirty="0">
              <a:latin typeface="Meiryo UI"/>
              <a:ea typeface="Meiryo UI"/>
            </a:endParaRPr>
          </a:p>
        </p:txBody>
      </p:sp>
      <p:sp>
        <p:nvSpPr>
          <p:cNvPr id="29" name="Shape 27"/>
          <p:cNvSpPr/>
          <p:nvPr/>
        </p:nvSpPr>
        <p:spPr>
          <a:xfrm>
            <a:off x="10378440" y="3529584"/>
            <a:ext cx="1143000" cy="292608"/>
          </a:xfrm>
          <a:prstGeom prst="rect">
            <a:avLst/>
          </a:prstGeom>
          <a:solidFill>
            <a:srgbClr val="10B981"/>
          </a:solidFill>
          <a:ln/>
        </p:spPr>
        <p:txBody>
          <a:bodyPr/>
          <a:lstStyle/>
          <a:p>
            <a:endParaRPr lang="ja-JP" altLang="en-US"/>
          </a:p>
        </p:txBody>
      </p:sp>
      <p:sp>
        <p:nvSpPr>
          <p:cNvPr id="30" name="Text 28"/>
          <p:cNvSpPr/>
          <p:nvPr/>
        </p:nvSpPr>
        <p:spPr>
          <a:xfrm>
            <a:off x="10378440" y="3529584"/>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LCP 改善</a:t>
            </a:r>
            <a:endParaRPr lang="en-US" sz="900" dirty="0">
              <a:latin typeface="Meiryo UI"/>
              <a:ea typeface="Meiryo UI"/>
            </a:endParaRPr>
          </a:p>
        </p:txBody>
      </p:sp>
      <p:sp>
        <p:nvSpPr>
          <p:cNvPr id="31" name="Shape 29"/>
          <p:cNvSpPr/>
          <p:nvPr/>
        </p:nvSpPr>
        <p:spPr>
          <a:xfrm>
            <a:off x="6400800" y="3913632"/>
            <a:ext cx="5212080" cy="393192"/>
          </a:xfrm>
          <a:prstGeom prst="rect">
            <a:avLst/>
          </a:prstGeom>
          <a:solidFill>
            <a:srgbClr val="F8FAFC"/>
          </a:solidFill>
          <a:ln w="6350">
            <a:solidFill>
              <a:srgbClr val="E2E8F0"/>
            </a:solidFill>
            <a:prstDash val="solid"/>
          </a:ln>
        </p:spPr>
        <p:txBody>
          <a:bodyPr/>
          <a:lstStyle/>
          <a:p>
            <a:endParaRPr lang="ja-JP" altLang="en-US"/>
          </a:p>
        </p:txBody>
      </p:sp>
      <p:sp>
        <p:nvSpPr>
          <p:cNvPr id="32" name="Shape 30"/>
          <p:cNvSpPr/>
          <p:nvPr/>
        </p:nvSpPr>
        <p:spPr>
          <a:xfrm>
            <a:off x="6400800" y="3913632"/>
            <a:ext cx="1005840" cy="393192"/>
          </a:xfrm>
          <a:prstGeom prst="rect">
            <a:avLst/>
          </a:prstGeom>
          <a:solidFill>
            <a:srgbClr val="0F172A"/>
          </a:solidFill>
          <a:ln/>
        </p:spPr>
        <p:txBody>
          <a:bodyPr/>
          <a:lstStyle/>
          <a:p>
            <a:endParaRPr lang="ja-JP" altLang="en-US"/>
          </a:p>
        </p:txBody>
      </p:sp>
      <p:sp>
        <p:nvSpPr>
          <p:cNvPr id="33" name="Text 31"/>
          <p:cNvSpPr/>
          <p:nvPr/>
        </p:nvSpPr>
        <p:spPr>
          <a:xfrm>
            <a:off x="6400800" y="3913632"/>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next/image</a:t>
            </a:r>
            <a:endParaRPr lang="en-US" sz="1000" dirty="0">
              <a:latin typeface="Meiryo UI"/>
              <a:ea typeface="Meiryo UI"/>
            </a:endParaRPr>
          </a:p>
        </p:txBody>
      </p:sp>
      <p:sp>
        <p:nvSpPr>
          <p:cNvPr id="34" name="Text 32"/>
          <p:cNvSpPr/>
          <p:nvPr/>
        </p:nvSpPr>
        <p:spPr>
          <a:xfrm>
            <a:off x="7498080" y="3931920"/>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AVIF→WebP 自動配信</a:t>
            </a:r>
            <a:endParaRPr lang="en-US" sz="1100" dirty="0">
              <a:latin typeface="Meiryo UI"/>
              <a:ea typeface="Meiryo UI"/>
            </a:endParaRPr>
          </a:p>
        </p:txBody>
      </p:sp>
      <p:sp>
        <p:nvSpPr>
          <p:cNvPr id="35" name="Shape 33"/>
          <p:cNvSpPr/>
          <p:nvPr/>
        </p:nvSpPr>
        <p:spPr>
          <a:xfrm>
            <a:off x="10378440" y="3968496"/>
            <a:ext cx="1143000" cy="292608"/>
          </a:xfrm>
          <a:prstGeom prst="rect">
            <a:avLst/>
          </a:prstGeom>
          <a:solidFill>
            <a:srgbClr val="10B981"/>
          </a:solidFill>
          <a:ln/>
        </p:spPr>
        <p:txBody>
          <a:bodyPr/>
          <a:lstStyle/>
          <a:p>
            <a:endParaRPr lang="ja-JP" altLang="en-US"/>
          </a:p>
        </p:txBody>
      </p:sp>
      <p:sp>
        <p:nvSpPr>
          <p:cNvPr id="36" name="Text 34"/>
          <p:cNvSpPr/>
          <p:nvPr/>
        </p:nvSpPr>
        <p:spPr>
          <a:xfrm>
            <a:off x="10378440" y="3968496"/>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通信短縮</a:t>
            </a:r>
            <a:endParaRPr lang="en-US" sz="900" dirty="0">
              <a:latin typeface="Meiryo UI"/>
              <a:ea typeface="Meiryo UI"/>
            </a:endParaRPr>
          </a:p>
        </p:txBody>
      </p:sp>
      <p:sp>
        <p:nvSpPr>
          <p:cNvPr id="37" name="Shape 35"/>
          <p:cNvSpPr/>
          <p:nvPr/>
        </p:nvSpPr>
        <p:spPr>
          <a:xfrm>
            <a:off x="6400800" y="4352544"/>
            <a:ext cx="5212080" cy="393192"/>
          </a:xfrm>
          <a:prstGeom prst="rect">
            <a:avLst/>
          </a:prstGeom>
          <a:solidFill>
            <a:srgbClr val="F8FAFC"/>
          </a:solidFill>
          <a:ln w="6350">
            <a:solidFill>
              <a:srgbClr val="E2E8F0"/>
            </a:solidFill>
            <a:prstDash val="solid"/>
          </a:ln>
        </p:spPr>
        <p:txBody>
          <a:bodyPr/>
          <a:lstStyle/>
          <a:p>
            <a:endParaRPr lang="ja-JP" altLang="en-US"/>
          </a:p>
        </p:txBody>
      </p:sp>
      <p:sp>
        <p:nvSpPr>
          <p:cNvPr id="38" name="Shape 36"/>
          <p:cNvSpPr/>
          <p:nvPr/>
        </p:nvSpPr>
        <p:spPr>
          <a:xfrm>
            <a:off x="6400800" y="4352544"/>
            <a:ext cx="1005840" cy="393192"/>
          </a:xfrm>
          <a:prstGeom prst="rect">
            <a:avLst/>
          </a:prstGeom>
          <a:solidFill>
            <a:srgbClr val="0F172A"/>
          </a:solidFill>
          <a:ln/>
        </p:spPr>
        <p:txBody>
          <a:bodyPr/>
          <a:lstStyle/>
          <a:p>
            <a:endParaRPr lang="ja-JP" altLang="en-US"/>
          </a:p>
        </p:txBody>
      </p:sp>
      <p:sp>
        <p:nvSpPr>
          <p:cNvPr id="39" name="Text 37"/>
          <p:cNvSpPr/>
          <p:nvPr/>
        </p:nvSpPr>
        <p:spPr>
          <a:xfrm>
            <a:off x="6400800" y="4352544"/>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Observer</a:t>
            </a:r>
            <a:endParaRPr lang="en-US" sz="1000" dirty="0">
              <a:latin typeface="Meiryo UI"/>
              <a:ea typeface="Meiryo UI"/>
            </a:endParaRPr>
          </a:p>
        </p:txBody>
      </p:sp>
      <p:sp>
        <p:nvSpPr>
          <p:cNvPr id="40" name="Text 38"/>
          <p:cNvSpPr/>
          <p:nvPr/>
        </p:nvSpPr>
        <p:spPr>
          <a:xfrm>
            <a:off x="7498080" y="4370832"/>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20個 → 1個 共有化</a:t>
            </a:r>
            <a:endParaRPr lang="en-US" sz="1100" dirty="0">
              <a:latin typeface="Meiryo UI"/>
              <a:ea typeface="Meiryo UI"/>
            </a:endParaRPr>
          </a:p>
        </p:txBody>
      </p:sp>
      <p:sp>
        <p:nvSpPr>
          <p:cNvPr id="41" name="Shape 39"/>
          <p:cNvSpPr/>
          <p:nvPr/>
        </p:nvSpPr>
        <p:spPr>
          <a:xfrm>
            <a:off x="10378440" y="4407408"/>
            <a:ext cx="1143000" cy="292608"/>
          </a:xfrm>
          <a:prstGeom prst="rect">
            <a:avLst/>
          </a:prstGeom>
          <a:solidFill>
            <a:srgbClr val="10B981"/>
          </a:solidFill>
          <a:ln/>
        </p:spPr>
        <p:txBody>
          <a:bodyPr/>
          <a:lstStyle/>
          <a:p>
            <a:endParaRPr lang="ja-JP" altLang="en-US"/>
          </a:p>
        </p:txBody>
      </p:sp>
      <p:sp>
        <p:nvSpPr>
          <p:cNvPr id="42" name="Text 40"/>
          <p:cNvSpPr/>
          <p:nvPr/>
        </p:nvSpPr>
        <p:spPr>
          <a:xfrm>
            <a:off x="10378440" y="4407408"/>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JS 軽量化</a:t>
            </a:r>
            <a:endParaRPr lang="en-US" sz="900" dirty="0">
              <a:latin typeface="Meiryo UI"/>
              <a:ea typeface="Meiryo UI"/>
            </a:endParaRPr>
          </a:p>
        </p:txBody>
      </p:sp>
      <p:sp>
        <p:nvSpPr>
          <p:cNvPr id="43" name="Shape 41"/>
          <p:cNvSpPr/>
          <p:nvPr/>
        </p:nvSpPr>
        <p:spPr>
          <a:xfrm>
            <a:off x="6400800" y="4791456"/>
            <a:ext cx="5212080" cy="393192"/>
          </a:xfrm>
          <a:prstGeom prst="rect">
            <a:avLst/>
          </a:prstGeom>
          <a:solidFill>
            <a:srgbClr val="F8FAFC"/>
          </a:solidFill>
          <a:ln w="6350">
            <a:solidFill>
              <a:srgbClr val="E2E8F0"/>
            </a:solidFill>
            <a:prstDash val="solid"/>
          </a:ln>
        </p:spPr>
        <p:txBody>
          <a:bodyPr/>
          <a:lstStyle/>
          <a:p>
            <a:endParaRPr lang="ja-JP" altLang="en-US"/>
          </a:p>
        </p:txBody>
      </p:sp>
      <p:sp>
        <p:nvSpPr>
          <p:cNvPr id="44" name="Shape 42"/>
          <p:cNvSpPr/>
          <p:nvPr/>
        </p:nvSpPr>
        <p:spPr>
          <a:xfrm>
            <a:off x="6400800" y="4791456"/>
            <a:ext cx="1005840" cy="393192"/>
          </a:xfrm>
          <a:prstGeom prst="rect">
            <a:avLst/>
          </a:prstGeom>
          <a:solidFill>
            <a:srgbClr val="0F172A"/>
          </a:solidFill>
          <a:ln/>
        </p:spPr>
        <p:txBody>
          <a:bodyPr/>
          <a:lstStyle/>
          <a:p>
            <a:endParaRPr lang="ja-JP" altLang="en-US"/>
          </a:p>
        </p:txBody>
      </p:sp>
      <p:sp>
        <p:nvSpPr>
          <p:cNvPr id="45" name="Text 43"/>
          <p:cNvSpPr/>
          <p:nvPr/>
        </p:nvSpPr>
        <p:spPr>
          <a:xfrm>
            <a:off x="6400800" y="4791456"/>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動画</a:t>
            </a:r>
            <a:endParaRPr lang="en-US" sz="1000" dirty="0">
              <a:latin typeface="Meiryo UI"/>
              <a:ea typeface="Meiryo UI"/>
            </a:endParaRPr>
          </a:p>
        </p:txBody>
      </p:sp>
      <p:sp>
        <p:nvSpPr>
          <p:cNvPr id="46" name="Text 44"/>
          <p:cNvSpPr/>
          <p:nvPr/>
        </p:nvSpPr>
        <p:spPr>
          <a:xfrm>
            <a:off x="7498080" y="4809744"/>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6.4MB → 676KB</a:t>
            </a:r>
            <a:endParaRPr lang="en-US" sz="1100" dirty="0">
              <a:latin typeface="Meiryo UI"/>
              <a:ea typeface="Meiryo UI"/>
            </a:endParaRPr>
          </a:p>
        </p:txBody>
      </p:sp>
      <p:sp>
        <p:nvSpPr>
          <p:cNvPr id="47" name="Shape 45"/>
          <p:cNvSpPr/>
          <p:nvPr/>
        </p:nvSpPr>
        <p:spPr>
          <a:xfrm>
            <a:off x="10378440" y="4846320"/>
            <a:ext cx="1143000" cy="292608"/>
          </a:xfrm>
          <a:prstGeom prst="rect">
            <a:avLst/>
          </a:prstGeom>
          <a:solidFill>
            <a:srgbClr val="10B981"/>
          </a:solidFill>
          <a:ln/>
        </p:spPr>
        <p:txBody>
          <a:bodyPr/>
          <a:lstStyle/>
          <a:p>
            <a:endParaRPr lang="ja-JP" altLang="en-US"/>
          </a:p>
        </p:txBody>
      </p:sp>
      <p:sp>
        <p:nvSpPr>
          <p:cNvPr id="48" name="Text 46"/>
          <p:cNvSpPr/>
          <p:nvPr/>
        </p:nvSpPr>
        <p:spPr>
          <a:xfrm>
            <a:off x="10378440" y="4846320"/>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高速読込</a:t>
            </a:r>
            <a:endParaRPr lang="en-US" sz="900" dirty="0">
              <a:latin typeface="Meiryo UI"/>
              <a:ea typeface="Meiryo UI"/>
            </a:endParaRPr>
          </a:p>
        </p:txBody>
      </p:sp>
      <p:sp>
        <p:nvSpPr>
          <p:cNvPr id="49" name="Shape 47"/>
          <p:cNvSpPr/>
          <p:nvPr/>
        </p:nvSpPr>
        <p:spPr>
          <a:xfrm>
            <a:off x="6400800" y="5230368"/>
            <a:ext cx="5212080" cy="393192"/>
          </a:xfrm>
          <a:prstGeom prst="rect">
            <a:avLst/>
          </a:prstGeom>
          <a:solidFill>
            <a:srgbClr val="F8FAFC"/>
          </a:solidFill>
          <a:ln w="6350">
            <a:solidFill>
              <a:srgbClr val="E2E8F0"/>
            </a:solidFill>
            <a:prstDash val="solid"/>
          </a:ln>
        </p:spPr>
        <p:txBody>
          <a:bodyPr/>
          <a:lstStyle/>
          <a:p>
            <a:endParaRPr lang="ja-JP" altLang="en-US"/>
          </a:p>
        </p:txBody>
      </p:sp>
      <p:sp>
        <p:nvSpPr>
          <p:cNvPr id="50" name="Shape 48"/>
          <p:cNvSpPr/>
          <p:nvPr/>
        </p:nvSpPr>
        <p:spPr>
          <a:xfrm>
            <a:off x="6400800" y="5230368"/>
            <a:ext cx="1005840" cy="393192"/>
          </a:xfrm>
          <a:prstGeom prst="rect">
            <a:avLst/>
          </a:prstGeom>
          <a:solidFill>
            <a:srgbClr val="0F172A"/>
          </a:solidFill>
          <a:ln/>
        </p:spPr>
        <p:txBody>
          <a:bodyPr/>
          <a:lstStyle/>
          <a:p>
            <a:endParaRPr lang="ja-JP" altLang="en-US"/>
          </a:p>
        </p:txBody>
      </p:sp>
      <p:sp>
        <p:nvSpPr>
          <p:cNvPr id="51" name="Text 49"/>
          <p:cNvSpPr/>
          <p:nvPr/>
        </p:nvSpPr>
        <p:spPr>
          <a:xfrm>
            <a:off x="6400800" y="5230368"/>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PNG→JPG</a:t>
            </a:r>
            <a:endParaRPr lang="en-US" sz="1000" dirty="0">
              <a:latin typeface="Meiryo UI"/>
              <a:ea typeface="Meiryo UI"/>
            </a:endParaRPr>
          </a:p>
        </p:txBody>
      </p:sp>
      <p:sp>
        <p:nvSpPr>
          <p:cNvPr id="52" name="Text 50"/>
          <p:cNvSpPr/>
          <p:nvPr/>
        </p:nvSpPr>
        <p:spPr>
          <a:xfrm>
            <a:off x="7498080" y="5248656"/>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employee5,6 で 1/10</a:t>
            </a:r>
            <a:endParaRPr lang="en-US" sz="1100" dirty="0">
              <a:latin typeface="Meiryo UI"/>
              <a:ea typeface="Meiryo UI"/>
            </a:endParaRPr>
          </a:p>
        </p:txBody>
      </p:sp>
      <p:sp>
        <p:nvSpPr>
          <p:cNvPr id="53" name="Shape 51"/>
          <p:cNvSpPr/>
          <p:nvPr/>
        </p:nvSpPr>
        <p:spPr>
          <a:xfrm>
            <a:off x="10378440" y="5285232"/>
            <a:ext cx="1143000" cy="292608"/>
          </a:xfrm>
          <a:prstGeom prst="rect">
            <a:avLst/>
          </a:prstGeom>
          <a:solidFill>
            <a:srgbClr val="10B981"/>
          </a:solidFill>
          <a:ln/>
        </p:spPr>
        <p:txBody>
          <a:bodyPr/>
          <a:lstStyle/>
          <a:p>
            <a:endParaRPr lang="ja-JP" altLang="en-US"/>
          </a:p>
        </p:txBody>
      </p:sp>
      <p:sp>
        <p:nvSpPr>
          <p:cNvPr id="54" name="Text 52"/>
          <p:cNvSpPr/>
          <p:nvPr/>
        </p:nvSpPr>
        <p:spPr>
          <a:xfrm>
            <a:off x="10378440" y="5285232"/>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帯域節約</a:t>
            </a:r>
            <a:endParaRPr lang="en-US" sz="900" dirty="0">
              <a:latin typeface="Meiryo UI"/>
              <a:ea typeface="Meiryo UI"/>
            </a:endParaRPr>
          </a:p>
        </p:txBody>
      </p:sp>
      <p:sp>
        <p:nvSpPr>
          <p:cNvPr id="55" name="Shape 53"/>
          <p:cNvSpPr/>
          <p:nvPr/>
        </p:nvSpPr>
        <p:spPr>
          <a:xfrm>
            <a:off x="6400800" y="5669280"/>
            <a:ext cx="5212080" cy="393192"/>
          </a:xfrm>
          <a:prstGeom prst="rect">
            <a:avLst/>
          </a:prstGeom>
          <a:solidFill>
            <a:srgbClr val="F8FAFC"/>
          </a:solidFill>
          <a:ln w="6350">
            <a:solidFill>
              <a:srgbClr val="E2E8F0"/>
            </a:solidFill>
            <a:prstDash val="solid"/>
          </a:ln>
        </p:spPr>
        <p:txBody>
          <a:bodyPr/>
          <a:lstStyle/>
          <a:p>
            <a:endParaRPr lang="ja-JP" altLang="en-US"/>
          </a:p>
        </p:txBody>
      </p:sp>
      <p:sp>
        <p:nvSpPr>
          <p:cNvPr id="56" name="Shape 54"/>
          <p:cNvSpPr/>
          <p:nvPr/>
        </p:nvSpPr>
        <p:spPr>
          <a:xfrm>
            <a:off x="6400800" y="5669280"/>
            <a:ext cx="1005840" cy="393192"/>
          </a:xfrm>
          <a:prstGeom prst="rect">
            <a:avLst/>
          </a:prstGeom>
          <a:solidFill>
            <a:srgbClr val="0F172A"/>
          </a:solidFill>
          <a:ln/>
        </p:spPr>
        <p:txBody>
          <a:bodyPr/>
          <a:lstStyle/>
          <a:p>
            <a:endParaRPr lang="ja-JP" altLang="en-US"/>
          </a:p>
        </p:txBody>
      </p:sp>
      <p:sp>
        <p:nvSpPr>
          <p:cNvPr id="57" name="Text 55"/>
          <p:cNvSpPr/>
          <p:nvPr/>
        </p:nvSpPr>
        <p:spPr>
          <a:xfrm>
            <a:off x="6400800" y="5669280"/>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prefetch</a:t>
            </a:r>
            <a:endParaRPr lang="en-US" sz="1000" dirty="0">
              <a:latin typeface="Meiryo UI"/>
              <a:ea typeface="Meiryo UI"/>
            </a:endParaRPr>
          </a:p>
        </p:txBody>
      </p:sp>
      <p:sp>
        <p:nvSpPr>
          <p:cNvPr id="58" name="Text 56"/>
          <p:cNvSpPr/>
          <p:nvPr/>
        </p:nvSpPr>
        <p:spPr>
          <a:xfrm>
            <a:off x="7498080" y="5687568"/>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DNS+preconnect</a:t>
            </a:r>
            <a:endParaRPr lang="en-US" sz="1100" dirty="0">
              <a:latin typeface="Meiryo UI"/>
              <a:ea typeface="Meiryo UI"/>
            </a:endParaRPr>
          </a:p>
        </p:txBody>
      </p:sp>
      <p:sp>
        <p:nvSpPr>
          <p:cNvPr id="59" name="Shape 57"/>
          <p:cNvSpPr/>
          <p:nvPr/>
        </p:nvSpPr>
        <p:spPr>
          <a:xfrm>
            <a:off x="10378440" y="5724144"/>
            <a:ext cx="1143000" cy="292608"/>
          </a:xfrm>
          <a:prstGeom prst="rect">
            <a:avLst/>
          </a:prstGeom>
          <a:solidFill>
            <a:srgbClr val="10B981"/>
          </a:solidFill>
          <a:ln/>
        </p:spPr>
        <p:txBody>
          <a:bodyPr/>
          <a:lstStyle/>
          <a:p>
            <a:endParaRPr lang="ja-JP" altLang="en-US"/>
          </a:p>
        </p:txBody>
      </p:sp>
      <p:sp>
        <p:nvSpPr>
          <p:cNvPr id="60" name="Text 58"/>
          <p:cNvSpPr/>
          <p:nvPr/>
        </p:nvSpPr>
        <p:spPr>
          <a:xfrm>
            <a:off x="10378440" y="5724144"/>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通信短縮</a:t>
            </a:r>
            <a:endParaRPr lang="en-US" sz="900" dirty="0">
              <a:latin typeface="Meiryo UI"/>
              <a:ea typeface="Meiryo UI"/>
            </a:endParaRPr>
          </a:p>
        </p:txBody>
      </p:sp>
      <p:sp>
        <p:nvSpPr>
          <p:cNvPr id="61" name="Text 59"/>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62" name="Text 60"/>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9 / 10</a:t>
            </a:r>
            <a:endParaRPr lang="en-US" sz="1000" dirty="0">
              <a:latin typeface="Meiryo UI"/>
              <a:ea typeface="Meiryo UI"/>
            </a:endParaRPr>
          </a:p>
        </p:txBody>
      </p:sp>
      <p:pic>
        <p:nvPicPr>
          <p:cNvPr id="63" name="Picture 62"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EBC528"/>
          </a:solidFill>
          <a:ln/>
        </p:spPr>
        <p:txBody>
          <a:bodyPr/>
          <a:lstStyle/>
          <a:p>
            <a:endParaRPr lang="ja-JP" altLang="en-US"/>
          </a:p>
        </p:txBody>
      </p:sp>
      <p:sp>
        <p:nvSpPr>
          <p:cNvPr id="3" name="Text 1"/>
          <p:cNvSpPr/>
          <p:nvPr/>
        </p:nvSpPr>
        <p:spPr>
          <a:xfrm>
            <a:off x="1097280" y="914400"/>
            <a:ext cx="10058400" cy="457200"/>
          </a:xfrm>
          <a:prstGeom prst="rect">
            <a:avLst/>
          </a:prstGeom>
          <a:noFill/>
          <a:ln/>
        </p:spPr>
        <p:txBody>
          <a:bodyPr wrap="square" lIns="0" tIns="0" rIns="0" bIns="0" rtlCol="0" anchor="ctr"/>
          <a:lstStyle/>
          <a:p>
            <a:pPr marL="0" indent="0">
              <a:buNone/>
            </a:pPr>
            <a:r>
              <a:rPr lang="en-US" sz="1600" b="1" kern="0" spc="600" dirty="0">
                <a:solidFill>
                  <a:srgbClr val="EBC528"/>
                </a:solidFill>
                <a:latin typeface="Meiryo UI" pitchFamily="34" charset="0"/>
                <a:ea typeface="Meiryo UI" pitchFamily="34" charset="-122"/>
                <a:cs typeface="Meiryo UI" pitchFamily="34" charset="-120"/>
              </a:rPr>
              <a:t>SUMMARY</a:t>
            </a:r>
            <a:endParaRPr lang="en-US" sz="1600" dirty="0">
              <a:latin typeface="Meiryo UI"/>
              <a:ea typeface="Meiryo UI"/>
            </a:endParaRPr>
          </a:p>
        </p:txBody>
      </p:sp>
      <p:sp>
        <p:nvSpPr>
          <p:cNvPr id="4" name="Text 2"/>
          <p:cNvSpPr/>
          <p:nvPr/>
        </p:nvSpPr>
        <p:spPr>
          <a:xfrm>
            <a:off x="1097280" y="1463040"/>
            <a:ext cx="10058400" cy="914400"/>
          </a:xfrm>
          <a:prstGeom prst="rect">
            <a:avLst/>
          </a:prstGeom>
          <a:noFill/>
          <a:ln/>
        </p:spPr>
        <p:txBody>
          <a:bodyPr wrap="square" lIns="0" tIns="0" rIns="0" bIns="0" rtlCol="0" anchor="ctr"/>
          <a:lstStyle/>
          <a:p>
            <a:pPr marL="0" indent="0">
              <a:buNone/>
            </a:pPr>
            <a:r>
              <a:rPr lang="en-US" sz="4000" b="1" dirty="0">
                <a:solidFill>
                  <a:srgbClr val="FFFFFF"/>
                </a:solidFill>
                <a:latin typeface="Meiryo UI" pitchFamily="34" charset="0"/>
                <a:ea typeface="Meiryo UI" pitchFamily="34" charset="-122"/>
                <a:cs typeface="Meiryo UI" pitchFamily="34" charset="-120"/>
              </a:rPr>
              <a:t>5 つの軸で作りました。</a:t>
            </a:r>
            <a:endParaRPr lang="en-US" sz="4000" dirty="0">
              <a:latin typeface="Meiryo UI"/>
              <a:ea typeface="Meiryo UI"/>
            </a:endParaRPr>
          </a:p>
        </p:txBody>
      </p:sp>
      <p:sp>
        <p:nvSpPr>
          <p:cNvPr id="5" name="Shape 3"/>
          <p:cNvSpPr/>
          <p:nvPr/>
        </p:nvSpPr>
        <p:spPr>
          <a:xfrm>
            <a:off x="1097280" y="2697480"/>
            <a:ext cx="2377440" cy="457200"/>
          </a:xfrm>
          <a:prstGeom prst="rect">
            <a:avLst/>
          </a:prstGeom>
          <a:solidFill>
            <a:srgbClr val="EBC528"/>
          </a:solidFill>
          <a:ln/>
        </p:spPr>
        <p:txBody>
          <a:bodyPr/>
          <a:lstStyle/>
          <a:p>
            <a:endParaRPr lang="ja-JP" altLang="en-US"/>
          </a:p>
        </p:txBody>
      </p:sp>
      <p:sp>
        <p:nvSpPr>
          <p:cNvPr id="6" name="Text 4"/>
          <p:cNvSpPr/>
          <p:nvPr/>
        </p:nvSpPr>
        <p:spPr>
          <a:xfrm>
            <a:off x="1097280" y="2697480"/>
            <a:ext cx="2377440" cy="457200"/>
          </a:xfrm>
          <a:prstGeom prst="rect">
            <a:avLst/>
          </a:prstGeom>
          <a:noFill/>
          <a:ln/>
        </p:spPr>
        <p:txBody>
          <a:bodyPr wrap="square" lIns="0" tIns="0" rIns="0" bIns="0" rtlCol="0" anchor="ctr"/>
          <a:lstStyle/>
          <a:p>
            <a:pPr marL="0" indent="0" algn="ctr">
              <a:buNone/>
            </a:pPr>
            <a:r>
              <a:rPr lang="en-US" sz="1300" b="1" dirty="0">
                <a:solidFill>
                  <a:srgbClr val="0F172A"/>
                </a:solidFill>
                <a:latin typeface="Meiryo UI" pitchFamily="34" charset="0"/>
                <a:ea typeface="Meiryo UI" pitchFamily="34" charset="-122"/>
                <a:cs typeface="Meiryo UI" pitchFamily="34" charset="-120"/>
              </a:rPr>
              <a:t>セキュリティ</a:t>
            </a:r>
            <a:endParaRPr lang="en-US" sz="1300" dirty="0">
              <a:latin typeface="Meiryo UI"/>
              <a:ea typeface="Meiryo UI"/>
            </a:endParaRPr>
          </a:p>
        </p:txBody>
      </p:sp>
      <p:sp>
        <p:nvSpPr>
          <p:cNvPr id="7" name="Text 5"/>
          <p:cNvSpPr/>
          <p:nvPr/>
        </p:nvSpPr>
        <p:spPr>
          <a:xfrm>
            <a:off x="3611880" y="269748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88項目 監査 / CSP / PDF 3層検証 / CSRF / SSRF</a:t>
            </a:r>
            <a:endParaRPr lang="en-US" sz="1400" dirty="0">
              <a:latin typeface="Meiryo UI"/>
              <a:ea typeface="Meiryo UI"/>
            </a:endParaRPr>
          </a:p>
        </p:txBody>
      </p:sp>
      <p:sp>
        <p:nvSpPr>
          <p:cNvPr id="8" name="Shape 6"/>
          <p:cNvSpPr/>
          <p:nvPr/>
        </p:nvSpPr>
        <p:spPr>
          <a:xfrm>
            <a:off x="1097280" y="3246120"/>
            <a:ext cx="2377440" cy="457200"/>
          </a:xfrm>
          <a:prstGeom prst="rect">
            <a:avLst/>
          </a:prstGeom>
          <a:solidFill>
            <a:srgbClr val="EBC528"/>
          </a:solidFill>
          <a:ln/>
        </p:spPr>
        <p:txBody>
          <a:bodyPr/>
          <a:lstStyle/>
          <a:p>
            <a:endParaRPr lang="ja-JP" altLang="en-US"/>
          </a:p>
        </p:txBody>
      </p:sp>
      <p:sp>
        <p:nvSpPr>
          <p:cNvPr id="9" name="Text 7"/>
          <p:cNvSpPr/>
          <p:nvPr/>
        </p:nvSpPr>
        <p:spPr>
          <a:xfrm>
            <a:off x="1097280" y="3246120"/>
            <a:ext cx="2377440" cy="457200"/>
          </a:xfrm>
          <a:prstGeom prst="rect">
            <a:avLst/>
          </a:prstGeom>
          <a:noFill/>
          <a:ln/>
        </p:spPr>
        <p:txBody>
          <a:bodyPr wrap="square" lIns="0" tIns="0" rIns="0" bIns="0" rtlCol="0" anchor="ctr"/>
          <a:lstStyle/>
          <a:p>
            <a:pPr marL="0" indent="0" algn="ctr">
              <a:buNone/>
            </a:pPr>
            <a:r>
              <a:rPr lang="en-US" sz="1300" b="1" dirty="0" err="1">
                <a:solidFill>
                  <a:srgbClr val="0F172A"/>
                </a:solidFill>
                <a:latin typeface="Meiryo UI" pitchFamily="34" charset="0"/>
                <a:ea typeface="Meiryo UI" pitchFamily="34" charset="-122"/>
                <a:cs typeface="Meiryo UI" pitchFamily="34" charset="-120"/>
              </a:rPr>
              <a:t>モバイル</a:t>
            </a:r>
            <a:r>
              <a:rPr lang="en-US" sz="1300" b="1" dirty="0">
                <a:solidFill>
                  <a:srgbClr val="0F172A"/>
                </a:solidFill>
                <a:latin typeface="Meiryo UI" pitchFamily="34" charset="0"/>
                <a:ea typeface="Meiryo UI" pitchFamily="34" charset="-122"/>
                <a:cs typeface="Meiryo UI" pitchFamily="34" charset="-120"/>
              </a:rPr>
              <a:t> UX</a:t>
            </a:r>
            <a:endParaRPr lang="en-US" sz="1300" dirty="0">
              <a:latin typeface="Meiryo UI"/>
              <a:ea typeface="Meiryo UI"/>
            </a:endParaRPr>
          </a:p>
        </p:txBody>
      </p:sp>
      <p:sp>
        <p:nvSpPr>
          <p:cNvPr id="10" name="Text 8"/>
          <p:cNvSpPr/>
          <p:nvPr/>
        </p:nvSpPr>
        <p:spPr>
          <a:xfrm>
            <a:off x="3611880" y="324612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ドロワー・背景固定・タップ拡大</a:t>
            </a:r>
            <a:endParaRPr lang="en-US" sz="1400" dirty="0">
              <a:latin typeface="Meiryo UI"/>
              <a:ea typeface="Meiryo UI"/>
            </a:endParaRPr>
          </a:p>
        </p:txBody>
      </p:sp>
      <p:sp>
        <p:nvSpPr>
          <p:cNvPr id="11" name="Shape 9"/>
          <p:cNvSpPr/>
          <p:nvPr/>
        </p:nvSpPr>
        <p:spPr>
          <a:xfrm>
            <a:off x="1097280" y="3794760"/>
            <a:ext cx="2377440" cy="457200"/>
          </a:xfrm>
          <a:prstGeom prst="rect">
            <a:avLst/>
          </a:prstGeom>
          <a:solidFill>
            <a:srgbClr val="EBC528"/>
          </a:solidFill>
          <a:ln/>
        </p:spPr>
        <p:txBody>
          <a:bodyPr/>
          <a:lstStyle/>
          <a:p>
            <a:endParaRPr lang="ja-JP" altLang="en-US"/>
          </a:p>
        </p:txBody>
      </p:sp>
      <p:sp>
        <p:nvSpPr>
          <p:cNvPr id="12" name="Text 10"/>
          <p:cNvSpPr/>
          <p:nvPr/>
        </p:nvSpPr>
        <p:spPr>
          <a:xfrm>
            <a:off x="1097280" y="3794760"/>
            <a:ext cx="2377440" cy="457200"/>
          </a:xfrm>
          <a:prstGeom prst="rect">
            <a:avLst/>
          </a:prstGeom>
          <a:noFill/>
          <a:ln/>
        </p:spPr>
        <p:txBody>
          <a:bodyPr wrap="square" lIns="0" tIns="0" rIns="0" bIns="0" rtlCol="0" anchor="ctr"/>
          <a:lstStyle/>
          <a:p>
            <a:pPr marL="0" indent="0" algn="ctr">
              <a:buNone/>
            </a:pPr>
            <a:r>
              <a:rPr lang="en-US" sz="1300" b="1" dirty="0">
                <a:solidFill>
                  <a:srgbClr val="0F172A"/>
                </a:solidFill>
                <a:latin typeface="Meiryo UI" pitchFamily="34" charset="0"/>
                <a:ea typeface="Meiryo UI" pitchFamily="34" charset="-122"/>
                <a:cs typeface="Meiryo UI" pitchFamily="34" charset="-120"/>
              </a:rPr>
              <a:t>ビジュアル</a:t>
            </a:r>
            <a:endParaRPr lang="en-US" sz="1300" dirty="0">
              <a:latin typeface="Meiryo UI"/>
              <a:ea typeface="Meiryo UI"/>
            </a:endParaRPr>
          </a:p>
        </p:txBody>
      </p:sp>
      <p:sp>
        <p:nvSpPr>
          <p:cNvPr id="13" name="Text 11"/>
          <p:cNvSpPr/>
          <p:nvPr/>
        </p:nvSpPr>
        <p:spPr>
          <a:xfrm>
            <a:off x="3611880" y="379476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歯車動画 1 回再生・6 枚マーキー・縦棒見出し</a:t>
            </a:r>
            <a:endParaRPr lang="en-US" sz="1400" dirty="0">
              <a:latin typeface="Meiryo UI"/>
              <a:ea typeface="Meiryo UI"/>
            </a:endParaRPr>
          </a:p>
        </p:txBody>
      </p:sp>
      <p:sp>
        <p:nvSpPr>
          <p:cNvPr id="14" name="Shape 12"/>
          <p:cNvSpPr/>
          <p:nvPr/>
        </p:nvSpPr>
        <p:spPr>
          <a:xfrm>
            <a:off x="1097280" y="4343400"/>
            <a:ext cx="2377440" cy="457200"/>
          </a:xfrm>
          <a:prstGeom prst="rect">
            <a:avLst/>
          </a:prstGeom>
          <a:solidFill>
            <a:srgbClr val="EBC528"/>
          </a:solidFill>
          <a:ln/>
        </p:spPr>
        <p:txBody>
          <a:bodyPr/>
          <a:lstStyle/>
          <a:p>
            <a:endParaRPr lang="ja-JP" altLang="en-US"/>
          </a:p>
        </p:txBody>
      </p:sp>
      <p:sp>
        <p:nvSpPr>
          <p:cNvPr id="15" name="Text 13"/>
          <p:cNvSpPr/>
          <p:nvPr/>
        </p:nvSpPr>
        <p:spPr>
          <a:xfrm>
            <a:off x="1097280" y="4343400"/>
            <a:ext cx="2377440" cy="457200"/>
          </a:xfrm>
          <a:prstGeom prst="rect">
            <a:avLst/>
          </a:prstGeom>
          <a:noFill/>
          <a:ln/>
        </p:spPr>
        <p:txBody>
          <a:bodyPr wrap="square" lIns="0" tIns="0" rIns="0" bIns="0" rtlCol="0" anchor="ctr"/>
          <a:lstStyle/>
          <a:p>
            <a:pPr marL="0" indent="0" algn="ctr">
              <a:buNone/>
            </a:pPr>
            <a:r>
              <a:rPr lang="en-US" sz="1300" b="1" dirty="0">
                <a:solidFill>
                  <a:srgbClr val="0F172A"/>
                </a:solidFill>
                <a:latin typeface="Meiryo UI" pitchFamily="34" charset="0"/>
                <a:ea typeface="Meiryo UI" pitchFamily="34" charset="-122"/>
                <a:cs typeface="Meiryo UI" pitchFamily="34" charset="-120"/>
              </a:rPr>
              <a:t>国際化</a:t>
            </a:r>
            <a:endParaRPr lang="en-US" sz="1300" dirty="0">
              <a:latin typeface="Meiryo UI"/>
              <a:ea typeface="Meiryo UI"/>
            </a:endParaRPr>
          </a:p>
        </p:txBody>
      </p:sp>
      <p:sp>
        <p:nvSpPr>
          <p:cNvPr id="16" name="Text 14"/>
          <p:cNvSpPr/>
          <p:nvPr/>
        </p:nvSpPr>
        <p:spPr>
          <a:xfrm>
            <a:off x="3611880" y="434340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JP/EN ボタン 1 つで全切替</a:t>
            </a:r>
            <a:endParaRPr lang="en-US" sz="1400" dirty="0">
              <a:latin typeface="Meiryo UI"/>
              <a:ea typeface="Meiryo UI"/>
            </a:endParaRPr>
          </a:p>
        </p:txBody>
      </p:sp>
      <p:sp>
        <p:nvSpPr>
          <p:cNvPr id="17" name="Shape 15"/>
          <p:cNvSpPr/>
          <p:nvPr/>
        </p:nvSpPr>
        <p:spPr>
          <a:xfrm>
            <a:off x="1097280" y="4892040"/>
            <a:ext cx="2377440" cy="457200"/>
          </a:xfrm>
          <a:prstGeom prst="rect">
            <a:avLst/>
          </a:prstGeom>
          <a:solidFill>
            <a:srgbClr val="EBC528"/>
          </a:solidFill>
          <a:ln/>
        </p:spPr>
        <p:txBody>
          <a:bodyPr/>
          <a:lstStyle/>
          <a:p>
            <a:endParaRPr lang="ja-JP" altLang="en-US"/>
          </a:p>
        </p:txBody>
      </p:sp>
      <p:sp>
        <p:nvSpPr>
          <p:cNvPr id="18" name="Text 16"/>
          <p:cNvSpPr/>
          <p:nvPr/>
        </p:nvSpPr>
        <p:spPr>
          <a:xfrm>
            <a:off x="1097280" y="4892040"/>
            <a:ext cx="2377440" cy="457200"/>
          </a:xfrm>
          <a:prstGeom prst="rect">
            <a:avLst/>
          </a:prstGeom>
          <a:noFill/>
          <a:ln/>
        </p:spPr>
        <p:txBody>
          <a:bodyPr wrap="square" lIns="0" tIns="0" rIns="0" bIns="0" rtlCol="0" anchor="ctr"/>
          <a:lstStyle/>
          <a:p>
            <a:pPr marL="0" indent="0" algn="ctr">
              <a:buNone/>
            </a:pPr>
            <a:r>
              <a:rPr lang="en-US" sz="1300" b="1" dirty="0">
                <a:solidFill>
                  <a:srgbClr val="0F172A"/>
                </a:solidFill>
                <a:latin typeface="Meiryo UI" pitchFamily="34" charset="0"/>
                <a:ea typeface="Meiryo UI" pitchFamily="34" charset="-122"/>
                <a:cs typeface="Meiryo UI" pitchFamily="34" charset="-120"/>
              </a:rPr>
              <a:t>性能・表示保証</a:t>
            </a:r>
            <a:endParaRPr lang="en-US" sz="1300" dirty="0">
              <a:latin typeface="Meiryo UI"/>
              <a:ea typeface="Meiryo UI"/>
            </a:endParaRPr>
          </a:p>
        </p:txBody>
      </p:sp>
      <p:sp>
        <p:nvSpPr>
          <p:cNvPr id="19" name="Text 17"/>
          <p:cNvSpPr/>
          <p:nvPr/>
        </p:nvSpPr>
        <p:spPr>
          <a:xfrm>
            <a:off x="3611880" y="489204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画像 50MB→4MB / Observer 集約 / 消えない設計</a:t>
            </a:r>
            <a:endParaRPr lang="en-US" sz="1400" dirty="0">
              <a:latin typeface="Meiryo UI"/>
              <a:ea typeface="Meiryo UI"/>
            </a:endParaRPr>
          </a:p>
        </p:txBody>
      </p:sp>
      <p:sp>
        <p:nvSpPr>
          <p:cNvPr id="20" name="Text 18"/>
          <p:cNvSpPr/>
          <p:nvPr/>
        </p:nvSpPr>
        <p:spPr>
          <a:xfrm>
            <a:off x="1097280" y="5852160"/>
            <a:ext cx="10058400" cy="457200"/>
          </a:xfrm>
          <a:prstGeom prst="rect">
            <a:avLst/>
          </a:prstGeom>
          <a:noFill/>
          <a:ln/>
        </p:spPr>
        <p:txBody>
          <a:bodyPr wrap="square" lIns="0" tIns="0" rIns="0" bIns="0" rtlCol="0" anchor="ctr"/>
          <a:lstStyle/>
          <a:p>
            <a:pPr marL="0" indent="0">
              <a:buNone/>
            </a:pPr>
            <a:r>
              <a:rPr lang="en-US" sz="1800" dirty="0">
                <a:solidFill>
                  <a:srgbClr val="CBD5E1"/>
                </a:solidFill>
                <a:latin typeface="Meiryo UI" pitchFamily="34" charset="0"/>
                <a:ea typeface="Meiryo UI" pitchFamily="34" charset="-122"/>
                <a:cs typeface="Meiryo UI" pitchFamily="34" charset="-120"/>
              </a:rPr>
              <a:t>ご清聴ありがとうございました。</a:t>
            </a:r>
            <a:endParaRPr lang="en-US" sz="1800" dirty="0">
              <a:latin typeface="Meiryo UI"/>
              <a:ea typeface="Meiryo UI"/>
            </a:endParaRPr>
          </a:p>
        </p:txBody>
      </p:sp>
      <p:sp>
        <p:nvSpPr>
          <p:cNvPr id="21" name="Text 19"/>
          <p:cNvSpPr/>
          <p:nvPr/>
        </p:nvSpPr>
        <p:spPr>
          <a:xfrm>
            <a:off x="1097280" y="6355080"/>
            <a:ext cx="10058400" cy="320040"/>
          </a:xfrm>
          <a:prstGeom prst="rect">
            <a:avLst/>
          </a:prstGeom>
          <a:noFill/>
          <a:ln/>
        </p:spPr>
        <p:txBody>
          <a:bodyPr wrap="square" lIns="0" tIns="0" rIns="0" bIns="0" rtlCol="0" anchor="ctr"/>
          <a:lstStyle/>
          <a:p>
            <a:pPr marL="0" indent="0">
              <a:buNone/>
            </a:pPr>
            <a:r>
              <a:rPr lang="en-US" sz="1100" dirty="0">
                <a:solidFill>
                  <a:srgbClr val="94A3B8"/>
                </a:solidFill>
                <a:latin typeface="Meiryo UI" pitchFamily="34" charset="0"/>
                <a:ea typeface="Meiryo UI" pitchFamily="34" charset="-122"/>
                <a:cs typeface="Meiryo UI" pitchFamily="34" charset="-120"/>
              </a:rPr>
              <a:t>株式会社ライトパス｜サイト構築ピッチ v6</a:t>
            </a:r>
            <a:endParaRPr lang="en-US" sz="1100" dirty="0">
              <a:latin typeface="Meiryo UI"/>
              <a:ea typeface="Meiryo U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1738</TotalTime>
  <Words>1632</Words>
  <Application>Microsoft Office PowerPoint</Application>
  <PresentationFormat>ワイド画面</PresentationFormat>
  <Paragraphs>312</Paragraphs>
  <Slides>10</Slides>
  <Notes>10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10</vt:i4>
      </vt:variant>
    </vt:vector>
  </HeadingPairs>
  <TitlesOfParts>
    <vt:vector size="13" baseType="lpstr">
      <vt:lpstr>Meiryo UI</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サイト構築ピッチ v6</dc:title>
  <dc:subject>PptxGenJS Presentation</dc:subject>
  <dc:creator>株式会社ライトパス</dc:creator>
  <cp:lastModifiedBy>公一 奥村</cp:lastModifiedBy>
  <cp:revision>9</cp:revision>
  <dcterms:created xsi:type="dcterms:W3CDTF">2026-07-02T06:01:33Z</dcterms:created>
  <dcterms:modified xsi:type="dcterms:W3CDTF">2026-07-03T11:25:16Z</dcterms:modified>
</cp:coreProperties>
</file>