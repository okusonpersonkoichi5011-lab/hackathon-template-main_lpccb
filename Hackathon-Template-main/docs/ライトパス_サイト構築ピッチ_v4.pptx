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それでは、コーポレートサイト構築プロジェクトについて発表いたします。</a:t>
            </a:r>
            <a:endParaRPr lang="en-US" dirty="0">
              <a:latin typeface="Meiryo UI"/>
              <a:ea typeface="Meiryo UI"/>
              <a:cs typeface="Meiryo UI"/>
              <a:sym typeface="Meiryo UI"/>
            </a:endParaRPr>
          </a:p>
          <a:p/>
          <a:p>
            <a:r>
              <a:t>このプレゼンでは、株式会社ライトパス様のウェブサイトを、最近よく使われている「Next.js（ネクスト・ジェイエス）」というツールを使ってゼロから作った内容をご紹介します。</a:t>
            </a:r>
          </a:p>
          <a:p/>
          <a:p>
            <a:r>
              <a:t>ウェブデザインに馴染みがない方にも分かるよう、各スライドの最初に「要は！」という形で一言で要点をお伝えしますので、安心してついてきてください。10 分間お付き合いください。</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1</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まずプロジェクトの全体像です。</a:t>
            </a:r>
            <a:endParaRPr lang="en-US" dirty="0">
              <a:latin typeface="Meiryo UI"/>
              <a:ea typeface="Meiryo UI"/>
              <a:cs typeface="Meiryo UI"/>
              <a:sym typeface="Meiryo UI"/>
            </a:endParaRPr>
          </a:p>
          <a:p/>
          <a:p>
            <a:r>
              <a:t>「要は」のところを読んでください。「最新のレシピで、ちゃんと動く本格的な会社サイトを丸ごと作った」というのが今回やったことです。</a:t>
            </a:r>
          </a:p>
          <a:p/>
          <a:p>
            <a:r>
              <a:t>ページとしては、ホーム、会社案内、採用情報、お問い合わせ、プライバシーポリシーの 5 つを作りました。</a:t>
            </a:r>
          </a:p>
          <a:p/>
          <a:p>
            <a:r>
              <a:t>注目してほしいのが右の赤いカード「重点アピール」です。今日特に詳しく説明する 4 つのテーマで、セキュリティ・スマホ対応・アニメーション・日英切替です。次のスライドからこれらを順にご紹介していきます。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2</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まずデザイン面の工夫です。</a:t>
            </a:r>
            <a:endParaRPr lang="en-US" dirty="0">
              <a:latin typeface="Meiryo UI"/>
              <a:ea typeface="Meiryo UI"/>
              <a:cs typeface="Meiryo UI"/>
              <a:sym typeface="Meiryo UI"/>
            </a:endParaRPr>
          </a:p>
          <a:p/>
          <a:p>
            <a:r>
              <a:t>要はのところ。「色の設定はファイル 1 か所にまとめてある」という話をします。たとえばクライアントから「やっぱり黄色じゃなくて青にしたい」と言われたら、コードのあちこちを直すのは大変ですよね。</a:t>
            </a:r>
          </a:p>
          <a:p/>
          <a:p>
            <a:r>
              <a:t>このサイトでは、画面下のように「globals.css」というファイルに色の設定をまとめています。`--color-primary: #ebc528` という 1 行を変えるだけで、ボタンの色も下線の色も枠線の色も、全部の場所が一斉に変わる構造です。</a:t>
            </a:r>
          </a:p>
          <a:p/>
          <a:p>
            <a:r>
              <a:t>右側には「レイアウトの軸」として、見本ベースの統一感、Tailwind というツールの活用、英字＋日本語＋説明の 3 段構成、という工夫を載せています。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3</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ここから本日の目玉の 1 つ、スマートフォン対応です。</a:t>
            </a:r>
            <a:endParaRPr lang="en-US" dirty="0">
              <a:latin typeface="Meiryo UI"/>
              <a:ea typeface="Meiryo UI"/>
              <a:cs typeface="Meiryo UI"/>
              <a:sym typeface="Meiryo UI"/>
            </a:endParaRPr>
          </a:p>
          <a:p/>
          <a:p>
            <a:r>
              <a:t>要はを見てください。「スマホでも PC でも見やすく崩れない」「指で気持ちよく操作できる」これが目指したところです。</a:t>
            </a:r>
          </a:p>
          <a:p/>
          <a:p>
            <a:r>
              <a:t>4 つのカードがあります。</a:t>
            </a:r>
          </a:p>
          <a:p/>
          <a:p>
            <a:r>
              <a:t>左上、モバイルファースト設計。これは「スマホで見るのを基本に作って、PC では大きく広げる」という考え方です。逆だと「PC では綺麗だがスマホで崩れる」事故が起きやすいので、構造的に防いでいます。</a:t>
            </a:r>
          </a:p>
          <a:p/>
          <a:p>
            <a:r>
              <a:t>右上、スライドメニュー。スマホでよくあるハンバーガーボタンを押すと、右からニュッとメニューが出ます。閉じる方法を 3 つ用意していて、ESC キー、外側クリック、ページ移動したら自動で閉じる、と親切設計です。</a:t>
            </a:r>
          </a:p>
          <a:p/>
          <a:p>
            <a:r>
              <a:t>左下、メニュー開いてる間は背景固定。背景のページが一緒にスクロールしないので、ストレスなく使えます。</a:t>
            </a:r>
          </a:p>
          <a:p/>
          <a:p>
            <a:r>
              <a:t>右下、画像のタップ拡大。アクセスマップなどの写真を指でタップすると大きく見られる仕組みです。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4</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次はアニメーション、動きです。</a:t>
            </a:r>
            <a:endParaRPr lang="en-US" dirty="0">
              <a:latin typeface="Meiryo UI"/>
              <a:ea typeface="Meiryo UI"/>
              <a:cs typeface="Meiryo UI"/>
              <a:sym typeface="Meiryo UI"/>
            </a:endParaRPr>
          </a:p>
          <a:p/>
          <a:p>
            <a:r>
              <a:t>要はの部分。「スクロールすると要素がふわっと現れる気持ちのいいサイト」「ただし重くない・動きが苦手な人にも配慮」がポイントです。</a:t>
            </a:r>
          </a:p>
          <a:p/>
          <a:p>
            <a:r>
              <a:t>左側、Reveal という仕組みを自作しました。スクロールして要素が画面に入った瞬間、CSS アニメーションが発動してふわっと現れます。</a:t>
            </a:r>
          </a:p>
          <a:p/>
          <a:p>
            <a:r>
              <a:t>下の黒い帯がコストの工夫。普通に作ると「動く要素 20 個分の監視役」が必要ですが、共有方式にして「監視役は 1 個だけ」になるよう最適化しました。</a:t>
            </a:r>
          </a:p>
          <a:p/>
          <a:p>
            <a:r>
              <a:t>右側、動きの種類を場所によって使い分けています。ヒーローは右からスライド、特徴カードは順番にフェード、写真バンドは流れるマーキー。</a:t>
            </a:r>
          </a:p>
          <a:p/>
          <a:p>
            <a:r>
              <a:t>そして一番下、OS で「動きを減らす」設定をオンにしている人にはアニメーションを止める、というアクセシビリティ配慮も入れています。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5</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ここからセキュリティです。</a:t>
            </a:r>
            <a:endParaRPr lang="en-US" dirty="0">
              <a:latin typeface="Meiryo UI"/>
              <a:ea typeface="Meiryo UI"/>
              <a:cs typeface="Meiryo UI"/>
              <a:sym typeface="Meiryo UI"/>
            </a:endParaRPr>
          </a:p>
          <a:p/>
          <a:p>
            <a:r>
              <a:t>要はを見てください。「悪い人がいたずらしにくいよう 3 段階の防御壁を作っている」これが大方針です。</a:t>
            </a:r>
          </a:p>
          <a:p/>
          <a:p>
            <a:r>
              <a:t>赤の 1 段目「入り口で防ぐ」。HTTP のレスポンスヘッダで、クリックジャッキング対策、HTTPS 強制、カメラ・マイクの拒否などを設定。今回、Content-Security-Policy という強力な防御も新たに追加しました。</a:t>
            </a:r>
          </a:p>
          <a:p/>
          <a:p>
            <a:r>
              <a:t>オレンジの 2 段目「中身を確認する」。ファイルアップロード時に内容まで検証。今回 Origin/Referer 検証で CSRF 攻撃を防ぐ仕組みも追加しました。</a:t>
            </a:r>
          </a:p>
          <a:p/>
          <a:p>
            <a:r>
              <a:t>緑の 3 段目「露出を減らす」。X-Powered-By のような「これは Next.js です」と教えてしまうヘッダを削除したり、本番ビルドで内部構造が見えないようにしたり、攻撃者にヒントを与えない方針です。</a:t>
            </a:r>
          </a:p>
          <a:p/>
          <a:p>
            <a:r>
              <a:t>次のスライドで、特に推したい PDF 検証の話をします。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6</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このスライドが今日一番アピールしたい部分です。</a:t>
            </a:r>
            <a:endParaRPr lang="en-US" dirty="0">
              <a:latin typeface="Meiryo UI"/>
              <a:ea typeface="Meiryo UI"/>
              <a:cs typeface="Meiryo UI"/>
              <a:sym typeface="Meiryo UI"/>
            </a:endParaRPr>
          </a:p>
          <a:p/>
          <a:p>
            <a:r>
              <a:t>要は。「これは PDF ですよ」と嘘ついても見破れる 3 段階チェック、というのがポイントです。</a:t>
            </a:r>
          </a:p>
          <a:p/>
          <a:p>
            <a:r>
              <a:t>PDF アップロードで考えてみてください。攻撃者が exe ファイルの拡張子だけ pdf に書き換えて送り付けてきたら危険ですよね。なので 3 段階でチェックします。</a:t>
            </a:r>
          </a:p>
          <a:p/>
          <a:p>
            <a:r>
              <a:t>01 拡張子、02 MIME タイプ、03 マジックバイト。最後のマジックバイトは「PDF の仕様で、ファイルの先頭 5 バイトが必ず %PDF- になっている」という決まりを利用したチェックで、これは偽装が事実上不可能です。</a:t>
            </a:r>
          </a:p>
          <a:p/>
          <a:p>
            <a:r>
              <a:t>そして真ん中の API 強化ブロック。今回、5 つの追加防御を入れました。Origin/Referer 検証で CSRF を防ぐ、POST 以外のメソッドは 405 で拒否、CORS ヘッダは返さない、キャッシュさせない、検索エンジンに拾わせない、です。</a:t>
            </a:r>
          </a:p>
          <a:p/>
          <a:p>
            <a:r>
              <a:t>一番下が締めの言葉。クライアント側の JavaScript 検証は開発者ツールで簡単に迂回できるので、必ずサーバ側で同じ検証をする、これがセキュリティの鉄則です。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7</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そして今回、提示された脆弱性チェックリスト 88 項目を全て照合しました。</a:t>
            </a:r>
            <a:endParaRPr lang="en-US" dirty="0">
              <a:latin typeface="Meiryo UI"/>
              <a:ea typeface="Meiryo UI"/>
              <a:cs typeface="Meiryo UI"/>
              <a:sym typeface="Meiryo UI"/>
            </a:endParaRPr>
          </a:p>
          <a:p/>
          <a:p>
            <a:r>
              <a:t>要は。「業界標準の 88 項目を全部確認、本サイトに関係ある項目は全て対応済み」これがメッセージです。</a:t>
            </a:r>
          </a:p>
          <a:p/>
          <a:p>
            <a:r>
              <a:t>左の大きな 88。OWASP という、世界的なウェブセキュリティの基準団体が定義する Critical から Info まで全レベルの項目を網羅しています。</a:t>
            </a:r>
          </a:p>
          <a:p/>
          <a:p>
            <a:r>
              <a:t>右の 3 つに分類しています。</a:t>
            </a:r>
          </a:p>
          <a:p/>
          <a:p>
            <a:r>
              <a:t>緑の対応済が約 26 項目。CSP・PDF 3 層検証・CSRF 対策など、今回入れた対策が含まれます。</a:t>
            </a:r>
          </a:p>
          <a:p/>
          <a:p>
            <a:r>
              <a:t>グレーの非該当が約 56 項目。これが多いですが、本サイトはデータベースなし、ログイン機能なし、管理画面なし、というシンプル構成なので、それらに関する項目は「機能自体が無いから攻撃が成立しない」状態です。例えば SQL インジェクションは、データベース問い合わせ自体が無いので原理的に成立しません。</a:t>
            </a:r>
          </a:p>
          <a:p/>
          <a:p>
            <a:r>
              <a:t>オレンジの運用補完が約 6 項目。WAF や AV スキャンなど、アプリ層ではなくインフラ・運用層で実施すべきものです。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8</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ここから技術的な話を 3 つご紹介します。</a:t>
            </a:r>
            <a:endParaRPr lang="en-US" dirty="0">
              <a:latin typeface="Meiryo UI"/>
              <a:ea typeface="Meiryo UI"/>
              <a:cs typeface="Meiryo UI"/>
              <a:sym typeface="Meiryo UI"/>
            </a:endParaRPr>
          </a:p>
          <a:p/>
          <a:p>
            <a:r>
              <a:t>要は。「色のレシピを 1 つのファイルに集約しているのが工夫」です。先ほどスライド 3 で触れた仕組みを、もう少しコードで見てみます。</a:t>
            </a:r>
          </a:p>
          <a:p/>
          <a:p>
            <a:r>
              <a:t>左の黒画面、globals.css で色を変数として定義。tailwind.config.ts でその変数を Tailwind のクラスから参照できるようにしています。</a:t>
            </a:r>
          </a:p>
          <a:p/>
          <a:p>
            <a:r>
              <a:t>これで右側に書いた 3 つの効果が得られます。1 か所変えれば全部変わる、Tailwind のクラス名と CSS 変数の橋渡し、ダークモード化もファイル 1 つの編集で済む、というメリットです。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9</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次に日英切替の仕組みです。</a:t>
            </a:r>
            <a:endParaRPr lang="en-US" dirty="0">
              <a:latin typeface="Meiryo UI"/>
              <a:ea typeface="Meiryo UI"/>
              <a:cs typeface="Meiryo UI"/>
              <a:sym typeface="Meiryo UI"/>
            </a:endParaRPr>
          </a:p>
          <a:p/>
          <a:p>
            <a:r>
              <a:t>要は。「右上の JP / EN ボタンで、サイト全体の文字が瞬時に切り替わる」です。</a:t>
            </a:r>
          </a:p>
          <a:p/>
          <a:p>
            <a:r>
              <a:t>上の図の通り、ボタンを押すと React の Context という仕組みが状態を更新し、useLanguage というフックを使っている全てのコンポーネントが反応して、ラベル・本文・画像の説明文まで一斉に切り替わります。</a:t>
            </a:r>
          </a:p>
          <a:p/>
          <a:p>
            <a:r>
              <a:t>下の 4 つが特徴。型を作ってデータと UI を同じ仕組みで管理、英語表示時はふりがな欄を自動で隠す、ブラウザの言語設定を自動判定、選んだ言語は次回も覚えている、という工夫を入れています。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10</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最後にパフォーマンス、つまり速さの最適化です。</a:t>
            </a:r>
            <a:endParaRPr lang="en-US" dirty="0">
              <a:latin typeface="Meiryo UI"/>
              <a:ea typeface="Meiryo UI"/>
              <a:cs typeface="Meiryo UI"/>
              <a:sym typeface="Meiryo UI"/>
            </a:endParaRPr>
          </a:p>
          <a:p/>
          <a:p>
            <a:r>
              <a:t>要は。「サクサク動くサイトにするため 6 つの工夫を組み合わせている」「待ち時間と省電力の両面で改善」です。</a:t>
            </a:r>
          </a:p>
          <a:p/>
          <a:p>
            <a:r>
              <a:t>6 つの工夫を簡単に。画像は自動で軽い形式に変換、アニメーションの監視役を 20 個から 1 個にまとめる、フォームの計算を必要な時だけ再生成、配列を再生成しない、外部 API への接続を早期化、文言バンドルを記憶。</a:t>
            </a:r>
          </a:p>
          <a:p/>
          <a:p>
            <a:r>
              <a:t>これらを組み合わせて、Google が重視している指標「LCP」、つまり最初の見た目が出るまでの時間と、CPU 使用量の両方を改善しています。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11</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まとめです。</a:t>
            </a:r>
            <a:endParaRPr lang="en-US" dirty="0">
              <a:latin typeface="Meiryo UI"/>
              <a:ea typeface="Meiryo UI"/>
              <a:cs typeface="Meiryo UI"/>
              <a:sym typeface="Meiryo UI"/>
            </a:endParaRPr>
          </a:p>
          <a:p/>
          <a:p>
            <a:r>
              <a:t>このサイトは 5 つの軸で作りました。</a:t>
            </a:r>
          </a:p>
          <a:p>
            <a:r>
              <a:t>セキュリティでは 88 項目の監査に対応し、CSP・PDF 3 層検証・CSRF・SSRF まで多層防御。モバイル UX・アニメーション・国際化・性能も合わせて高水準で実装しています。</a:t>
            </a:r>
          </a:p>
          <a:p/>
          <a:p>
            <a:r>
              <a:t>今回の発表では、特にセキュリティ・モバイル・アニメーションの 3 つを深掘りしてご紹介しました。安全で、どの端末でも見やすく、気持ちよく操作できるコーポレートサイトに仕上がっています。</a:t>
            </a:r>
          </a:p>
          <a:p/>
          <a:p>
            <a:r>
              <a:t>ご清聴ありがとうございました。ご質問をお受けします。</a:t>
            </a:r>
          </a:p>
        </p:txBody>
      </p:sp>
      <p:sp>
        <p:nvSpPr>
          <p:cNvPr id="4" name="Slide Number Placeholder 3"/>
          <p:cNvSpPr>
            <a:spLocks noGrp="1"/>
          </p:cNvSpPr>
          <p:nvPr>
            <p:ph type="sldNum" sz="quarter" idx="10"/>
          </p:nvPr>
        </p:nvSpPr>
        <p:spPr/>
        <p:txBody>
          <a:bodyPr/>
          <a:lstStyle/>
          <a:p>
            <a:fld id="{F7021451-1387-4CA6-816F-3879F97B5CBC}" type="slidenum">
              <a:rPr lang="en-US">
                <a:latin typeface="Meiryo UI"/>
                <a:ea typeface="Meiryo UI"/>
                <a:cs typeface="Meiryo UI"/>
                <a:sym typeface="Meiryo UI"/>
              </a:rPr>
              <a:t>12</a:t>
            </a:fld>
            <a:endParaRPr lang="en-US">
              <a:latin typeface="Meiryo UI"/>
              <a:ea typeface="Meiryo UI"/>
              <a:cs typeface="Meiryo UI"/>
              <a:sym typeface="Meiryo UI"/>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txBody>
          <a:bodyPr/>
          <a:p/>
        </p:txBody>
      </p:sp>
      <p:sp>
        <p:nvSpPr>
          <p:cNvPr id="3" name="Text 1"/>
          <p:cNvSpPr/>
          <p:nvPr/>
        </p:nvSpPr>
        <p:spPr>
          <a:xfrm>
            <a:off x="1097280" y="1554480"/>
            <a:ext cx="10058400" cy="502920"/>
          </a:xfrm>
          <a:prstGeom prst="rect">
            <a:avLst/>
          </a:prstGeom>
          <a:noFill/>
          <a:ln/>
        </p:spPr>
        <p:txBody>
          <a:bodyPr wrap="square" lIns="0" tIns="0" rIns="0" bIns="0" rtlCol="0" anchor="ctr"/>
          <a:lstStyle/>
          <a:p>
            <a:pPr indent="0" marL="0">
              <a:buNone/>
            </a:pPr>
            <a:r>
              <a:rPr lang="en-US" sz="1600" b="1" spc="800" kern="0" dirty="0">
                <a:solidFill>
                  <a:srgbClr val="EBC528"/>
                </a:solidFill>
                <a:latin typeface="Meiryo UI" pitchFamily="34" charset="0"/>
                <a:ea typeface="Meiryo UI" pitchFamily="34" charset="-122"/>
                <a:cs typeface="Meiryo UI" pitchFamily="34" charset="-120"/>
                <a:sym typeface="Meiryo UI"/>
              </a:rPr>
              <a:t>CORPORATE WEBSITE PITCH</a:t>
            </a:r>
            <a:endParaRPr lang="en-US" sz="1600" dirty="0">
              <a:latin typeface="Meiryo UI"/>
              <a:ea typeface="Meiryo UI"/>
              <a:cs typeface="Meiryo UI"/>
              <a:sym typeface="Meiryo UI"/>
            </a:endParaRPr>
          </a:p>
        </p:txBody>
      </p:sp>
      <p:sp>
        <p:nvSpPr>
          <p:cNvPr id="4" name="Text 2"/>
          <p:cNvSpPr/>
          <p:nvPr/>
        </p:nvSpPr>
        <p:spPr>
          <a:xfrm>
            <a:off x="1097280" y="219456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Meiryo UI" pitchFamily="34" charset="0"/>
                <a:ea typeface="Meiryo UI" pitchFamily="34" charset="-122"/>
                <a:cs typeface="Meiryo UI" pitchFamily="34" charset="-120"/>
                <a:sym typeface="Meiryo UI"/>
              </a:rPr>
              <a:t>コーポレートサイト構築</a:t>
            </a:r>
            <a:endParaRPr lang="en-US" sz="5400" dirty="0">
              <a:latin typeface="Meiryo UI"/>
              <a:ea typeface="Meiryo UI"/>
              <a:cs typeface="Meiryo UI"/>
              <a:sym typeface="Meiryo UI"/>
            </a:endParaRPr>
          </a:p>
        </p:txBody>
      </p:sp>
      <p:sp>
        <p:nvSpPr>
          <p:cNvPr id="5" name="Text 3"/>
          <p:cNvSpPr/>
          <p:nvPr/>
        </p:nvSpPr>
        <p:spPr>
          <a:xfrm>
            <a:off x="1097280" y="3383280"/>
            <a:ext cx="10058400" cy="640080"/>
          </a:xfrm>
          <a:prstGeom prst="rect">
            <a:avLst/>
          </a:prstGeom>
          <a:noFill/>
          <a:ln/>
        </p:spPr>
        <p:txBody>
          <a:bodyPr wrap="square" lIns="0" tIns="0" rIns="0" bIns="0" rtlCol="0" anchor="ctr"/>
          <a:lstStyle/>
          <a:p>
            <a:pPr indent="0" marL="0">
              <a:buNone/>
            </a:pPr>
            <a:r>
              <a:rPr lang="en-US" sz="2400" dirty="0">
                <a:solidFill>
                  <a:srgbClr val="FFFFFF"/>
                </a:solidFill>
                <a:latin typeface="Meiryo UI" pitchFamily="34" charset="0"/>
                <a:ea typeface="Meiryo UI" pitchFamily="34" charset="-122"/>
                <a:cs typeface="Meiryo UI" pitchFamily="34" charset="-120"/>
                <a:sym typeface="Meiryo UI"/>
              </a:rPr>
              <a:t>セキュリティ・モバイル・アニメーションを軸にした実装</a:t>
            </a:r>
            <a:endParaRPr lang="en-US" sz="2400" dirty="0">
              <a:latin typeface="Meiryo UI"/>
              <a:ea typeface="Meiryo UI"/>
              <a:cs typeface="Meiryo UI"/>
              <a:sym typeface="Meiryo UI"/>
            </a:endParaRPr>
          </a:p>
        </p:txBody>
      </p:sp>
      <p:sp>
        <p:nvSpPr>
          <p:cNvPr id="6" name="Shape 4"/>
          <p:cNvSpPr/>
          <p:nvPr/>
        </p:nvSpPr>
        <p:spPr>
          <a:xfrm>
            <a:off x="1097280" y="4251960"/>
            <a:ext cx="1463040" cy="54864"/>
          </a:xfrm>
          <a:prstGeom prst="rect">
            <a:avLst/>
          </a:prstGeom>
          <a:solidFill>
            <a:srgbClr val="EBC528"/>
          </a:solidFill>
          <a:ln/>
        </p:spPr>
        <p:txBody>
          <a:bodyPr/>
          <a:p/>
        </p:txBody>
      </p:sp>
      <p:sp>
        <p:nvSpPr>
          <p:cNvPr id="7" name="Text 5"/>
          <p:cNvSpPr/>
          <p:nvPr/>
        </p:nvSpPr>
        <p:spPr>
          <a:xfrm>
            <a:off x="1097280" y="4434840"/>
            <a:ext cx="10058400" cy="411480"/>
          </a:xfrm>
          <a:prstGeom prst="rect">
            <a:avLst/>
          </a:prstGeom>
          <a:noFill/>
          <a:ln/>
        </p:spPr>
        <p:txBody>
          <a:bodyPr wrap="square" lIns="0" tIns="0" rIns="0" bIns="0" rtlCol="0" anchor="ctr"/>
          <a:lstStyle/>
          <a:p>
            <a:pPr indent="0" marL="0">
              <a:buNone/>
            </a:pPr>
            <a:r>
              <a:rPr lang="en-US" sz="1600" dirty="0">
                <a:solidFill>
                  <a:srgbClr val="CBD5E1"/>
                </a:solidFill>
                <a:latin typeface="Meiryo UI" pitchFamily="34" charset="0"/>
                <a:ea typeface="Meiryo UI" pitchFamily="34" charset="-122"/>
                <a:cs typeface="Meiryo UI" pitchFamily="34" charset="-120"/>
                <a:sym typeface="Meiryo UI"/>
              </a:rPr>
              <a:t>Next.js 15 + React 19 + TypeScript + Tailwind CSS</a:t>
            </a:r>
            <a:endParaRPr lang="en-US" sz="1600" dirty="0">
              <a:latin typeface="Meiryo UI"/>
              <a:ea typeface="Meiryo UI"/>
              <a:cs typeface="Meiryo UI"/>
              <a:sym typeface="Meiryo UI"/>
            </a:endParaRPr>
          </a:p>
        </p:txBody>
      </p:sp>
      <p:sp>
        <p:nvSpPr>
          <p:cNvPr id="8" name="Text 6"/>
          <p:cNvSpPr/>
          <p:nvPr/>
        </p:nvSpPr>
        <p:spPr>
          <a:xfrm>
            <a:off x="1097280" y="4983480"/>
            <a:ext cx="10058400" cy="411480"/>
          </a:xfrm>
          <a:prstGeom prst="rect">
            <a:avLst/>
          </a:prstGeom>
          <a:noFill/>
          <a:ln/>
        </p:spPr>
        <p:txBody>
          <a:bodyPr wrap="square" lIns="0" tIns="0" rIns="0" bIns="0" rtlCol="0" anchor="ctr"/>
          <a:lstStyle/>
          <a:p>
            <a:pPr indent="0" marL="0">
              <a:buNone/>
            </a:pPr>
            <a:r>
              <a:rPr lang="en-US" sz="1600" dirty="0">
                <a:solidFill>
                  <a:srgbClr val="CBD5E1"/>
                </a:solidFill>
                <a:latin typeface="Meiryo UI" pitchFamily="34" charset="0"/>
                <a:ea typeface="Meiryo UI" pitchFamily="34" charset="-122"/>
                <a:cs typeface="Meiryo UI" pitchFamily="34" charset="-120"/>
                <a:sym typeface="Meiryo UI"/>
              </a:rPr>
              <a:t>10 分のプレゼンテーション（初心者向け）</a:t>
            </a:r>
            <a:endParaRPr lang="en-US" sz="1600" dirty="0">
              <a:latin typeface="Meiryo UI"/>
              <a:ea typeface="Meiryo UI"/>
              <a:cs typeface="Meiryo UI"/>
              <a:sym typeface="Meiryo UI"/>
            </a:endParaRPr>
          </a:p>
        </p:txBody>
      </p:sp>
      <p:sp>
        <p:nvSpPr>
          <p:cNvPr id="9" name="Text 7"/>
          <p:cNvSpPr/>
          <p:nvPr/>
        </p:nvSpPr>
        <p:spPr>
          <a:xfrm>
            <a:off x="1097280" y="5943600"/>
            <a:ext cx="5486400" cy="365760"/>
          </a:xfrm>
          <a:prstGeom prst="rect">
            <a:avLst/>
          </a:prstGeom>
          <a:noFill/>
          <a:ln/>
        </p:spPr>
        <p:txBody>
          <a:bodyPr wrap="square" lIns="0" tIns="0" rIns="0" bIns="0" rtlCol="0" anchor="ctr"/>
          <a:lstStyle/>
          <a:p>
            <a:pPr indent="0" marL="0">
              <a:buNone/>
            </a:pPr>
            <a:r>
              <a:rPr lang="en-US" sz="1400" dirty="0">
                <a:solidFill>
                  <a:srgbClr val="94A3B8"/>
                </a:solidFill>
                <a:latin typeface="Meiryo UI" pitchFamily="34" charset="0"/>
                <a:ea typeface="Meiryo UI" pitchFamily="34" charset="-122"/>
                <a:cs typeface="Meiryo UI" pitchFamily="34" charset="-120"/>
                <a:sym typeface="Meiryo UI"/>
              </a:rPr>
              <a:t>株式会社ライトパス</a:t>
            </a:r>
            <a:endParaRPr lang="en-US" sz="1400" dirty="0">
              <a:latin typeface="Meiryo UI"/>
              <a:ea typeface="Meiryo UI"/>
              <a:cs typeface="Meiryo UI"/>
              <a:sym typeface="Meiryo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01  OVERVIEW</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プロジェクト概要</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最新のレシピで「ちゃんと動く本格的な会社サイト」を一式作りました。</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安全・スマホ対応・気持ちいい動き・日英対応 ぜんぶ入りです。</a:t>
            </a:r>
            <a:endParaRPr lang="en-US" sz="1800" dirty="0">
              <a:latin typeface="Meiryo UI"/>
              <a:ea typeface="Meiryo UI"/>
              <a:cs typeface="Meiryo UI"/>
              <a:sym typeface="Meiryo UI"/>
            </a:endParaRPr>
          </a:p>
        </p:txBody>
      </p:sp>
      <p:sp>
        <p:nvSpPr>
          <p:cNvPr id="10" name="Shape 8"/>
          <p:cNvSpPr/>
          <p:nvPr/>
        </p:nvSpPr>
        <p:spPr>
          <a:xfrm>
            <a:off x="548640" y="2971800"/>
            <a:ext cx="3566160" cy="3246120"/>
          </a:xfrm>
          <a:prstGeom prst="rect">
            <a:avLst/>
          </a:prstGeom>
          <a:solidFill>
            <a:srgbClr val="F8FAFC"/>
          </a:solidFill>
          <a:ln w="6350">
            <a:solidFill>
              <a:srgbClr val="E2E8F0"/>
            </a:solidFill>
            <a:prstDash val="solid"/>
          </a:ln>
        </p:spPr>
        <p:txBody>
          <a:bodyPr/>
          <a:p/>
        </p:txBody>
      </p:sp>
      <p:sp>
        <p:nvSpPr>
          <p:cNvPr id="11" name="Shape 9"/>
          <p:cNvSpPr/>
          <p:nvPr/>
        </p:nvSpPr>
        <p:spPr>
          <a:xfrm>
            <a:off x="548640" y="2971800"/>
            <a:ext cx="3566160" cy="548640"/>
          </a:xfrm>
          <a:prstGeom prst="rect">
            <a:avLst/>
          </a:prstGeom>
          <a:solidFill>
            <a:srgbClr val="EBC528"/>
          </a:solidFill>
          <a:ln/>
        </p:spPr>
        <p:txBody>
          <a:bodyPr/>
          <a:p/>
        </p:txBody>
      </p:sp>
      <p:sp>
        <p:nvSpPr>
          <p:cNvPr id="12" name="Text 10"/>
          <p:cNvSpPr/>
          <p:nvPr/>
        </p:nvSpPr>
        <p:spPr>
          <a:xfrm>
            <a:off x="777240" y="2971800"/>
            <a:ext cx="3200400" cy="548640"/>
          </a:xfrm>
          <a:prstGeom prst="rect">
            <a:avLst/>
          </a:prstGeom>
          <a:noFill/>
          <a:ln/>
        </p:spPr>
        <p:txBody>
          <a:bodyPr wrap="square" lIns="0" tIns="0" rIns="0" bIns="0" rtlCol="0" anchor="ctr"/>
          <a:lstStyle/>
          <a:p>
            <a:pPr indent="0" marL="0">
              <a:buNone/>
            </a:pPr>
            <a:r>
              <a:rPr lang="en-US" sz="1700" b="1" dirty="0">
                <a:solidFill>
                  <a:srgbClr val="0F172A"/>
                </a:solidFill>
                <a:latin typeface="Meiryo UI" pitchFamily="34" charset="0"/>
                <a:ea typeface="Meiryo UI" pitchFamily="34" charset="-122"/>
                <a:cs typeface="Meiryo UI" pitchFamily="34" charset="-120"/>
                <a:sym typeface="Meiryo UI"/>
              </a:rPr>
              <a:t>技術スタック</a:t>
            </a:r>
            <a:endParaRPr lang="en-US" sz="1700" dirty="0">
              <a:latin typeface="Meiryo UI"/>
              <a:ea typeface="Meiryo UI"/>
              <a:cs typeface="Meiryo UI"/>
              <a:sym typeface="Meiryo UI"/>
            </a:endParaRPr>
          </a:p>
        </p:txBody>
      </p:sp>
      <p:sp>
        <p:nvSpPr>
          <p:cNvPr id="13" name="Text 11"/>
          <p:cNvSpPr/>
          <p:nvPr/>
        </p:nvSpPr>
        <p:spPr>
          <a:xfrm>
            <a:off x="77724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Next.js 15 (App Router)</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React 19 / TypeScript</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Tailwind CSS 3.4</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CSS Variables でテーマ管理</a:t>
            </a:r>
            <a:endParaRPr lang="en-US" sz="1400" dirty="0">
              <a:latin typeface="Meiryo UI"/>
              <a:ea typeface="Meiryo UI"/>
              <a:cs typeface="Meiryo UI"/>
              <a:sym typeface="Meiryo UI"/>
            </a:endParaRPr>
          </a:p>
        </p:txBody>
      </p:sp>
      <p:sp>
        <p:nvSpPr>
          <p:cNvPr id="14" name="Shape 12"/>
          <p:cNvSpPr/>
          <p:nvPr/>
        </p:nvSpPr>
        <p:spPr>
          <a:xfrm>
            <a:off x="4343400" y="2971800"/>
            <a:ext cx="3566160" cy="3246120"/>
          </a:xfrm>
          <a:prstGeom prst="rect">
            <a:avLst/>
          </a:prstGeom>
          <a:solidFill>
            <a:srgbClr val="F8FAFC"/>
          </a:solidFill>
          <a:ln w="6350">
            <a:solidFill>
              <a:srgbClr val="E2E8F0"/>
            </a:solidFill>
            <a:prstDash val="solid"/>
          </a:ln>
        </p:spPr>
        <p:txBody>
          <a:bodyPr/>
          <a:p/>
        </p:txBody>
      </p:sp>
      <p:sp>
        <p:nvSpPr>
          <p:cNvPr id="15" name="Shape 13"/>
          <p:cNvSpPr/>
          <p:nvPr/>
        </p:nvSpPr>
        <p:spPr>
          <a:xfrm>
            <a:off x="4343400" y="2971800"/>
            <a:ext cx="3566160" cy="548640"/>
          </a:xfrm>
          <a:prstGeom prst="rect">
            <a:avLst/>
          </a:prstGeom>
          <a:solidFill>
            <a:srgbClr val="10B981"/>
          </a:solidFill>
          <a:ln/>
        </p:spPr>
        <p:txBody>
          <a:bodyPr/>
          <a:p/>
        </p:txBody>
      </p:sp>
      <p:sp>
        <p:nvSpPr>
          <p:cNvPr id="16" name="Text 14"/>
          <p:cNvSpPr/>
          <p:nvPr/>
        </p:nvSpPr>
        <p:spPr>
          <a:xfrm>
            <a:off x="4572000" y="2971800"/>
            <a:ext cx="320040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UI" pitchFamily="34" charset="0"/>
                <a:ea typeface="Meiryo UI" pitchFamily="34" charset="-122"/>
                <a:cs typeface="Meiryo UI" pitchFamily="34" charset="-120"/>
                <a:sym typeface="Meiryo UI"/>
              </a:rPr>
              <a:t>実装ページ</a:t>
            </a:r>
            <a:endParaRPr lang="en-US" sz="1700" dirty="0">
              <a:latin typeface="Meiryo UI"/>
              <a:ea typeface="Meiryo UI"/>
              <a:cs typeface="Meiryo UI"/>
              <a:sym typeface="Meiryo UI"/>
            </a:endParaRPr>
          </a:p>
        </p:txBody>
      </p:sp>
      <p:sp>
        <p:nvSpPr>
          <p:cNvPr id="17" name="Text 15"/>
          <p:cNvSpPr/>
          <p:nvPr/>
        </p:nvSpPr>
        <p:spPr>
          <a:xfrm>
            <a:off x="457200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ホーム / 会社案内</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採用情報 (エントリーフォーム)</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お問い合わせ (3段階フロー)</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プライバシーポリシー</a:t>
            </a:r>
            <a:endParaRPr lang="en-US" sz="1400" dirty="0">
              <a:latin typeface="Meiryo UI"/>
              <a:ea typeface="Meiryo UI"/>
              <a:cs typeface="Meiryo UI"/>
              <a:sym typeface="Meiryo UI"/>
            </a:endParaRPr>
          </a:p>
        </p:txBody>
      </p:sp>
      <p:sp>
        <p:nvSpPr>
          <p:cNvPr id="18" name="Shape 16"/>
          <p:cNvSpPr/>
          <p:nvPr/>
        </p:nvSpPr>
        <p:spPr>
          <a:xfrm>
            <a:off x="8138160" y="2971800"/>
            <a:ext cx="3566160" cy="3246120"/>
          </a:xfrm>
          <a:prstGeom prst="rect">
            <a:avLst/>
          </a:prstGeom>
          <a:solidFill>
            <a:srgbClr val="F8FAFC"/>
          </a:solidFill>
          <a:ln w="6350">
            <a:solidFill>
              <a:srgbClr val="E2E8F0"/>
            </a:solidFill>
            <a:prstDash val="solid"/>
          </a:ln>
        </p:spPr>
        <p:txBody>
          <a:bodyPr/>
          <a:p/>
        </p:txBody>
      </p:sp>
      <p:sp>
        <p:nvSpPr>
          <p:cNvPr id="19" name="Shape 17"/>
          <p:cNvSpPr/>
          <p:nvPr/>
        </p:nvSpPr>
        <p:spPr>
          <a:xfrm>
            <a:off x="8138160" y="2971800"/>
            <a:ext cx="3566160" cy="548640"/>
          </a:xfrm>
          <a:prstGeom prst="rect">
            <a:avLst/>
          </a:prstGeom>
          <a:solidFill>
            <a:srgbClr val="EF4444"/>
          </a:solidFill>
          <a:ln/>
        </p:spPr>
        <p:txBody>
          <a:bodyPr/>
          <a:p/>
        </p:txBody>
      </p:sp>
      <p:sp>
        <p:nvSpPr>
          <p:cNvPr id="20" name="Text 18"/>
          <p:cNvSpPr/>
          <p:nvPr/>
        </p:nvSpPr>
        <p:spPr>
          <a:xfrm>
            <a:off x="8366760" y="2971800"/>
            <a:ext cx="3200400" cy="548640"/>
          </a:xfrm>
          <a:prstGeom prst="rect">
            <a:avLst/>
          </a:prstGeom>
          <a:noFill/>
          <a:ln/>
        </p:spPr>
        <p:txBody>
          <a:bodyPr wrap="square" lIns="0" tIns="0" rIns="0" bIns="0" rtlCol="0" anchor="ctr"/>
          <a:lstStyle/>
          <a:p>
            <a:pPr indent="0" marL="0">
              <a:buNone/>
            </a:pPr>
            <a:r>
              <a:rPr lang="en-US" sz="1700" b="1" dirty="0">
                <a:solidFill>
                  <a:srgbClr val="FFFFFF"/>
                </a:solidFill>
                <a:latin typeface="Meiryo UI" pitchFamily="34" charset="0"/>
                <a:ea typeface="Meiryo UI" pitchFamily="34" charset="-122"/>
                <a:cs typeface="Meiryo UI" pitchFamily="34" charset="-120"/>
                <a:sym typeface="Meiryo UI"/>
              </a:rPr>
              <a:t>重点アピール</a:t>
            </a:r>
            <a:endParaRPr lang="en-US" sz="1700" dirty="0">
              <a:latin typeface="Meiryo UI"/>
              <a:ea typeface="Meiryo UI"/>
              <a:cs typeface="Meiryo UI"/>
              <a:sym typeface="Meiryo UI"/>
            </a:endParaRPr>
          </a:p>
        </p:txBody>
      </p:sp>
      <p:sp>
        <p:nvSpPr>
          <p:cNvPr id="21" name="Text 19"/>
          <p:cNvSpPr/>
          <p:nvPr/>
        </p:nvSpPr>
        <p:spPr>
          <a:xfrm>
            <a:off x="836676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セキュリティ（多層防御）</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スマホ用 UX（ドロワー / 拡大）</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アニメーション（出現演出）</a:t>
            </a:r>
            <a:endParaRPr lang="en-US" sz="1400" dirty="0">
              <a:latin typeface="Meiryo UI"/>
              <a:ea typeface="Meiryo UI"/>
              <a:cs typeface="Meiryo UI"/>
              <a:sym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sym typeface="Meiryo UI"/>
              </a:rPr>
              <a:t>日英切替（i18n）</a:t>
            </a:r>
            <a:endParaRPr lang="en-US" sz="1400" dirty="0">
              <a:latin typeface="Meiryo UI"/>
              <a:ea typeface="Meiryo UI"/>
              <a:cs typeface="Meiryo UI"/>
              <a:sym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2 / 12</a:t>
            </a:r>
            <a:endParaRPr lang="en-US" sz="1000" dirty="0">
              <a:latin typeface="Meiryo UI"/>
              <a:ea typeface="Meiryo UI"/>
              <a:cs typeface="Meiryo UI"/>
              <a:sym typeface="Meiryo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02  DESIGN</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デザインで工夫したところ</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サイトの色はファイル 1 か所にまとめて書いてあるので、</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後で「青に変えたい」と言われたら 1 行直すだけで全部変わります。</a:t>
            </a:r>
            <a:endParaRPr lang="en-US" sz="1800" dirty="0">
              <a:latin typeface="Meiryo UI"/>
              <a:ea typeface="Meiryo UI"/>
              <a:cs typeface="Meiryo UI"/>
              <a:sym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indent="0" marL="0">
              <a:buNone/>
            </a:pPr>
            <a:r>
              <a:rPr lang="en-US" sz="1600" b="1" dirty="0">
                <a:solidFill>
                  <a:srgbClr val="0F172A"/>
                </a:solidFill>
                <a:latin typeface="Meiryo UI" pitchFamily="34" charset="0"/>
                <a:ea typeface="Meiryo UI" pitchFamily="34" charset="-122"/>
                <a:cs typeface="Meiryo UI" pitchFamily="34" charset="-120"/>
                <a:sym typeface="Meiryo UI"/>
              </a:rPr>
              <a:t>テーマカラーの集中管理</a:t>
            </a:r>
            <a:endParaRPr lang="en-US" sz="1600" dirty="0">
              <a:latin typeface="Meiryo UI"/>
              <a:ea typeface="Meiryo UI"/>
              <a:cs typeface="Meiryo UI"/>
              <a:sym typeface="Meiryo UI"/>
            </a:endParaRPr>
          </a:p>
        </p:txBody>
      </p:sp>
      <p:sp>
        <p:nvSpPr>
          <p:cNvPr id="12" name="Shape 10"/>
          <p:cNvSpPr/>
          <p:nvPr/>
        </p:nvSpPr>
        <p:spPr>
          <a:xfrm>
            <a:off x="822960" y="3566160"/>
            <a:ext cx="1371600" cy="822960"/>
          </a:xfrm>
          <a:prstGeom prst="rect">
            <a:avLst/>
          </a:prstGeom>
          <a:solidFill>
            <a:srgbClr val="EBC528"/>
          </a:solidFill>
          <a:ln/>
        </p:spPr>
        <p:txBody>
          <a:bodyPr/>
          <a:p/>
        </p:txBody>
      </p:sp>
      <p:sp>
        <p:nvSpPr>
          <p:cNvPr id="13" name="Text 11"/>
          <p:cNvSpPr/>
          <p:nvPr/>
        </p:nvSpPr>
        <p:spPr>
          <a:xfrm>
            <a:off x="822960" y="3566160"/>
            <a:ext cx="1371600" cy="365760"/>
          </a:xfrm>
          <a:prstGeom prst="rect">
            <a:avLst/>
          </a:prstGeom>
          <a:noFill/>
          <a:ln/>
        </p:spPr>
        <p:txBody>
          <a:bodyPr wrap="square" lIns="0" tIns="0" rIns="0" bIns="0" rtlCol="0" anchor="t"/>
          <a:lstStyle/>
          <a:p>
            <a:pPr algn="ctr" indent="0" marL="0">
              <a:buNone/>
            </a:pPr>
            <a:r>
              <a:rPr lang="en-US" sz="1000" b="1" dirty="0">
                <a:solidFill>
                  <a:srgbClr val="0F172A"/>
                </a:solidFill>
                <a:latin typeface="Meiryo UI" pitchFamily="34" charset="0"/>
                <a:ea typeface="Meiryo UI" pitchFamily="34" charset="-122"/>
                <a:cs typeface="Meiryo UI" pitchFamily="34" charset="-120"/>
                <a:sym typeface="Meiryo UI"/>
              </a:rPr>
              <a:t>PRIMARY</a:t>
            </a:r>
            <a:endParaRPr lang="en-US" sz="1000" dirty="0">
              <a:latin typeface="Meiryo UI"/>
              <a:ea typeface="Meiryo UI"/>
              <a:cs typeface="Meiryo UI"/>
              <a:sym typeface="Meiryo UI"/>
            </a:endParaRPr>
          </a:p>
        </p:txBody>
      </p:sp>
      <p:sp>
        <p:nvSpPr>
          <p:cNvPr id="14" name="Text 12"/>
          <p:cNvSpPr/>
          <p:nvPr/>
        </p:nvSpPr>
        <p:spPr>
          <a:xfrm>
            <a:off x="822960" y="3886200"/>
            <a:ext cx="13716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#EBC528</a:t>
            </a:r>
            <a:endParaRPr lang="en-US" sz="1200" dirty="0">
              <a:latin typeface="Meiryo UI"/>
              <a:ea typeface="Meiryo UI"/>
              <a:cs typeface="Meiryo UI"/>
              <a:sym typeface="Meiryo UI"/>
            </a:endParaRPr>
          </a:p>
        </p:txBody>
      </p:sp>
      <p:sp>
        <p:nvSpPr>
          <p:cNvPr id="15" name="Shape 13"/>
          <p:cNvSpPr/>
          <p:nvPr/>
        </p:nvSpPr>
        <p:spPr>
          <a:xfrm>
            <a:off x="2331720" y="3566160"/>
            <a:ext cx="1371600" cy="822960"/>
          </a:xfrm>
          <a:prstGeom prst="rect">
            <a:avLst/>
          </a:prstGeom>
          <a:solidFill>
            <a:srgbClr val="0F172A"/>
          </a:solidFill>
          <a:ln/>
        </p:spPr>
        <p:txBody>
          <a:bodyPr/>
          <a:p/>
        </p:txBody>
      </p:sp>
      <p:sp>
        <p:nvSpPr>
          <p:cNvPr id="16" name="Text 14"/>
          <p:cNvSpPr/>
          <p:nvPr/>
        </p:nvSpPr>
        <p:spPr>
          <a:xfrm>
            <a:off x="2331720" y="3566160"/>
            <a:ext cx="1371600" cy="365760"/>
          </a:xfrm>
          <a:prstGeom prst="rect">
            <a:avLst/>
          </a:prstGeom>
          <a:noFill/>
          <a:ln/>
        </p:spPr>
        <p:txBody>
          <a:bodyPr wrap="square" lIns="0" tIns="0" rIns="0" bIns="0" rtlCol="0" anchor="t"/>
          <a:lstStyle/>
          <a:p>
            <a:pPr algn="ctr" indent="0" marL="0">
              <a:buNone/>
            </a:pPr>
            <a:r>
              <a:rPr lang="en-US" sz="1000" b="1" dirty="0">
                <a:solidFill>
                  <a:srgbClr val="EBC528"/>
                </a:solidFill>
                <a:latin typeface="Meiryo UI" pitchFamily="34" charset="0"/>
                <a:ea typeface="Meiryo UI" pitchFamily="34" charset="-122"/>
                <a:cs typeface="Meiryo UI" pitchFamily="34" charset="-120"/>
                <a:sym typeface="Meiryo UI"/>
              </a:rPr>
              <a:t>ACCENT</a:t>
            </a:r>
            <a:endParaRPr lang="en-US" sz="1000" dirty="0">
              <a:latin typeface="Meiryo UI"/>
              <a:ea typeface="Meiryo UI"/>
              <a:cs typeface="Meiryo UI"/>
              <a:sym typeface="Meiryo UI"/>
            </a:endParaRPr>
          </a:p>
        </p:txBody>
      </p:sp>
      <p:sp>
        <p:nvSpPr>
          <p:cNvPr id="17" name="Text 15"/>
          <p:cNvSpPr/>
          <p:nvPr/>
        </p:nvSpPr>
        <p:spPr>
          <a:xfrm>
            <a:off x="2331720" y="3886200"/>
            <a:ext cx="1371600" cy="457200"/>
          </a:xfrm>
          <a:prstGeom prst="rect">
            <a:avLst/>
          </a:prstGeom>
          <a:noFill/>
          <a:ln/>
        </p:spPr>
        <p:txBody>
          <a:bodyPr wrap="square" lIns="0" tIns="0" rIns="0" bIns="0" rtlCol="0" anchor="ctr"/>
          <a:lstStyle/>
          <a:p>
            <a:pPr algn="ctr" indent="0" marL="0">
              <a:buNone/>
            </a:pPr>
            <a:r>
              <a:rPr lang="en-US" sz="1200" b="1" dirty="0">
                <a:solidFill>
                  <a:srgbClr val="EBC528"/>
                </a:solidFill>
                <a:latin typeface="Meiryo UI" pitchFamily="34" charset="0"/>
                <a:ea typeface="Meiryo UI" pitchFamily="34" charset="-122"/>
                <a:cs typeface="Meiryo UI" pitchFamily="34" charset="-120"/>
                <a:sym typeface="Meiryo UI"/>
              </a:rPr>
              <a:t>#0F172A</a:t>
            </a:r>
            <a:endParaRPr lang="en-US" sz="1200" dirty="0">
              <a:latin typeface="Meiryo UI"/>
              <a:ea typeface="Meiryo UI"/>
              <a:cs typeface="Meiryo UI"/>
              <a:sym typeface="Meiryo UI"/>
            </a:endParaRPr>
          </a:p>
        </p:txBody>
      </p:sp>
      <p:sp>
        <p:nvSpPr>
          <p:cNvPr id="18" name="Shape 16"/>
          <p:cNvSpPr/>
          <p:nvPr/>
        </p:nvSpPr>
        <p:spPr>
          <a:xfrm>
            <a:off x="3840480" y="3566160"/>
            <a:ext cx="1371600" cy="822960"/>
          </a:xfrm>
          <a:prstGeom prst="rect">
            <a:avLst/>
          </a:prstGeom>
          <a:solidFill>
            <a:srgbClr val="F8FAFC"/>
          </a:solidFill>
          <a:ln w="6350">
            <a:solidFill>
              <a:srgbClr val="E2E8F0"/>
            </a:solidFill>
            <a:prstDash val="solid"/>
          </a:ln>
        </p:spPr>
        <p:txBody>
          <a:bodyPr/>
          <a:p/>
        </p:txBody>
      </p:sp>
      <p:sp>
        <p:nvSpPr>
          <p:cNvPr id="19" name="Text 17"/>
          <p:cNvSpPr/>
          <p:nvPr/>
        </p:nvSpPr>
        <p:spPr>
          <a:xfrm>
            <a:off x="3840480" y="3566160"/>
            <a:ext cx="1371600" cy="365760"/>
          </a:xfrm>
          <a:prstGeom prst="rect">
            <a:avLst/>
          </a:prstGeom>
          <a:noFill/>
          <a:ln/>
        </p:spPr>
        <p:txBody>
          <a:bodyPr wrap="square" lIns="0" tIns="0" rIns="0" bIns="0" rtlCol="0" anchor="t"/>
          <a:lstStyle/>
          <a:p>
            <a:pPr algn="ctr" indent="0" marL="0">
              <a:buNone/>
            </a:pPr>
            <a:r>
              <a:rPr lang="en-US" sz="1000" b="1" dirty="0">
                <a:solidFill>
                  <a:srgbClr val="0F172A"/>
                </a:solidFill>
                <a:latin typeface="Meiryo UI" pitchFamily="34" charset="0"/>
                <a:ea typeface="Meiryo UI" pitchFamily="34" charset="-122"/>
                <a:cs typeface="Meiryo UI" pitchFamily="34" charset="-120"/>
                <a:sym typeface="Meiryo UI"/>
              </a:rPr>
              <a:t>BG</a:t>
            </a:r>
            <a:endParaRPr lang="en-US" sz="1000" dirty="0">
              <a:latin typeface="Meiryo UI"/>
              <a:ea typeface="Meiryo UI"/>
              <a:cs typeface="Meiryo UI"/>
              <a:sym typeface="Meiryo UI"/>
            </a:endParaRPr>
          </a:p>
        </p:txBody>
      </p:sp>
      <p:sp>
        <p:nvSpPr>
          <p:cNvPr id="20" name="Text 18"/>
          <p:cNvSpPr/>
          <p:nvPr/>
        </p:nvSpPr>
        <p:spPr>
          <a:xfrm>
            <a:off x="3840480" y="3886200"/>
            <a:ext cx="1371600" cy="45720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#F8FAFC</a:t>
            </a:r>
            <a:endParaRPr lang="en-US" sz="1200" dirty="0">
              <a:latin typeface="Meiryo UI"/>
              <a:ea typeface="Meiryo UI"/>
              <a:cs typeface="Meiryo UI"/>
              <a:sym typeface="Meiryo UI"/>
            </a:endParaRPr>
          </a:p>
        </p:txBody>
      </p:sp>
      <p:sp>
        <p:nvSpPr>
          <p:cNvPr id="21" name="Text 19"/>
          <p:cNvSpPr/>
          <p:nvPr/>
        </p:nvSpPr>
        <p:spPr>
          <a:xfrm>
            <a:off x="822960" y="4526280"/>
            <a:ext cx="4937760" cy="64008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globals.css に色変数を定義 → Tailwind がそれを参照 → サイト全体が一括で変わる</a:t>
            </a:r>
            <a:endParaRPr lang="en-US" sz="1200" dirty="0">
              <a:latin typeface="Meiryo UI"/>
              <a:ea typeface="Meiryo UI"/>
              <a:cs typeface="Meiryo UI"/>
              <a:sym typeface="Meiryo UI"/>
            </a:endParaRPr>
          </a:p>
        </p:txBody>
      </p:sp>
      <p:sp>
        <p:nvSpPr>
          <p:cNvPr id="22" name="Text 20"/>
          <p:cNvSpPr/>
          <p:nvPr/>
        </p:nvSpPr>
        <p:spPr>
          <a:xfrm>
            <a:off x="822960" y="5212080"/>
            <a:ext cx="4937760" cy="457200"/>
          </a:xfrm>
          <a:prstGeom prst="rect">
            <a:avLst/>
          </a:prstGeom>
          <a:solidFill>
            <a:srgbClr val="0F172A"/>
          </a:solidFill>
          <a:ln/>
        </p:spPr>
        <p:txBody>
          <a:bodyPr wrap="square" lIns="101600" tIns="101600" rIns="101600" bIns="101600" rtlCol="0" anchor="ctr"/>
          <a:lstStyle/>
          <a:p>
            <a:pPr indent="0" marL="0">
              <a:buNone/>
            </a:pPr>
            <a:r>
              <a:rPr lang="en-US" sz="1400" b="1" dirty="0">
                <a:solidFill>
                  <a:srgbClr val="EBC528"/>
                </a:solidFill>
                <a:latin typeface="Meiryo UI" pitchFamily="34" charset="0"/>
                <a:ea typeface="Meiryo UI" pitchFamily="34" charset="-122"/>
                <a:cs typeface="Meiryo UI" pitchFamily="34" charset="-120"/>
                <a:sym typeface="Meiryo UI"/>
              </a:rPr>
              <a:t>--color-primary: #ebc528;</a:t>
            </a:r>
            <a:endParaRPr lang="en-US" sz="1400" dirty="0">
              <a:latin typeface="Meiryo UI"/>
              <a:ea typeface="Meiryo UI"/>
              <a:cs typeface="Meiryo UI"/>
              <a:sym typeface="Meiryo UI"/>
            </a:endParaRPr>
          </a:p>
        </p:txBody>
      </p:sp>
      <p:sp>
        <p:nvSpPr>
          <p:cNvPr id="23" name="Text 21"/>
          <p:cNvSpPr/>
          <p:nvPr/>
        </p:nvSpPr>
        <p:spPr>
          <a:xfrm>
            <a:off x="822960" y="5715000"/>
            <a:ext cx="4937760" cy="365760"/>
          </a:xfrm>
          <a:prstGeom prst="rect">
            <a:avLst/>
          </a:prstGeom>
          <a:noFill/>
          <a:ln/>
        </p:spPr>
        <p:txBody>
          <a:bodyPr wrap="square" lIns="0" tIns="0" rIns="0" bIns="0" rtlCol="0" anchor="ctr"/>
          <a:lstStyle/>
          <a:p>
            <a:pPr indent="0" marL="0">
              <a:buNone/>
            </a:pPr>
            <a:r>
              <a:rPr lang="en-US" sz="1000" i="1" dirty="0">
                <a:solidFill>
                  <a:srgbClr val="64748B"/>
                </a:solidFill>
                <a:latin typeface="Meiryo UI" pitchFamily="34" charset="0"/>
                <a:ea typeface="Meiryo UI" pitchFamily="34" charset="-122"/>
                <a:cs typeface="Meiryo UI" pitchFamily="34" charset="-120"/>
                <a:sym typeface="Meiryo UI"/>
              </a:rPr>
              <a:t>// この1行で全ボタン・下線・ホバー枠の色が変わる</a:t>
            </a:r>
            <a:endParaRPr lang="en-US" sz="1000" dirty="0">
              <a:latin typeface="Meiryo UI"/>
              <a:ea typeface="Meiryo UI"/>
              <a:cs typeface="Meiryo UI"/>
              <a:sym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indent="0" marL="0">
              <a:buNone/>
            </a:pPr>
            <a:r>
              <a:rPr lang="en-US" sz="1600" b="1" dirty="0">
                <a:solidFill>
                  <a:srgbClr val="0F172A"/>
                </a:solidFill>
                <a:latin typeface="Meiryo UI" pitchFamily="34" charset="0"/>
                <a:ea typeface="Meiryo UI" pitchFamily="34" charset="-122"/>
                <a:cs typeface="Meiryo UI" pitchFamily="34" charset="-120"/>
                <a:sym typeface="Meiryo UI"/>
              </a:rPr>
              <a:t>レイアウトの軸</a:t>
            </a:r>
            <a:endParaRPr lang="en-US" sz="1600" dirty="0">
              <a:latin typeface="Meiryo UI"/>
              <a:ea typeface="Meiryo UI"/>
              <a:cs typeface="Meiryo UI"/>
              <a:sym typeface="Meiryo UI"/>
            </a:endParaRPr>
          </a:p>
        </p:txBody>
      </p:sp>
      <p:sp>
        <p:nvSpPr>
          <p:cNvPr id="25" name="Shape 23"/>
          <p:cNvSpPr/>
          <p:nvPr/>
        </p:nvSpPr>
        <p:spPr>
          <a:xfrm>
            <a:off x="6400800" y="3520440"/>
            <a:ext cx="5212080" cy="804672"/>
          </a:xfrm>
          <a:prstGeom prst="rect">
            <a:avLst/>
          </a:prstGeom>
          <a:solidFill>
            <a:srgbClr val="FFFFFF"/>
          </a:solidFill>
          <a:ln w="6350">
            <a:solidFill>
              <a:srgbClr val="E2E8F0"/>
            </a:solidFill>
            <a:prstDash val="solid"/>
          </a:ln>
        </p:spPr>
        <p:txBody>
          <a:bodyPr/>
          <a:p/>
        </p:txBody>
      </p:sp>
      <p:sp>
        <p:nvSpPr>
          <p:cNvPr id="26" name="Shape 24"/>
          <p:cNvSpPr/>
          <p:nvPr/>
        </p:nvSpPr>
        <p:spPr>
          <a:xfrm>
            <a:off x="6400800" y="3520440"/>
            <a:ext cx="73152" cy="804672"/>
          </a:xfrm>
          <a:prstGeom prst="rect">
            <a:avLst/>
          </a:prstGeom>
          <a:solidFill>
            <a:srgbClr val="EBC528"/>
          </a:solidFill>
          <a:ln/>
        </p:spPr>
        <p:txBody>
          <a:bodyPr/>
          <a:p/>
        </p:txBody>
      </p:sp>
      <p:sp>
        <p:nvSpPr>
          <p:cNvPr id="27" name="Text 25"/>
          <p:cNvSpPr/>
          <p:nvPr/>
        </p:nvSpPr>
        <p:spPr>
          <a:xfrm>
            <a:off x="6629400" y="3593592"/>
            <a:ext cx="4937760" cy="347472"/>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01  見本ベースの統一感</a:t>
            </a:r>
            <a:endParaRPr lang="en-US" sz="1400" dirty="0">
              <a:latin typeface="Meiryo UI"/>
              <a:ea typeface="Meiryo UI"/>
              <a:cs typeface="Meiryo UI"/>
              <a:sym typeface="Meiryo UI"/>
            </a:endParaRPr>
          </a:p>
        </p:txBody>
      </p:sp>
      <p:sp>
        <p:nvSpPr>
          <p:cNvPr id="28" name="Text 26"/>
          <p:cNvSpPr/>
          <p:nvPr/>
        </p:nvSpPr>
        <p:spPr>
          <a:xfrm>
            <a:off x="6629400" y="3931920"/>
            <a:ext cx="4937760" cy="384048"/>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ヘッダー帯 → 集合写真 → セクション群 を全ページで共通化</a:t>
            </a:r>
            <a:endParaRPr lang="en-US" sz="1200" dirty="0">
              <a:latin typeface="Meiryo UI"/>
              <a:ea typeface="Meiryo UI"/>
              <a:cs typeface="Meiryo UI"/>
              <a:sym typeface="Meiryo UI"/>
            </a:endParaRPr>
          </a:p>
        </p:txBody>
      </p:sp>
      <p:sp>
        <p:nvSpPr>
          <p:cNvPr id="29" name="Shape 27"/>
          <p:cNvSpPr/>
          <p:nvPr/>
        </p:nvSpPr>
        <p:spPr>
          <a:xfrm>
            <a:off x="6400800" y="4434840"/>
            <a:ext cx="5212080" cy="804672"/>
          </a:xfrm>
          <a:prstGeom prst="rect">
            <a:avLst/>
          </a:prstGeom>
          <a:solidFill>
            <a:srgbClr val="FFFFFF"/>
          </a:solidFill>
          <a:ln w="6350">
            <a:solidFill>
              <a:srgbClr val="E2E8F0"/>
            </a:solidFill>
            <a:prstDash val="solid"/>
          </a:ln>
        </p:spPr>
        <p:txBody>
          <a:bodyPr/>
          <a:p/>
        </p:txBody>
      </p:sp>
      <p:sp>
        <p:nvSpPr>
          <p:cNvPr id="30" name="Shape 28"/>
          <p:cNvSpPr/>
          <p:nvPr/>
        </p:nvSpPr>
        <p:spPr>
          <a:xfrm>
            <a:off x="6400800" y="4434840"/>
            <a:ext cx="73152" cy="804672"/>
          </a:xfrm>
          <a:prstGeom prst="rect">
            <a:avLst/>
          </a:prstGeom>
          <a:solidFill>
            <a:srgbClr val="EBC528"/>
          </a:solidFill>
          <a:ln/>
        </p:spPr>
        <p:txBody>
          <a:bodyPr/>
          <a:p/>
        </p:txBody>
      </p:sp>
      <p:sp>
        <p:nvSpPr>
          <p:cNvPr id="31" name="Text 29"/>
          <p:cNvSpPr/>
          <p:nvPr/>
        </p:nvSpPr>
        <p:spPr>
          <a:xfrm>
            <a:off x="6629400" y="4507992"/>
            <a:ext cx="4937760" cy="347472"/>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02  Tailwind ユーティリティ</a:t>
            </a:r>
            <a:endParaRPr lang="en-US" sz="1400" dirty="0">
              <a:latin typeface="Meiryo UI"/>
              <a:ea typeface="Meiryo UI"/>
              <a:cs typeface="Meiryo UI"/>
              <a:sym typeface="Meiryo UI"/>
            </a:endParaRPr>
          </a:p>
        </p:txBody>
      </p:sp>
      <p:sp>
        <p:nvSpPr>
          <p:cNvPr id="32" name="Text 30"/>
          <p:cNvSpPr/>
          <p:nvPr/>
        </p:nvSpPr>
        <p:spPr>
          <a:xfrm>
            <a:off x="6629400" y="4846320"/>
            <a:ext cx="4937760" cy="384048"/>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CSS を別ファイルに書かず、コンポーネント内で完結</a:t>
            </a:r>
            <a:endParaRPr lang="en-US" sz="1200" dirty="0">
              <a:latin typeface="Meiryo UI"/>
              <a:ea typeface="Meiryo UI"/>
              <a:cs typeface="Meiryo UI"/>
              <a:sym typeface="Meiryo UI"/>
            </a:endParaRPr>
          </a:p>
        </p:txBody>
      </p:sp>
      <p:sp>
        <p:nvSpPr>
          <p:cNvPr id="33" name="Shape 31"/>
          <p:cNvSpPr/>
          <p:nvPr/>
        </p:nvSpPr>
        <p:spPr>
          <a:xfrm>
            <a:off x="6400800" y="5349240"/>
            <a:ext cx="5212080" cy="804672"/>
          </a:xfrm>
          <a:prstGeom prst="rect">
            <a:avLst/>
          </a:prstGeom>
          <a:solidFill>
            <a:srgbClr val="FFFFFF"/>
          </a:solidFill>
          <a:ln w="6350">
            <a:solidFill>
              <a:srgbClr val="E2E8F0"/>
            </a:solidFill>
            <a:prstDash val="solid"/>
          </a:ln>
        </p:spPr>
        <p:txBody>
          <a:bodyPr/>
          <a:p/>
        </p:txBody>
      </p:sp>
      <p:sp>
        <p:nvSpPr>
          <p:cNvPr id="34" name="Shape 32"/>
          <p:cNvSpPr/>
          <p:nvPr/>
        </p:nvSpPr>
        <p:spPr>
          <a:xfrm>
            <a:off x="6400800" y="5349240"/>
            <a:ext cx="73152" cy="804672"/>
          </a:xfrm>
          <a:prstGeom prst="rect">
            <a:avLst/>
          </a:prstGeom>
          <a:solidFill>
            <a:srgbClr val="EBC528"/>
          </a:solidFill>
          <a:ln/>
        </p:spPr>
        <p:txBody>
          <a:bodyPr/>
          <a:p/>
        </p:txBody>
      </p:sp>
      <p:sp>
        <p:nvSpPr>
          <p:cNvPr id="35" name="Text 33"/>
          <p:cNvSpPr/>
          <p:nvPr/>
        </p:nvSpPr>
        <p:spPr>
          <a:xfrm>
            <a:off x="6629400" y="5422392"/>
            <a:ext cx="4937760" cy="347472"/>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03  アイブロウ＋見出し＋説明</a:t>
            </a:r>
            <a:endParaRPr lang="en-US" sz="1400" dirty="0">
              <a:latin typeface="Meiryo UI"/>
              <a:ea typeface="Meiryo UI"/>
              <a:cs typeface="Meiryo UI"/>
              <a:sym typeface="Meiryo UI"/>
            </a:endParaRPr>
          </a:p>
        </p:txBody>
      </p:sp>
      <p:sp>
        <p:nvSpPr>
          <p:cNvPr id="36" name="Text 34"/>
          <p:cNvSpPr/>
          <p:nvPr/>
        </p:nvSpPr>
        <p:spPr>
          <a:xfrm>
            <a:off x="6629400" y="5760720"/>
            <a:ext cx="4937760" cy="384048"/>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全セクションで NSD 風の 3 段構成（SectionTitle）</a:t>
            </a:r>
            <a:endParaRPr lang="en-US" sz="1200" dirty="0">
              <a:latin typeface="Meiryo UI"/>
              <a:ea typeface="Meiryo UI"/>
              <a:cs typeface="Meiryo UI"/>
              <a:sym typeface="Meiryo UI"/>
            </a:endParaRPr>
          </a:p>
        </p:txBody>
      </p:sp>
      <p:sp>
        <p:nvSpPr>
          <p:cNvPr id="37" name="Text 35"/>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38" name="Text 36"/>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3 / 12</a:t>
            </a:r>
            <a:endParaRPr lang="en-US" sz="1000" dirty="0">
              <a:latin typeface="Meiryo UI"/>
              <a:ea typeface="Meiryo UI"/>
              <a:cs typeface="Meiryo UI"/>
              <a:sym typeface="Meiryo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03  KEY POINT</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スマホ用サイトの工夫</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スマホで開いても、PC で開いても、見やすく崩れません。</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メニューも画像拡大も、指で気持ちよく操作できます。</a:t>
            </a:r>
            <a:endParaRPr lang="en-US" sz="1800" dirty="0">
              <a:latin typeface="Meiryo UI"/>
              <a:ea typeface="Meiryo UI"/>
              <a:cs typeface="Meiryo UI"/>
              <a:sym typeface="Meiryo UI"/>
            </a:endParaRPr>
          </a:p>
        </p:txBody>
      </p:sp>
      <p:sp>
        <p:nvSpPr>
          <p:cNvPr id="10" name="Shape 8"/>
          <p:cNvSpPr/>
          <p:nvPr/>
        </p:nvSpPr>
        <p:spPr>
          <a:xfrm>
            <a:off x="548640" y="2971800"/>
            <a:ext cx="5486400" cy="1600200"/>
          </a:xfrm>
          <a:prstGeom prst="rect">
            <a:avLst/>
          </a:prstGeom>
          <a:solidFill>
            <a:srgbClr val="F8FAFC"/>
          </a:solidFill>
          <a:ln w="6350">
            <a:solidFill>
              <a:srgbClr val="E2E8F0"/>
            </a:solidFill>
            <a:prstDash val="solid"/>
          </a:ln>
        </p:spPr>
        <p:txBody>
          <a:bodyPr/>
          <a:p/>
        </p:txBody>
      </p:sp>
      <p:sp>
        <p:nvSpPr>
          <p:cNvPr id="11" name="Shape 9"/>
          <p:cNvSpPr/>
          <p:nvPr/>
        </p:nvSpPr>
        <p:spPr>
          <a:xfrm>
            <a:off x="777240" y="3246120"/>
            <a:ext cx="685800" cy="685800"/>
          </a:xfrm>
          <a:prstGeom prst="ellipse">
            <a:avLst/>
          </a:prstGeom>
          <a:solidFill>
            <a:srgbClr val="2563EB"/>
          </a:solidFill>
          <a:ln/>
        </p:spPr>
        <p:txBody>
          <a:bodyPr/>
          <a:p/>
        </p:txBody>
      </p:sp>
      <p:sp>
        <p:nvSpPr>
          <p:cNvPr id="12" name="Text 10"/>
          <p:cNvSpPr/>
          <p:nvPr/>
        </p:nvSpPr>
        <p:spPr>
          <a:xfrm>
            <a:off x="777240" y="32461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sym typeface="Meiryo UI"/>
              </a:rPr>
              <a:t>M</a:t>
            </a:r>
            <a:endParaRPr lang="en-US" sz="2400" dirty="0">
              <a:latin typeface="Meiryo UI"/>
              <a:ea typeface="Meiryo UI"/>
              <a:cs typeface="Meiryo UI"/>
              <a:sym typeface="Meiryo UI"/>
            </a:endParaRPr>
          </a:p>
        </p:txBody>
      </p:sp>
      <p:sp>
        <p:nvSpPr>
          <p:cNvPr id="13" name="Text 11"/>
          <p:cNvSpPr/>
          <p:nvPr/>
        </p:nvSpPr>
        <p:spPr>
          <a:xfrm>
            <a:off x="1600200" y="3108960"/>
            <a:ext cx="429768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モバイルファースト設計</a:t>
            </a:r>
            <a:endParaRPr lang="en-US" sz="1500" dirty="0">
              <a:latin typeface="Meiryo UI"/>
              <a:ea typeface="Meiryo UI"/>
              <a:cs typeface="Meiryo UI"/>
              <a:sym typeface="Meiryo UI"/>
            </a:endParaRPr>
          </a:p>
        </p:txBody>
      </p:sp>
      <p:sp>
        <p:nvSpPr>
          <p:cNvPr id="14" name="Text 12"/>
          <p:cNvSpPr/>
          <p:nvPr/>
        </p:nvSpPr>
        <p:spPr>
          <a:xfrm>
            <a:off x="1600200" y="3474720"/>
            <a:ext cx="4297680" cy="64008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「スマホ前提で作って大画面で上書き」する書き方。PC でも崩れない。</a:t>
            </a:r>
            <a:endParaRPr lang="en-US" sz="1200" dirty="0">
              <a:latin typeface="Meiryo UI"/>
              <a:ea typeface="Meiryo UI"/>
              <a:cs typeface="Meiryo UI"/>
              <a:sym typeface="Meiryo UI"/>
            </a:endParaRPr>
          </a:p>
        </p:txBody>
      </p:sp>
      <p:sp>
        <p:nvSpPr>
          <p:cNvPr id="15" name="Shape 13"/>
          <p:cNvSpPr/>
          <p:nvPr/>
        </p:nvSpPr>
        <p:spPr>
          <a:xfrm>
            <a:off x="1600200" y="4160520"/>
            <a:ext cx="1371600" cy="329184"/>
          </a:xfrm>
          <a:prstGeom prst="rect">
            <a:avLst/>
          </a:prstGeom>
          <a:solidFill>
            <a:srgbClr val="FFFFFF"/>
          </a:solidFill>
          <a:ln w="6350">
            <a:solidFill>
              <a:srgbClr val="E2E8F0"/>
            </a:solidFill>
            <a:prstDash val="solid"/>
          </a:ln>
        </p:spPr>
        <p:txBody>
          <a:bodyPr/>
          <a:p/>
        </p:txBody>
      </p:sp>
      <p:sp>
        <p:nvSpPr>
          <p:cNvPr id="16" name="Text 14"/>
          <p:cNvSpPr/>
          <p:nvPr/>
        </p:nvSpPr>
        <p:spPr>
          <a:xfrm>
            <a:off x="160020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sm: 640px</a:t>
            </a:r>
            <a:endParaRPr lang="en-US" sz="1000" dirty="0">
              <a:latin typeface="Meiryo UI"/>
              <a:ea typeface="Meiryo UI"/>
              <a:cs typeface="Meiryo UI"/>
              <a:sym typeface="Meiryo UI"/>
            </a:endParaRPr>
          </a:p>
        </p:txBody>
      </p:sp>
      <p:sp>
        <p:nvSpPr>
          <p:cNvPr id="17" name="Shape 15"/>
          <p:cNvSpPr/>
          <p:nvPr/>
        </p:nvSpPr>
        <p:spPr>
          <a:xfrm>
            <a:off x="3063240" y="4160520"/>
            <a:ext cx="1371600" cy="329184"/>
          </a:xfrm>
          <a:prstGeom prst="rect">
            <a:avLst/>
          </a:prstGeom>
          <a:solidFill>
            <a:srgbClr val="FFFFFF"/>
          </a:solidFill>
          <a:ln w="6350">
            <a:solidFill>
              <a:srgbClr val="E2E8F0"/>
            </a:solidFill>
            <a:prstDash val="solid"/>
          </a:ln>
        </p:spPr>
        <p:txBody>
          <a:bodyPr/>
          <a:p/>
        </p:txBody>
      </p:sp>
      <p:sp>
        <p:nvSpPr>
          <p:cNvPr id="18" name="Text 16"/>
          <p:cNvSpPr/>
          <p:nvPr/>
        </p:nvSpPr>
        <p:spPr>
          <a:xfrm>
            <a:off x="306324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md: 768px</a:t>
            </a:r>
            <a:endParaRPr lang="en-US" sz="1000" dirty="0">
              <a:latin typeface="Meiryo UI"/>
              <a:ea typeface="Meiryo UI"/>
              <a:cs typeface="Meiryo UI"/>
              <a:sym typeface="Meiryo UI"/>
            </a:endParaRPr>
          </a:p>
        </p:txBody>
      </p:sp>
      <p:sp>
        <p:nvSpPr>
          <p:cNvPr id="19" name="Shape 17"/>
          <p:cNvSpPr/>
          <p:nvPr/>
        </p:nvSpPr>
        <p:spPr>
          <a:xfrm>
            <a:off x="4526280" y="4160520"/>
            <a:ext cx="1371600" cy="329184"/>
          </a:xfrm>
          <a:prstGeom prst="rect">
            <a:avLst/>
          </a:prstGeom>
          <a:solidFill>
            <a:srgbClr val="FFFFFF"/>
          </a:solidFill>
          <a:ln w="6350">
            <a:solidFill>
              <a:srgbClr val="E2E8F0"/>
            </a:solidFill>
            <a:prstDash val="solid"/>
          </a:ln>
        </p:spPr>
        <p:txBody>
          <a:bodyPr/>
          <a:p/>
        </p:txBody>
      </p:sp>
      <p:sp>
        <p:nvSpPr>
          <p:cNvPr id="20" name="Text 18"/>
          <p:cNvSpPr/>
          <p:nvPr/>
        </p:nvSpPr>
        <p:spPr>
          <a:xfrm>
            <a:off x="452628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lg: 1024px</a:t>
            </a:r>
            <a:endParaRPr lang="en-US" sz="1000" dirty="0">
              <a:latin typeface="Meiryo UI"/>
              <a:ea typeface="Meiryo UI"/>
              <a:cs typeface="Meiryo UI"/>
              <a:sym typeface="Meiryo UI"/>
            </a:endParaRPr>
          </a:p>
        </p:txBody>
      </p:sp>
      <p:sp>
        <p:nvSpPr>
          <p:cNvPr id="21" name="Shape 19"/>
          <p:cNvSpPr/>
          <p:nvPr/>
        </p:nvSpPr>
        <p:spPr>
          <a:xfrm>
            <a:off x="6172200" y="2971800"/>
            <a:ext cx="5486400" cy="1600200"/>
          </a:xfrm>
          <a:prstGeom prst="rect">
            <a:avLst/>
          </a:prstGeom>
          <a:solidFill>
            <a:srgbClr val="F8FAFC"/>
          </a:solidFill>
          <a:ln w="6350">
            <a:solidFill>
              <a:srgbClr val="E2E8F0"/>
            </a:solidFill>
            <a:prstDash val="solid"/>
          </a:ln>
        </p:spPr>
        <p:txBody>
          <a:bodyPr/>
          <a:p/>
        </p:txBody>
      </p:sp>
      <p:sp>
        <p:nvSpPr>
          <p:cNvPr id="22" name="Shape 20"/>
          <p:cNvSpPr/>
          <p:nvPr/>
        </p:nvSpPr>
        <p:spPr>
          <a:xfrm>
            <a:off x="6400800" y="3246120"/>
            <a:ext cx="685800" cy="685800"/>
          </a:xfrm>
          <a:prstGeom prst="ellipse">
            <a:avLst/>
          </a:prstGeom>
          <a:solidFill>
            <a:srgbClr val="EBC528"/>
          </a:solidFill>
          <a:ln/>
        </p:spPr>
        <p:txBody>
          <a:bodyPr/>
          <a:p/>
        </p:txBody>
      </p:sp>
      <p:sp>
        <p:nvSpPr>
          <p:cNvPr id="23" name="Text 21"/>
          <p:cNvSpPr/>
          <p:nvPr/>
        </p:nvSpPr>
        <p:spPr>
          <a:xfrm>
            <a:off x="6400800" y="3246120"/>
            <a:ext cx="685800" cy="685800"/>
          </a:xfrm>
          <a:prstGeom prst="rect">
            <a:avLst/>
          </a:prstGeom>
          <a:noFill/>
          <a:ln/>
        </p:spPr>
        <p:txBody>
          <a:bodyPr wrap="square" lIns="0" tIns="0" rIns="0" bIns="0" rtlCol="0" anchor="ctr"/>
          <a:lstStyle/>
          <a:p>
            <a:pPr algn="ctr" indent="0" marL="0">
              <a:buNone/>
            </a:pPr>
            <a:r>
              <a:rPr lang="en-US" sz="2400" b="1" dirty="0">
                <a:solidFill>
                  <a:srgbClr val="0F172A"/>
                </a:solidFill>
                <a:latin typeface="Meiryo UI" pitchFamily="34" charset="0"/>
                <a:ea typeface="Meiryo UI" pitchFamily="34" charset="-122"/>
                <a:cs typeface="Meiryo UI" pitchFamily="34" charset="-120"/>
                <a:sym typeface="Meiryo UI"/>
              </a:rPr>
              <a:t>≡</a:t>
            </a:r>
            <a:endParaRPr lang="en-US" sz="2400" dirty="0">
              <a:latin typeface="Meiryo UI"/>
              <a:ea typeface="Meiryo UI"/>
              <a:cs typeface="Meiryo UI"/>
              <a:sym typeface="Meiryo UI"/>
            </a:endParaRPr>
          </a:p>
        </p:txBody>
      </p:sp>
      <p:sp>
        <p:nvSpPr>
          <p:cNvPr id="24" name="Text 22"/>
          <p:cNvSpPr/>
          <p:nvPr/>
        </p:nvSpPr>
        <p:spPr>
          <a:xfrm>
            <a:off x="7223760" y="3108960"/>
            <a:ext cx="429768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右からスライドメニュー</a:t>
            </a:r>
            <a:endParaRPr lang="en-US" sz="1500" dirty="0">
              <a:latin typeface="Meiryo UI"/>
              <a:ea typeface="Meiryo UI"/>
              <a:cs typeface="Meiryo UI"/>
              <a:sym typeface="Meiryo UI"/>
            </a:endParaRPr>
          </a:p>
        </p:txBody>
      </p:sp>
      <p:sp>
        <p:nvSpPr>
          <p:cNvPr id="25" name="Text 23"/>
          <p:cNvSpPr/>
          <p:nvPr/>
        </p:nvSpPr>
        <p:spPr>
          <a:xfrm>
            <a:off x="7223760" y="3474720"/>
            <a:ext cx="4297680" cy="64008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ハンバーガーを押すと右からメニュー。ESC・外側クリック・遷移で自動で閉じる。</a:t>
            </a:r>
            <a:endParaRPr lang="en-US" sz="1200" dirty="0">
              <a:latin typeface="Meiryo UI"/>
              <a:ea typeface="Meiryo UI"/>
              <a:cs typeface="Meiryo UI"/>
              <a:sym typeface="Meiryo UI"/>
            </a:endParaRPr>
          </a:p>
        </p:txBody>
      </p:sp>
      <p:sp>
        <p:nvSpPr>
          <p:cNvPr id="26" name="Shape 24"/>
          <p:cNvSpPr/>
          <p:nvPr/>
        </p:nvSpPr>
        <p:spPr>
          <a:xfrm>
            <a:off x="7223760" y="4160520"/>
            <a:ext cx="1371600" cy="329184"/>
          </a:xfrm>
          <a:prstGeom prst="rect">
            <a:avLst/>
          </a:prstGeom>
          <a:solidFill>
            <a:srgbClr val="FFFFFF"/>
          </a:solidFill>
          <a:ln w="6350">
            <a:solidFill>
              <a:srgbClr val="E2E8F0"/>
            </a:solidFill>
            <a:prstDash val="solid"/>
          </a:ln>
        </p:spPr>
        <p:txBody>
          <a:bodyPr/>
          <a:p/>
        </p:txBody>
      </p:sp>
      <p:sp>
        <p:nvSpPr>
          <p:cNvPr id="27" name="Text 25"/>
          <p:cNvSpPr/>
          <p:nvPr/>
        </p:nvSpPr>
        <p:spPr>
          <a:xfrm>
            <a:off x="722376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useState</a:t>
            </a:r>
            <a:endParaRPr lang="en-US" sz="1000" dirty="0">
              <a:latin typeface="Meiryo UI"/>
              <a:ea typeface="Meiryo UI"/>
              <a:cs typeface="Meiryo UI"/>
              <a:sym typeface="Meiryo UI"/>
            </a:endParaRPr>
          </a:p>
        </p:txBody>
      </p:sp>
      <p:sp>
        <p:nvSpPr>
          <p:cNvPr id="28" name="Shape 26"/>
          <p:cNvSpPr/>
          <p:nvPr/>
        </p:nvSpPr>
        <p:spPr>
          <a:xfrm>
            <a:off x="8686800" y="4160520"/>
            <a:ext cx="1371600" cy="329184"/>
          </a:xfrm>
          <a:prstGeom prst="rect">
            <a:avLst/>
          </a:prstGeom>
          <a:solidFill>
            <a:srgbClr val="FFFFFF"/>
          </a:solidFill>
          <a:ln w="6350">
            <a:solidFill>
              <a:srgbClr val="E2E8F0"/>
            </a:solidFill>
            <a:prstDash val="solid"/>
          </a:ln>
        </p:spPr>
        <p:txBody>
          <a:bodyPr/>
          <a:p/>
        </p:txBody>
      </p:sp>
      <p:sp>
        <p:nvSpPr>
          <p:cNvPr id="29" name="Text 27"/>
          <p:cNvSpPr/>
          <p:nvPr/>
        </p:nvSpPr>
        <p:spPr>
          <a:xfrm>
            <a:off x="868680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ESC キー</a:t>
            </a:r>
            <a:endParaRPr lang="en-US" sz="1000" dirty="0">
              <a:latin typeface="Meiryo UI"/>
              <a:ea typeface="Meiryo UI"/>
              <a:cs typeface="Meiryo UI"/>
              <a:sym typeface="Meiryo UI"/>
            </a:endParaRPr>
          </a:p>
        </p:txBody>
      </p:sp>
      <p:sp>
        <p:nvSpPr>
          <p:cNvPr id="30" name="Shape 28"/>
          <p:cNvSpPr/>
          <p:nvPr/>
        </p:nvSpPr>
        <p:spPr>
          <a:xfrm>
            <a:off x="10149840" y="4160520"/>
            <a:ext cx="1371600" cy="329184"/>
          </a:xfrm>
          <a:prstGeom prst="rect">
            <a:avLst/>
          </a:prstGeom>
          <a:solidFill>
            <a:srgbClr val="FFFFFF"/>
          </a:solidFill>
          <a:ln w="6350">
            <a:solidFill>
              <a:srgbClr val="E2E8F0"/>
            </a:solidFill>
            <a:prstDash val="solid"/>
          </a:ln>
        </p:spPr>
        <p:txBody>
          <a:bodyPr/>
          <a:p/>
        </p:txBody>
      </p:sp>
      <p:sp>
        <p:nvSpPr>
          <p:cNvPr id="31" name="Text 29"/>
          <p:cNvSpPr/>
          <p:nvPr/>
        </p:nvSpPr>
        <p:spPr>
          <a:xfrm>
            <a:off x="10149840" y="416052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遷移検知</a:t>
            </a:r>
            <a:endParaRPr lang="en-US" sz="1000" dirty="0">
              <a:latin typeface="Meiryo UI"/>
              <a:ea typeface="Meiryo UI"/>
              <a:cs typeface="Meiryo UI"/>
              <a:sym typeface="Meiryo UI"/>
            </a:endParaRPr>
          </a:p>
        </p:txBody>
      </p:sp>
      <p:sp>
        <p:nvSpPr>
          <p:cNvPr id="32" name="Shape 30"/>
          <p:cNvSpPr/>
          <p:nvPr/>
        </p:nvSpPr>
        <p:spPr>
          <a:xfrm>
            <a:off x="548640" y="4663440"/>
            <a:ext cx="5486400" cy="1600200"/>
          </a:xfrm>
          <a:prstGeom prst="rect">
            <a:avLst/>
          </a:prstGeom>
          <a:solidFill>
            <a:srgbClr val="F8FAFC"/>
          </a:solidFill>
          <a:ln w="6350">
            <a:solidFill>
              <a:srgbClr val="E2E8F0"/>
            </a:solidFill>
            <a:prstDash val="solid"/>
          </a:ln>
        </p:spPr>
        <p:txBody>
          <a:bodyPr/>
          <a:p/>
        </p:txBody>
      </p:sp>
      <p:sp>
        <p:nvSpPr>
          <p:cNvPr id="33" name="Shape 31"/>
          <p:cNvSpPr/>
          <p:nvPr/>
        </p:nvSpPr>
        <p:spPr>
          <a:xfrm>
            <a:off x="777240" y="4937760"/>
            <a:ext cx="685800" cy="685800"/>
          </a:xfrm>
          <a:prstGeom prst="ellipse">
            <a:avLst/>
          </a:prstGeom>
          <a:solidFill>
            <a:srgbClr val="10B981"/>
          </a:solidFill>
          <a:ln/>
        </p:spPr>
        <p:txBody>
          <a:bodyPr/>
          <a:p/>
        </p:txBody>
      </p:sp>
      <p:sp>
        <p:nvSpPr>
          <p:cNvPr id="34" name="Text 32"/>
          <p:cNvSpPr/>
          <p:nvPr/>
        </p:nvSpPr>
        <p:spPr>
          <a:xfrm>
            <a:off x="777240" y="4937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sym typeface="Meiryo UI"/>
              </a:rPr>
              <a:t>↕</a:t>
            </a:r>
            <a:endParaRPr lang="en-US" sz="2400" dirty="0">
              <a:latin typeface="Meiryo UI"/>
              <a:ea typeface="Meiryo UI"/>
              <a:cs typeface="Meiryo UI"/>
              <a:sym typeface="Meiryo UI"/>
            </a:endParaRPr>
          </a:p>
        </p:txBody>
      </p:sp>
      <p:sp>
        <p:nvSpPr>
          <p:cNvPr id="35" name="Text 33"/>
          <p:cNvSpPr/>
          <p:nvPr/>
        </p:nvSpPr>
        <p:spPr>
          <a:xfrm>
            <a:off x="1600200" y="4800600"/>
            <a:ext cx="429768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メニュー中は背景固定</a:t>
            </a:r>
            <a:endParaRPr lang="en-US" sz="1500" dirty="0">
              <a:latin typeface="Meiryo UI"/>
              <a:ea typeface="Meiryo UI"/>
              <a:cs typeface="Meiryo UI"/>
              <a:sym typeface="Meiryo UI"/>
            </a:endParaRPr>
          </a:p>
        </p:txBody>
      </p:sp>
      <p:sp>
        <p:nvSpPr>
          <p:cNvPr id="36" name="Text 34"/>
          <p:cNvSpPr/>
          <p:nvPr/>
        </p:nvSpPr>
        <p:spPr>
          <a:xfrm>
            <a:off x="1600200" y="5166360"/>
            <a:ext cx="4297680" cy="64008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メニューを開いている間、背景ページが一緒にスクロールしない工夫。</a:t>
            </a:r>
            <a:endParaRPr lang="en-US" sz="1200" dirty="0">
              <a:latin typeface="Meiryo UI"/>
              <a:ea typeface="Meiryo UI"/>
              <a:cs typeface="Meiryo UI"/>
              <a:sym typeface="Meiryo UI"/>
            </a:endParaRPr>
          </a:p>
        </p:txBody>
      </p:sp>
      <p:sp>
        <p:nvSpPr>
          <p:cNvPr id="37" name="Shape 35"/>
          <p:cNvSpPr/>
          <p:nvPr/>
        </p:nvSpPr>
        <p:spPr>
          <a:xfrm>
            <a:off x="1600200" y="5852160"/>
            <a:ext cx="1371600" cy="329184"/>
          </a:xfrm>
          <a:prstGeom prst="rect">
            <a:avLst/>
          </a:prstGeom>
          <a:solidFill>
            <a:srgbClr val="FFFFFF"/>
          </a:solidFill>
          <a:ln w="6350">
            <a:solidFill>
              <a:srgbClr val="E2E8F0"/>
            </a:solidFill>
            <a:prstDash val="solid"/>
          </a:ln>
        </p:spPr>
        <p:txBody>
          <a:bodyPr/>
          <a:p/>
        </p:txBody>
      </p:sp>
      <p:sp>
        <p:nvSpPr>
          <p:cNvPr id="38" name="Text 36"/>
          <p:cNvSpPr/>
          <p:nvPr/>
        </p:nvSpPr>
        <p:spPr>
          <a:xfrm>
            <a:off x="160020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body lock</a:t>
            </a:r>
            <a:endParaRPr lang="en-US" sz="1000" dirty="0">
              <a:latin typeface="Meiryo UI"/>
              <a:ea typeface="Meiryo UI"/>
              <a:cs typeface="Meiryo UI"/>
              <a:sym typeface="Meiryo UI"/>
            </a:endParaRPr>
          </a:p>
        </p:txBody>
      </p:sp>
      <p:sp>
        <p:nvSpPr>
          <p:cNvPr id="39" name="Shape 37"/>
          <p:cNvSpPr/>
          <p:nvPr/>
        </p:nvSpPr>
        <p:spPr>
          <a:xfrm>
            <a:off x="3063240" y="5852160"/>
            <a:ext cx="1371600" cy="329184"/>
          </a:xfrm>
          <a:prstGeom prst="rect">
            <a:avLst/>
          </a:prstGeom>
          <a:solidFill>
            <a:srgbClr val="FFFFFF"/>
          </a:solidFill>
          <a:ln w="6350">
            <a:solidFill>
              <a:srgbClr val="E2E8F0"/>
            </a:solidFill>
            <a:prstDash val="solid"/>
          </a:ln>
        </p:spPr>
        <p:txBody>
          <a:bodyPr/>
          <a:p/>
        </p:txBody>
      </p:sp>
      <p:sp>
        <p:nvSpPr>
          <p:cNvPr id="40" name="Text 38"/>
          <p:cNvSpPr/>
          <p:nvPr/>
        </p:nvSpPr>
        <p:spPr>
          <a:xfrm>
            <a:off x="306324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状態復元</a:t>
            </a:r>
            <a:endParaRPr lang="en-US" sz="1000" dirty="0">
              <a:latin typeface="Meiryo UI"/>
              <a:ea typeface="Meiryo UI"/>
              <a:cs typeface="Meiryo UI"/>
              <a:sym typeface="Meiryo UI"/>
            </a:endParaRPr>
          </a:p>
        </p:txBody>
      </p:sp>
      <p:sp>
        <p:nvSpPr>
          <p:cNvPr id="41" name="Shape 39"/>
          <p:cNvSpPr/>
          <p:nvPr/>
        </p:nvSpPr>
        <p:spPr>
          <a:xfrm>
            <a:off x="4526280" y="5852160"/>
            <a:ext cx="1371600" cy="329184"/>
          </a:xfrm>
          <a:prstGeom prst="rect">
            <a:avLst/>
          </a:prstGeom>
          <a:solidFill>
            <a:srgbClr val="FFFFFF"/>
          </a:solidFill>
          <a:ln w="6350">
            <a:solidFill>
              <a:srgbClr val="E2E8F0"/>
            </a:solidFill>
            <a:prstDash val="solid"/>
          </a:ln>
        </p:spPr>
        <p:txBody>
          <a:bodyPr/>
          <a:p/>
        </p:txBody>
      </p:sp>
      <p:sp>
        <p:nvSpPr>
          <p:cNvPr id="42" name="Text 40"/>
          <p:cNvSpPr/>
          <p:nvPr/>
        </p:nvSpPr>
        <p:spPr>
          <a:xfrm>
            <a:off x="452628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UX 安定</a:t>
            </a:r>
            <a:endParaRPr lang="en-US" sz="1000" dirty="0">
              <a:latin typeface="Meiryo UI"/>
              <a:ea typeface="Meiryo UI"/>
              <a:cs typeface="Meiryo UI"/>
              <a:sym typeface="Meiryo UI"/>
            </a:endParaRPr>
          </a:p>
        </p:txBody>
      </p:sp>
      <p:sp>
        <p:nvSpPr>
          <p:cNvPr id="43" name="Shape 41"/>
          <p:cNvSpPr/>
          <p:nvPr/>
        </p:nvSpPr>
        <p:spPr>
          <a:xfrm>
            <a:off x="6172200" y="4663440"/>
            <a:ext cx="5486400" cy="1600200"/>
          </a:xfrm>
          <a:prstGeom prst="rect">
            <a:avLst/>
          </a:prstGeom>
          <a:solidFill>
            <a:srgbClr val="F8FAFC"/>
          </a:solidFill>
          <a:ln w="6350">
            <a:solidFill>
              <a:srgbClr val="E2E8F0"/>
            </a:solidFill>
            <a:prstDash val="solid"/>
          </a:ln>
        </p:spPr>
        <p:txBody>
          <a:bodyPr/>
          <a:p/>
        </p:txBody>
      </p:sp>
      <p:sp>
        <p:nvSpPr>
          <p:cNvPr id="44" name="Shape 42"/>
          <p:cNvSpPr/>
          <p:nvPr/>
        </p:nvSpPr>
        <p:spPr>
          <a:xfrm>
            <a:off x="6400800" y="4937760"/>
            <a:ext cx="685800" cy="685800"/>
          </a:xfrm>
          <a:prstGeom prst="ellipse">
            <a:avLst/>
          </a:prstGeom>
          <a:solidFill>
            <a:srgbClr val="7C3AED"/>
          </a:solidFill>
          <a:ln/>
        </p:spPr>
        <p:txBody>
          <a:bodyPr/>
          <a:p/>
        </p:txBody>
      </p:sp>
      <p:sp>
        <p:nvSpPr>
          <p:cNvPr id="45" name="Text 43"/>
          <p:cNvSpPr/>
          <p:nvPr/>
        </p:nvSpPr>
        <p:spPr>
          <a:xfrm>
            <a:off x="6400800" y="49377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sym typeface="Meiryo UI"/>
              </a:rPr>
              <a:t>+</a:t>
            </a:r>
            <a:endParaRPr lang="en-US" sz="2400" dirty="0">
              <a:latin typeface="Meiryo UI"/>
              <a:ea typeface="Meiryo UI"/>
              <a:cs typeface="Meiryo UI"/>
              <a:sym typeface="Meiryo UI"/>
            </a:endParaRPr>
          </a:p>
        </p:txBody>
      </p:sp>
      <p:sp>
        <p:nvSpPr>
          <p:cNvPr id="46" name="Text 44"/>
          <p:cNvSpPr/>
          <p:nvPr/>
        </p:nvSpPr>
        <p:spPr>
          <a:xfrm>
            <a:off x="7223760" y="4800600"/>
            <a:ext cx="429768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タップで画像拡大</a:t>
            </a:r>
            <a:endParaRPr lang="en-US" sz="1500" dirty="0">
              <a:latin typeface="Meiryo UI"/>
              <a:ea typeface="Meiryo UI"/>
              <a:cs typeface="Meiryo UI"/>
              <a:sym typeface="Meiryo UI"/>
            </a:endParaRPr>
          </a:p>
        </p:txBody>
      </p:sp>
      <p:sp>
        <p:nvSpPr>
          <p:cNvPr id="47" name="Text 45"/>
          <p:cNvSpPr/>
          <p:nvPr/>
        </p:nvSpPr>
        <p:spPr>
          <a:xfrm>
            <a:off x="7223760" y="5166360"/>
            <a:ext cx="4297680" cy="64008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アクセス情報の写真などをタップすると大きく見られる。再利用可能な部品。</a:t>
            </a:r>
            <a:endParaRPr lang="en-US" sz="1200" dirty="0">
              <a:latin typeface="Meiryo UI"/>
              <a:ea typeface="Meiryo UI"/>
              <a:cs typeface="Meiryo UI"/>
              <a:sym typeface="Meiryo UI"/>
            </a:endParaRPr>
          </a:p>
        </p:txBody>
      </p:sp>
      <p:sp>
        <p:nvSpPr>
          <p:cNvPr id="48" name="Shape 46"/>
          <p:cNvSpPr/>
          <p:nvPr/>
        </p:nvSpPr>
        <p:spPr>
          <a:xfrm>
            <a:off x="7223760" y="5852160"/>
            <a:ext cx="1371600" cy="329184"/>
          </a:xfrm>
          <a:prstGeom prst="rect">
            <a:avLst/>
          </a:prstGeom>
          <a:solidFill>
            <a:srgbClr val="FFFFFF"/>
          </a:solidFill>
          <a:ln w="6350">
            <a:solidFill>
              <a:srgbClr val="E2E8F0"/>
            </a:solidFill>
            <a:prstDash val="solid"/>
          </a:ln>
        </p:spPr>
        <p:txBody>
          <a:bodyPr/>
          <a:p/>
        </p:txBody>
      </p:sp>
      <p:sp>
        <p:nvSpPr>
          <p:cNvPr id="49" name="Text 47"/>
          <p:cNvSpPr/>
          <p:nvPr/>
        </p:nvSpPr>
        <p:spPr>
          <a:xfrm>
            <a:off x="722376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タップ拡大</a:t>
            </a:r>
            <a:endParaRPr lang="en-US" sz="1000" dirty="0">
              <a:latin typeface="Meiryo UI"/>
              <a:ea typeface="Meiryo UI"/>
              <a:cs typeface="Meiryo UI"/>
              <a:sym typeface="Meiryo UI"/>
            </a:endParaRPr>
          </a:p>
        </p:txBody>
      </p:sp>
      <p:sp>
        <p:nvSpPr>
          <p:cNvPr id="50" name="Shape 48"/>
          <p:cNvSpPr/>
          <p:nvPr/>
        </p:nvSpPr>
        <p:spPr>
          <a:xfrm>
            <a:off x="8686800" y="5852160"/>
            <a:ext cx="1371600" cy="329184"/>
          </a:xfrm>
          <a:prstGeom prst="rect">
            <a:avLst/>
          </a:prstGeom>
          <a:solidFill>
            <a:srgbClr val="FFFFFF"/>
          </a:solidFill>
          <a:ln w="6350">
            <a:solidFill>
              <a:srgbClr val="E2E8F0"/>
            </a:solidFill>
            <a:prstDash val="solid"/>
          </a:ln>
        </p:spPr>
        <p:txBody>
          <a:bodyPr/>
          <a:p/>
        </p:txBody>
      </p:sp>
      <p:sp>
        <p:nvSpPr>
          <p:cNvPr id="51" name="Text 49"/>
          <p:cNvSpPr/>
          <p:nvPr/>
        </p:nvSpPr>
        <p:spPr>
          <a:xfrm>
            <a:off x="868680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背景で閉じる</a:t>
            </a:r>
            <a:endParaRPr lang="en-US" sz="1000" dirty="0">
              <a:latin typeface="Meiryo UI"/>
              <a:ea typeface="Meiryo UI"/>
              <a:cs typeface="Meiryo UI"/>
              <a:sym typeface="Meiryo UI"/>
            </a:endParaRPr>
          </a:p>
        </p:txBody>
      </p:sp>
      <p:sp>
        <p:nvSpPr>
          <p:cNvPr id="52" name="Shape 50"/>
          <p:cNvSpPr/>
          <p:nvPr/>
        </p:nvSpPr>
        <p:spPr>
          <a:xfrm>
            <a:off x="10149840" y="5852160"/>
            <a:ext cx="1371600" cy="329184"/>
          </a:xfrm>
          <a:prstGeom prst="rect">
            <a:avLst/>
          </a:prstGeom>
          <a:solidFill>
            <a:srgbClr val="FFFFFF"/>
          </a:solidFill>
          <a:ln w="6350">
            <a:solidFill>
              <a:srgbClr val="E2E8F0"/>
            </a:solidFill>
            <a:prstDash val="solid"/>
          </a:ln>
        </p:spPr>
        <p:txBody>
          <a:bodyPr/>
          <a:p/>
        </p:txBody>
      </p:sp>
      <p:sp>
        <p:nvSpPr>
          <p:cNvPr id="53" name="Text 51"/>
          <p:cNvSpPr/>
          <p:nvPr/>
        </p:nvSpPr>
        <p:spPr>
          <a:xfrm>
            <a:off x="10149840" y="5852160"/>
            <a:ext cx="1371600" cy="329184"/>
          </a:xfrm>
          <a:prstGeom prst="rect">
            <a:avLst/>
          </a:prstGeom>
          <a:noFill/>
          <a:ln/>
        </p:spPr>
        <p:txBody>
          <a:bodyPr wrap="square" lIns="0" tIns="0" rIns="0" bIns="0" rtlCol="0" anchor="ctr"/>
          <a:lstStyle/>
          <a:p>
            <a:pPr algn="ctr" indent="0" marL="0">
              <a:buNone/>
            </a:pPr>
            <a:r>
              <a:rPr lang="en-US" sz="1000" b="1" dirty="0">
                <a:solidFill>
                  <a:srgbClr val="1E293B"/>
                </a:solidFill>
                <a:latin typeface="Meiryo UI" pitchFamily="34" charset="0"/>
                <a:ea typeface="Meiryo UI" pitchFamily="34" charset="-122"/>
                <a:cs typeface="Meiryo UI" pitchFamily="34" charset="-120"/>
                <a:sym typeface="Meiryo UI"/>
              </a:rPr>
              <a:t>再利用可</a:t>
            </a:r>
            <a:endParaRPr lang="en-US" sz="1000" dirty="0">
              <a:latin typeface="Meiryo UI"/>
              <a:ea typeface="Meiryo UI"/>
              <a:cs typeface="Meiryo UI"/>
              <a:sym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4 / 12</a:t>
            </a:r>
            <a:endParaRPr lang="en-US" sz="1000" dirty="0">
              <a:latin typeface="Meiryo UI"/>
              <a:ea typeface="Meiryo UI"/>
              <a:cs typeface="Meiryo UI"/>
              <a:sym typeface="Meiryo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04  KEY POINT</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アニメーションの工夫</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スクロールすると要素がふわっと現れる「気持ちいいサイト」にしました。</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ただ動かすだけでなく「軽い」「動きが苦手な人にも配慮」する工夫もしています。</a:t>
            </a:r>
            <a:endParaRPr lang="en-US" sz="1800" dirty="0">
              <a:latin typeface="Meiryo UI"/>
              <a:ea typeface="Meiryo UI"/>
              <a:cs typeface="Meiryo UI"/>
              <a:sym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Reveal × 共有 IntersectionObserver</a:t>
            </a:r>
            <a:endParaRPr lang="en-US" sz="1500" dirty="0">
              <a:latin typeface="Meiryo UI"/>
              <a:ea typeface="Meiryo UI"/>
              <a:cs typeface="Meiryo UI"/>
              <a:sym typeface="Meiryo UI"/>
            </a:endParaRPr>
          </a:p>
        </p:txBody>
      </p:sp>
      <p:sp>
        <p:nvSpPr>
          <p:cNvPr id="12" name="Shape 10"/>
          <p:cNvSpPr/>
          <p:nvPr/>
        </p:nvSpPr>
        <p:spPr>
          <a:xfrm>
            <a:off x="868680" y="3611880"/>
            <a:ext cx="1371600" cy="822960"/>
          </a:xfrm>
          <a:prstGeom prst="ellipse">
            <a:avLst/>
          </a:prstGeom>
          <a:solidFill>
            <a:srgbClr val="EBC528"/>
          </a:solidFill>
          <a:ln/>
        </p:spPr>
        <p:txBody>
          <a:bodyPr/>
          <a:p/>
        </p:txBody>
      </p:sp>
      <p:sp>
        <p:nvSpPr>
          <p:cNvPr id="13" name="Text 11"/>
          <p:cNvSpPr/>
          <p:nvPr/>
        </p:nvSpPr>
        <p:spPr>
          <a:xfrm>
            <a:off x="868680" y="3611880"/>
            <a:ext cx="1371600" cy="82296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スクロール</a:t>
            </a:r>
            <a:endParaRPr lang="en-US" sz="1200" dirty="0">
              <a:latin typeface="Meiryo UI"/>
              <a:ea typeface="Meiryo UI"/>
              <a:cs typeface="Meiryo UI"/>
              <a:sym typeface="Meiryo UI"/>
            </a:endParaRPr>
          </a:p>
        </p:txBody>
      </p:sp>
      <p:sp>
        <p:nvSpPr>
          <p:cNvPr id="14" name="Shape 12"/>
          <p:cNvSpPr/>
          <p:nvPr/>
        </p:nvSpPr>
        <p:spPr>
          <a:xfrm>
            <a:off x="2240280" y="3995928"/>
            <a:ext cx="274320" cy="54864"/>
          </a:xfrm>
          <a:prstGeom prst="rect">
            <a:avLst/>
          </a:prstGeom>
          <a:solidFill>
            <a:srgbClr val="0F172A"/>
          </a:solidFill>
          <a:ln/>
        </p:spPr>
        <p:txBody>
          <a:bodyPr/>
          <a:p/>
        </p:txBody>
      </p:sp>
      <p:sp>
        <p:nvSpPr>
          <p:cNvPr id="15" name="Shape 13"/>
          <p:cNvSpPr/>
          <p:nvPr/>
        </p:nvSpPr>
        <p:spPr>
          <a:xfrm>
            <a:off x="2514600" y="3611880"/>
            <a:ext cx="1371600" cy="822960"/>
          </a:xfrm>
          <a:prstGeom prst="ellipse">
            <a:avLst/>
          </a:prstGeom>
          <a:solidFill>
            <a:srgbClr val="EBC528"/>
          </a:solidFill>
          <a:ln/>
        </p:spPr>
        <p:txBody>
          <a:bodyPr/>
          <a:p/>
        </p:txBody>
      </p:sp>
      <p:sp>
        <p:nvSpPr>
          <p:cNvPr id="16" name="Text 14"/>
          <p:cNvSpPr/>
          <p:nvPr/>
        </p:nvSpPr>
        <p:spPr>
          <a:xfrm>
            <a:off x="2514600" y="3611880"/>
            <a:ext cx="1371600" cy="82296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Observer 検出</a:t>
            </a:r>
            <a:endParaRPr lang="en-US" sz="1200" dirty="0">
              <a:latin typeface="Meiryo UI"/>
              <a:ea typeface="Meiryo UI"/>
              <a:cs typeface="Meiryo UI"/>
              <a:sym typeface="Meiryo UI"/>
            </a:endParaRPr>
          </a:p>
        </p:txBody>
      </p:sp>
      <p:sp>
        <p:nvSpPr>
          <p:cNvPr id="17" name="Shape 15"/>
          <p:cNvSpPr/>
          <p:nvPr/>
        </p:nvSpPr>
        <p:spPr>
          <a:xfrm>
            <a:off x="3886200" y="3995928"/>
            <a:ext cx="274320" cy="54864"/>
          </a:xfrm>
          <a:prstGeom prst="rect">
            <a:avLst/>
          </a:prstGeom>
          <a:solidFill>
            <a:srgbClr val="0F172A"/>
          </a:solidFill>
          <a:ln/>
        </p:spPr>
        <p:txBody>
          <a:bodyPr/>
          <a:p/>
        </p:txBody>
      </p:sp>
      <p:sp>
        <p:nvSpPr>
          <p:cNvPr id="18" name="Shape 16"/>
          <p:cNvSpPr/>
          <p:nvPr/>
        </p:nvSpPr>
        <p:spPr>
          <a:xfrm>
            <a:off x="4160520" y="3611880"/>
            <a:ext cx="1371600" cy="822960"/>
          </a:xfrm>
          <a:prstGeom prst="ellipse">
            <a:avLst/>
          </a:prstGeom>
          <a:solidFill>
            <a:srgbClr val="EBC528"/>
          </a:solidFill>
          <a:ln/>
        </p:spPr>
        <p:txBody>
          <a:bodyPr/>
          <a:p/>
        </p:txBody>
      </p:sp>
      <p:sp>
        <p:nvSpPr>
          <p:cNvPr id="19" name="Text 17"/>
          <p:cNvSpPr/>
          <p:nvPr/>
        </p:nvSpPr>
        <p:spPr>
          <a:xfrm>
            <a:off x="4160520" y="3611880"/>
            <a:ext cx="1371600" cy="82296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CSS アニメ発火</a:t>
            </a:r>
            <a:endParaRPr lang="en-US" sz="1200" dirty="0">
              <a:latin typeface="Meiryo UI"/>
              <a:ea typeface="Meiryo UI"/>
              <a:cs typeface="Meiryo UI"/>
              <a:sym typeface="Meiryo UI"/>
            </a:endParaRPr>
          </a:p>
        </p:txBody>
      </p:sp>
      <p:sp>
        <p:nvSpPr>
          <p:cNvPr id="20" name="Text 18"/>
          <p:cNvSpPr/>
          <p:nvPr/>
        </p:nvSpPr>
        <p:spPr>
          <a:xfrm>
            <a:off x="822960" y="4572000"/>
            <a:ext cx="4937760" cy="320040"/>
          </a:xfrm>
          <a:prstGeom prst="rect">
            <a:avLst/>
          </a:prstGeom>
          <a:noFill/>
          <a:ln/>
        </p:spPr>
        <p:txBody>
          <a:bodyPr wrap="square" lIns="0" tIns="0" rIns="0" bIns="0" rtlCol="0" anchor="ctr"/>
          <a:lstStyle/>
          <a:p>
            <a:pPr indent="0" marL="0">
              <a:buNone/>
            </a:pPr>
            <a:r>
              <a:rPr lang="en-US" sz="1300" b="1" dirty="0">
                <a:solidFill>
                  <a:srgbClr val="0F172A"/>
                </a:solidFill>
                <a:latin typeface="Meiryo UI" pitchFamily="34" charset="0"/>
                <a:ea typeface="Meiryo UI" pitchFamily="34" charset="-122"/>
                <a:cs typeface="Meiryo UI" pitchFamily="34" charset="-120"/>
                <a:sym typeface="Meiryo UI"/>
              </a:rPr>
              <a:t>6 種類の動きを使い分け</a:t>
            </a:r>
            <a:endParaRPr lang="en-US" sz="1300" dirty="0">
              <a:latin typeface="Meiryo UI"/>
              <a:ea typeface="Meiryo UI"/>
              <a:cs typeface="Meiryo UI"/>
              <a:sym typeface="Meiryo UI"/>
            </a:endParaRPr>
          </a:p>
        </p:txBody>
      </p:sp>
      <p:sp>
        <p:nvSpPr>
          <p:cNvPr id="21" name="Text 19"/>
          <p:cNvSpPr/>
          <p:nvPr/>
        </p:nvSpPr>
        <p:spPr>
          <a:xfrm>
            <a:off x="822960" y="4892040"/>
            <a:ext cx="4937760" cy="868680"/>
          </a:xfrm>
          <a:prstGeom prst="rect">
            <a:avLst/>
          </a:prstGeom>
          <a:noFill/>
          <a:ln/>
        </p:spPr>
        <p:txBody>
          <a:bodyPr wrap="square" rtlCol="0" anchor="ctr"/>
          <a:lstStyle/>
          <a:p>
            <a:pPr marL="342900" indent="-342900">
              <a:spcAft>
                <a:spcPts val="3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fade-up / fade-up-strong（下からふわっと）</a:t>
            </a:r>
            <a:endParaRPr lang="en-US" sz="1100" dirty="0">
              <a:latin typeface="Meiryo UI"/>
              <a:ea typeface="Meiryo UI"/>
              <a:cs typeface="Meiryo UI"/>
              <a:sym typeface="Meiryo UI"/>
            </a:endParaRPr>
          </a:p>
          <a:p>
            <a:pPr marL="342900" indent="-342900">
              <a:spcAft>
                <a:spcPts val="3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fade / scale</a:t>
            </a:r>
            <a:endParaRPr lang="en-US" sz="1100" dirty="0">
              <a:latin typeface="Meiryo UI"/>
              <a:ea typeface="Meiryo UI"/>
              <a:cs typeface="Meiryo UI"/>
              <a:sym typeface="Meiryo UI"/>
            </a:endParaRPr>
          </a:p>
          <a:p>
            <a:pPr marL="342900" indent="-342900">
              <a:spcAft>
                <a:spcPts val="3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slide-right / slide-left（横からスライド）</a:t>
            </a:r>
            <a:endParaRPr lang="en-US" sz="1100" dirty="0">
              <a:latin typeface="Meiryo UI"/>
              <a:ea typeface="Meiryo UI"/>
              <a:cs typeface="Meiryo UI"/>
              <a:sym typeface="Meiryo UI"/>
            </a:endParaRPr>
          </a:p>
        </p:txBody>
      </p:sp>
      <p:sp>
        <p:nvSpPr>
          <p:cNvPr id="22" name="Shape 20"/>
          <p:cNvSpPr/>
          <p:nvPr/>
        </p:nvSpPr>
        <p:spPr>
          <a:xfrm>
            <a:off x="822960" y="5760720"/>
            <a:ext cx="4937760" cy="411480"/>
          </a:xfrm>
          <a:prstGeom prst="rect">
            <a:avLst/>
          </a:prstGeom>
          <a:solidFill>
            <a:srgbClr val="0F172A"/>
          </a:solidFill>
          <a:ln/>
        </p:spPr>
        <p:txBody>
          <a:bodyPr/>
          <a:p/>
        </p:txBody>
      </p:sp>
      <p:sp>
        <p:nvSpPr>
          <p:cNvPr id="23" name="Text 21"/>
          <p:cNvSpPr/>
          <p:nvPr/>
        </p:nvSpPr>
        <p:spPr>
          <a:xfrm>
            <a:off x="960120" y="5760720"/>
            <a:ext cx="4754880" cy="411480"/>
          </a:xfrm>
          <a:prstGeom prst="rect">
            <a:avLst/>
          </a:prstGeom>
          <a:noFill/>
          <a:ln/>
        </p:spPr>
        <p:txBody>
          <a:bodyPr wrap="square" lIns="0" tIns="0" rIns="0" bIns="0" rtlCol="0" anchor="ctr"/>
          <a:lstStyle/>
          <a:p>
            <a:pPr indent="0" marL="0">
              <a:buNone/>
            </a:pPr>
            <a:r>
              <a:rPr lang="en-US" sz="1100" b="1" dirty="0">
                <a:solidFill>
                  <a:srgbClr val="EBC528"/>
                </a:solidFill>
                <a:latin typeface="Meiryo UI" pitchFamily="34" charset="0"/>
                <a:ea typeface="Meiryo UI" pitchFamily="34" charset="-122"/>
                <a:cs typeface="Meiryo UI" pitchFamily="34" charset="-120"/>
                <a:sym typeface="Meiryo UI"/>
              </a:rPr>
              <a:t>工夫：20 個動かしても監視役は 1 個だけ</a:t>
            </a:r>
            <a:endParaRPr lang="en-US" sz="1100" dirty="0">
              <a:latin typeface="Meiryo UI"/>
              <a:ea typeface="Meiryo UI"/>
              <a:cs typeface="Meiryo UI"/>
              <a:sym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場所ごとに違う動きを使い分け</a:t>
            </a:r>
            <a:endParaRPr lang="en-US" sz="1500" dirty="0">
              <a:latin typeface="Meiryo UI"/>
              <a:ea typeface="Meiryo UI"/>
              <a:cs typeface="Meiryo UI"/>
              <a:sym typeface="Meiryo UI"/>
            </a:endParaRPr>
          </a:p>
        </p:txBody>
      </p:sp>
      <p:sp>
        <p:nvSpPr>
          <p:cNvPr id="25" name="Shape 23"/>
          <p:cNvSpPr/>
          <p:nvPr/>
        </p:nvSpPr>
        <p:spPr>
          <a:xfrm>
            <a:off x="6400800" y="3474720"/>
            <a:ext cx="5212080" cy="502920"/>
          </a:xfrm>
          <a:prstGeom prst="rect">
            <a:avLst/>
          </a:prstGeom>
          <a:solidFill>
            <a:srgbClr val="FFFFFF"/>
          </a:solidFill>
          <a:ln w="6350">
            <a:solidFill>
              <a:srgbClr val="E2E8F0"/>
            </a:solidFill>
            <a:prstDash val="solid"/>
          </a:ln>
        </p:spPr>
        <p:txBody>
          <a:bodyPr/>
          <a:p/>
        </p:txBody>
      </p:sp>
      <p:sp>
        <p:nvSpPr>
          <p:cNvPr id="26" name="Shape 24"/>
          <p:cNvSpPr/>
          <p:nvPr/>
        </p:nvSpPr>
        <p:spPr>
          <a:xfrm>
            <a:off x="6400800" y="3474720"/>
            <a:ext cx="73152" cy="502920"/>
          </a:xfrm>
          <a:prstGeom prst="rect">
            <a:avLst/>
          </a:prstGeom>
          <a:solidFill>
            <a:srgbClr val="EBC528"/>
          </a:solidFill>
          <a:ln/>
        </p:spPr>
        <p:txBody>
          <a:bodyPr/>
          <a:p/>
        </p:txBody>
      </p:sp>
      <p:sp>
        <p:nvSpPr>
          <p:cNvPr id="27" name="Text 25"/>
          <p:cNvSpPr/>
          <p:nvPr/>
        </p:nvSpPr>
        <p:spPr>
          <a:xfrm>
            <a:off x="6583680" y="3511296"/>
            <a:ext cx="4937760" cy="237744"/>
          </a:xfrm>
          <a:prstGeom prst="rect">
            <a:avLst/>
          </a:prstGeom>
          <a:noFill/>
          <a:ln/>
        </p:spPr>
        <p:txBody>
          <a:bodyPr wrap="square" lIns="0" tIns="0" rIns="0" bIns="0" rtlCol="0" anchor="ctr"/>
          <a:lstStyle/>
          <a:p>
            <a:pPr indent="0" marL="0">
              <a:buNone/>
            </a:pPr>
            <a:r>
              <a:rPr lang="en-US" sz="1100" b="1" dirty="0">
                <a:solidFill>
                  <a:srgbClr val="0F172A"/>
                </a:solidFill>
                <a:latin typeface="Meiryo UI" pitchFamily="34" charset="0"/>
                <a:ea typeface="Meiryo UI" pitchFamily="34" charset="-122"/>
                <a:cs typeface="Meiryo UI" pitchFamily="34" charset="-120"/>
                <a:sym typeface="Meiryo UI"/>
              </a:rPr>
              <a:t>ヒーロー：右からスライド</a:t>
            </a:r>
            <a:endParaRPr lang="en-US" sz="1100" dirty="0">
              <a:latin typeface="Meiryo UI"/>
              <a:ea typeface="Meiryo UI"/>
              <a:cs typeface="Meiryo UI"/>
              <a:sym typeface="Meiryo UI"/>
            </a:endParaRPr>
          </a:p>
        </p:txBody>
      </p:sp>
      <p:sp>
        <p:nvSpPr>
          <p:cNvPr id="28" name="Text 26"/>
          <p:cNvSpPr/>
          <p:nvPr/>
        </p:nvSpPr>
        <p:spPr>
          <a:xfrm>
            <a:off x="6583680" y="3730752"/>
            <a:ext cx="4937760" cy="219456"/>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1秒・easing でキャッチコピーが流れ込む</a:t>
            </a:r>
            <a:endParaRPr lang="en-US" sz="1000" dirty="0">
              <a:latin typeface="Meiryo UI"/>
              <a:ea typeface="Meiryo UI"/>
              <a:cs typeface="Meiryo UI"/>
              <a:sym typeface="Meiryo UI"/>
            </a:endParaRPr>
          </a:p>
        </p:txBody>
      </p:sp>
      <p:sp>
        <p:nvSpPr>
          <p:cNvPr id="29" name="Shape 27"/>
          <p:cNvSpPr/>
          <p:nvPr/>
        </p:nvSpPr>
        <p:spPr>
          <a:xfrm>
            <a:off x="6400800" y="4023360"/>
            <a:ext cx="5212080" cy="502920"/>
          </a:xfrm>
          <a:prstGeom prst="rect">
            <a:avLst/>
          </a:prstGeom>
          <a:solidFill>
            <a:srgbClr val="FFFFFF"/>
          </a:solidFill>
          <a:ln w="6350">
            <a:solidFill>
              <a:srgbClr val="E2E8F0"/>
            </a:solidFill>
            <a:prstDash val="solid"/>
          </a:ln>
        </p:spPr>
        <p:txBody>
          <a:bodyPr/>
          <a:p/>
        </p:txBody>
      </p:sp>
      <p:sp>
        <p:nvSpPr>
          <p:cNvPr id="30" name="Shape 28"/>
          <p:cNvSpPr/>
          <p:nvPr/>
        </p:nvSpPr>
        <p:spPr>
          <a:xfrm>
            <a:off x="6400800" y="4023360"/>
            <a:ext cx="73152" cy="502920"/>
          </a:xfrm>
          <a:prstGeom prst="rect">
            <a:avLst/>
          </a:prstGeom>
          <a:solidFill>
            <a:srgbClr val="EBC528"/>
          </a:solidFill>
          <a:ln/>
        </p:spPr>
        <p:txBody>
          <a:bodyPr/>
          <a:p/>
        </p:txBody>
      </p:sp>
      <p:sp>
        <p:nvSpPr>
          <p:cNvPr id="31" name="Text 29"/>
          <p:cNvSpPr/>
          <p:nvPr/>
        </p:nvSpPr>
        <p:spPr>
          <a:xfrm>
            <a:off x="6583680" y="4059936"/>
            <a:ext cx="4937760" cy="237744"/>
          </a:xfrm>
          <a:prstGeom prst="rect">
            <a:avLst/>
          </a:prstGeom>
          <a:noFill/>
          <a:ln/>
        </p:spPr>
        <p:txBody>
          <a:bodyPr wrap="square" lIns="0" tIns="0" rIns="0" bIns="0" rtlCol="0" anchor="ctr"/>
          <a:lstStyle/>
          <a:p>
            <a:pPr indent="0" marL="0">
              <a:buNone/>
            </a:pPr>
            <a:r>
              <a:rPr lang="en-US" sz="1100" b="1" dirty="0">
                <a:solidFill>
                  <a:srgbClr val="0F172A"/>
                </a:solidFill>
                <a:latin typeface="Meiryo UI" pitchFamily="34" charset="0"/>
                <a:ea typeface="Meiryo UI" pitchFamily="34" charset="-122"/>
                <a:cs typeface="Meiryo UI" pitchFamily="34" charset="-120"/>
                <a:sym typeface="Meiryo UI"/>
              </a:rPr>
              <a:t>特徴カード：順番にフェード</a:t>
            </a:r>
            <a:endParaRPr lang="en-US" sz="1100" dirty="0">
              <a:latin typeface="Meiryo UI"/>
              <a:ea typeface="Meiryo UI"/>
              <a:cs typeface="Meiryo UI"/>
              <a:sym typeface="Meiryo UI"/>
            </a:endParaRPr>
          </a:p>
        </p:txBody>
      </p:sp>
      <p:sp>
        <p:nvSpPr>
          <p:cNvPr id="32" name="Text 30"/>
          <p:cNvSpPr/>
          <p:nvPr/>
        </p:nvSpPr>
        <p:spPr>
          <a:xfrm>
            <a:off x="6583680" y="4279392"/>
            <a:ext cx="4937760" cy="219456"/>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100/200/300ms ずらして 1 枚ずつ出る</a:t>
            </a:r>
            <a:endParaRPr lang="en-US" sz="1000" dirty="0">
              <a:latin typeface="Meiryo UI"/>
              <a:ea typeface="Meiryo UI"/>
              <a:cs typeface="Meiryo UI"/>
              <a:sym typeface="Meiryo UI"/>
            </a:endParaRPr>
          </a:p>
        </p:txBody>
      </p:sp>
      <p:sp>
        <p:nvSpPr>
          <p:cNvPr id="33" name="Shape 31"/>
          <p:cNvSpPr/>
          <p:nvPr/>
        </p:nvSpPr>
        <p:spPr>
          <a:xfrm>
            <a:off x="6400800" y="4572000"/>
            <a:ext cx="5212080" cy="502920"/>
          </a:xfrm>
          <a:prstGeom prst="rect">
            <a:avLst/>
          </a:prstGeom>
          <a:solidFill>
            <a:srgbClr val="FFFFFF"/>
          </a:solidFill>
          <a:ln w="6350">
            <a:solidFill>
              <a:srgbClr val="E2E8F0"/>
            </a:solidFill>
            <a:prstDash val="solid"/>
          </a:ln>
        </p:spPr>
        <p:txBody>
          <a:bodyPr/>
          <a:p/>
        </p:txBody>
      </p:sp>
      <p:sp>
        <p:nvSpPr>
          <p:cNvPr id="34" name="Shape 32"/>
          <p:cNvSpPr/>
          <p:nvPr/>
        </p:nvSpPr>
        <p:spPr>
          <a:xfrm>
            <a:off x="6400800" y="4572000"/>
            <a:ext cx="73152" cy="502920"/>
          </a:xfrm>
          <a:prstGeom prst="rect">
            <a:avLst/>
          </a:prstGeom>
          <a:solidFill>
            <a:srgbClr val="EBC528"/>
          </a:solidFill>
          <a:ln/>
        </p:spPr>
        <p:txBody>
          <a:bodyPr/>
          <a:p/>
        </p:txBody>
      </p:sp>
      <p:sp>
        <p:nvSpPr>
          <p:cNvPr id="35" name="Text 33"/>
          <p:cNvSpPr/>
          <p:nvPr/>
        </p:nvSpPr>
        <p:spPr>
          <a:xfrm>
            <a:off x="6583680" y="4608576"/>
            <a:ext cx="4937760" cy="237744"/>
          </a:xfrm>
          <a:prstGeom prst="rect">
            <a:avLst/>
          </a:prstGeom>
          <a:noFill/>
          <a:ln/>
        </p:spPr>
        <p:txBody>
          <a:bodyPr wrap="square" lIns="0" tIns="0" rIns="0" bIns="0" rtlCol="0" anchor="ctr"/>
          <a:lstStyle/>
          <a:p>
            <a:pPr indent="0" marL="0">
              <a:buNone/>
            </a:pPr>
            <a:r>
              <a:rPr lang="en-US" sz="1100" b="1" dirty="0">
                <a:solidFill>
                  <a:srgbClr val="0F172A"/>
                </a:solidFill>
                <a:latin typeface="Meiryo UI" pitchFamily="34" charset="0"/>
                <a:ea typeface="Meiryo UI" pitchFamily="34" charset="-122"/>
                <a:cs typeface="Meiryo UI" pitchFamily="34" charset="-120"/>
                <a:sym typeface="Meiryo UI"/>
              </a:rPr>
              <a:t>代表挨拶：右スライド</a:t>
            </a:r>
            <a:endParaRPr lang="en-US" sz="1100" dirty="0">
              <a:latin typeface="Meiryo UI"/>
              <a:ea typeface="Meiryo UI"/>
              <a:cs typeface="Meiryo UI"/>
              <a:sym typeface="Meiryo UI"/>
            </a:endParaRPr>
          </a:p>
        </p:txBody>
      </p:sp>
      <p:sp>
        <p:nvSpPr>
          <p:cNvPr id="36" name="Text 34"/>
          <p:cNvSpPr/>
          <p:nvPr/>
        </p:nvSpPr>
        <p:spPr>
          <a:xfrm>
            <a:off x="6583680" y="4828032"/>
            <a:ext cx="4937760" cy="219456"/>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横幅を活かして印象的に登場</a:t>
            </a:r>
            <a:endParaRPr lang="en-US" sz="1000" dirty="0">
              <a:latin typeface="Meiryo UI"/>
              <a:ea typeface="Meiryo UI"/>
              <a:cs typeface="Meiryo UI"/>
              <a:sym typeface="Meiryo UI"/>
            </a:endParaRPr>
          </a:p>
        </p:txBody>
      </p:sp>
      <p:sp>
        <p:nvSpPr>
          <p:cNvPr id="37" name="Shape 35"/>
          <p:cNvSpPr/>
          <p:nvPr/>
        </p:nvSpPr>
        <p:spPr>
          <a:xfrm>
            <a:off x="6400800" y="5120640"/>
            <a:ext cx="5212080" cy="502920"/>
          </a:xfrm>
          <a:prstGeom prst="rect">
            <a:avLst/>
          </a:prstGeom>
          <a:solidFill>
            <a:srgbClr val="FFFFFF"/>
          </a:solidFill>
          <a:ln w="6350">
            <a:solidFill>
              <a:srgbClr val="E2E8F0"/>
            </a:solidFill>
            <a:prstDash val="solid"/>
          </a:ln>
        </p:spPr>
        <p:txBody>
          <a:bodyPr/>
          <a:p/>
        </p:txBody>
      </p:sp>
      <p:sp>
        <p:nvSpPr>
          <p:cNvPr id="38" name="Shape 36"/>
          <p:cNvSpPr/>
          <p:nvPr/>
        </p:nvSpPr>
        <p:spPr>
          <a:xfrm>
            <a:off x="6400800" y="5120640"/>
            <a:ext cx="73152" cy="502920"/>
          </a:xfrm>
          <a:prstGeom prst="rect">
            <a:avLst/>
          </a:prstGeom>
          <a:solidFill>
            <a:srgbClr val="EBC528"/>
          </a:solidFill>
          <a:ln/>
        </p:spPr>
        <p:txBody>
          <a:bodyPr/>
          <a:p/>
        </p:txBody>
      </p:sp>
      <p:sp>
        <p:nvSpPr>
          <p:cNvPr id="39" name="Text 37"/>
          <p:cNvSpPr/>
          <p:nvPr/>
        </p:nvSpPr>
        <p:spPr>
          <a:xfrm>
            <a:off x="6583680" y="5157216"/>
            <a:ext cx="4937760" cy="237744"/>
          </a:xfrm>
          <a:prstGeom prst="rect">
            <a:avLst/>
          </a:prstGeom>
          <a:noFill/>
          <a:ln/>
        </p:spPr>
        <p:txBody>
          <a:bodyPr wrap="square" lIns="0" tIns="0" rIns="0" bIns="0" rtlCol="0" anchor="ctr"/>
          <a:lstStyle/>
          <a:p>
            <a:pPr indent="0" marL="0">
              <a:buNone/>
            </a:pPr>
            <a:r>
              <a:rPr lang="en-US" sz="1100" b="1" dirty="0">
                <a:solidFill>
                  <a:srgbClr val="0F172A"/>
                </a:solidFill>
                <a:latin typeface="Meiryo UI" pitchFamily="34" charset="0"/>
                <a:ea typeface="Meiryo UI" pitchFamily="34" charset="-122"/>
                <a:cs typeface="Meiryo UI" pitchFamily="34" charset="-120"/>
                <a:sym typeface="Meiryo UI"/>
              </a:rPr>
              <a:t>写真バンド：マーキー</a:t>
            </a:r>
            <a:endParaRPr lang="en-US" sz="1100" dirty="0">
              <a:latin typeface="Meiryo UI"/>
              <a:ea typeface="Meiryo UI"/>
              <a:cs typeface="Meiryo UI"/>
              <a:sym typeface="Meiryo UI"/>
            </a:endParaRPr>
          </a:p>
        </p:txBody>
      </p:sp>
      <p:sp>
        <p:nvSpPr>
          <p:cNvPr id="40" name="Text 38"/>
          <p:cNvSpPr/>
          <p:nvPr/>
        </p:nvSpPr>
        <p:spPr>
          <a:xfrm>
            <a:off x="6583680" y="5376672"/>
            <a:ext cx="4937760" cy="219456"/>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32秒で1周、無限ループ、ホバーで停止</a:t>
            </a:r>
            <a:endParaRPr lang="en-US" sz="1000" dirty="0">
              <a:latin typeface="Meiryo UI"/>
              <a:ea typeface="Meiryo UI"/>
              <a:cs typeface="Meiryo UI"/>
              <a:sym typeface="Meiryo UI"/>
            </a:endParaRPr>
          </a:p>
        </p:txBody>
      </p:sp>
      <p:sp>
        <p:nvSpPr>
          <p:cNvPr id="41" name="Shape 39"/>
          <p:cNvSpPr/>
          <p:nvPr/>
        </p:nvSpPr>
        <p:spPr>
          <a:xfrm>
            <a:off x="6400800" y="5669280"/>
            <a:ext cx="5212080" cy="502920"/>
          </a:xfrm>
          <a:prstGeom prst="rect">
            <a:avLst/>
          </a:prstGeom>
          <a:solidFill>
            <a:srgbClr val="FFFFFF"/>
          </a:solidFill>
          <a:ln w="6350">
            <a:solidFill>
              <a:srgbClr val="E2E8F0"/>
            </a:solidFill>
            <a:prstDash val="solid"/>
          </a:ln>
        </p:spPr>
        <p:txBody>
          <a:bodyPr/>
          <a:p/>
        </p:txBody>
      </p:sp>
      <p:sp>
        <p:nvSpPr>
          <p:cNvPr id="42" name="Shape 40"/>
          <p:cNvSpPr/>
          <p:nvPr/>
        </p:nvSpPr>
        <p:spPr>
          <a:xfrm>
            <a:off x="6400800" y="5669280"/>
            <a:ext cx="73152" cy="502920"/>
          </a:xfrm>
          <a:prstGeom prst="rect">
            <a:avLst/>
          </a:prstGeom>
          <a:solidFill>
            <a:srgbClr val="EBC528"/>
          </a:solidFill>
          <a:ln/>
        </p:spPr>
        <p:txBody>
          <a:bodyPr/>
          <a:p/>
        </p:txBody>
      </p:sp>
      <p:sp>
        <p:nvSpPr>
          <p:cNvPr id="43" name="Text 41"/>
          <p:cNvSpPr/>
          <p:nvPr/>
        </p:nvSpPr>
        <p:spPr>
          <a:xfrm>
            <a:off x="6583680" y="5705856"/>
            <a:ext cx="4937760" cy="237744"/>
          </a:xfrm>
          <a:prstGeom prst="rect">
            <a:avLst/>
          </a:prstGeom>
          <a:noFill/>
          <a:ln/>
        </p:spPr>
        <p:txBody>
          <a:bodyPr wrap="square" lIns="0" tIns="0" rIns="0" bIns="0" rtlCol="0" anchor="ctr"/>
          <a:lstStyle/>
          <a:p>
            <a:pPr indent="0" marL="0">
              <a:buNone/>
            </a:pPr>
            <a:r>
              <a:rPr lang="en-US" sz="1100" b="1" dirty="0">
                <a:solidFill>
                  <a:srgbClr val="0F172A"/>
                </a:solidFill>
                <a:latin typeface="Meiryo UI" pitchFamily="34" charset="0"/>
                <a:ea typeface="Meiryo UI" pitchFamily="34" charset="-122"/>
                <a:cs typeface="Meiryo UI" pitchFamily="34" charset="-120"/>
                <a:sym typeface="Meiryo UI"/>
              </a:rPr>
              <a:t>動き OFF 設定に対応</a:t>
            </a:r>
            <a:endParaRPr lang="en-US" sz="1100" dirty="0">
              <a:latin typeface="Meiryo UI"/>
              <a:ea typeface="Meiryo UI"/>
              <a:cs typeface="Meiryo UI"/>
              <a:sym typeface="Meiryo UI"/>
            </a:endParaRPr>
          </a:p>
        </p:txBody>
      </p:sp>
      <p:sp>
        <p:nvSpPr>
          <p:cNvPr id="44" name="Text 42"/>
          <p:cNvSpPr/>
          <p:nvPr/>
        </p:nvSpPr>
        <p:spPr>
          <a:xfrm>
            <a:off x="6583680" y="5925312"/>
            <a:ext cx="4937760" cy="219456"/>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OS の「動きを減らす」設定を尊重</a:t>
            </a:r>
            <a:endParaRPr lang="en-US" sz="1000" dirty="0">
              <a:latin typeface="Meiryo UI"/>
              <a:ea typeface="Meiryo UI"/>
              <a:cs typeface="Meiryo UI"/>
              <a:sym typeface="Meiryo UI"/>
            </a:endParaRPr>
          </a:p>
        </p:txBody>
      </p:sp>
      <p:sp>
        <p:nvSpPr>
          <p:cNvPr id="45" name="Text 43"/>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46" name="Text 44"/>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5 / 12</a:t>
            </a:r>
            <a:endParaRPr lang="en-US" sz="1000" dirty="0">
              <a:latin typeface="Meiryo UI"/>
              <a:ea typeface="Meiryo UI"/>
              <a:cs typeface="Meiryo UI"/>
              <a:sym typeface="Meiryo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05  KEY POINT</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セキュリティの工夫 ①｜全体像</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悪い人がサイトを荒らしにくいよう、3 段階の防御壁を作っています。</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「入り口で防ぐ」「中身を確かめる」「ヒントを与えない」の 3 軸です。</a:t>
            </a:r>
            <a:endParaRPr lang="en-US" sz="1800" dirty="0">
              <a:latin typeface="Meiryo UI"/>
              <a:ea typeface="Meiryo UI"/>
              <a:cs typeface="Meiryo UI"/>
              <a:sym typeface="Meiryo UI"/>
            </a:endParaRPr>
          </a:p>
        </p:txBody>
      </p:sp>
      <p:sp>
        <p:nvSpPr>
          <p:cNvPr id="10" name="Shape 8"/>
          <p:cNvSpPr/>
          <p:nvPr/>
        </p:nvSpPr>
        <p:spPr>
          <a:xfrm>
            <a:off x="548640" y="2971800"/>
            <a:ext cx="3566160" cy="3246120"/>
          </a:xfrm>
          <a:prstGeom prst="rect">
            <a:avLst/>
          </a:prstGeom>
          <a:solidFill>
            <a:srgbClr val="FFFFFF"/>
          </a:solidFill>
          <a:ln w="6350">
            <a:solidFill>
              <a:srgbClr val="E2E8F0"/>
            </a:solidFill>
            <a:prstDash val="solid"/>
          </a:ln>
        </p:spPr>
        <p:txBody>
          <a:bodyPr/>
          <a:p/>
        </p:txBody>
      </p:sp>
      <p:sp>
        <p:nvSpPr>
          <p:cNvPr id="11" name="Shape 9"/>
          <p:cNvSpPr/>
          <p:nvPr/>
        </p:nvSpPr>
        <p:spPr>
          <a:xfrm>
            <a:off x="548640" y="2971800"/>
            <a:ext cx="3566160" cy="731520"/>
          </a:xfrm>
          <a:prstGeom prst="rect">
            <a:avLst/>
          </a:prstGeom>
          <a:solidFill>
            <a:srgbClr val="EF4444"/>
          </a:solidFill>
          <a:ln/>
        </p:spPr>
        <p:txBody>
          <a:bodyPr/>
          <a:p/>
        </p:txBody>
      </p:sp>
      <p:sp>
        <p:nvSpPr>
          <p:cNvPr id="12" name="Text 10"/>
          <p:cNvSpPr/>
          <p:nvPr/>
        </p:nvSpPr>
        <p:spPr>
          <a:xfrm>
            <a:off x="731520" y="3017520"/>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sym typeface="Meiryo UI"/>
              </a:rPr>
              <a:t>1. 入り口で防ぐ</a:t>
            </a:r>
            <a:endParaRPr lang="en-US" sz="1400" dirty="0">
              <a:latin typeface="Meiryo UI"/>
              <a:ea typeface="Meiryo UI"/>
              <a:cs typeface="Meiryo UI"/>
              <a:sym typeface="Meiryo UI"/>
            </a:endParaRPr>
          </a:p>
        </p:txBody>
      </p:sp>
      <p:sp>
        <p:nvSpPr>
          <p:cNvPr id="13" name="Text 11"/>
          <p:cNvSpPr/>
          <p:nvPr/>
        </p:nvSpPr>
        <p:spPr>
          <a:xfrm>
            <a:off x="731520" y="3383280"/>
            <a:ext cx="3200400" cy="292608"/>
          </a:xfrm>
          <a:prstGeom prst="rect">
            <a:avLst/>
          </a:prstGeom>
          <a:noFill/>
          <a:ln/>
        </p:spPr>
        <p:txBody>
          <a:bodyPr wrap="square" lIns="0" tIns="0" rIns="0" bIns="0" rtlCol="0" anchor="ctr"/>
          <a:lstStyle/>
          <a:p>
            <a:pPr indent="0" marL="0">
              <a:buNone/>
            </a:pPr>
            <a:r>
              <a:rPr lang="en-US" sz="1100" dirty="0">
                <a:solidFill>
                  <a:srgbClr val="FFFFFF"/>
                </a:solidFill>
                <a:latin typeface="Meiryo UI" pitchFamily="34" charset="0"/>
                <a:ea typeface="Meiryo UI" pitchFamily="34" charset="-122"/>
                <a:cs typeface="Meiryo UI" pitchFamily="34" charset="-120"/>
                <a:sym typeface="Meiryo UI"/>
              </a:rPr>
              <a:t>セキュリティヘッダ</a:t>
            </a:r>
            <a:endParaRPr lang="en-US" sz="1100" dirty="0">
              <a:latin typeface="Meiryo UI"/>
              <a:ea typeface="Meiryo UI"/>
              <a:cs typeface="Meiryo UI"/>
              <a:sym typeface="Meiryo UI"/>
            </a:endParaRPr>
          </a:p>
        </p:txBody>
      </p:sp>
      <p:sp>
        <p:nvSpPr>
          <p:cNvPr id="14" name="Text 12"/>
          <p:cNvSpPr/>
          <p:nvPr/>
        </p:nvSpPr>
        <p:spPr>
          <a:xfrm>
            <a:off x="731520" y="3794760"/>
            <a:ext cx="3200400" cy="237744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Content-Security-Policy（新規）</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X-Frame-Options + frame-ancestors</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Strict-Transport-Security</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Cross-Origin-Opener-Policy（新規）</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Permissions-Policy</a:t>
            </a:r>
            <a:endParaRPr lang="en-US" sz="1100" dirty="0">
              <a:latin typeface="Meiryo UI"/>
              <a:ea typeface="Meiryo UI"/>
              <a:cs typeface="Meiryo UI"/>
              <a:sym typeface="Meiryo UI"/>
            </a:endParaRPr>
          </a:p>
        </p:txBody>
      </p:sp>
      <p:sp>
        <p:nvSpPr>
          <p:cNvPr id="15" name="Shape 13"/>
          <p:cNvSpPr/>
          <p:nvPr/>
        </p:nvSpPr>
        <p:spPr>
          <a:xfrm>
            <a:off x="4343400" y="2971800"/>
            <a:ext cx="3566160" cy="3246120"/>
          </a:xfrm>
          <a:prstGeom prst="rect">
            <a:avLst/>
          </a:prstGeom>
          <a:solidFill>
            <a:srgbClr val="FFFFFF"/>
          </a:solidFill>
          <a:ln w="6350">
            <a:solidFill>
              <a:srgbClr val="E2E8F0"/>
            </a:solidFill>
            <a:prstDash val="solid"/>
          </a:ln>
        </p:spPr>
        <p:txBody>
          <a:bodyPr/>
          <a:p/>
        </p:txBody>
      </p:sp>
      <p:sp>
        <p:nvSpPr>
          <p:cNvPr id="16" name="Shape 14"/>
          <p:cNvSpPr/>
          <p:nvPr/>
        </p:nvSpPr>
        <p:spPr>
          <a:xfrm>
            <a:off x="4343400" y="2971800"/>
            <a:ext cx="3566160" cy="731520"/>
          </a:xfrm>
          <a:prstGeom prst="rect">
            <a:avLst/>
          </a:prstGeom>
          <a:solidFill>
            <a:srgbClr val="F59E0B"/>
          </a:solidFill>
          <a:ln/>
        </p:spPr>
        <p:txBody>
          <a:bodyPr/>
          <a:p/>
        </p:txBody>
      </p:sp>
      <p:sp>
        <p:nvSpPr>
          <p:cNvPr id="17" name="Text 15"/>
          <p:cNvSpPr/>
          <p:nvPr/>
        </p:nvSpPr>
        <p:spPr>
          <a:xfrm>
            <a:off x="4526280" y="3017520"/>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sym typeface="Meiryo UI"/>
              </a:rPr>
              <a:t>2. 中身を確認する</a:t>
            </a:r>
            <a:endParaRPr lang="en-US" sz="1400" dirty="0">
              <a:latin typeface="Meiryo UI"/>
              <a:ea typeface="Meiryo UI"/>
              <a:cs typeface="Meiryo UI"/>
              <a:sym typeface="Meiryo UI"/>
            </a:endParaRPr>
          </a:p>
        </p:txBody>
      </p:sp>
      <p:sp>
        <p:nvSpPr>
          <p:cNvPr id="18" name="Text 16"/>
          <p:cNvSpPr/>
          <p:nvPr/>
        </p:nvSpPr>
        <p:spPr>
          <a:xfrm>
            <a:off x="4526280" y="3383280"/>
            <a:ext cx="3200400" cy="292608"/>
          </a:xfrm>
          <a:prstGeom prst="rect">
            <a:avLst/>
          </a:prstGeom>
          <a:noFill/>
          <a:ln/>
        </p:spPr>
        <p:txBody>
          <a:bodyPr wrap="square" lIns="0" tIns="0" rIns="0" bIns="0" rtlCol="0" anchor="ctr"/>
          <a:lstStyle/>
          <a:p>
            <a:pPr indent="0" marL="0">
              <a:buNone/>
            </a:pPr>
            <a:r>
              <a:rPr lang="en-US" sz="1100" dirty="0">
                <a:solidFill>
                  <a:srgbClr val="FFFFFF"/>
                </a:solidFill>
                <a:latin typeface="Meiryo UI" pitchFamily="34" charset="0"/>
                <a:ea typeface="Meiryo UI" pitchFamily="34" charset="-122"/>
                <a:cs typeface="Meiryo UI" pitchFamily="34" charset="-120"/>
                <a:sym typeface="Meiryo UI"/>
              </a:rPr>
              <a:t>API / フォーム検証</a:t>
            </a:r>
            <a:endParaRPr lang="en-US" sz="1100" dirty="0">
              <a:latin typeface="Meiryo UI"/>
              <a:ea typeface="Meiryo UI"/>
              <a:cs typeface="Meiryo UI"/>
              <a:sym typeface="Meiryo UI"/>
            </a:endParaRPr>
          </a:p>
        </p:txBody>
      </p:sp>
      <p:sp>
        <p:nvSpPr>
          <p:cNvPr id="19" name="Text 17"/>
          <p:cNvSpPr/>
          <p:nvPr/>
        </p:nvSpPr>
        <p:spPr>
          <a:xfrm>
            <a:off x="4526280" y="3794760"/>
            <a:ext cx="3200400" cy="237744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PDF 3 層検証</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Origin / Referer 検証（CSRF, 新規）</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POST 以外を 405 拒否（新規）</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zipcloud は 7 桁数字限定</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外部リンクは rel=noopener</a:t>
            </a:r>
            <a:endParaRPr lang="en-US" sz="1100" dirty="0">
              <a:latin typeface="Meiryo UI"/>
              <a:ea typeface="Meiryo UI"/>
              <a:cs typeface="Meiryo UI"/>
              <a:sym typeface="Meiryo UI"/>
            </a:endParaRPr>
          </a:p>
        </p:txBody>
      </p:sp>
      <p:sp>
        <p:nvSpPr>
          <p:cNvPr id="20" name="Shape 18"/>
          <p:cNvSpPr/>
          <p:nvPr/>
        </p:nvSpPr>
        <p:spPr>
          <a:xfrm>
            <a:off x="8138160" y="2971800"/>
            <a:ext cx="3566160" cy="3246120"/>
          </a:xfrm>
          <a:prstGeom prst="rect">
            <a:avLst/>
          </a:prstGeom>
          <a:solidFill>
            <a:srgbClr val="FFFFFF"/>
          </a:solidFill>
          <a:ln w="6350">
            <a:solidFill>
              <a:srgbClr val="E2E8F0"/>
            </a:solidFill>
            <a:prstDash val="solid"/>
          </a:ln>
        </p:spPr>
        <p:txBody>
          <a:bodyPr/>
          <a:p/>
        </p:txBody>
      </p:sp>
      <p:sp>
        <p:nvSpPr>
          <p:cNvPr id="21" name="Shape 19"/>
          <p:cNvSpPr/>
          <p:nvPr/>
        </p:nvSpPr>
        <p:spPr>
          <a:xfrm>
            <a:off x="8138160" y="2971800"/>
            <a:ext cx="3566160" cy="731520"/>
          </a:xfrm>
          <a:prstGeom prst="rect">
            <a:avLst/>
          </a:prstGeom>
          <a:solidFill>
            <a:srgbClr val="10B981"/>
          </a:solidFill>
          <a:ln/>
        </p:spPr>
        <p:txBody>
          <a:bodyPr/>
          <a:p/>
        </p:txBody>
      </p:sp>
      <p:sp>
        <p:nvSpPr>
          <p:cNvPr id="22" name="Text 20"/>
          <p:cNvSpPr/>
          <p:nvPr/>
        </p:nvSpPr>
        <p:spPr>
          <a:xfrm>
            <a:off x="8321040" y="3017520"/>
            <a:ext cx="320040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sym typeface="Meiryo UI"/>
              </a:rPr>
              <a:t>3. 露出を減らす</a:t>
            </a:r>
            <a:endParaRPr lang="en-US" sz="1400" dirty="0">
              <a:latin typeface="Meiryo UI"/>
              <a:ea typeface="Meiryo UI"/>
              <a:cs typeface="Meiryo UI"/>
              <a:sym typeface="Meiryo UI"/>
            </a:endParaRPr>
          </a:p>
        </p:txBody>
      </p:sp>
      <p:sp>
        <p:nvSpPr>
          <p:cNvPr id="23" name="Text 21"/>
          <p:cNvSpPr/>
          <p:nvPr/>
        </p:nvSpPr>
        <p:spPr>
          <a:xfrm>
            <a:off x="8321040" y="3383280"/>
            <a:ext cx="3200400" cy="292608"/>
          </a:xfrm>
          <a:prstGeom prst="rect">
            <a:avLst/>
          </a:prstGeom>
          <a:noFill/>
          <a:ln/>
        </p:spPr>
        <p:txBody>
          <a:bodyPr wrap="square" lIns="0" tIns="0" rIns="0" bIns="0" rtlCol="0" anchor="ctr"/>
          <a:lstStyle/>
          <a:p>
            <a:pPr indent="0" marL="0">
              <a:buNone/>
            </a:pPr>
            <a:r>
              <a:rPr lang="en-US" sz="1100" dirty="0">
                <a:solidFill>
                  <a:srgbClr val="FFFFFF"/>
                </a:solidFill>
                <a:latin typeface="Meiryo UI" pitchFamily="34" charset="0"/>
                <a:ea typeface="Meiryo UI" pitchFamily="34" charset="-122"/>
                <a:cs typeface="Meiryo UI" pitchFamily="34" charset="-120"/>
                <a:sym typeface="Meiryo UI"/>
              </a:rPr>
              <a:t>情報の秘匿</a:t>
            </a:r>
            <a:endParaRPr lang="en-US" sz="1100" dirty="0">
              <a:latin typeface="Meiryo UI"/>
              <a:ea typeface="Meiryo UI"/>
              <a:cs typeface="Meiryo UI"/>
              <a:sym typeface="Meiryo UI"/>
            </a:endParaRPr>
          </a:p>
        </p:txBody>
      </p:sp>
      <p:sp>
        <p:nvSpPr>
          <p:cNvPr id="24" name="Text 22"/>
          <p:cNvSpPr/>
          <p:nvPr/>
        </p:nvSpPr>
        <p:spPr>
          <a:xfrm>
            <a:off x="8321040" y="3794760"/>
            <a:ext cx="3200400" cy="237744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X-Powered-By 無効化</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本番ソースマップを生成しない</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console.log を本番で除去</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エラー画面でスタック非表示（新規）</a:t>
            </a:r>
            <a:endParaRPr lang="en-US" sz="1100" dirty="0">
              <a:latin typeface="Meiryo UI"/>
              <a:ea typeface="Meiryo UI"/>
              <a:cs typeface="Meiryo UI"/>
              <a:sym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sym typeface="Meiryo UI"/>
              </a:rPr>
              <a:t>API は noindex + no-store（新規）</a:t>
            </a:r>
            <a:endParaRPr lang="en-US" sz="1100" dirty="0">
              <a:latin typeface="Meiryo UI"/>
              <a:ea typeface="Meiryo UI"/>
              <a:cs typeface="Meiryo UI"/>
              <a:sym typeface="Meiryo UI"/>
            </a:endParaRPr>
          </a:p>
        </p:txBody>
      </p:sp>
      <p:sp>
        <p:nvSpPr>
          <p:cNvPr id="25" name="Text 23"/>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26" name="Text 24"/>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6 / 12</a:t>
            </a:r>
            <a:endParaRPr lang="en-US" sz="1000" dirty="0">
              <a:latin typeface="Meiryo UI"/>
              <a:ea typeface="Meiryo UI"/>
              <a:cs typeface="Meiryo UI"/>
              <a:sym typeface="Meiryo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06  KEY POINT</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セキュリティの工夫 ②｜PDF 3 層検証 ＋ API 強化</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「これは PDF ですよ」と嘘をついても見破れる、3 段階チェックです。</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クライアントを迂回されてもサーバが弾く仕組みで二重に守っています。</a:t>
            </a:r>
            <a:endParaRPr lang="en-US" sz="1800" dirty="0">
              <a:latin typeface="Meiryo UI"/>
              <a:ea typeface="Meiryo UI"/>
              <a:cs typeface="Meiryo UI"/>
              <a:sym typeface="Meiryo UI"/>
            </a:endParaRPr>
          </a:p>
        </p:txBody>
      </p:sp>
      <p:sp>
        <p:nvSpPr>
          <p:cNvPr id="10" name="Shape 8"/>
          <p:cNvSpPr/>
          <p:nvPr/>
        </p:nvSpPr>
        <p:spPr>
          <a:xfrm>
            <a:off x="548640" y="2971800"/>
            <a:ext cx="3566160" cy="1417320"/>
          </a:xfrm>
          <a:prstGeom prst="rect">
            <a:avLst/>
          </a:prstGeom>
          <a:solidFill>
            <a:srgbClr val="EBC528"/>
          </a:solidFill>
          <a:ln/>
        </p:spPr>
        <p:txBody>
          <a:bodyPr/>
          <a:p/>
        </p:txBody>
      </p:sp>
      <p:sp>
        <p:nvSpPr>
          <p:cNvPr id="11" name="Text 9"/>
          <p:cNvSpPr/>
          <p:nvPr/>
        </p:nvSpPr>
        <p:spPr>
          <a:xfrm>
            <a:off x="777240" y="3017520"/>
            <a:ext cx="914400" cy="320040"/>
          </a:xfrm>
          <a:prstGeom prst="rect">
            <a:avLst/>
          </a:prstGeom>
          <a:noFill/>
          <a:ln/>
        </p:spPr>
        <p:txBody>
          <a:bodyPr wrap="square" lIns="0" tIns="0" rIns="0" bIns="0" rtlCol="0" anchor="ctr"/>
          <a:lstStyle/>
          <a:p>
            <a:pPr indent="0" marL="0">
              <a:buNone/>
            </a:pPr>
            <a:r>
              <a:rPr lang="en-US" sz="1200" b="1" dirty="0">
                <a:solidFill>
                  <a:srgbClr val="0F172A"/>
                </a:solidFill>
                <a:latin typeface="Meiryo UI" pitchFamily="34" charset="0"/>
                <a:ea typeface="Meiryo UI" pitchFamily="34" charset="-122"/>
                <a:cs typeface="Meiryo UI" pitchFamily="34" charset="-120"/>
                <a:sym typeface="Meiryo UI"/>
              </a:rPr>
              <a:t>01</a:t>
            </a:r>
            <a:endParaRPr lang="en-US" sz="1200" dirty="0">
              <a:latin typeface="Meiryo UI"/>
              <a:ea typeface="Meiryo UI"/>
              <a:cs typeface="Meiryo UI"/>
              <a:sym typeface="Meiryo UI"/>
            </a:endParaRPr>
          </a:p>
        </p:txBody>
      </p:sp>
      <p:sp>
        <p:nvSpPr>
          <p:cNvPr id="12" name="Text 10"/>
          <p:cNvSpPr/>
          <p:nvPr/>
        </p:nvSpPr>
        <p:spPr>
          <a:xfrm>
            <a:off x="777240" y="3337560"/>
            <a:ext cx="3108960" cy="457200"/>
          </a:xfrm>
          <a:prstGeom prst="rect">
            <a:avLst/>
          </a:prstGeom>
          <a:noFill/>
          <a:ln/>
        </p:spPr>
        <p:txBody>
          <a:bodyPr wrap="square" lIns="0" tIns="0" rIns="0" bIns="0" rtlCol="0" anchor="ctr"/>
          <a:lstStyle/>
          <a:p>
            <a:pPr indent="0" marL="0">
              <a:buNone/>
            </a:pPr>
            <a:r>
              <a:rPr lang="en-US" sz="2000" b="1" dirty="0">
                <a:solidFill>
                  <a:srgbClr val="0F172A"/>
                </a:solidFill>
                <a:latin typeface="Meiryo UI" pitchFamily="34" charset="0"/>
                <a:ea typeface="Meiryo UI" pitchFamily="34" charset="-122"/>
                <a:cs typeface="Meiryo UI" pitchFamily="34" charset="-120"/>
                <a:sym typeface="Meiryo UI"/>
              </a:rPr>
              <a:t>拡張子</a:t>
            </a:r>
            <a:endParaRPr lang="en-US" sz="2000" dirty="0">
              <a:latin typeface="Meiryo UI"/>
              <a:ea typeface="Meiryo UI"/>
              <a:cs typeface="Meiryo UI"/>
              <a:sym typeface="Meiryo UI"/>
            </a:endParaRPr>
          </a:p>
        </p:txBody>
      </p:sp>
      <p:sp>
        <p:nvSpPr>
          <p:cNvPr id="13" name="Shape 11"/>
          <p:cNvSpPr/>
          <p:nvPr/>
        </p:nvSpPr>
        <p:spPr>
          <a:xfrm>
            <a:off x="777240" y="3867912"/>
            <a:ext cx="3108960" cy="411480"/>
          </a:xfrm>
          <a:prstGeom prst="rect">
            <a:avLst/>
          </a:prstGeom>
          <a:solidFill>
            <a:srgbClr val="FFFFFF"/>
          </a:solidFill>
          <a:ln/>
        </p:spPr>
        <p:txBody>
          <a:bodyPr/>
          <a:p/>
        </p:txBody>
      </p:sp>
      <p:sp>
        <p:nvSpPr>
          <p:cNvPr id="14" name="Text 12"/>
          <p:cNvSpPr/>
          <p:nvPr/>
        </p:nvSpPr>
        <p:spPr>
          <a:xfrm>
            <a:off x="777240" y="3867912"/>
            <a:ext cx="3108960" cy="411480"/>
          </a:xfrm>
          <a:prstGeom prst="rect">
            <a:avLst/>
          </a:prstGeom>
          <a:noFill/>
          <a:ln/>
        </p:spPr>
        <p:txBody>
          <a:bodyPr wrap="square" lIns="0" tIns="0" rIns="0" bIns="0" rtlCol="0" anchor="ctr"/>
          <a:lstStyle/>
          <a:p>
            <a:pPr algn="ctr" indent="0" marL="0">
              <a:buNone/>
            </a:pPr>
            <a:r>
              <a:rPr lang="en-US" sz="1200" b="1" dirty="0">
                <a:solidFill>
                  <a:srgbClr val="0F172A"/>
                </a:solidFill>
                <a:latin typeface="Meiryo UI" pitchFamily="34" charset="0"/>
                <a:ea typeface="Meiryo UI" pitchFamily="34" charset="-122"/>
                <a:cs typeface="Meiryo UI" pitchFamily="34" charset="-120"/>
                <a:sym typeface="Meiryo UI"/>
              </a:rPr>
              <a:t>.pdf で終わるか</a:t>
            </a:r>
            <a:endParaRPr lang="en-US" sz="1200" dirty="0">
              <a:latin typeface="Meiryo UI"/>
              <a:ea typeface="Meiryo UI"/>
              <a:cs typeface="Meiryo UI"/>
              <a:sym typeface="Meiryo UI"/>
            </a:endParaRPr>
          </a:p>
        </p:txBody>
      </p:sp>
      <p:sp>
        <p:nvSpPr>
          <p:cNvPr id="15" name="Shape 13"/>
          <p:cNvSpPr/>
          <p:nvPr/>
        </p:nvSpPr>
        <p:spPr>
          <a:xfrm>
            <a:off x="4343400" y="2971800"/>
            <a:ext cx="3566160" cy="1417320"/>
          </a:xfrm>
          <a:prstGeom prst="rect">
            <a:avLst/>
          </a:prstGeom>
          <a:solidFill>
            <a:srgbClr val="F59E0B"/>
          </a:solidFill>
          <a:ln/>
        </p:spPr>
        <p:txBody>
          <a:bodyPr/>
          <a:p/>
        </p:txBody>
      </p:sp>
      <p:sp>
        <p:nvSpPr>
          <p:cNvPr id="16" name="Text 14"/>
          <p:cNvSpPr/>
          <p:nvPr/>
        </p:nvSpPr>
        <p:spPr>
          <a:xfrm>
            <a:off x="4572000" y="3017520"/>
            <a:ext cx="914400" cy="320040"/>
          </a:xfrm>
          <a:prstGeom prst="rect">
            <a:avLst/>
          </a:prstGeom>
          <a:noFill/>
          <a:ln/>
        </p:spPr>
        <p:txBody>
          <a:bodyPr wrap="square" lIns="0" tIns="0" rIns="0" bIns="0"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sym typeface="Meiryo UI"/>
              </a:rPr>
              <a:t>02</a:t>
            </a:r>
            <a:endParaRPr lang="en-US" sz="1200" dirty="0">
              <a:latin typeface="Meiryo UI"/>
              <a:ea typeface="Meiryo UI"/>
              <a:cs typeface="Meiryo UI"/>
              <a:sym typeface="Meiryo UI"/>
            </a:endParaRPr>
          </a:p>
        </p:txBody>
      </p:sp>
      <p:sp>
        <p:nvSpPr>
          <p:cNvPr id="17" name="Text 15"/>
          <p:cNvSpPr/>
          <p:nvPr/>
        </p:nvSpPr>
        <p:spPr>
          <a:xfrm>
            <a:off x="4572000" y="333756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Meiryo UI" pitchFamily="34" charset="0"/>
                <a:ea typeface="Meiryo UI" pitchFamily="34" charset="-122"/>
                <a:cs typeface="Meiryo UI" pitchFamily="34" charset="-120"/>
                <a:sym typeface="Meiryo UI"/>
              </a:rPr>
              <a:t>MIME</a:t>
            </a:r>
            <a:endParaRPr lang="en-US" sz="2000" dirty="0">
              <a:latin typeface="Meiryo UI"/>
              <a:ea typeface="Meiryo UI"/>
              <a:cs typeface="Meiryo UI"/>
              <a:sym typeface="Meiryo UI"/>
            </a:endParaRPr>
          </a:p>
        </p:txBody>
      </p:sp>
      <p:sp>
        <p:nvSpPr>
          <p:cNvPr id="18" name="Shape 16"/>
          <p:cNvSpPr/>
          <p:nvPr/>
        </p:nvSpPr>
        <p:spPr>
          <a:xfrm>
            <a:off x="4572000" y="3867912"/>
            <a:ext cx="3108960" cy="411480"/>
          </a:xfrm>
          <a:prstGeom prst="rect">
            <a:avLst/>
          </a:prstGeom>
          <a:solidFill>
            <a:srgbClr val="FFFFFF"/>
          </a:solidFill>
          <a:ln/>
        </p:spPr>
        <p:txBody>
          <a:bodyPr/>
          <a:p/>
        </p:txBody>
      </p:sp>
      <p:sp>
        <p:nvSpPr>
          <p:cNvPr id="19" name="Text 17"/>
          <p:cNvSpPr/>
          <p:nvPr/>
        </p:nvSpPr>
        <p:spPr>
          <a:xfrm>
            <a:off x="4572000" y="3867912"/>
            <a:ext cx="3108960" cy="411480"/>
          </a:xfrm>
          <a:prstGeom prst="rect">
            <a:avLst/>
          </a:prstGeom>
          <a:noFill/>
          <a:ln/>
        </p:spPr>
        <p:txBody>
          <a:bodyPr wrap="square" lIns="0" tIns="0" rIns="0" bIns="0" rtlCol="0" anchor="ctr"/>
          <a:lstStyle/>
          <a:p>
            <a:pPr algn="ctr" indent="0" marL="0">
              <a:buNone/>
            </a:pPr>
            <a:r>
              <a:rPr lang="en-US" sz="1200" b="1" dirty="0">
                <a:solidFill>
                  <a:srgbClr val="F59E0B"/>
                </a:solidFill>
                <a:latin typeface="Meiryo UI" pitchFamily="34" charset="0"/>
                <a:ea typeface="Meiryo UI" pitchFamily="34" charset="-122"/>
                <a:cs typeface="Meiryo UI" pitchFamily="34" charset="-120"/>
                <a:sym typeface="Meiryo UI"/>
              </a:rPr>
              <a:t>application/pdf</a:t>
            </a:r>
            <a:endParaRPr lang="en-US" sz="1200" dirty="0">
              <a:latin typeface="Meiryo UI"/>
              <a:ea typeface="Meiryo UI"/>
              <a:cs typeface="Meiryo UI"/>
              <a:sym typeface="Meiryo UI"/>
            </a:endParaRPr>
          </a:p>
        </p:txBody>
      </p:sp>
      <p:sp>
        <p:nvSpPr>
          <p:cNvPr id="20" name="Shape 18"/>
          <p:cNvSpPr/>
          <p:nvPr/>
        </p:nvSpPr>
        <p:spPr>
          <a:xfrm>
            <a:off x="8138160" y="2971800"/>
            <a:ext cx="3566160" cy="1417320"/>
          </a:xfrm>
          <a:prstGeom prst="rect">
            <a:avLst/>
          </a:prstGeom>
          <a:solidFill>
            <a:srgbClr val="EF4444"/>
          </a:solidFill>
          <a:ln/>
        </p:spPr>
        <p:txBody>
          <a:bodyPr/>
          <a:p/>
        </p:txBody>
      </p:sp>
      <p:sp>
        <p:nvSpPr>
          <p:cNvPr id="21" name="Text 19"/>
          <p:cNvSpPr/>
          <p:nvPr/>
        </p:nvSpPr>
        <p:spPr>
          <a:xfrm>
            <a:off x="8366760" y="3017520"/>
            <a:ext cx="914400" cy="320040"/>
          </a:xfrm>
          <a:prstGeom prst="rect">
            <a:avLst/>
          </a:prstGeom>
          <a:noFill/>
          <a:ln/>
        </p:spPr>
        <p:txBody>
          <a:bodyPr wrap="square" lIns="0" tIns="0" rIns="0" bIns="0"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sym typeface="Meiryo UI"/>
              </a:rPr>
              <a:t>03</a:t>
            </a:r>
            <a:endParaRPr lang="en-US" sz="1200" dirty="0">
              <a:latin typeface="Meiryo UI"/>
              <a:ea typeface="Meiryo UI"/>
              <a:cs typeface="Meiryo UI"/>
              <a:sym typeface="Meiryo UI"/>
            </a:endParaRPr>
          </a:p>
        </p:txBody>
      </p:sp>
      <p:sp>
        <p:nvSpPr>
          <p:cNvPr id="22" name="Text 20"/>
          <p:cNvSpPr/>
          <p:nvPr/>
        </p:nvSpPr>
        <p:spPr>
          <a:xfrm>
            <a:off x="8366760" y="333756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Meiryo UI" pitchFamily="34" charset="0"/>
                <a:ea typeface="Meiryo UI" pitchFamily="34" charset="-122"/>
                <a:cs typeface="Meiryo UI" pitchFamily="34" charset="-120"/>
                <a:sym typeface="Meiryo UI"/>
              </a:rPr>
              <a:t>マジックバイト</a:t>
            </a:r>
            <a:endParaRPr lang="en-US" sz="2000" dirty="0">
              <a:latin typeface="Meiryo UI"/>
              <a:ea typeface="Meiryo UI"/>
              <a:cs typeface="Meiryo UI"/>
              <a:sym typeface="Meiryo UI"/>
            </a:endParaRPr>
          </a:p>
        </p:txBody>
      </p:sp>
      <p:sp>
        <p:nvSpPr>
          <p:cNvPr id="23" name="Shape 21"/>
          <p:cNvSpPr/>
          <p:nvPr/>
        </p:nvSpPr>
        <p:spPr>
          <a:xfrm>
            <a:off x="8366760" y="3867912"/>
            <a:ext cx="3108960" cy="411480"/>
          </a:xfrm>
          <a:prstGeom prst="rect">
            <a:avLst/>
          </a:prstGeom>
          <a:solidFill>
            <a:srgbClr val="FFFFFF"/>
          </a:solidFill>
          <a:ln/>
        </p:spPr>
        <p:txBody>
          <a:bodyPr/>
          <a:p/>
        </p:txBody>
      </p:sp>
      <p:sp>
        <p:nvSpPr>
          <p:cNvPr id="24" name="Text 22"/>
          <p:cNvSpPr/>
          <p:nvPr/>
        </p:nvSpPr>
        <p:spPr>
          <a:xfrm>
            <a:off x="8366760" y="3867912"/>
            <a:ext cx="3108960" cy="411480"/>
          </a:xfrm>
          <a:prstGeom prst="rect">
            <a:avLst/>
          </a:prstGeom>
          <a:noFill/>
          <a:ln/>
        </p:spPr>
        <p:txBody>
          <a:bodyPr wrap="square" lIns="0" tIns="0" rIns="0" bIns="0" rtlCol="0" anchor="ctr"/>
          <a:lstStyle/>
          <a:p>
            <a:pPr algn="ctr" indent="0" marL="0">
              <a:buNone/>
            </a:pPr>
            <a:r>
              <a:rPr lang="en-US" sz="1200" b="1" dirty="0">
                <a:solidFill>
                  <a:srgbClr val="EF4444"/>
                </a:solidFill>
                <a:latin typeface="Meiryo UI" pitchFamily="34" charset="0"/>
                <a:ea typeface="Meiryo UI" pitchFamily="34" charset="-122"/>
                <a:cs typeface="Meiryo UI" pitchFamily="34" charset="-120"/>
                <a:sym typeface="Meiryo UI"/>
              </a:rPr>
              <a:t>%PDF- = 0x25...</a:t>
            </a:r>
            <a:endParaRPr lang="en-US" sz="1200" dirty="0">
              <a:latin typeface="Meiryo UI"/>
              <a:ea typeface="Meiryo UI"/>
              <a:cs typeface="Meiryo UI"/>
              <a:sym typeface="Meiryo UI"/>
            </a:endParaRPr>
          </a:p>
        </p:txBody>
      </p:sp>
      <p:sp>
        <p:nvSpPr>
          <p:cNvPr id="25" name="Text 23"/>
          <p:cNvSpPr/>
          <p:nvPr/>
        </p:nvSpPr>
        <p:spPr>
          <a:xfrm>
            <a:off x="4023360" y="3383280"/>
            <a:ext cx="274320" cy="594360"/>
          </a:xfrm>
          <a:prstGeom prst="rect">
            <a:avLst/>
          </a:prstGeom>
          <a:noFill/>
          <a:ln/>
        </p:spPr>
        <p:txBody>
          <a:bodyPr wrap="square" lIns="0" tIns="0" rIns="0" bIns="0" rtlCol="0" anchor="ctr"/>
          <a:lstStyle/>
          <a:p>
            <a:pPr algn="ctr" indent="0" marL="0">
              <a:buNone/>
            </a:pPr>
            <a:r>
              <a:rPr lang="en-US" sz="3200" b="1" dirty="0">
                <a:solidFill>
                  <a:srgbClr val="0F172A"/>
                </a:solidFill>
                <a:latin typeface="Meiryo UI" pitchFamily="34" charset="0"/>
                <a:ea typeface="Meiryo UI" pitchFamily="34" charset="-122"/>
                <a:cs typeface="Meiryo UI" pitchFamily="34" charset="-120"/>
                <a:sym typeface="Meiryo UI"/>
              </a:rPr>
              <a:t>&gt;</a:t>
            </a:r>
            <a:endParaRPr lang="en-US" sz="3200" dirty="0">
              <a:latin typeface="Meiryo UI"/>
              <a:ea typeface="Meiryo UI"/>
              <a:cs typeface="Meiryo UI"/>
              <a:sym typeface="Meiryo UI"/>
            </a:endParaRPr>
          </a:p>
        </p:txBody>
      </p:sp>
      <p:sp>
        <p:nvSpPr>
          <p:cNvPr id="26" name="Text 24"/>
          <p:cNvSpPr/>
          <p:nvPr/>
        </p:nvSpPr>
        <p:spPr>
          <a:xfrm>
            <a:off x="7818120" y="3383280"/>
            <a:ext cx="274320" cy="594360"/>
          </a:xfrm>
          <a:prstGeom prst="rect">
            <a:avLst/>
          </a:prstGeom>
          <a:noFill/>
          <a:ln/>
        </p:spPr>
        <p:txBody>
          <a:bodyPr wrap="square" lIns="0" tIns="0" rIns="0" bIns="0" rtlCol="0" anchor="ctr"/>
          <a:lstStyle/>
          <a:p>
            <a:pPr algn="ctr" indent="0" marL="0">
              <a:buNone/>
            </a:pPr>
            <a:r>
              <a:rPr lang="en-US" sz="3200" b="1" dirty="0">
                <a:solidFill>
                  <a:srgbClr val="0F172A"/>
                </a:solidFill>
                <a:latin typeface="Meiryo UI" pitchFamily="34" charset="0"/>
                <a:ea typeface="Meiryo UI" pitchFamily="34" charset="-122"/>
                <a:cs typeface="Meiryo UI" pitchFamily="34" charset="-120"/>
                <a:sym typeface="Meiryo UI"/>
              </a:rPr>
              <a:t>&gt;</a:t>
            </a:r>
            <a:endParaRPr lang="en-US" sz="3200" dirty="0">
              <a:latin typeface="Meiryo UI"/>
              <a:ea typeface="Meiryo UI"/>
              <a:cs typeface="Meiryo UI"/>
              <a:sym typeface="Meiryo UI"/>
            </a:endParaRPr>
          </a:p>
        </p:txBody>
      </p:sp>
      <p:sp>
        <p:nvSpPr>
          <p:cNvPr id="27" name="Shape 25"/>
          <p:cNvSpPr/>
          <p:nvPr/>
        </p:nvSpPr>
        <p:spPr>
          <a:xfrm>
            <a:off x="548640" y="4526280"/>
            <a:ext cx="11064240" cy="868680"/>
          </a:xfrm>
          <a:prstGeom prst="rect">
            <a:avLst/>
          </a:prstGeom>
          <a:solidFill>
            <a:srgbClr val="F8FAFC"/>
          </a:solidFill>
          <a:ln w="6350">
            <a:solidFill>
              <a:srgbClr val="E2E8F0"/>
            </a:solidFill>
            <a:prstDash val="solid"/>
          </a:ln>
        </p:spPr>
        <p:txBody>
          <a:bodyPr/>
          <a:p/>
        </p:txBody>
      </p:sp>
      <p:sp>
        <p:nvSpPr>
          <p:cNvPr id="28" name="Shape 26"/>
          <p:cNvSpPr/>
          <p:nvPr/>
        </p:nvSpPr>
        <p:spPr>
          <a:xfrm>
            <a:off x="548640" y="4526280"/>
            <a:ext cx="109728" cy="868680"/>
          </a:xfrm>
          <a:prstGeom prst="rect">
            <a:avLst/>
          </a:prstGeom>
          <a:solidFill>
            <a:srgbClr val="EBC528"/>
          </a:solidFill>
          <a:ln/>
        </p:spPr>
        <p:txBody>
          <a:bodyPr/>
          <a:p/>
        </p:txBody>
      </p:sp>
      <p:sp>
        <p:nvSpPr>
          <p:cNvPr id="29" name="Text 27"/>
          <p:cNvSpPr/>
          <p:nvPr/>
        </p:nvSpPr>
        <p:spPr>
          <a:xfrm>
            <a:off x="822960" y="4572000"/>
            <a:ext cx="10515600" cy="347472"/>
          </a:xfrm>
          <a:prstGeom prst="rect">
            <a:avLst/>
          </a:prstGeom>
          <a:noFill/>
          <a:ln/>
        </p:spPr>
        <p:txBody>
          <a:bodyPr wrap="square" lIns="0" tIns="0" rIns="0" bIns="0" rtlCol="0" anchor="ctr"/>
          <a:lstStyle/>
          <a:p>
            <a:pPr indent="0" marL="0">
              <a:buNone/>
            </a:pPr>
            <a:r>
              <a:rPr lang="en-US" sz="1300" b="1" dirty="0">
                <a:solidFill>
                  <a:srgbClr val="0F172A"/>
                </a:solidFill>
                <a:latin typeface="Meiryo UI" pitchFamily="34" charset="0"/>
                <a:ea typeface="Meiryo UI" pitchFamily="34" charset="-122"/>
                <a:cs typeface="Meiryo UI" pitchFamily="34" charset="-120"/>
                <a:sym typeface="Meiryo UI"/>
              </a:rPr>
              <a:t>/api/upload-resume の追加強化（CSRF / メソッド / CORS）</a:t>
            </a:r>
            <a:endParaRPr lang="en-US" sz="1300" dirty="0">
              <a:latin typeface="Meiryo UI"/>
              <a:ea typeface="Meiryo UI"/>
              <a:cs typeface="Meiryo UI"/>
              <a:sym typeface="Meiryo UI"/>
            </a:endParaRPr>
          </a:p>
        </p:txBody>
      </p:sp>
      <p:sp>
        <p:nvSpPr>
          <p:cNvPr id="30" name="Shape 28"/>
          <p:cNvSpPr/>
          <p:nvPr/>
        </p:nvSpPr>
        <p:spPr>
          <a:xfrm>
            <a:off x="822960" y="4965192"/>
            <a:ext cx="2011680" cy="365760"/>
          </a:xfrm>
          <a:prstGeom prst="rect">
            <a:avLst/>
          </a:prstGeom>
          <a:solidFill>
            <a:srgbClr val="EF4444"/>
          </a:solidFill>
          <a:ln/>
        </p:spPr>
        <p:txBody>
          <a:bodyPr/>
          <a:p/>
        </p:txBody>
      </p:sp>
      <p:sp>
        <p:nvSpPr>
          <p:cNvPr id="31" name="Text 29"/>
          <p:cNvSpPr/>
          <p:nvPr/>
        </p:nvSpPr>
        <p:spPr>
          <a:xfrm>
            <a:off x="822960" y="4965192"/>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sym typeface="Meiryo UI"/>
              </a:rPr>
              <a:t>Origin/Referer 検証</a:t>
            </a:r>
            <a:endParaRPr lang="en-US" sz="1100" dirty="0">
              <a:latin typeface="Meiryo UI"/>
              <a:ea typeface="Meiryo UI"/>
              <a:cs typeface="Meiryo UI"/>
              <a:sym typeface="Meiryo UI"/>
            </a:endParaRPr>
          </a:p>
        </p:txBody>
      </p:sp>
      <p:sp>
        <p:nvSpPr>
          <p:cNvPr id="32" name="Shape 30"/>
          <p:cNvSpPr/>
          <p:nvPr/>
        </p:nvSpPr>
        <p:spPr>
          <a:xfrm>
            <a:off x="2980944" y="4965192"/>
            <a:ext cx="2011680" cy="365760"/>
          </a:xfrm>
          <a:prstGeom prst="rect">
            <a:avLst/>
          </a:prstGeom>
          <a:solidFill>
            <a:srgbClr val="F59E0B"/>
          </a:solidFill>
          <a:ln/>
        </p:spPr>
        <p:txBody>
          <a:bodyPr/>
          <a:p/>
        </p:txBody>
      </p:sp>
      <p:sp>
        <p:nvSpPr>
          <p:cNvPr id="33" name="Text 31"/>
          <p:cNvSpPr/>
          <p:nvPr/>
        </p:nvSpPr>
        <p:spPr>
          <a:xfrm>
            <a:off x="2980944" y="4965192"/>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sym typeface="Meiryo UI"/>
              </a:rPr>
              <a:t>POST 以外 405</a:t>
            </a:r>
            <a:endParaRPr lang="en-US" sz="1100" dirty="0">
              <a:latin typeface="Meiryo UI"/>
              <a:ea typeface="Meiryo UI"/>
              <a:cs typeface="Meiryo UI"/>
              <a:sym typeface="Meiryo UI"/>
            </a:endParaRPr>
          </a:p>
        </p:txBody>
      </p:sp>
      <p:sp>
        <p:nvSpPr>
          <p:cNvPr id="34" name="Shape 32"/>
          <p:cNvSpPr/>
          <p:nvPr/>
        </p:nvSpPr>
        <p:spPr>
          <a:xfrm>
            <a:off x="5138928" y="4965192"/>
            <a:ext cx="2011680" cy="365760"/>
          </a:xfrm>
          <a:prstGeom prst="rect">
            <a:avLst/>
          </a:prstGeom>
          <a:solidFill>
            <a:srgbClr val="2563EB"/>
          </a:solidFill>
          <a:ln/>
        </p:spPr>
        <p:txBody>
          <a:bodyPr/>
          <a:p/>
        </p:txBody>
      </p:sp>
      <p:sp>
        <p:nvSpPr>
          <p:cNvPr id="35" name="Text 33"/>
          <p:cNvSpPr/>
          <p:nvPr/>
        </p:nvSpPr>
        <p:spPr>
          <a:xfrm>
            <a:off x="5138928" y="4965192"/>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sym typeface="Meiryo UI"/>
              </a:rPr>
              <a:t>CORS ヘッダ非応答</a:t>
            </a:r>
            <a:endParaRPr lang="en-US" sz="1100" dirty="0">
              <a:latin typeface="Meiryo UI"/>
              <a:ea typeface="Meiryo UI"/>
              <a:cs typeface="Meiryo UI"/>
              <a:sym typeface="Meiryo UI"/>
            </a:endParaRPr>
          </a:p>
        </p:txBody>
      </p:sp>
      <p:sp>
        <p:nvSpPr>
          <p:cNvPr id="36" name="Shape 34"/>
          <p:cNvSpPr/>
          <p:nvPr/>
        </p:nvSpPr>
        <p:spPr>
          <a:xfrm>
            <a:off x="7296912" y="4965192"/>
            <a:ext cx="2011680" cy="365760"/>
          </a:xfrm>
          <a:prstGeom prst="rect">
            <a:avLst/>
          </a:prstGeom>
          <a:solidFill>
            <a:srgbClr val="10B981"/>
          </a:solidFill>
          <a:ln/>
        </p:spPr>
        <p:txBody>
          <a:bodyPr/>
          <a:p/>
        </p:txBody>
      </p:sp>
      <p:sp>
        <p:nvSpPr>
          <p:cNvPr id="37" name="Text 35"/>
          <p:cNvSpPr/>
          <p:nvPr/>
        </p:nvSpPr>
        <p:spPr>
          <a:xfrm>
            <a:off x="7296912" y="4965192"/>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sym typeface="Meiryo UI"/>
              </a:rPr>
              <a:t>Cache-Control: no-store</a:t>
            </a:r>
            <a:endParaRPr lang="en-US" sz="1100" dirty="0">
              <a:latin typeface="Meiryo UI"/>
              <a:ea typeface="Meiryo UI"/>
              <a:cs typeface="Meiryo UI"/>
              <a:sym typeface="Meiryo UI"/>
            </a:endParaRPr>
          </a:p>
        </p:txBody>
      </p:sp>
      <p:sp>
        <p:nvSpPr>
          <p:cNvPr id="38" name="Shape 36"/>
          <p:cNvSpPr/>
          <p:nvPr/>
        </p:nvSpPr>
        <p:spPr>
          <a:xfrm>
            <a:off x="9454896" y="4965192"/>
            <a:ext cx="2011680" cy="365760"/>
          </a:xfrm>
          <a:prstGeom prst="rect">
            <a:avLst/>
          </a:prstGeom>
          <a:solidFill>
            <a:srgbClr val="7C3AED"/>
          </a:solidFill>
          <a:ln/>
        </p:spPr>
        <p:txBody>
          <a:bodyPr/>
          <a:p/>
        </p:txBody>
      </p:sp>
      <p:sp>
        <p:nvSpPr>
          <p:cNvPr id="39" name="Text 37"/>
          <p:cNvSpPr/>
          <p:nvPr/>
        </p:nvSpPr>
        <p:spPr>
          <a:xfrm>
            <a:off x="9454896" y="4965192"/>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sym typeface="Meiryo UI"/>
              </a:rPr>
              <a:t>X-Robots-Tag: noindex</a:t>
            </a:r>
            <a:endParaRPr lang="en-US" sz="1100" dirty="0">
              <a:latin typeface="Meiryo UI"/>
              <a:ea typeface="Meiryo UI"/>
              <a:cs typeface="Meiryo UI"/>
              <a:sym typeface="Meiryo UI"/>
            </a:endParaRPr>
          </a:p>
        </p:txBody>
      </p:sp>
      <p:sp>
        <p:nvSpPr>
          <p:cNvPr id="40" name="Shape 38"/>
          <p:cNvSpPr/>
          <p:nvPr/>
        </p:nvSpPr>
        <p:spPr>
          <a:xfrm>
            <a:off x="548640" y="5577840"/>
            <a:ext cx="11064240" cy="731520"/>
          </a:xfrm>
          <a:prstGeom prst="rect">
            <a:avLst/>
          </a:prstGeom>
          <a:solidFill>
            <a:srgbClr val="0F172A"/>
          </a:solidFill>
          <a:ln/>
        </p:spPr>
        <p:txBody>
          <a:bodyPr/>
          <a:p/>
        </p:txBody>
      </p:sp>
      <p:sp>
        <p:nvSpPr>
          <p:cNvPr id="41" name="Text 39"/>
          <p:cNvSpPr/>
          <p:nvPr/>
        </p:nvSpPr>
        <p:spPr>
          <a:xfrm>
            <a:off x="822960" y="5605272"/>
            <a:ext cx="10515600" cy="347472"/>
          </a:xfrm>
          <a:prstGeom prst="rect">
            <a:avLst/>
          </a:prstGeom>
          <a:noFill/>
          <a:ln/>
        </p:spPr>
        <p:txBody>
          <a:bodyPr wrap="square" lIns="0" tIns="0" rIns="0" bIns="0" rtlCol="0" anchor="ctr"/>
          <a:lstStyle/>
          <a:p>
            <a:pPr indent="0" marL="0">
              <a:buNone/>
            </a:pPr>
            <a:r>
              <a:rPr lang="en-US" sz="1300" b="1" dirty="0">
                <a:solidFill>
                  <a:srgbClr val="EBC528"/>
                </a:solidFill>
                <a:latin typeface="Meiryo UI" pitchFamily="34" charset="0"/>
                <a:ea typeface="Meiryo UI" pitchFamily="34" charset="-122"/>
                <a:cs typeface="Meiryo UI" pitchFamily="34" charset="-120"/>
                <a:sym typeface="Meiryo UI"/>
              </a:rPr>
              <a:t>不正ファイル → 400 ／ 他オリジン → 403 ／ 他メソッド → 405</a:t>
            </a:r>
            <a:endParaRPr lang="en-US" sz="1300" dirty="0">
              <a:latin typeface="Meiryo UI"/>
              <a:ea typeface="Meiryo UI"/>
              <a:cs typeface="Meiryo UI"/>
              <a:sym typeface="Meiryo UI"/>
            </a:endParaRPr>
          </a:p>
        </p:txBody>
      </p:sp>
      <p:sp>
        <p:nvSpPr>
          <p:cNvPr id="42" name="Text 40"/>
          <p:cNvSpPr/>
          <p:nvPr/>
        </p:nvSpPr>
        <p:spPr>
          <a:xfrm>
            <a:off x="822960" y="5943600"/>
            <a:ext cx="10515600" cy="347472"/>
          </a:xfrm>
          <a:prstGeom prst="rect">
            <a:avLst/>
          </a:prstGeom>
          <a:noFill/>
          <a:ln/>
        </p:spPr>
        <p:txBody>
          <a:bodyPr wrap="square" lIns="0" tIns="0" rIns="0" bIns="0" rtlCol="0" anchor="ctr"/>
          <a:lstStyle/>
          <a:p>
            <a:pPr indent="0" marL="0">
              <a:buNone/>
            </a:pPr>
            <a:r>
              <a:rPr lang="en-US" sz="1100" dirty="0">
                <a:solidFill>
                  <a:srgbClr val="FFFFFF"/>
                </a:solidFill>
                <a:latin typeface="Meiryo UI" pitchFamily="34" charset="0"/>
                <a:ea typeface="Meiryo UI" pitchFamily="34" charset="-122"/>
                <a:cs typeface="Meiryo UI" pitchFamily="34" charset="-120"/>
                <a:sym typeface="Meiryo UI"/>
              </a:rPr>
              <a:t>クライアントの JS 検証は迂回されうるので、必ずサーバ側で同じ検証を強制。</a:t>
            </a:r>
            <a:endParaRPr lang="en-US" sz="1100" dirty="0">
              <a:latin typeface="Meiryo UI"/>
              <a:ea typeface="Meiryo UI"/>
              <a:cs typeface="Meiryo UI"/>
              <a:sym typeface="Meiryo UI"/>
            </a:endParaRPr>
          </a:p>
        </p:txBody>
      </p:sp>
      <p:sp>
        <p:nvSpPr>
          <p:cNvPr id="43" name="Text 41"/>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44" name="Text 42"/>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7 / 12</a:t>
            </a:r>
            <a:endParaRPr lang="en-US" sz="1000" dirty="0">
              <a:latin typeface="Meiryo UI"/>
              <a:ea typeface="Meiryo UI"/>
              <a:cs typeface="Meiryo UI"/>
              <a:sym typeface="Meiryo U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07  KEY POINT</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セキュリティの工夫 ③｜88 項目チェックリスト対応</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業界標準のセキュリティチェックリスト 88 項目をぜんぶ確認しました。</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本サイトに関係する項目には、すべて対応済みです。</a:t>
            </a:r>
            <a:endParaRPr lang="en-US" sz="1800" dirty="0">
              <a:latin typeface="Meiryo UI"/>
              <a:ea typeface="Meiryo UI"/>
              <a:cs typeface="Meiryo UI"/>
              <a:sym typeface="Meiryo UI"/>
            </a:endParaRPr>
          </a:p>
        </p:txBody>
      </p:sp>
      <p:sp>
        <p:nvSpPr>
          <p:cNvPr id="10" name="Shape 8"/>
          <p:cNvSpPr/>
          <p:nvPr/>
        </p:nvSpPr>
        <p:spPr>
          <a:xfrm>
            <a:off x="548640" y="2971800"/>
            <a:ext cx="3200400" cy="3246120"/>
          </a:xfrm>
          <a:prstGeom prst="rect">
            <a:avLst/>
          </a:prstGeom>
          <a:solidFill>
            <a:srgbClr val="0F172A"/>
          </a:solidFill>
          <a:ln/>
        </p:spPr>
        <p:txBody>
          <a:bodyPr/>
          <a:p/>
        </p:txBody>
      </p:sp>
      <p:sp>
        <p:nvSpPr>
          <p:cNvPr id="11" name="Text 9"/>
          <p:cNvSpPr/>
          <p:nvPr/>
        </p:nvSpPr>
        <p:spPr>
          <a:xfrm>
            <a:off x="548640" y="3017520"/>
            <a:ext cx="3200400" cy="1554480"/>
          </a:xfrm>
          <a:prstGeom prst="rect">
            <a:avLst/>
          </a:prstGeom>
          <a:noFill/>
          <a:ln/>
        </p:spPr>
        <p:txBody>
          <a:bodyPr wrap="square" lIns="0" tIns="0" rIns="0" bIns="0" rtlCol="0" anchor="ctr"/>
          <a:lstStyle/>
          <a:p>
            <a:pPr algn="ctr" indent="0" marL="0">
              <a:buNone/>
            </a:pPr>
            <a:r>
              <a:rPr lang="en-US" sz="9600" b="1" dirty="0">
                <a:solidFill>
                  <a:srgbClr val="EBC528"/>
                </a:solidFill>
                <a:latin typeface="Meiryo UI" pitchFamily="34" charset="0"/>
                <a:ea typeface="Meiryo UI" pitchFamily="34" charset="-122"/>
                <a:cs typeface="Meiryo UI" pitchFamily="34" charset="-120"/>
                <a:sym typeface="Meiryo UI"/>
              </a:rPr>
              <a:t>88</a:t>
            </a:r>
            <a:endParaRPr lang="en-US" sz="9600" dirty="0">
              <a:latin typeface="Meiryo UI"/>
              <a:ea typeface="Meiryo UI"/>
              <a:cs typeface="Meiryo UI"/>
              <a:sym typeface="Meiryo UI"/>
            </a:endParaRPr>
          </a:p>
        </p:txBody>
      </p:sp>
      <p:sp>
        <p:nvSpPr>
          <p:cNvPr id="12" name="Text 10"/>
          <p:cNvSpPr/>
          <p:nvPr/>
        </p:nvSpPr>
        <p:spPr>
          <a:xfrm>
            <a:off x="548640" y="4526280"/>
            <a:ext cx="3200400" cy="365760"/>
          </a:xfrm>
          <a:prstGeom prst="rect">
            <a:avLst/>
          </a:prstGeom>
          <a:noFill/>
          <a:ln/>
        </p:spPr>
        <p:txBody>
          <a:bodyPr wrap="square" lIns="0" tIns="0" rIns="0" bIns="0" rtlCol="0" anchor="ctr"/>
          <a:lstStyle/>
          <a:p>
            <a:pPr algn="ctr" indent="0" marL="0">
              <a:buNone/>
            </a:pPr>
            <a:r>
              <a:rPr lang="en-US" sz="1300" b="1" spc="600" kern="0" dirty="0">
                <a:solidFill>
                  <a:srgbClr val="EBC528"/>
                </a:solidFill>
                <a:latin typeface="Meiryo UI" pitchFamily="34" charset="0"/>
                <a:ea typeface="Meiryo UI" pitchFamily="34" charset="-122"/>
                <a:cs typeface="Meiryo UI" pitchFamily="34" charset="-120"/>
                <a:sym typeface="Meiryo UI"/>
              </a:rPr>
              <a:t>ITEMS AUDITED</a:t>
            </a:r>
            <a:endParaRPr lang="en-US" sz="1300" dirty="0">
              <a:latin typeface="Meiryo UI"/>
              <a:ea typeface="Meiryo UI"/>
              <a:cs typeface="Meiryo UI"/>
              <a:sym typeface="Meiryo UI"/>
            </a:endParaRPr>
          </a:p>
        </p:txBody>
      </p:sp>
      <p:sp>
        <p:nvSpPr>
          <p:cNvPr id="13" name="Text 11"/>
          <p:cNvSpPr/>
          <p:nvPr/>
        </p:nvSpPr>
        <p:spPr>
          <a:xfrm>
            <a:off x="548640" y="4937760"/>
            <a:ext cx="32004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sym typeface="Meiryo UI"/>
              </a:rPr>
              <a:t>OWASP 系の脆弱性チェックリスト</a:t>
            </a:r>
            <a:endParaRPr lang="en-US" sz="1100" dirty="0">
              <a:latin typeface="Meiryo UI"/>
              <a:ea typeface="Meiryo UI"/>
              <a:cs typeface="Meiryo UI"/>
              <a:sym typeface="Meiryo UI"/>
            </a:endParaRPr>
          </a:p>
        </p:txBody>
      </p:sp>
      <p:sp>
        <p:nvSpPr>
          <p:cNvPr id="14" name="Text 12"/>
          <p:cNvSpPr/>
          <p:nvPr/>
        </p:nvSpPr>
        <p:spPr>
          <a:xfrm>
            <a:off x="548640" y="5257800"/>
            <a:ext cx="320040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Meiryo UI" pitchFamily="34" charset="0"/>
                <a:ea typeface="Meiryo UI" pitchFamily="34" charset="-122"/>
                <a:cs typeface="Meiryo UI" pitchFamily="34" charset="-120"/>
                <a:sym typeface="Meiryo UI"/>
              </a:rPr>
              <a:t>Critical / High / Medium / Low / Info</a:t>
            </a:r>
            <a:endParaRPr lang="en-US" sz="1000" dirty="0">
              <a:latin typeface="Meiryo UI"/>
              <a:ea typeface="Meiryo UI"/>
              <a:cs typeface="Meiryo UI"/>
              <a:sym typeface="Meiryo UI"/>
            </a:endParaRPr>
          </a:p>
        </p:txBody>
      </p:sp>
      <p:sp>
        <p:nvSpPr>
          <p:cNvPr id="15" name="Text 13"/>
          <p:cNvSpPr/>
          <p:nvPr/>
        </p:nvSpPr>
        <p:spPr>
          <a:xfrm>
            <a:off x="548640" y="5760720"/>
            <a:ext cx="3200400" cy="365760"/>
          </a:xfrm>
          <a:prstGeom prst="rect">
            <a:avLst/>
          </a:prstGeom>
          <a:noFill/>
          <a:ln/>
        </p:spPr>
        <p:txBody>
          <a:bodyPr wrap="square" lIns="0" tIns="0" rIns="0" bIns="0" rtlCol="0" anchor="ctr"/>
          <a:lstStyle/>
          <a:p>
            <a:pPr algn="ctr" indent="0" marL="0">
              <a:buNone/>
            </a:pPr>
            <a:r>
              <a:rPr lang="en-US" sz="1200" b="1" dirty="0">
                <a:solidFill>
                  <a:srgbClr val="EBC528"/>
                </a:solidFill>
                <a:latin typeface="Meiryo UI" pitchFamily="34" charset="0"/>
                <a:ea typeface="Meiryo UI" pitchFamily="34" charset="-122"/>
                <a:cs typeface="Meiryo UI" pitchFamily="34" charset="-120"/>
                <a:sym typeface="Meiryo UI"/>
              </a:rPr>
              <a:t>→ 全 88 項目を照合</a:t>
            </a:r>
            <a:endParaRPr lang="en-US" sz="1200" dirty="0">
              <a:latin typeface="Meiryo UI"/>
              <a:ea typeface="Meiryo UI"/>
              <a:cs typeface="Meiryo UI"/>
              <a:sym typeface="Meiryo UI"/>
            </a:endParaRPr>
          </a:p>
        </p:txBody>
      </p:sp>
      <p:sp>
        <p:nvSpPr>
          <p:cNvPr id="16" name="Shape 14"/>
          <p:cNvSpPr/>
          <p:nvPr/>
        </p:nvSpPr>
        <p:spPr>
          <a:xfrm>
            <a:off x="3977640" y="2971800"/>
            <a:ext cx="7635240" cy="1005840"/>
          </a:xfrm>
          <a:prstGeom prst="rect">
            <a:avLst/>
          </a:prstGeom>
          <a:solidFill>
            <a:srgbClr val="F8FAFC"/>
          </a:solidFill>
          <a:ln w="6350">
            <a:solidFill>
              <a:srgbClr val="E2E8F0"/>
            </a:solidFill>
            <a:prstDash val="solid"/>
          </a:ln>
        </p:spPr>
        <p:txBody>
          <a:bodyPr/>
          <a:p/>
        </p:txBody>
      </p:sp>
      <p:sp>
        <p:nvSpPr>
          <p:cNvPr id="17" name="Shape 15"/>
          <p:cNvSpPr/>
          <p:nvPr/>
        </p:nvSpPr>
        <p:spPr>
          <a:xfrm>
            <a:off x="3977640" y="2971800"/>
            <a:ext cx="109728" cy="1005840"/>
          </a:xfrm>
          <a:prstGeom prst="rect">
            <a:avLst/>
          </a:prstGeom>
          <a:solidFill>
            <a:srgbClr val="10B981"/>
          </a:solidFill>
          <a:ln/>
        </p:spPr>
        <p:txBody>
          <a:bodyPr/>
          <a:p/>
        </p:txBody>
      </p:sp>
      <p:sp>
        <p:nvSpPr>
          <p:cNvPr id="18" name="Text 16"/>
          <p:cNvSpPr/>
          <p:nvPr/>
        </p:nvSpPr>
        <p:spPr>
          <a:xfrm>
            <a:off x="4206240" y="3081528"/>
            <a:ext cx="3200400" cy="365760"/>
          </a:xfrm>
          <a:prstGeom prst="rect">
            <a:avLst/>
          </a:prstGeom>
          <a:noFill/>
          <a:ln/>
        </p:spPr>
        <p:txBody>
          <a:bodyPr wrap="square" lIns="0" tIns="0" rIns="0" bIns="0" rtlCol="0" anchor="ctr"/>
          <a:lstStyle/>
          <a:p>
            <a:pPr indent="0" marL="0">
              <a:buNone/>
            </a:pPr>
            <a:r>
              <a:rPr lang="en-US" sz="2000" b="1" dirty="0">
                <a:solidFill>
                  <a:srgbClr val="0F172A"/>
                </a:solidFill>
                <a:latin typeface="Meiryo UI" pitchFamily="34" charset="0"/>
                <a:ea typeface="Meiryo UI" pitchFamily="34" charset="-122"/>
                <a:cs typeface="Meiryo UI" pitchFamily="34" charset="-120"/>
                <a:sym typeface="Meiryo UI"/>
              </a:rPr>
              <a:t>対応済</a:t>
            </a:r>
            <a:endParaRPr lang="en-US" sz="2000" dirty="0">
              <a:latin typeface="Meiryo UI"/>
              <a:ea typeface="Meiryo UI"/>
              <a:cs typeface="Meiryo UI"/>
              <a:sym typeface="Meiryo UI"/>
            </a:endParaRPr>
          </a:p>
        </p:txBody>
      </p:sp>
      <p:sp>
        <p:nvSpPr>
          <p:cNvPr id="19" name="Shape 17"/>
          <p:cNvSpPr/>
          <p:nvPr/>
        </p:nvSpPr>
        <p:spPr>
          <a:xfrm>
            <a:off x="9418320" y="3118104"/>
            <a:ext cx="2011680" cy="384048"/>
          </a:xfrm>
          <a:prstGeom prst="rect">
            <a:avLst/>
          </a:prstGeom>
          <a:solidFill>
            <a:srgbClr val="10B981"/>
          </a:solidFill>
          <a:ln/>
        </p:spPr>
        <p:txBody>
          <a:bodyPr/>
          <a:p/>
        </p:txBody>
      </p:sp>
      <p:sp>
        <p:nvSpPr>
          <p:cNvPr id="20" name="Text 18"/>
          <p:cNvSpPr/>
          <p:nvPr/>
        </p:nvSpPr>
        <p:spPr>
          <a:xfrm>
            <a:off x="9418320" y="3118104"/>
            <a:ext cx="2011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sym typeface="Meiryo UI"/>
              </a:rPr>
              <a:t>約 26 項目</a:t>
            </a:r>
            <a:endParaRPr lang="en-US" sz="1300" dirty="0">
              <a:latin typeface="Meiryo UI"/>
              <a:ea typeface="Meiryo UI"/>
              <a:cs typeface="Meiryo UI"/>
              <a:sym typeface="Meiryo UI"/>
            </a:endParaRPr>
          </a:p>
        </p:txBody>
      </p:sp>
      <p:sp>
        <p:nvSpPr>
          <p:cNvPr id="21" name="Text 19"/>
          <p:cNvSpPr/>
          <p:nvPr/>
        </p:nvSpPr>
        <p:spPr>
          <a:xfrm>
            <a:off x="4206240" y="3483864"/>
            <a:ext cx="7223760" cy="45720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CSP・HSTS・XFO・PDF 3 層・CSRF・SSRF・エラー保護 等</a:t>
            </a:r>
            <a:endParaRPr lang="en-US" sz="1200" dirty="0">
              <a:latin typeface="Meiryo UI"/>
              <a:ea typeface="Meiryo UI"/>
              <a:cs typeface="Meiryo UI"/>
              <a:sym typeface="Meiryo UI"/>
            </a:endParaRPr>
          </a:p>
        </p:txBody>
      </p:sp>
      <p:sp>
        <p:nvSpPr>
          <p:cNvPr id="22" name="Shape 20"/>
          <p:cNvSpPr/>
          <p:nvPr/>
        </p:nvSpPr>
        <p:spPr>
          <a:xfrm>
            <a:off x="3977640" y="4069080"/>
            <a:ext cx="7635240" cy="1005840"/>
          </a:xfrm>
          <a:prstGeom prst="rect">
            <a:avLst/>
          </a:prstGeom>
          <a:solidFill>
            <a:srgbClr val="F8FAFC"/>
          </a:solidFill>
          <a:ln w="6350">
            <a:solidFill>
              <a:srgbClr val="E2E8F0"/>
            </a:solidFill>
            <a:prstDash val="solid"/>
          </a:ln>
        </p:spPr>
        <p:txBody>
          <a:bodyPr/>
          <a:p/>
        </p:txBody>
      </p:sp>
      <p:sp>
        <p:nvSpPr>
          <p:cNvPr id="23" name="Shape 21"/>
          <p:cNvSpPr/>
          <p:nvPr/>
        </p:nvSpPr>
        <p:spPr>
          <a:xfrm>
            <a:off x="3977640" y="4069080"/>
            <a:ext cx="109728" cy="1005840"/>
          </a:xfrm>
          <a:prstGeom prst="rect">
            <a:avLst/>
          </a:prstGeom>
          <a:solidFill>
            <a:srgbClr val="334155"/>
          </a:solidFill>
          <a:ln/>
        </p:spPr>
        <p:txBody>
          <a:bodyPr/>
          <a:p/>
        </p:txBody>
      </p:sp>
      <p:sp>
        <p:nvSpPr>
          <p:cNvPr id="24" name="Text 22"/>
          <p:cNvSpPr/>
          <p:nvPr/>
        </p:nvSpPr>
        <p:spPr>
          <a:xfrm>
            <a:off x="4206240" y="4178808"/>
            <a:ext cx="3200400" cy="365760"/>
          </a:xfrm>
          <a:prstGeom prst="rect">
            <a:avLst/>
          </a:prstGeom>
          <a:noFill/>
          <a:ln/>
        </p:spPr>
        <p:txBody>
          <a:bodyPr wrap="square" lIns="0" tIns="0" rIns="0" bIns="0" rtlCol="0" anchor="ctr"/>
          <a:lstStyle/>
          <a:p>
            <a:pPr indent="0" marL="0">
              <a:buNone/>
            </a:pPr>
            <a:r>
              <a:rPr lang="en-US" sz="2000" b="1" dirty="0">
                <a:solidFill>
                  <a:srgbClr val="0F172A"/>
                </a:solidFill>
                <a:latin typeface="Meiryo UI" pitchFamily="34" charset="0"/>
                <a:ea typeface="Meiryo UI" pitchFamily="34" charset="-122"/>
                <a:cs typeface="Meiryo UI" pitchFamily="34" charset="-120"/>
                <a:sym typeface="Meiryo UI"/>
              </a:rPr>
              <a:t>非該当</a:t>
            </a:r>
            <a:endParaRPr lang="en-US" sz="2000" dirty="0">
              <a:latin typeface="Meiryo UI"/>
              <a:ea typeface="Meiryo UI"/>
              <a:cs typeface="Meiryo UI"/>
              <a:sym typeface="Meiryo UI"/>
            </a:endParaRPr>
          </a:p>
        </p:txBody>
      </p:sp>
      <p:sp>
        <p:nvSpPr>
          <p:cNvPr id="25" name="Shape 23"/>
          <p:cNvSpPr/>
          <p:nvPr/>
        </p:nvSpPr>
        <p:spPr>
          <a:xfrm>
            <a:off x="9418320" y="4215384"/>
            <a:ext cx="2011680" cy="384048"/>
          </a:xfrm>
          <a:prstGeom prst="rect">
            <a:avLst/>
          </a:prstGeom>
          <a:solidFill>
            <a:srgbClr val="334155"/>
          </a:solidFill>
          <a:ln/>
        </p:spPr>
        <p:txBody>
          <a:bodyPr/>
          <a:p/>
        </p:txBody>
      </p:sp>
      <p:sp>
        <p:nvSpPr>
          <p:cNvPr id="26" name="Text 24"/>
          <p:cNvSpPr/>
          <p:nvPr/>
        </p:nvSpPr>
        <p:spPr>
          <a:xfrm>
            <a:off x="9418320" y="4215384"/>
            <a:ext cx="2011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sym typeface="Meiryo UI"/>
              </a:rPr>
              <a:t>約 56 項目</a:t>
            </a:r>
            <a:endParaRPr lang="en-US" sz="1300" dirty="0">
              <a:latin typeface="Meiryo UI"/>
              <a:ea typeface="Meiryo UI"/>
              <a:cs typeface="Meiryo UI"/>
              <a:sym typeface="Meiryo UI"/>
            </a:endParaRPr>
          </a:p>
        </p:txBody>
      </p:sp>
      <p:sp>
        <p:nvSpPr>
          <p:cNvPr id="27" name="Text 25"/>
          <p:cNvSpPr/>
          <p:nvPr/>
        </p:nvSpPr>
        <p:spPr>
          <a:xfrm>
            <a:off x="4206240" y="4581144"/>
            <a:ext cx="7223760" cy="45720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認証・JWT・DB クエリ・Cookie・管理画面 など（機能なし）</a:t>
            </a:r>
            <a:endParaRPr lang="en-US" sz="1200" dirty="0">
              <a:latin typeface="Meiryo UI"/>
              <a:ea typeface="Meiryo UI"/>
              <a:cs typeface="Meiryo UI"/>
              <a:sym typeface="Meiryo UI"/>
            </a:endParaRPr>
          </a:p>
        </p:txBody>
      </p:sp>
      <p:sp>
        <p:nvSpPr>
          <p:cNvPr id="28" name="Shape 26"/>
          <p:cNvSpPr/>
          <p:nvPr/>
        </p:nvSpPr>
        <p:spPr>
          <a:xfrm>
            <a:off x="3977640" y="5166360"/>
            <a:ext cx="7635240" cy="1005840"/>
          </a:xfrm>
          <a:prstGeom prst="rect">
            <a:avLst/>
          </a:prstGeom>
          <a:solidFill>
            <a:srgbClr val="F8FAFC"/>
          </a:solidFill>
          <a:ln w="6350">
            <a:solidFill>
              <a:srgbClr val="E2E8F0"/>
            </a:solidFill>
            <a:prstDash val="solid"/>
          </a:ln>
        </p:spPr>
        <p:txBody>
          <a:bodyPr/>
          <a:p/>
        </p:txBody>
      </p:sp>
      <p:sp>
        <p:nvSpPr>
          <p:cNvPr id="29" name="Shape 27"/>
          <p:cNvSpPr/>
          <p:nvPr/>
        </p:nvSpPr>
        <p:spPr>
          <a:xfrm>
            <a:off x="3977640" y="5166360"/>
            <a:ext cx="109728" cy="1005840"/>
          </a:xfrm>
          <a:prstGeom prst="rect">
            <a:avLst/>
          </a:prstGeom>
          <a:solidFill>
            <a:srgbClr val="F59E0B"/>
          </a:solidFill>
          <a:ln/>
        </p:spPr>
        <p:txBody>
          <a:bodyPr/>
          <a:p/>
        </p:txBody>
      </p:sp>
      <p:sp>
        <p:nvSpPr>
          <p:cNvPr id="30" name="Text 28"/>
          <p:cNvSpPr/>
          <p:nvPr/>
        </p:nvSpPr>
        <p:spPr>
          <a:xfrm>
            <a:off x="4206240" y="5276088"/>
            <a:ext cx="3200400" cy="365760"/>
          </a:xfrm>
          <a:prstGeom prst="rect">
            <a:avLst/>
          </a:prstGeom>
          <a:noFill/>
          <a:ln/>
        </p:spPr>
        <p:txBody>
          <a:bodyPr wrap="square" lIns="0" tIns="0" rIns="0" bIns="0" rtlCol="0" anchor="ctr"/>
          <a:lstStyle/>
          <a:p>
            <a:pPr indent="0" marL="0">
              <a:buNone/>
            </a:pPr>
            <a:r>
              <a:rPr lang="en-US" sz="2000" b="1" dirty="0">
                <a:solidFill>
                  <a:srgbClr val="0F172A"/>
                </a:solidFill>
                <a:latin typeface="Meiryo UI" pitchFamily="34" charset="0"/>
                <a:ea typeface="Meiryo UI" pitchFamily="34" charset="-122"/>
                <a:cs typeface="Meiryo UI" pitchFamily="34" charset="-120"/>
                <a:sym typeface="Meiryo UI"/>
              </a:rPr>
              <a:t>運用補完</a:t>
            </a:r>
            <a:endParaRPr lang="en-US" sz="2000" dirty="0">
              <a:latin typeface="Meiryo UI"/>
              <a:ea typeface="Meiryo UI"/>
              <a:cs typeface="Meiryo UI"/>
              <a:sym typeface="Meiryo UI"/>
            </a:endParaRPr>
          </a:p>
        </p:txBody>
      </p:sp>
      <p:sp>
        <p:nvSpPr>
          <p:cNvPr id="31" name="Shape 29"/>
          <p:cNvSpPr/>
          <p:nvPr/>
        </p:nvSpPr>
        <p:spPr>
          <a:xfrm>
            <a:off x="9418320" y="5312664"/>
            <a:ext cx="2011680" cy="384048"/>
          </a:xfrm>
          <a:prstGeom prst="rect">
            <a:avLst/>
          </a:prstGeom>
          <a:solidFill>
            <a:srgbClr val="F59E0B"/>
          </a:solidFill>
          <a:ln/>
        </p:spPr>
        <p:txBody>
          <a:bodyPr/>
          <a:p/>
        </p:txBody>
      </p:sp>
      <p:sp>
        <p:nvSpPr>
          <p:cNvPr id="32" name="Text 30"/>
          <p:cNvSpPr/>
          <p:nvPr/>
        </p:nvSpPr>
        <p:spPr>
          <a:xfrm>
            <a:off x="9418320" y="5312664"/>
            <a:ext cx="2011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sym typeface="Meiryo UI"/>
              </a:rPr>
              <a:t>約 6 項目</a:t>
            </a:r>
            <a:endParaRPr lang="en-US" sz="1300" dirty="0">
              <a:latin typeface="Meiryo UI"/>
              <a:ea typeface="Meiryo UI"/>
              <a:cs typeface="Meiryo UI"/>
              <a:sym typeface="Meiryo UI"/>
            </a:endParaRPr>
          </a:p>
        </p:txBody>
      </p:sp>
      <p:sp>
        <p:nvSpPr>
          <p:cNvPr id="33" name="Text 31"/>
          <p:cNvSpPr/>
          <p:nvPr/>
        </p:nvSpPr>
        <p:spPr>
          <a:xfrm>
            <a:off x="4206240" y="5678424"/>
            <a:ext cx="7223760" cy="457200"/>
          </a:xfrm>
          <a:prstGeom prst="rect">
            <a:avLst/>
          </a:prstGeom>
          <a:noFill/>
          <a:ln/>
        </p:spPr>
        <p:txBody>
          <a:bodyPr wrap="square" lIns="0" tIns="0" rIns="0" bIns="0" rtlCol="0" anchor="ctr"/>
          <a:lstStyle/>
          <a:p>
            <a:pPr indent="0" marL="0">
              <a:buNone/>
            </a:pPr>
            <a:r>
              <a:rPr lang="en-US" sz="1200" dirty="0">
                <a:solidFill>
                  <a:srgbClr val="1E293B"/>
                </a:solidFill>
                <a:latin typeface="Meiryo UI" pitchFamily="34" charset="0"/>
                <a:ea typeface="Meiryo UI" pitchFamily="34" charset="-122"/>
                <a:cs typeface="Meiryo UI" pitchFamily="34" charset="-120"/>
                <a:sym typeface="Meiryo UI"/>
              </a:rPr>
              <a:t>WAF・npm audit CI・AV スキャン・レート制限 等</a:t>
            </a:r>
            <a:endParaRPr lang="en-US" sz="1200" dirty="0">
              <a:latin typeface="Meiryo UI"/>
              <a:ea typeface="Meiryo UI"/>
              <a:cs typeface="Meiryo UI"/>
              <a:sym typeface="Meiryo UI"/>
            </a:endParaRPr>
          </a:p>
        </p:txBody>
      </p:sp>
      <p:sp>
        <p:nvSpPr>
          <p:cNvPr id="34" name="Text 32"/>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35" name="Text 33"/>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8 / 12</a:t>
            </a:r>
            <a:endParaRPr lang="en-US" sz="1000" dirty="0">
              <a:latin typeface="Meiryo UI"/>
              <a:ea typeface="Meiryo UI"/>
              <a:cs typeface="Meiryo UI"/>
              <a:sym typeface="Meiryo U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08  CODE</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コードの工夫 ①｜CSS変数 × Tailwind</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色の設定は「globals.css」1 ファイルに全部書いてあります。</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ダークモードや色変更が、ファイル 1 つ直すだけで完了します。</a:t>
            </a:r>
            <a:endParaRPr lang="en-US" sz="1800" dirty="0">
              <a:latin typeface="Meiryo UI"/>
              <a:ea typeface="Meiryo UI"/>
              <a:cs typeface="Meiryo UI"/>
              <a:sym typeface="Meiryo UI"/>
            </a:endParaRPr>
          </a:p>
        </p:txBody>
      </p:sp>
      <p:sp>
        <p:nvSpPr>
          <p:cNvPr id="10" name="Shape 8"/>
          <p:cNvSpPr/>
          <p:nvPr/>
        </p:nvSpPr>
        <p:spPr>
          <a:xfrm>
            <a:off x="548640" y="2971800"/>
            <a:ext cx="5486400" cy="3246120"/>
          </a:xfrm>
          <a:prstGeom prst="rect">
            <a:avLst/>
          </a:prstGeom>
          <a:solidFill>
            <a:srgbClr val="0F172A"/>
          </a:solidFill>
          <a:ln/>
        </p:spPr>
        <p:txBody>
          <a:bodyPr/>
          <a:p/>
        </p:txBody>
      </p:sp>
      <p:sp>
        <p:nvSpPr>
          <p:cNvPr id="11" name="Text 9"/>
          <p:cNvSpPr/>
          <p:nvPr/>
        </p:nvSpPr>
        <p:spPr>
          <a:xfrm>
            <a:off x="777240" y="3090672"/>
            <a:ext cx="5029200" cy="256032"/>
          </a:xfrm>
          <a:prstGeom prst="rect">
            <a:avLst/>
          </a:prstGeom>
          <a:noFill/>
          <a:ln/>
        </p:spPr>
        <p:txBody>
          <a:bodyPr wrap="square" lIns="0" tIns="0" rIns="0" bIns="0" rtlCol="0" anchor="ctr"/>
          <a:lstStyle/>
          <a:p>
            <a:pPr indent="0" marL="0">
              <a:buNone/>
            </a:pPr>
            <a:r>
              <a:rPr lang="en-US" sz="1100" dirty="0">
                <a:solidFill>
                  <a:srgbClr val="94A3B8"/>
                </a:solidFill>
                <a:latin typeface="Meiryo UI" pitchFamily="34" charset="0"/>
                <a:ea typeface="Meiryo UI" pitchFamily="34" charset="-122"/>
                <a:cs typeface="Meiryo UI" pitchFamily="34" charset="-120"/>
                <a:sym typeface="Meiryo UI"/>
              </a:rPr>
              <a:t>/* globals.css */</a:t>
            </a:r>
            <a:endParaRPr lang="en-US" sz="1100" dirty="0">
              <a:latin typeface="Meiryo UI"/>
              <a:ea typeface="Meiryo UI"/>
              <a:cs typeface="Meiryo UI"/>
              <a:sym typeface="Meiryo UI"/>
            </a:endParaRPr>
          </a:p>
        </p:txBody>
      </p:sp>
      <p:sp>
        <p:nvSpPr>
          <p:cNvPr id="12" name="Text 10"/>
          <p:cNvSpPr/>
          <p:nvPr/>
        </p:nvSpPr>
        <p:spPr>
          <a:xfrm>
            <a:off x="777240" y="3337560"/>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:root {</a:t>
            </a:r>
            <a:endParaRPr lang="en-US" sz="1400" dirty="0">
              <a:latin typeface="Meiryo UI"/>
              <a:ea typeface="Meiryo UI"/>
              <a:cs typeface="Meiryo UI"/>
              <a:sym typeface="Meiryo UI"/>
            </a:endParaRPr>
          </a:p>
        </p:txBody>
      </p:sp>
      <p:sp>
        <p:nvSpPr>
          <p:cNvPr id="13" name="Text 11"/>
          <p:cNvSpPr/>
          <p:nvPr/>
        </p:nvSpPr>
        <p:spPr>
          <a:xfrm>
            <a:off x="777240" y="3584448"/>
            <a:ext cx="5029200" cy="256032"/>
          </a:xfrm>
          <a:prstGeom prst="rect">
            <a:avLst/>
          </a:prstGeom>
          <a:noFill/>
          <a:ln/>
        </p:spPr>
        <p:txBody>
          <a:bodyPr wrap="square" lIns="0" tIns="0" rIns="0" bIns="0" rtlCol="0" anchor="ctr"/>
          <a:lstStyle/>
          <a:p>
            <a:pPr indent="0" marL="0">
              <a:buNone/>
            </a:pPr>
            <a:r>
              <a:rPr lang="en-US" sz="1400" b="1" dirty="0">
                <a:solidFill>
                  <a:srgbClr val="EBC528"/>
                </a:solidFill>
                <a:latin typeface="Meiryo UI" pitchFamily="34" charset="0"/>
                <a:ea typeface="Meiryo UI" pitchFamily="34" charset="-122"/>
                <a:cs typeface="Meiryo UI" pitchFamily="34" charset="-120"/>
                <a:sym typeface="Meiryo UI"/>
              </a:rPr>
              <a:t>  --color-primary: #ebc528;</a:t>
            </a:r>
            <a:endParaRPr lang="en-US" sz="1400" dirty="0">
              <a:latin typeface="Meiryo UI"/>
              <a:ea typeface="Meiryo UI"/>
              <a:cs typeface="Meiryo UI"/>
              <a:sym typeface="Meiryo UI"/>
            </a:endParaRPr>
          </a:p>
        </p:txBody>
      </p:sp>
      <p:sp>
        <p:nvSpPr>
          <p:cNvPr id="14" name="Text 12"/>
          <p:cNvSpPr/>
          <p:nvPr/>
        </p:nvSpPr>
        <p:spPr>
          <a:xfrm>
            <a:off x="777240" y="3831336"/>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  --color-background: #f8fafc;</a:t>
            </a:r>
            <a:endParaRPr lang="en-US" sz="1400" dirty="0">
              <a:latin typeface="Meiryo UI"/>
              <a:ea typeface="Meiryo UI"/>
              <a:cs typeface="Meiryo UI"/>
              <a:sym typeface="Meiryo UI"/>
            </a:endParaRPr>
          </a:p>
        </p:txBody>
      </p:sp>
      <p:sp>
        <p:nvSpPr>
          <p:cNvPr id="15" name="Text 13"/>
          <p:cNvSpPr/>
          <p:nvPr/>
        </p:nvSpPr>
        <p:spPr>
          <a:xfrm>
            <a:off x="777240" y="4078224"/>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  --color-accent: #0f172a;</a:t>
            </a:r>
            <a:endParaRPr lang="en-US" sz="1400" dirty="0">
              <a:latin typeface="Meiryo UI"/>
              <a:ea typeface="Meiryo UI"/>
              <a:cs typeface="Meiryo UI"/>
              <a:sym typeface="Meiryo UI"/>
            </a:endParaRPr>
          </a:p>
        </p:txBody>
      </p:sp>
      <p:sp>
        <p:nvSpPr>
          <p:cNvPr id="16" name="Text 14"/>
          <p:cNvSpPr/>
          <p:nvPr/>
        </p:nvSpPr>
        <p:spPr>
          <a:xfrm>
            <a:off x="777240" y="4325112"/>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a:t>
            </a:r>
            <a:endParaRPr lang="en-US" sz="1400" dirty="0">
              <a:latin typeface="Meiryo UI"/>
              <a:ea typeface="Meiryo UI"/>
              <a:cs typeface="Meiryo UI"/>
              <a:sym typeface="Meiryo UI"/>
            </a:endParaRPr>
          </a:p>
        </p:txBody>
      </p:sp>
      <p:sp>
        <p:nvSpPr>
          <p:cNvPr id="17" name="Text 15"/>
          <p:cNvSpPr/>
          <p:nvPr/>
        </p:nvSpPr>
        <p:spPr>
          <a:xfrm>
            <a:off x="777240" y="4572000"/>
            <a:ext cx="5029200" cy="256032"/>
          </a:xfrm>
          <a:prstGeom prst="rect">
            <a:avLst/>
          </a:prstGeom>
          <a:noFill/>
          <a:ln/>
        </p:spPr>
        <p:txBody>
          <a:bodyPr wrap="square" lIns="0" tIns="0" rIns="0" bIns="0" rtlCol="0" anchor="ctr"/>
          <a:lstStyle/>
          <a:p>
            <a:pPr indent="0" marL="0">
              <a:buNone/>
            </a:pPr>
            <a:endParaRPr lang="en-US" sz="1200" dirty="0">
              <a:latin typeface="Meiryo UI"/>
              <a:ea typeface="Meiryo UI"/>
              <a:cs typeface="Meiryo UI"/>
              <a:sym typeface="Meiryo UI"/>
            </a:endParaRPr>
          </a:p>
        </p:txBody>
      </p:sp>
      <p:sp>
        <p:nvSpPr>
          <p:cNvPr id="18" name="Text 16"/>
          <p:cNvSpPr/>
          <p:nvPr/>
        </p:nvSpPr>
        <p:spPr>
          <a:xfrm>
            <a:off x="777240" y="4818888"/>
            <a:ext cx="5029200" cy="256032"/>
          </a:xfrm>
          <a:prstGeom prst="rect">
            <a:avLst/>
          </a:prstGeom>
          <a:noFill/>
          <a:ln/>
        </p:spPr>
        <p:txBody>
          <a:bodyPr wrap="square" lIns="0" tIns="0" rIns="0" bIns="0" rtlCol="0" anchor="ctr"/>
          <a:lstStyle/>
          <a:p>
            <a:pPr indent="0" marL="0">
              <a:buNone/>
            </a:pPr>
            <a:r>
              <a:rPr lang="en-US" sz="1100" dirty="0">
                <a:solidFill>
                  <a:srgbClr val="94A3B8"/>
                </a:solidFill>
                <a:latin typeface="Meiryo UI" pitchFamily="34" charset="0"/>
                <a:ea typeface="Meiryo UI" pitchFamily="34" charset="-122"/>
                <a:cs typeface="Meiryo UI" pitchFamily="34" charset="-120"/>
                <a:sym typeface="Meiryo UI"/>
              </a:rPr>
              <a:t>/* tailwind.config.ts */</a:t>
            </a:r>
            <a:endParaRPr lang="en-US" sz="1100" dirty="0">
              <a:latin typeface="Meiryo UI"/>
              <a:ea typeface="Meiryo UI"/>
              <a:cs typeface="Meiryo UI"/>
              <a:sym typeface="Meiryo UI"/>
            </a:endParaRPr>
          </a:p>
        </p:txBody>
      </p:sp>
      <p:sp>
        <p:nvSpPr>
          <p:cNvPr id="19" name="Text 17"/>
          <p:cNvSpPr/>
          <p:nvPr/>
        </p:nvSpPr>
        <p:spPr>
          <a:xfrm>
            <a:off x="777240" y="5065776"/>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colors: {</a:t>
            </a:r>
            <a:endParaRPr lang="en-US" sz="1400" dirty="0">
              <a:latin typeface="Meiryo UI"/>
              <a:ea typeface="Meiryo UI"/>
              <a:cs typeface="Meiryo UI"/>
              <a:sym typeface="Meiryo UI"/>
            </a:endParaRPr>
          </a:p>
        </p:txBody>
      </p:sp>
      <p:sp>
        <p:nvSpPr>
          <p:cNvPr id="20" name="Text 18"/>
          <p:cNvSpPr/>
          <p:nvPr/>
        </p:nvSpPr>
        <p:spPr>
          <a:xfrm>
            <a:off x="777240" y="5312664"/>
            <a:ext cx="5029200" cy="256032"/>
          </a:xfrm>
          <a:prstGeom prst="rect">
            <a:avLst/>
          </a:prstGeom>
          <a:noFill/>
          <a:ln/>
        </p:spPr>
        <p:txBody>
          <a:bodyPr wrap="square" lIns="0" tIns="0" rIns="0" bIns="0" rtlCol="0" anchor="ctr"/>
          <a:lstStyle/>
          <a:p>
            <a:pPr indent="0" marL="0">
              <a:buNone/>
            </a:pPr>
            <a:r>
              <a:rPr lang="en-US" sz="1400" b="1" dirty="0">
                <a:solidFill>
                  <a:srgbClr val="EBC528"/>
                </a:solidFill>
                <a:latin typeface="Meiryo UI" pitchFamily="34" charset="0"/>
                <a:ea typeface="Meiryo UI" pitchFamily="34" charset="-122"/>
                <a:cs typeface="Meiryo UI" pitchFamily="34" charset="-120"/>
                <a:sym typeface="Meiryo UI"/>
              </a:rPr>
              <a:t>  primary: 'var(--color-primary)',</a:t>
            </a:r>
            <a:endParaRPr lang="en-US" sz="1400" dirty="0">
              <a:latin typeface="Meiryo UI"/>
              <a:ea typeface="Meiryo UI"/>
              <a:cs typeface="Meiryo UI"/>
              <a:sym typeface="Meiryo UI"/>
            </a:endParaRPr>
          </a:p>
        </p:txBody>
      </p:sp>
      <p:sp>
        <p:nvSpPr>
          <p:cNvPr id="21" name="Text 19"/>
          <p:cNvSpPr/>
          <p:nvPr/>
        </p:nvSpPr>
        <p:spPr>
          <a:xfrm>
            <a:off x="777240" y="5559552"/>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  background: 'var(--color-background)',</a:t>
            </a:r>
            <a:endParaRPr lang="en-US" sz="1400" dirty="0">
              <a:latin typeface="Meiryo UI"/>
              <a:ea typeface="Meiryo UI"/>
              <a:cs typeface="Meiryo UI"/>
              <a:sym typeface="Meiryo UI"/>
            </a:endParaRPr>
          </a:p>
        </p:txBody>
      </p:sp>
      <p:sp>
        <p:nvSpPr>
          <p:cNvPr id="22" name="Text 20"/>
          <p:cNvSpPr/>
          <p:nvPr/>
        </p:nvSpPr>
        <p:spPr>
          <a:xfrm>
            <a:off x="777240" y="5806440"/>
            <a:ext cx="5029200" cy="256032"/>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a:t>
            </a:r>
            <a:endParaRPr lang="en-US" sz="1400" dirty="0">
              <a:latin typeface="Meiryo UI"/>
              <a:ea typeface="Meiryo UI"/>
              <a:cs typeface="Meiryo UI"/>
              <a:sym typeface="Meiryo UI"/>
            </a:endParaRPr>
          </a:p>
        </p:txBody>
      </p:sp>
      <p:sp>
        <p:nvSpPr>
          <p:cNvPr id="23" name="Shape 21"/>
          <p:cNvSpPr/>
          <p:nvPr/>
        </p:nvSpPr>
        <p:spPr>
          <a:xfrm>
            <a:off x="6400800" y="2971800"/>
            <a:ext cx="5212080" cy="987552"/>
          </a:xfrm>
          <a:prstGeom prst="rect">
            <a:avLst/>
          </a:prstGeom>
          <a:solidFill>
            <a:srgbClr val="F8FAFC"/>
          </a:solidFill>
          <a:ln w="6350">
            <a:solidFill>
              <a:srgbClr val="E2E8F0"/>
            </a:solidFill>
            <a:prstDash val="solid"/>
          </a:ln>
        </p:spPr>
        <p:txBody>
          <a:bodyPr/>
          <a:p/>
        </p:txBody>
      </p:sp>
      <p:sp>
        <p:nvSpPr>
          <p:cNvPr id="24" name="Shape 22"/>
          <p:cNvSpPr/>
          <p:nvPr/>
        </p:nvSpPr>
        <p:spPr>
          <a:xfrm>
            <a:off x="6400800" y="2971800"/>
            <a:ext cx="73152" cy="987552"/>
          </a:xfrm>
          <a:prstGeom prst="rect">
            <a:avLst/>
          </a:prstGeom>
          <a:solidFill>
            <a:srgbClr val="EBC528"/>
          </a:solidFill>
          <a:ln/>
        </p:spPr>
        <p:txBody>
          <a:bodyPr/>
          <a:p/>
        </p:txBody>
      </p:sp>
      <p:sp>
        <p:nvSpPr>
          <p:cNvPr id="25" name="Text 23"/>
          <p:cNvSpPr/>
          <p:nvPr/>
        </p:nvSpPr>
        <p:spPr>
          <a:xfrm>
            <a:off x="6629400" y="3090672"/>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1 か所変えれば全部変わる</a:t>
            </a:r>
            <a:endParaRPr lang="en-US" sz="1500" dirty="0">
              <a:latin typeface="Meiryo UI"/>
              <a:ea typeface="Meiryo UI"/>
              <a:cs typeface="Meiryo UI"/>
              <a:sym typeface="Meiryo UI"/>
            </a:endParaRPr>
          </a:p>
        </p:txBody>
      </p:sp>
      <p:sp>
        <p:nvSpPr>
          <p:cNvPr id="26" name="Text 24"/>
          <p:cNvSpPr/>
          <p:nvPr/>
        </p:nvSpPr>
        <p:spPr>
          <a:xfrm>
            <a:off x="6629400" y="3447288"/>
            <a:ext cx="4937760" cy="50292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CSS 変数 1 行で、ボタン・下線・ホバー枠がすべて切替</a:t>
            </a:r>
            <a:endParaRPr lang="en-US" sz="1200" dirty="0">
              <a:latin typeface="Meiryo UI"/>
              <a:ea typeface="Meiryo UI"/>
              <a:cs typeface="Meiryo UI"/>
              <a:sym typeface="Meiryo UI"/>
            </a:endParaRPr>
          </a:p>
        </p:txBody>
      </p:sp>
      <p:sp>
        <p:nvSpPr>
          <p:cNvPr id="27" name="Shape 25"/>
          <p:cNvSpPr/>
          <p:nvPr/>
        </p:nvSpPr>
        <p:spPr>
          <a:xfrm>
            <a:off x="6400800" y="4069080"/>
            <a:ext cx="5212080" cy="987552"/>
          </a:xfrm>
          <a:prstGeom prst="rect">
            <a:avLst/>
          </a:prstGeom>
          <a:solidFill>
            <a:srgbClr val="F8FAFC"/>
          </a:solidFill>
          <a:ln w="6350">
            <a:solidFill>
              <a:srgbClr val="E2E8F0"/>
            </a:solidFill>
            <a:prstDash val="solid"/>
          </a:ln>
        </p:spPr>
        <p:txBody>
          <a:bodyPr/>
          <a:p/>
        </p:txBody>
      </p:sp>
      <p:sp>
        <p:nvSpPr>
          <p:cNvPr id="28" name="Shape 26"/>
          <p:cNvSpPr/>
          <p:nvPr/>
        </p:nvSpPr>
        <p:spPr>
          <a:xfrm>
            <a:off x="6400800" y="4069080"/>
            <a:ext cx="73152" cy="987552"/>
          </a:xfrm>
          <a:prstGeom prst="rect">
            <a:avLst/>
          </a:prstGeom>
          <a:solidFill>
            <a:srgbClr val="EBC528"/>
          </a:solidFill>
          <a:ln/>
        </p:spPr>
        <p:txBody>
          <a:bodyPr/>
          <a:p/>
        </p:txBody>
      </p:sp>
      <p:sp>
        <p:nvSpPr>
          <p:cNvPr id="29" name="Text 27"/>
          <p:cNvSpPr/>
          <p:nvPr/>
        </p:nvSpPr>
        <p:spPr>
          <a:xfrm>
            <a:off x="6629400" y="4187952"/>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Tailwind と橋渡し</a:t>
            </a:r>
            <a:endParaRPr lang="en-US" sz="1500" dirty="0">
              <a:latin typeface="Meiryo UI"/>
              <a:ea typeface="Meiryo UI"/>
              <a:cs typeface="Meiryo UI"/>
              <a:sym typeface="Meiryo UI"/>
            </a:endParaRPr>
          </a:p>
        </p:txBody>
      </p:sp>
      <p:sp>
        <p:nvSpPr>
          <p:cNvPr id="30" name="Text 28"/>
          <p:cNvSpPr/>
          <p:nvPr/>
        </p:nvSpPr>
        <p:spPr>
          <a:xfrm>
            <a:off x="6629400" y="4544568"/>
            <a:ext cx="4937760" cy="50292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bg-primary / text-accent などが CSS 変数を参照</a:t>
            </a:r>
            <a:endParaRPr lang="en-US" sz="1200" dirty="0">
              <a:latin typeface="Meiryo UI"/>
              <a:ea typeface="Meiryo UI"/>
              <a:cs typeface="Meiryo UI"/>
              <a:sym typeface="Meiryo UI"/>
            </a:endParaRPr>
          </a:p>
        </p:txBody>
      </p:sp>
      <p:sp>
        <p:nvSpPr>
          <p:cNvPr id="31" name="Shape 29"/>
          <p:cNvSpPr/>
          <p:nvPr/>
        </p:nvSpPr>
        <p:spPr>
          <a:xfrm>
            <a:off x="6400800" y="5166360"/>
            <a:ext cx="5212080" cy="987552"/>
          </a:xfrm>
          <a:prstGeom prst="rect">
            <a:avLst/>
          </a:prstGeom>
          <a:solidFill>
            <a:srgbClr val="F8FAFC"/>
          </a:solidFill>
          <a:ln w="6350">
            <a:solidFill>
              <a:srgbClr val="E2E8F0"/>
            </a:solidFill>
            <a:prstDash val="solid"/>
          </a:ln>
        </p:spPr>
        <p:txBody>
          <a:bodyPr/>
          <a:p/>
        </p:txBody>
      </p:sp>
      <p:sp>
        <p:nvSpPr>
          <p:cNvPr id="32" name="Shape 30"/>
          <p:cNvSpPr/>
          <p:nvPr/>
        </p:nvSpPr>
        <p:spPr>
          <a:xfrm>
            <a:off x="6400800" y="5166360"/>
            <a:ext cx="73152" cy="987552"/>
          </a:xfrm>
          <a:prstGeom prst="rect">
            <a:avLst/>
          </a:prstGeom>
          <a:solidFill>
            <a:srgbClr val="EBC528"/>
          </a:solidFill>
          <a:ln/>
        </p:spPr>
        <p:txBody>
          <a:bodyPr/>
          <a:p/>
        </p:txBody>
      </p:sp>
      <p:sp>
        <p:nvSpPr>
          <p:cNvPr id="33" name="Text 31"/>
          <p:cNvSpPr/>
          <p:nvPr/>
        </p:nvSpPr>
        <p:spPr>
          <a:xfrm>
            <a:off x="6629400" y="5285232"/>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Meiryo UI" pitchFamily="34" charset="0"/>
                <a:ea typeface="Meiryo UI" pitchFamily="34" charset="-122"/>
                <a:cs typeface="Meiryo UI" pitchFamily="34" charset="-120"/>
                <a:sym typeface="Meiryo UI"/>
              </a:rPr>
              <a:t>ダークモード化も容易</a:t>
            </a:r>
            <a:endParaRPr lang="en-US" sz="1500" dirty="0">
              <a:latin typeface="Meiryo UI"/>
              <a:ea typeface="Meiryo UI"/>
              <a:cs typeface="Meiryo UI"/>
              <a:sym typeface="Meiryo UI"/>
            </a:endParaRPr>
          </a:p>
        </p:txBody>
      </p:sp>
      <p:sp>
        <p:nvSpPr>
          <p:cNvPr id="34" name="Text 32"/>
          <p:cNvSpPr/>
          <p:nvPr/>
        </p:nvSpPr>
        <p:spPr>
          <a:xfrm>
            <a:off x="6629400" y="5641848"/>
            <a:ext cx="4937760" cy="50292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.dark セレクタで CSS 変数を上書きすれば全要素が連動</a:t>
            </a:r>
            <a:endParaRPr lang="en-US" sz="1200" dirty="0">
              <a:latin typeface="Meiryo UI"/>
              <a:ea typeface="Meiryo UI"/>
              <a:cs typeface="Meiryo UI"/>
              <a:sym typeface="Meiryo UI"/>
            </a:endParaRPr>
          </a:p>
        </p:txBody>
      </p:sp>
      <p:sp>
        <p:nvSpPr>
          <p:cNvPr id="35" name="Text 33"/>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36" name="Text 34"/>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9 / 12</a:t>
            </a:r>
            <a:endParaRPr lang="en-US" sz="1000" dirty="0">
              <a:latin typeface="Meiryo UI"/>
              <a:ea typeface="Meiryo UI"/>
              <a:cs typeface="Meiryo UI"/>
              <a:sym typeface="Meiryo U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09  CODE</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コードの工夫 ②｜日英切替（i18n）</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右上の JP / EN ボタンを押すと、サイトの全文字が日本語と英語で瞬時に切替。</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海外からの問い合わせにも対応できます。</a:t>
            </a:r>
            <a:endParaRPr lang="en-US" sz="1800" dirty="0">
              <a:latin typeface="Meiryo UI"/>
              <a:ea typeface="Meiryo UI"/>
              <a:cs typeface="Meiryo UI"/>
              <a:sym typeface="Meiryo UI"/>
            </a:endParaRPr>
          </a:p>
        </p:txBody>
      </p:sp>
      <p:sp>
        <p:nvSpPr>
          <p:cNvPr id="10" name="Shape 8"/>
          <p:cNvSpPr/>
          <p:nvPr/>
        </p:nvSpPr>
        <p:spPr>
          <a:xfrm>
            <a:off x="548640" y="2971800"/>
            <a:ext cx="2651760" cy="1143000"/>
          </a:xfrm>
          <a:prstGeom prst="rect">
            <a:avLst/>
          </a:prstGeom>
          <a:solidFill>
            <a:srgbClr val="EBC528"/>
          </a:solidFill>
          <a:ln/>
        </p:spPr>
        <p:txBody>
          <a:bodyPr/>
          <a:p/>
        </p:txBody>
      </p:sp>
      <p:sp>
        <p:nvSpPr>
          <p:cNvPr id="11" name="Text 9"/>
          <p:cNvSpPr/>
          <p:nvPr/>
        </p:nvSpPr>
        <p:spPr>
          <a:xfrm>
            <a:off x="640080" y="2971800"/>
            <a:ext cx="2468880" cy="1143000"/>
          </a:xfrm>
          <a:prstGeom prst="rect">
            <a:avLst/>
          </a:prstGeom>
          <a:noFill/>
          <a:ln/>
        </p:spPr>
        <p:txBody>
          <a:bodyPr wrap="square" lIns="0" tIns="0" rIns="0" bIns="0" rtlCol="0" anchor="ctr"/>
          <a:lstStyle/>
          <a:p>
            <a:pPr algn="ctr" indent="0" marL="0">
              <a:buNone/>
            </a:pPr>
            <a:r>
              <a:rPr lang="en-US" sz="1400" b="1" dirty="0">
                <a:solidFill>
                  <a:srgbClr val="0F172A"/>
                </a:solidFill>
                <a:latin typeface="Meiryo UI" pitchFamily="34" charset="0"/>
                <a:ea typeface="Meiryo UI" pitchFamily="34" charset="-122"/>
                <a:cs typeface="Meiryo UI" pitchFamily="34" charset="-120"/>
                <a:sym typeface="Meiryo UI"/>
              </a:rPr>
              <a:t>[JP|EN] ボタン</a:t>
            </a:r>
            <a:endParaRPr lang="en-US" sz="1400" dirty="0">
              <a:latin typeface="Meiryo UI"/>
              <a:ea typeface="Meiryo UI"/>
              <a:cs typeface="Meiryo UI"/>
              <a:sym typeface="Meiryo UI"/>
            </a:endParaRPr>
          </a:p>
        </p:txBody>
      </p:sp>
      <p:sp>
        <p:nvSpPr>
          <p:cNvPr id="12" name="Text 10"/>
          <p:cNvSpPr/>
          <p:nvPr/>
        </p:nvSpPr>
        <p:spPr>
          <a:xfrm>
            <a:off x="3200400" y="3154680"/>
            <a:ext cx="228600" cy="731520"/>
          </a:xfrm>
          <a:prstGeom prst="rect">
            <a:avLst/>
          </a:prstGeom>
          <a:noFill/>
          <a:ln/>
        </p:spPr>
        <p:txBody>
          <a:bodyPr wrap="square" lIns="0" tIns="0" rIns="0" bIns="0" rtlCol="0" anchor="ctr"/>
          <a:lstStyle/>
          <a:p>
            <a:pPr algn="ctr" indent="0" marL="0">
              <a:buNone/>
            </a:pPr>
            <a:r>
              <a:rPr lang="en-US" sz="2600" b="1" dirty="0">
                <a:solidFill>
                  <a:srgbClr val="0F172A"/>
                </a:solidFill>
                <a:latin typeface="Meiryo UI" pitchFamily="34" charset="0"/>
                <a:ea typeface="Meiryo UI" pitchFamily="34" charset="-122"/>
                <a:cs typeface="Meiryo UI" pitchFamily="34" charset="-120"/>
                <a:sym typeface="Meiryo UI"/>
              </a:rPr>
              <a:t>&gt;</a:t>
            </a:r>
            <a:endParaRPr lang="en-US" sz="2600" dirty="0">
              <a:latin typeface="Meiryo UI"/>
              <a:ea typeface="Meiryo UI"/>
              <a:cs typeface="Meiryo UI"/>
              <a:sym typeface="Meiryo UI"/>
            </a:endParaRPr>
          </a:p>
        </p:txBody>
      </p:sp>
      <p:sp>
        <p:nvSpPr>
          <p:cNvPr id="13" name="Shape 11"/>
          <p:cNvSpPr/>
          <p:nvPr/>
        </p:nvSpPr>
        <p:spPr>
          <a:xfrm>
            <a:off x="3429000" y="2971800"/>
            <a:ext cx="2651760" cy="1143000"/>
          </a:xfrm>
          <a:prstGeom prst="rect">
            <a:avLst/>
          </a:prstGeom>
          <a:solidFill>
            <a:srgbClr val="F59E0B"/>
          </a:solidFill>
          <a:ln/>
        </p:spPr>
        <p:txBody>
          <a:bodyPr/>
          <a:p/>
        </p:txBody>
      </p:sp>
      <p:sp>
        <p:nvSpPr>
          <p:cNvPr id="14" name="Text 12"/>
          <p:cNvSpPr/>
          <p:nvPr/>
        </p:nvSpPr>
        <p:spPr>
          <a:xfrm>
            <a:off x="3520440" y="2971800"/>
            <a:ext cx="246888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sym typeface="Meiryo UI"/>
              </a:rPr>
              <a:t>Provider 状態更新</a:t>
            </a:r>
            <a:endParaRPr lang="en-US" sz="1400" dirty="0">
              <a:latin typeface="Meiryo UI"/>
              <a:ea typeface="Meiryo UI"/>
              <a:cs typeface="Meiryo UI"/>
              <a:sym typeface="Meiryo UI"/>
            </a:endParaRPr>
          </a:p>
        </p:txBody>
      </p:sp>
      <p:sp>
        <p:nvSpPr>
          <p:cNvPr id="15" name="Text 13"/>
          <p:cNvSpPr/>
          <p:nvPr/>
        </p:nvSpPr>
        <p:spPr>
          <a:xfrm>
            <a:off x="6080760" y="3154680"/>
            <a:ext cx="228600" cy="731520"/>
          </a:xfrm>
          <a:prstGeom prst="rect">
            <a:avLst/>
          </a:prstGeom>
          <a:noFill/>
          <a:ln/>
        </p:spPr>
        <p:txBody>
          <a:bodyPr wrap="square" lIns="0" tIns="0" rIns="0" bIns="0" rtlCol="0" anchor="ctr"/>
          <a:lstStyle/>
          <a:p>
            <a:pPr algn="ctr" indent="0" marL="0">
              <a:buNone/>
            </a:pPr>
            <a:r>
              <a:rPr lang="en-US" sz="2600" b="1" dirty="0">
                <a:solidFill>
                  <a:srgbClr val="0F172A"/>
                </a:solidFill>
                <a:latin typeface="Meiryo UI" pitchFamily="34" charset="0"/>
                <a:ea typeface="Meiryo UI" pitchFamily="34" charset="-122"/>
                <a:cs typeface="Meiryo UI" pitchFamily="34" charset="-120"/>
                <a:sym typeface="Meiryo UI"/>
              </a:rPr>
              <a:t>&gt;</a:t>
            </a:r>
            <a:endParaRPr lang="en-US" sz="2600" dirty="0">
              <a:latin typeface="Meiryo UI"/>
              <a:ea typeface="Meiryo UI"/>
              <a:cs typeface="Meiryo UI"/>
              <a:sym typeface="Meiryo UI"/>
            </a:endParaRPr>
          </a:p>
        </p:txBody>
      </p:sp>
      <p:sp>
        <p:nvSpPr>
          <p:cNvPr id="16" name="Shape 14"/>
          <p:cNvSpPr/>
          <p:nvPr/>
        </p:nvSpPr>
        <p:spPr>
          <a:xfrm>
            <a:off x="6309360" y="2971800"/>
            <a:ext cx="2651760" cy="1143000"/>
          </a:xfrm>
          <a:prstGeom prst="rect">
            <a:avLst/>
          </a:prstGeom>
          <a:solidFill>
            <a:srgbClr val="10B981"/>
          </a:solidFill>
          <a:ln/>
        </p:spPr>
        <p:txBody>
          <a:bodyPr/>
          <a:p/>
        </p:txBody>
      </p:sp>
      <p:sp>
        <p:nvSpPr>
          <p:cNvPr id="17" name="Text 15"/>
          <p:cNvSpPr/>
          <p:nvPr/>
        </p:nvSpPr>
        <p:spPr>
          <a:xfrm>
            <a:off x="6400800" y="2971800"/>
            <a:ext cx="246888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sym typeface="Meiryo UI"/>
              </a:rPr>
              <a:t>useLanguage() が反応</a:t>
            </a:r>
            <a:endParaRPr lang="en-US" sz="1400" dirty="0">
              <a:latin typeface="Meiryo UI"/>
              <a:ea typeface="Meiryo UI"/>
              <a:cs typeface="Meiryo UI"/>
              <a:sym typeface="Meiryo UI"/>
            </a:endParaRPr>
          </a:p>
        </p:txBody>
      </p:sp>
      <p:sp>
        <p:nvSpPr>
          <p:cNvPr id="18" name="Text 16"/>
          <p:cNvSpPr/>
          <p:nvPr/>
        </p:nvSpPr>
        <p:spPr>
          <a:xfrm>
            <a:off x="8961120" y="3154680"/>
            <a:ext cx="228600" cy="731520"/>
          </a:xfrm>
          <a:prstGeom prst="rect">
            <a:avLst/>
          </a:prstGeom>
          <a:noFill/>
          <a:ln/>
        </p:spPr>
        <p:txBody>
          <a:bodyPr wrap="square" lIns="0" tIns="0" rIns="0" bIns="0" rtlCol="0" anchor="ctr"/>
          <a:lstStyle/>
          <a:p>
            <a:pPr algn="ctr" indent="0" marL="0">
              <a:buNone/>
            </a:pPr>
            <a:r>
              <a:rPr lang="en-US" sz="2600" b="1" dirty="0">
                <a:solidFill>
                  <a:srgbClr val="0F172A"/>
                </a:solidFill>
                <a:latin typeface="Meiryo UI" pitchFamily="34" charset="0"/>
                <a:ea typeface="Meiryo UI" pitchFamily="34" charset="-122"/>
                <a:cs typeface="Meiryo UI" pitchFamily="34" charset="-120"/>
                <a:sym typeface="Meiryo UI"/>
              </a:rPr>
              <a:t>&gt;</a:t>
            </a:r>
            <a:endParaRPr lang="en-US" sz="2600" dirty="0">
              <a:latin typeface="Meiryo UI"/>
              <a:ea typeface="Meiryo UI"/>
              <a:cs typeface="Meiryo UI"/>
              <a:sym typeface="Meiryo UI"/>
            </a:endParaRPr>
          </a:p>
        </p:txBody>
      </p:sp>
      <p:sp>
        <p:nvSpPr>
          <p:cNvPr id="19" name="Shape 17"/>
          <p:cNvSpPr/>
          <p:nvPr/>
        </p:nvSpPr>
        <p:spPr>
          <a:xfrm>
            <a:off x="9189720" y="2971800"/>
            <a:ext cx="2651760" cy="1143000"/>
          </a:xfrm>
          <a:prstGeom prst="rect">
            <a:avLst/>
          </a:prstGeom>
          <a:solidFill>
            <a:srgbClr val="2563EB"/>
          </a:solidFill>
          <a:ln/>
        </p:spPr>
        <p:txBody>
          <a:bodyPr/>
          <a:p/>
        </p:txBody>
      </p:sp>
      <p:sp>
        <p:nvSpPr>
          <p:cNvPr id="20" name="Text 18"/>
          <p:cNvSpPr/>
          <p:nvPr/>
        </p:nvSpPr>
        <p:spPr>
          <a:xfrm>
            <a:off x="9281160" y="2971800"/>
            <a:ext cx="2468880"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sym typeface="Meiryo UI"/>
              </a:rPr>
              <a:t>ラベル/文/alt 切替</a:t>
            </a:r>
            <a:endParaRPr lang="en-US" sz="1400" dirty="0">
              <a:latin typeface="Meiryo UI"/>
              <a:ea typeface="Meiryo UI"/>
              <a:cs typeface="Meiryo UI"/>
              <a:sym typeface="Meiryo UI"/>
            </a:endParaRPr>
          </a:p>
        </p:txBody>
      </p:sp>
      <p:sp>
        <p:nvSpPr>
          <p:cNvPr id="21" name="Shape 19"/>
          <p:cNvSpPr/>
          <p:nvPr/>
        </p:nvSpPr>
        <p:spPr>
          <a:xfrm>
            <a:off x="548640" y="4343400"/>
            <a:ext cx="5486400" cy="868680"/>
          </a:xfrm>
          <a:prstGeom prst="rect">
            <a:avLst/>
          </a:prstGeom>
          <a:solidFill>
            <a:srgbClr val="F8FAFC"/>
          </a:solidFill>
          <a:ln w="6350">
            <a:solidFill>
              <a:srgbClr val="E2E8F0"/>
            </a:solidFill>
            <a:prstDash val="solid"/>
          </a:ln>
        </p:spPr>
        <p:txBody>
          <a:bodyPr/>
          <a:p/>
        </p:txBody>
      </p:sp>
      <p:sp>
        <p:nvSpPr>
          <p:cNvPr id="22" name="Shape 20"/>
          <p:cNvSpPr/>
          <p:nvPr/>
        </p:nvSpPr>
        <p:spPr>
          <a:xfrm>
            <a:off x="548640" y="4343400"/>
            <a:ext cx="73152" cy="868680"/>
          </a:xfrm>
          <a:prstGeom prst="rect">
            <a:avLst/>
          </a:prstGeom>
          <a:solidFill>
            <a:srgbClr val="EBC528"/>
          </a:solidFill>
          <a:ln/>
        </p:spPr>
        <p:txBody>
          <a:bodyPr/>
          <a:p/>
        </p:txBody>
      </p:sp>
      <p:sp>
        <p:nvSpPr>
          <p:cNvPr id="23" name="Text 21"/>
          <p:cNvSpPr/>
          <p:nvPr/>
        </p:nvSpPr>
        <p:spPr>
          <a:xfrm>
            <a:off x="777240" y="4416552"/>
            <a:ext cx="5120640" cy="36576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Localized&lt;T&gt; 型</a:t>
            </a:r>
            <a:endParaRPr lang="en-US" sz="1400" dirty="0">
              <a:latin typeface="Meiryo UI"/>
              <a:ea typeface="Meiryo UI"/>
              <a:cs typeface="Meiryo UI"/>
              <a:sym typeface="Meiryo UI"/>
            </a:endParaRPr>
          </a:p>
        </p:txBody>
      </p:sp>
      <p:sp>
        <p:nvSpPr>
          <p:cNvPr id="24" name="Text 22"/>
          <p:cNvSpPr/>
          <p:nvPr/>
        </p:nvSpPr>
        <p:spPr>
          <a:xfrm>
            <a:off x="777240" y="4782312"/>
            <a:ext cx="5120640" cy="41148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 ja: T, en: T } を全データに適用。pick() で言語別に取り出し</a:t>
            </a:r>
            <a:endParaRPr lang="en-US" sz="1200" dirty="0">
              <a:latin typeface="Meiryo UI"/>
              <a:ea typeface="Meiryo UI"/>
              <a:cs typeface="Meiryo UI"/>
              <a:sym typeface="Meiryo UI"/>
            </a:endParaRPr>
          </a:p>
        </p:txBody>
      </p:sp>
      <p:sp>
        <p:nvSpPr>
          <p:cNvPr id="25" name="Shape 23"/>
          <p:cNvSpPr/>
          <p:nvPr/>
        </p:nvSpPr>
        <p:spPr>
          <a:xfrm>
            <a:off x="6172200" y="4343400"/>
            <a:ext cx="5486400" cy="868680"/>
          </a:xfrm>
          <a:prstGeom prst="rect">
            <a:avLst/>
          </a:prstGeom>
          <a:solidFill>
            <a:srgbClr val="F8FAFC"/>
          </a:solidFill>
          <a:ln w="6350">
            <a:solidFill>
              <a:srgbClr val="E2E8F0"/>
            </a:solidFill>
            <a:prstDash val="solid"/>
          </a:ln>
        </p:spPr>
        <p:txBody>
          <a:bodyPr/>
          <a:p/>
        </p:txBody>
      </p:sp>
      <p:sp>
        <p:nvSpPr>
          <p:cNvPr id="26" name="Shape 24"/>
          <p:cNvSpPr/>
          <p:nvPr/>
        </p:nvSpPr>
        <p:spPr>
          <a:xfrm>
            <a:off x="6172200" y="4343400"/>
            <a:ext cx="73152" cy="868680"/>
          </a:xfrm>
          <a:prstGeom prst="rect">
            <a:avLst/>
          </a:prstGeom>
          <a:solidFill>
            <a:srgbClr val="EBC528"/>
          </a:solidFill>
          <a:ln/>
        </p:spPr>
        <p:txBody>
          <a:bodyPr/>
          <a:p/>
        </p:txBody>
      </p:sp>
      <p:sp>
        <p:nvSpPr>
          <p:cNvPr id="27" name="Text 25"/>
          <p:cNvSpPr/>
          <p:nvPr/>
        </p:nvSpPr>
        <p:spPr>
          <a:xfrm>
            <a:off x="6400800" y="4416552"/>
            <a:ext cx="5120640" cy="36576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ふりがな自動非表示</a:t>
            </a:r>
            <a:endParaRPr lang="en-US" sz="1400" dirty="0">
              <a:latin typeface="Meiryo UI"/>
              <a:ea typeface="Meiryo UI"/>
              <a:cs typeface="Meiryo UI"/>
              <a:sym typeface="Meiryo UI"/>
            </a:endParaRPr>
          </a:p>
        </p:txBody>
      </p:sp>
      <p:sp>
        <p:nvSpPr>
          <p:cNvPr id="28" name="Text 26"/>
          <p:cNvSpPr/>
          <p:nvPr/>
        </p:nvSpPr>
        <p:spPr>
          <a:xfrm>
            <a:off x="6400800" y="4782312"/>
            <a:ext cx="5120640" cy="41148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英語表示時はふりがな欄を自動的に非表示（英語圏には不要）</a:t>
            </a:r>
            <a:endParaRPr lang="en-US" sz="1200" dirty="0">
              <a:latin typeface="Meiryo UI"/>
              <a:ea typeface="Meiryo UI"/>
              <a:cs typeface="Meiryo UI"/>
              <a:sym typeface="Meiryo UI"/>
            </a:endParaRPr>
          </a:p>
        </p:txBody>
      </p:sp>
      <p:sp>
        <p:nvSpPr>
          <p:cNvPr id="29" name="Shape 27"/>
          <p:cNvSpPr/>
          <p:nvPr/>
        </p:nvSpPr>
        <p:spPr>
          <a:xfrm>
            <a:off x="548640" y="5303520"/>
            <a:ext cx="5486400" cy="868680"/>
          </a:xfrm>
          <a:prstGeom prst="rect">
            <a:avLst/>
          </a:prstGeom>
          <a:solidFill>
            <a:srgbClr val="F8FAFC"/>
          </a:solidFill>
          <a:ln w="6350">
            <a:solidFill>
              <a:srgbClr val="E2E8F0"/>
            </a:solidFill>
            <a:prstDash val="solid"/>
          </a:ln>
        </p:spPr>
        <p:txBody>
          <a:bodyPr/>
          <a:p/>
        </p:txBody>
      </p:sp>
      <p:sp>
        <p:nvSpPr>
          <p:cNvPr id="30" name="Shape 28"/>
          <p:cNvSpPr/>
          <p:nvPr/>
        </p:nvSpPr>
        <p:spPr>
          <a:xfrm>
            <a:off x="548640" y="5303520"/>
            <a:ext cx="73152" cy="868680"/>
          </a:xfrm>
          <a:prstGeom prst="rect">
            <a:avLst/>
          </a:prstGeom>
          <a:solidFill>
            <a:srgbClr val="EBC528"/>
          </a:solidFill>
          <a:ln/>
        </p:spPr>
        <p:txBody>
          <a:bodyPr/>
          <a:p/>
        </p:txBody>
      </p:sp>
      <p:sp>
        <p:nvSpPr>
          <p:cNvPr id="31" name="Text 29"/>
          <p:cNvSpPr/>
          <p:nvPr/>
        </p:nvSpPr>
        <p:spPr>
          <a:xfrm>
            <a:off x="777240" y="5376672"/>
            <a:ext cx="5120640" cy="36576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ブラウザ自動判定</a:t>
            </a:r>
            <a:endParaRPr lang="en-US" sz="1400" dirty="0">
              <a:latin typeface="Meiryo UI"/>
              <a:ea typeface="Meiryo UI"/>
              <a:cs typeface="Meiryo UI"/>
              <a:sym typeface="Meiryo UI"/>
            </a:endParaRPr>
          </a:p>
        </p:txBody>
      </p:sp>
      <p:sp>
        <p:nvSpPr>
          <p:cNvPr id="32" name="Text 30"/>
          <p:cNvSpPr/>
          <p:nvPr/>
        </p:nvSpPr>
        <p:spPr>
          <a:xfrm>
            <a:off x="777240" y="5742432"/>
            <a:ext cx="5120640" cy="41148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navigator.language が en で始まれば初期表示を英語に</a:t>
            </a:r>
            <a:endParaRPr lang="en-US" sz="1200" dirty="0">
              <a:latin typeface="Meiryo UI"/>
              <a:ea typeface="Meiryo UI"/>
              <a:cs typeface="Meiryo UI"/>
              <a:sym typeface="Meiryo UI"/>
            </a:endParaRPr>
          </a:p>
        </p:txBody>
      </p:sp>
      <p:sp>
        <p:nvSpPr>
          <p:cNvPr id="33" name="Shape 31"/>
          <p:cNvSpPr/>
          <p:nvPr/>
        </p:nvSpPr>
        <p:spPr>
          <a:xfrm>
            <a:off x="6172200" y="5303520"/>
            <a:ext cx="5486400" cy="868680"/>
          </a:xfrm>
          <a:prstGeom prst="rect">
            <a:avLst/>
          </a:prstGeom>
          <a:solidFill>
            <a:srgbClr val="F8FAFC"/>
          </a:solidFill>
          <a:ln w="6350">
            <a:solidFill>
              <a:srgbClr val="E2E8F0"/>
            </a:solidFill>
            <a:prstDash val="solid"/>
          </a:ln>
        </p:spPr>
        <p:txBody>
          <a:bodyPr/>
          <a:p/>
        </p:txBody>
      </p:sp>
      <p:sp>
        <p:nvSpPr>
          <p:cNvPr id="34" name="Shape 32"/>
          <p:cNvSpPr/>
          <p:nvPr/>
        </p:nvSpPr>
        <p:spPr>
          <a:xfrm>
            <a:off x="6172200" y="5303520"/>
            <a:ext cx="73152" cy="868680"/>
          </a:xfrm>
          <a:prstGeom prst="rect">
            <a:avLst/>
          </a:prstGeom>
          <a:solidFill>
            <a:srgbClr val="EBC528"/>
          </a:solidFill>
          <a:ln/>
        </p:spPr>
        <p:txBody>
          <a:bodyPr/>
          <a:p/>
        </p:txBody>
      </p:sp>
      <p:sp>
        <p:nvSpPr>
          <p:cNvPr id="35" name="Text 33"/>
          <p:cNvSpPr/>
          <p:nvPr/>
        </p:nvSpPr>
        <p:spPr>
          <a:xfrm>
            <a:off x="6400800" y="5376672"/>
            <a:ext cx="5120640" cy="36576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状態保持</a:t>
            </a:r>
            <a:endParaRPr lang="en-US" sz="1400" dirty="0">
              <a:latin typeface="Meiryo UI"/>
              <a:ea typeface="Meiryo UI"/>
              <a:cs typeface="Meiryo UI"/>
              <a:sym typeface="Meiryo UI"/>
            </a:endParaRPr>
          </a:p>
        </p:txBody>
      </p:sp>
      <p:sp>
        <p:nvSpPr>
          <p:cNvPr id="36" name="Text 34"/>
          <p:cNvSpPr/>
          <p:nvPr/>
        </p:nvSpPr>
        <p:spPr>
          <a:xfrm>
            <a:off x="6400800" y="5742432"/>
            <a:ext cx="5120640" cy="411480"/>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localStorage に保存。次回訪問時も選択した言語を維持</a:t>
            </a:r>
            <a:endParaRPr lang="en-US" sz="1200" dirty="0">
              <a:latin typeface="Meiryo UI"/>
              <a:ea typeface="Meiryo UI"/>
              <a:cs typeface="Meiryo UI"/>
              <a:sym typeface="Meiryo UI"/>
            </a:endParaRPr>
          </a:p>
        </p:txBody>
      </p:sp>
      <p:sp>
        <p:nvSpPr>
          <p:cNvPr id="37" name="Text 35"/>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38" name="Text 36"/>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10 / 12</a:t>
            </a:r>
            <a:endParaRPr lang="en-US" sz="1000" dirty="0">
              <a:latin typeface="Meiryo UI"/>
              <a:ea typeface="Meiryo UI"/>
              <a:cs typeface="Meiryo UI"/>
              <a:sym typeface="Meiryo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p/>
        </p:txBody>
      </p:sp>
      <p:sp>
        <p:nvSpPr>
          <p:cNvPr id="3" name="Text 1"/>
          <p:cNvSpPr/>
          <p:nvPr/>
        </p:nvSpPr>
        <p:spPr>
          <a:xfrm>
            <a:off x="777240" y="320040"/>
            <a:ext cx="7315200" cy="365760"/>
          </a:xfrm>
          <a:prstGeom prst="rect">
            <a:avLst/>
          </a:prstGeom>
          <a:noFill/>
          <a:ln/>
        </p:spPr>
        <p:txBody>
          <a:bodyPr wrap="square" lIns="0" tIns="0" rIns="0" bIns="0" rtlCol="0" anchor="ctr"/>
          <a:lstStyle/>
          <a:p>
            <a:pPr indent="0" marL="0">
              <a:buNone/>
            </a:pPr>
            <a:r>
              <a:rPr lang="en-US" sz="1300" b="1" spc="400" kern="0" dirty="0">
                <a:solidFill>
                  <a:srgbClr val="64748B"/>
                </a:solidFill>
                <a:latin typeface="Meiryo UI" pitchFamily="34" charset="0"/>
                <a:ea typeface="Meiryo UI" pitchFamily="34" charset="-122"/>
                <a:cs typeface="Meiryo UI" pitchFamily="34" charset="-120"/>
                <a:sym typeface="Meiryo UI"/>
              </a:rPr>
              <a:t>10  CODE</a:t>
            </a:r>
            <a:endParaRPr lang="en-US" sz="1300" dirty="0">
              <a:latin typeface="Meiryo UI"/>
              <a:ea typeface="Meiryo UI"/>
              <a:cs typeface="Meiryo UI"/>
              <a:sym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indent="0" marL="0">
              <a:buNone/>
            </a:pPr>
            <a:r>
              <a:rPr lang="en-US" sz="2800" b="1" dirty="0">
                <a:solidFill>
                  <a:srgbClr val="0F172A"/>
                </a:solidFill>
                <a:latin typeface="Meiryo UI" pitchFamily="34" charset="0"/>
                <a:ea typeface="Meiryo UI" pitchFamily="34" charset="-122"/>
                <a:cs typeface="Meiryo UI" pitchFamily="34" charset="-120"/>
                <a:sym typeface="Meiryo UI"/>
              </a:rPr>
              <a:t>コードの工夫 ③｜パフォーマンス</a:t>
            </a:r>
            <a:endParaRPr lang="en-US" sz="2800" dirty="0">
              <a:latin typeface="Meiryo UI"/>
              <a:ea typeface="Meiryo UI"/>
              <a:cs typeface="Meiryo UI"/>
              <a:sym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p/>
        </p:txBody>
      </p:sp>
      <p:sp>
        <p:nvSpPr>
          <p:cNvPr id="6" name="Shape 4"/>
          <p:cNvSpPr/>
          <p:nvPr/>
        </p:nvSpPr>
        <p:spPr>
          <a:xfrm>
            <a:off x="548640" y="1554480"/>
            <a:ext cx="164592" cy="1234440"/>
          </a:xfrm>
          <a:prstGeom prst="rect">
            <a:avLst/>
          </a:prstGeom>
          <a:solidFill>
            <a:srgbClr val="EF4444"/>
          </a:solidFill>
          <a:ln/>
        </p:spPr>
        <p:txBody>
          <a:body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indent="0" marL="0">
              <a:buNone/>
            </a:pPr>
            <a:r>
              <a:rPr lang="en-US" sz="2400" b="1" dirty="0">
                <a:solidFill>
                  <a:srgbClr val="EF4444"/>
                </a:solidFill>
                <a:latin typeface="Meiryo UI" pitchFamily="34" charset="0"/>
                <a:ea typeface="Meiryo UI" pitchFamily="34" charset="-122"/>
                <a:cs typeface="Meiryo UI" pitchFamily="34" charset="-120"/>
                <a:sym typeface="Meiryo UI"/>
              </a:rPr>
              <a:t>要は！</a:t>
            </a:r>
            <a:endParaRPr lang="en-US" sz="2400" dirty="0">
              <a:latin typeface="Meiryo UI"/>
              <a:ea typeface="Meiryo UI"/>
              <a:cs typeface="Meiryo UI"/>
              <a:sym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サクサク動くサイトにするため、画像・動き・キャッシュなど 6 個の工夫を入れました。</a:t>
            </a:r>
            <a:endParaRPr lang="en-US" sz="1800" dirty="0">
              <a:latin typeface="Meiryo UI"/>
              <a:ea typeface="Meiryo UI"/>
              <a:cs typeface="Meiryo UI"/>
              <a:sym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indent="0" marL="0">
              <a:buNone/>
            </a:pPr>
            <a:r>
              <a:rPr lang="en-US" sz="1800" b="1" dirty="0">
                <a:solidFill>
                  <a:srgbClr val="0F172A"/>
                </a:solidFill>
                <a:latin typeface="Meiryo UI" pitchFamily="34" charset="0"/>
                <a:ea typeface="Meiryo UI" pitchFamily="34" charset="-122"/>
                <a:cs typeface="Meiryo UI" pitchFamily="34" charset="-120"/>
                <a:sym typeface="Meiryo UI"/>
              </a:rPr>
              <a:t>体感速度（待ち時間）と省電力（CPU 使用量）の両方を改善しています。</a:t>
            </a:r>
            <a:endParaRPr lang="en-US" sz="1800" dirty="0">
              <a:latin typeface="Meiryo UI"/>
              <a:ea typeface="Meiryo UI"/>
              <a:cs typeface="Meiryo UI"/>
              <a:sym typeface="Meiryo UI"/>
            </a:endParaRPr>
          </a:p>
        </p:txBody>
      </p:sp>
      <p:sp>
        <p:nvSpPr>
          <p:cNvPr id="10" name="Shape 8"/>
          <p:cNvSpPr/>
          <p:nvPr/>
        </p:nvSpPr>
        <p:spPr>
          <a:xfrm>
            <a:off x="548640" y="2971800"/>
            <a:ext cx="5486400" cy="1024128"/>
          </a:xfrm>
          <a:prstGeom prst="rect">
            <a:avLst/>
          </a:prstGeom>
          <a:solidFill>
            <a:srgbClr val="F8FAFC"/>
          </a:solidFill>
          <a:ln w="6350">
            <a:solidFill>
              <a:srgbClr val="E2E8F0"/>
            </a:solidFill>
            <a:prstDash val="solid"/>
          </a:ln>
        </p:spPr>
        <p:txBody>
          <a:bodyPr/>
          <a:p/>
        </p:txBody>
      </p:sp>
      <p:sp>
        <p:nvSpPr>
          <p:cNvPr id="11" name="Shape 9"/>
          <p:cNvSpPr/>
          <p:nvPr/>
        </p:nvSpPr>
        <p:spPr>
          <a:xfrm>
            <a:off x="685800" y="3108960"/>
            <a:ext cx="1051560" cy="384048"/>
          </a:xfrm>
          <a:prstGeom prst="rect">
            <a:avLst/>
          </a:prstGeom>
          <a:solidFill>
            <a:srgbClr val="0F172A"/>
          </a:solidFill>
          <a:ln/>
        </p:spPr>
        <p:txBody>
          <a:bodyPr/>
          <a:p/>
        </p:txBody>
      </p:sp>
      <p:sp>
        <p:nvSpPr>
          <p:cNvPr id="12" name="Text 10"/>
          <p:cNvSpPr/>
          <p:nvPr/>
        </p:nvSpPr>
        <p:spPr>
          <a:xfrm>
            <a:off x="685800" y="3108960"/>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画像</a:t>
            </a:r>
            <a:endParaRPr lang="en-US" sz="1100" dirty="0">
              <a:latin typeface="Meiryo UI"/>
              <a:ea typeface="Meiryo UI"/>
              <a:cs typeface="Meiryo UI"/>
              <a:sym typeface="Meiryo UI"/>
            </a:endParaRPr>
          </a:p>
        </p:txBody>
      </p:sp>
      <p:sp>
        <p:nvSpPr>
          <p:cNvPr id="13" name="Text 11"/>
          <p:cNvSpPr/>
          <p:nvPr/>
        </p:nvSpPr>
        <p:spPr>
          <a:xfrm>
            <a:off x="1874520" y="3063240"/>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next/image で AVIF→WebP</a:t>
            </a:r>
            <a:endParaRPr lang="en-US" sz="1400" dirty="0">
              <a:latin typeface="Meiryo UI"/>
              <a:ea typeface="Meiryo UI"/>
              <a:cs typeface="Meiryo UI"/>
              <a:sym typeface="Meiryo UI"/>
            </a:endParaRPr>
          </a:p>
        </p:txBody>
      </p:sp>
      <p:sp>
        <p:nvSpPr>
          <p:cNvPr id="14" name="Shape 12"/>
          <p:cNvSpPr/>
          <p:nvPr/>
        </p:nvSpPr>
        <p:spPr>
          <a:xfrm>
            <a:off x="5029200" y="3108960"/>
            <a:ext cx="868680" cy="384048"/>
          </a:xfrm>
          <a:prstGeom prst="rect">
            <a:avLst/>
          </a:prstGeom>
          <a:solidFill>
            <a:srgbClr val="10B981"/>
          </a:solidFill>
          <a:ln/>
        </p:spPr>
        <p:txBody>
          <a:bodyPr/>
          <a:p/>
        </p:txBody>
      </p:sp>
      <p:sp>
        <p:nvSpPr>
          <p:cNvPr id="15" name="Text 13"/>
          <p:cNvSpPr/>
          <p:nvPr/>
        </p:nvSpPr>
        <p:spPr>
          <a:xfrm>
            <a:off x="5029200" y="3108960"/>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LCP 改善</a:t>
            </a:r>
            <a:endParaRPr lang="en-US" sz="1000" dirty="0">
              <a:latin typeface="Meiryo UI"/>
              <a:ea typeface="Meiryo UI"/>
              <a:cs typeface="Meiryo UI"/>
              <a:sym typeface="Meiryo UI"/>
            </a:endParaRPr>
          </a:p>
        </p:txBody>
      </p:sp>
      <p:sp>
        <p:nvSpPr>
          <p:cNvPr id="16" name="Text 14"/>
          <p:cNvSpPr/>
          <p:nvPr/>
        </p:nvSpPr>
        <p:spPr>
          <a:xfrm>
            <a:off x="777240" y="3520440"/>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30日キャッシュ、レスポンシブサイズ自動生成</a:t>
            </a:r>
            <a:endParaRPr lang="en-US" sz="1200" dirty="0">
              <a:latin typeface="Meiryo UI"/>
              <a:ea typeface="Meiryo UI"/>
              <a:cs typeface="Meiryo UI"/>
              <a:sym typeface="Meiryo UI"/>
            </a:endParaRPr>
          </a:p>
        </p:txBody>
      </p:sp>
      <p:sp>
        <p:nvSpPr>
          <p:cNvPr id="17" name="Shape 15"/>
          <p:cNvSpPr/>
          <p:nvPr/>
        </p:nvSpPr>
        <p:spPr>
          <a:xfrm>
            <a:off x="6172200" y="2971800"/>
            <a:ext cx="5486400" cy="1024128"/>
          </a:xfrm>
          <a:prstGeom prst="rect">
            <a:avLst/>
          </a:prstGeom>
          <a:solidFill>
            <a:srgbClr val="F8FAFC"/>
          </a:solidFill>
          <a:ln w="6350">
            <a:solidFill>
              <a:srgbClr val="E2E8F0"/>
            </a:solidFill>
            <a:prstDash val="solid"/>
          </a:ln>
        </p:spPr>
        <p:txBody>
          <a:bodyPr/>
          <a:p/>
        </p:txBody>
      </p:sp>
      <p:sp>
        <p:nvSpPr>
          <p:cNvPr id="18" name="Shape 16"/>
          <p:cNvSpPr/>
          <p:nvPr/>
        </p:nvSpPr>
        <p:spPr>
          <a:xfrm>
            <a:off x="6309360" y="3108960"/>
            <a:ext cx="1051560" cy="384048"/>
          </a:xfrm>
          <a:prstGeom prst="rect">
            <a:avLst/>
          </a:prstGeom>
          <a:solidFill>
            <a:srgbClr val="0F172A"/>
          </a:solidFill>
          <a:ln/>
        </p:spPr>
        <p:txBody>
          <a:bodyPr/>
          <a:p/>
        </p:txBody>
      </p:sp>
      <p:sp>
        <p:nvSpPr>
          <p:cNvPr id="19" name="Text 17"/>
          <p:cNvSpPr/>
          <p:nvPr/>
        </p:nvSpPr>
        <p:spPr>
          <a:xfrm>
            <a:off x="6309360" y="3108960"/>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Observer</a:t>
            </a:r>
            <a:endParaRPr lang="en-US" sz="1100" dirty="0">
              <a:latin typeface="Meiryo UI"/>
              <a:ea typeface="Meiryo UI"/>
              <a:cs typeface="Meiryo UI"/>
              <a:sym typeface="Meiryo UI"/>
            </a:endParaRPr>
          </a:p>
        </p:txBody>
      </p:sp>
      <p:sp>
        <p:nvSpPr>
          <p:cNvPr id="20" name="Text 18"/>
          <p:cNvSpPr/>
          <p:nvPr/>
        </p:nvSpPr>
        <p:spPr>
          <a:xfrm>
            <a:off x="7498080" y="3063240"/>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Reveal の共有 Observer 化</a:t>
            </a:r>
            <a:endParaRPr lang="en-US" sz="1400" dirty="0">
              <a:latin typeface="Meiryo UI"/>
              <a:ea typeface="Meiryo UI"/>
              <a:cs typeface="Meiryo UI"/>
              <a:sym typeface="Meiryo UI"/>
            </a:endParaRPr>
          </a:p>
        </p:txBody>
      </p:sp>
      <p:sp>
        <p:nvSpPr>
          <p:cNvPr id="21" name="Shape 19"/>
          <p:cNvSpPr/>
          <p:nvPr/>
        </p:nvSpPr>
        <p:spPr>
          <a:xfrm>
            <a:off x="10652760" y="3108960"/>
            <a:ext cx="868680" cy="384048"/>
          </a:xfrm>
          <a:prstGeom prst="rect">
            <a:avLst/>
          </a:prstGeom>
          <a:solidFill>
            <a:srgbClr val="10B981"/>
          </a:solidFill>
          <a:ln/>
        </p:spPr>
        <p:txBody>
          <a:bodyPr/>
          <a:p/>
        </p:txBody>
      </p:sp>
      <p:sp>
        <p:nvSpPr>
          <p:cNvPr id="22" name="Text 20"/>
          <p:cNvSpPr/>
          <p:nvPr/>
        </p:nvSpPr>
        <p:spPr>
          <a:xfrm>
            <a:off x="10652760" y="3108960"/>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JS 軽量化</a:t>
            </a:r>
            <a:endParaRPr lang="en-US" sz="1000" dirty="0">
              <a:latin typeface="Meiryo UI"/>
              <a:ea typeface="Meiryo UI"/>
              <a:cs typeface="Meiryo UI"/>
              <a:sym typeface="Meiryo UI"/>
            </a:endParaRPr>
          </a:p>
        </p:txBody>
      </p:sp>
      <p:sp>
        <p:nvSpPr>
          <p:cNvPr id="23" name="Text 21"/>
          <p:cNvSpPr/>
          <p:nvPr/>
        </p:nvSpPr>
        <p:spPr>
          <a:xfrm>
            <a:off x="6400800" y="3520440"/>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20個 → 1個に集約してメモリ/CPU 削減</a:t>
            </a:r>
            <a:endParaRPr lang="en-US" sz="1200" dirty="0">
              <a:latin typeface="Meiryo UI"/>
              <a:ea typeface="Meiryo UI"/>
              <a:cs typeface="Meiryo UI"/>
              <a:sym typeface="Meiryo UI"/>
            </a:endParaRPr>
          </a:p>
        </p:txBody>
      </p:sp>
      <p:sp>
        <p:nvSpPr>
          <p:cNvPr id="24" name="Shape 22"/>
          <p:cNvSpPr/>
          <p:nvPr/>
        </p:nvSpPr>
        <p:spPr>
          <a:xfrm>
            <a:off x="548640" y="4087368"/>
            <a:ext cx="5486400" cy="1024128"/>
          </a:xfrm>
          <a:prstGeom prst="rect">
            <a:avLst/>
          </a:prstGeom>
          <a:solidFill>
            <a:srgbClr val="F8FAFC"/>
          </a:solidFill>
          <a:ln w="6350">
            <a:solidFill>
              <a:srgbClr val="E2E8F0"/>
            </a:solidFill>
            <a:prstDash val="solid"/>
          </a:ln>
        </p:spPr>
        <p:txBody>
          <a:bodyPr/>
          <a:p/>
        </p:txBody>
      </p:sp>
      <p:sp>
        <p:nvSpPr>
          <p:cNvPr id="25" name="Shape 23"/>
          <p:cNvSpPr/>
          <p:nvPr/>
        </p:nvSpPr>
        <p:spPr>
          <a:xfrm>
            <a:off x="685800" y="4224528"/>
            <a:ext cx="1051560" cy="384048"/>
          </a:xfrm>
          <a:prstGeom prst="rect">
            <a:avLst/>
          </a:prstGeom>
          <a:solidFill>
            <a:srgbClr val="0F172A"/>
          </a:solidFill>
          <a:ln/>
        </p:spPr>
        <p:txBody>
          <a:bodyPr/>
          <a:p/>
        </p:txBody>
      </p:sp>
      <p:sp>
        <p:nvSpPr>
          <p:cNvPr id="26" name="Text 24"/>
          <p:cNvSpPr/>
          <p:nvPr/>
        </p:nvSpPr>
        <p:spPr>
          <a:xfrm>
            <a:off x="685800" y="4224528"/>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Reveal</a:t>
            </a:r>
            <a:endParaRPr lang="en-US" sz="1100" dirty="0">
              <a:latin typeface="Meiryo UI"/>
              <a:ea typeface="Meiryo UI"/>
              <a:cs typeface="Meiryo UI"/>
              <a:sym typeface="Meiryo UI"/>
            </a:endParaRPr>
          </a:p>
        </p:txBody>
      </p:sp>
      <p:sp>
        <p:nvSpPr>
          <p:cNvPr id="27" name="Text 25"/>
          <p:cNvSpPr/>
          <p:nvPr/>
        </p:nvSpPr>
        <p:spPr>
          <a:xfrm>
            <a:off x="1874520" y="4178808"/>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安全網タイマー 3秒→1.5秒</a:t>
            </a:r>
            <a:endParaRPr lang="en-US" sz="1400" dirty="0">
              <a:latin typeface="Meiryo UI"/>
              <a:ea typeface="Meiryo UI"/>
              <a:cs typeface="Meiryo UI"/>
              <a:sym typeface="Meiryo UI"/>
            </a:endParaRPr>
          </a:p>
        </p:txBody>
      </p:sp>
      <p:sp>
        <p:nvSpPr>
          <p:cNvPr id="28" name="Shape 26"/>
          <p:cNvSpPr/>
          <p:nvPr/>
        </p:nvSpPr>
        <p:spPr>
          <a:xfrm>
            <a:off x="5029200" y="4224528"/>
            <a:ext cx="868680" cy="384048"/>
          </a:xfrm>
          <a:prstGeom prst="rect">
            <a:avLst/>
          </a:prstGeom>
          <a:solidFill>
            <a:srgbClr val="10B981"/>
          </a:solidFill>
          <a:ln/>
        </p:spPr>
        <p:txBody>
          <a:bodyPr/>
          <a:p/>
        </p:txBody>
      </p:sp>
      <p:sp>
        <p:nvSpPr>
          <p:cNvPr id="29" name="Text 27"/>
          <p:cNvSpPr/>
          <p:nvPr/>
        </p:nvSpPr>
        <p:spPr>
          <a:xfrm>
            <a:off x="5029200" y="4224528"/>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UX 改善</a:t>
            </a:r>
            <a:endParaRPr lang="en-US" sz="1000" dirty="0">
              <a:latin typeface="Meiryo UI"/>
              <a:ea typeface="Meiryo UI"/>
              <a:cs typeface="Meiryo UI"/>
              <a:sym typeface="Meiryo UI"/>
            </a:endParaRPr>
          </a:p>
        </p:txBody>
      </p:sp>
      <p:sp>
        <p:nvSpPr>
          <p:cNvPr id="30" name="Text 28"/>
          <p:cNvSpPr/>
          <p:nvPr/>
        </p:nvSpPr>
        <p:spPr>
          <a:xfrm>
            <a:off x="777240" y="4636008"/>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表示遅延の最大時間を半減</a:t>
            </a:r>
            <a:endParaRPr lang="en-US" sz="1200" dirty="0">
              <a:latin typeface="Meiryo UI"/>
              <a:ea typeface="Meiryo UI"/>
              <a:cs typeface="Meiryo UI"/>
              <a:sym typeface="Meiryo UI"/>
            </a:endParaRPr>
          </a:p>
        </p:txBody>
      </p:sp>
      <p:sp>
        <p:nvSpPr>
          <p:cNvPr id="31" name="Shape 29"/>
          <p:cNvSpPr/>
          <p:nvPr/>
        </p:nvSpPr>
        <p:spPr>
          <a:xfrm>
            <a:off x="6172200" y="4087368"/>
            <a:ext cx="5486400" cy="1024128"/>
          </a:xfrm>
          <a:prstGeom prst="rect">
            <a:avLst/>
          </a:prstGeom>
          <a:solidFill>
            <a:srgbClr val="F8FAFC"/>
          </a:solidFill>
          <a:ln w="6350">
            <a:solidFill>
              <a:srgbClr val="E2E8F0"/>
            </a:solidFill>
            <a:prstDash val="solid"/>
          </a:ln>
        </p:spPr>
        <p:txBody>
          <a:bodyPr/>
          <a:p/>
        </p:txBody>
      </p:sp>
      <p:sp>
        <p:nvSpPr>
          <p:cNvPr id="32" name="Shape 30"/>
          <p:cNvSpPr/>
          <p:nvPr/>
        </p:nvSpPr>
        <p:spPr>
          <a:xfrm>
            <a:off x="6309360" y="4224528"/>
            <a:ext cx="1051560" cy="384048"/>
          </a:xfrm>
          <a:prstGeom prst="rect">
            <a:avLst/>
          </a:prstGeom>
          <a:solidFill>
            <a:srgbClr val="0F172A"/>
          </a:solidFill>
          <a:ln/>
        </p:spPr>
        <p:txBody>
          <a:bodyPr/>
          <a:p/>
        </p:txBody>
      </p:sp>
      <p:sp>
        <p:nvSpPr>
          <p:cNvPr id="33" name="Text 31"/>
          <p:cNvSpPr/>
          <p:nvPr/>
        </p:nvSpPr>
        <p:spPr>
          <a:xfrm>
            <a:off x="6309360" y="4224528"/>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再描画</a:t>
            </a:r>
            <a:endParaRPr lang="en-US" sz="1100" dirty="0">
              <a:latin typeface="Meiryo UI"/>
              <a:ea typeface="Meiryo UI"/>
              <a:cs typeface="Meiryo UI"/>
              <a:sym typeface="Meiryo UI"/>
            </a:endParaRPr>
          </a:p>
        </p:txBody>
      </p:sp>
      <p:sp>
        <p:nvSpPr>
          <p:cNvPr id="34" name="Text 32"/>
          <p:cNvSpPr/>
          <p:nvPr/>
        </p:nvSpPr>
        <p:spPr>
          <a:xfrm>
            <a:off x="7498080" y="4178808"/>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navItems 等を定数化</a:t>
            </a:r>
            <a:endParaRPr lang="en-US" sz="1400" dirty="0">
              <a:latin typeface="Meiryo UI"/>
              <a:ea typeface="Meiryo UI"/>
              <a:cs typeface="Meiryo UI"/>
              <a:sym typeface="Meiryo UI"/>
            </a:endParaRPr>
          </a:p>
        </p:txBody>
      </p:sp>
      <p:sp>
        <p:nvSpPr>
          <p:cNvPr id="35" name="Shape 33"/>
          <p:cNvSpPr/>
          <p:nvPr/>
        </p:nvSpPr>
        <p:spPr>
          <a:xfrm>
            <a:off x="10652760" y="4224528"/>
            <a:ext cx="868680" cy="384048"/>
          </a:xfrm>
          <a:prstGeom prst="rect">
            <a:avLst/>
          </a:prstGeom>
          <a:solidFill>
            <a:srgbClr val="10B981"/>
          </a:solidFill>
          <a:ln/>
        </p:spPr>
        <p:txBody>
          <a:bodyPr/>
          <a:p/>
        </p:txBody>
      </p:sp>
      <p:sp>
        <p:nvSpPr>
          <p:cNvPr id="36" name="Text 34"/>
          <p:cNvSpPr/>
          <p:nvPr/>
        </p:nvSpPr>
        <p:spPr>
          <a:xfrm>
            <a:off x="10652760" y="4224528"/>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再レンダ抑止</a:t>
            </a:r>
            <a:endParaRPr lang="en-US" sz="1000" dirty="0">
              <a:latin typeface="Meiryo UI"/>
              <a:ea typeface="Meiryo UI"/>
              <a:cs typeface="Meiryo UI"/>
              <a:sym typeface="Meiryo UI"/>
            </a:endParaRPr>
          </a:p>
        </p:txBody>
      </p:sp>
      <p:sp>
        <p:nvSpPr>
          <p:cNvPr id="37" name="Text 35"/>
          <p:cNvSpPr/>
          <p:nvPr/>
        </p:nvSpPr>
        <p:spPr>
          <a:xfrm>
            <a:off x="6400800" y="4636008"/>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毎レンダーで配列を再生成しない</a:t>
            </a:r>
            <a:endParaRPr lang="en-US" sz="1200" dirty="0">
              <a:latin typeface="Meiryo UI"/>
              <a:ea typeface="Meiryo UI"/>
              <a:cs typeface="Meiryo UI"/>
              <a:sym typeface="Meiryo UI"/>
            </a:endParaRPr>
          </a:p>
        </p:txBody>
      </p:sp>
      <p:sp>
        <p:nvSpPr>
          <p:cNvPr id="38" name="Shape 36"/>
          <p:cNvSpPr/>
          <p:nvPr/>
        </p:nvSpPr>
        <p:spPr>
          <a:xfrm>
            <a:off x="548640" y="5202936"/>
            <a:ext cx="5486400" cy="1024128"/>
          </a:xfrm>
          <a:prstGeom prst="rect">
            <a:avLst/>
          </a:prstGeom>
          <a:solidFill>
            <a:srgbClr val="F8FAFC"/>
          </a:solidFill>
          <a:ln w="6350">
            <a:solidFill>
              <a:srgbClr val="E2E8F0"/>
            </a:solidFill>
            <a:prstDash val="solid"/>
          </a:ln>
        </p:spPr>
        <p:txBody>
          <a:bodyPr/>
          <a:p/>
        </p:txBody>
      </p:sp>
      <p:sp>
        <p:nvSpPr>
          <p:cNvPr id="39" name="Shape 37"/>
          <p:cNvSpPr/>
          <p:nvPr/>
        </p:nvSpPr>
        <p:spPr>
          <a:xfrm>
            <a:off x="685800" y="5340096"/>
            <a:ext cx="1051560" cy="384048"/>
          </a:xfrm>
          <a:prstGeom prst="rect">
            <a:avLst/>
          </a:prstGeom>
          <a:solidFill>
            <a:srgbClr val="0F172A"/>
          </a:solidFill>
          <a:ln/>
        </p:spPr>
        <p:txBody>
          <a:bodyPr/>
          <a:p/>
        </p:txBody>
      </p:sp>
      <p:sp>
        <p:nvSpPr>
          <p:cNvPr id="40" name="Text 38"/>
          <p:cNvSpPr/>
          <p:nvPr/>
        </p:nvSpPr>
        <p:spPr>
          <a:xfrm>
            <a:off x="685800" y="5340096"/>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API</a:t>
            </a:r>
            <a:endParaRPr lang="en-US" sz="1100" dirty="0">
              <a:latin typeface="Meiryo UI"/>
              <a:ea typeface="Meiryo UI"/>
              <a:cs typeface="Meiryo UI"/>
              <a:sym typeface="Meiryo UI"/>
            </a:endParaRPr>
          </a:p>
        </p:txBody>
      </p:sp>
      <p:sp>
        <p:nvSpPr>
          <p:cNvPr id="41" name="Text 39"/>
          <p:cNvSpPr/>
          <p:nvPr/>
        </p:nvSpPr>
        <p:spPr>
          <a:xfrm>
            <a:off x="1874520" y="5294376"/>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DNS prefetch + preconnect</a:t>
            </a:r>
            <a:endParaRPr lang="en-US" sz="1400" dirty="0">
              <a:latin typeface="Meiryo UI"/>
              <a:ea typeface="Meiryo UI"/>
              <a:cs typeface="Meiryo UI"/>
              <a:sym typeface="Meiryo UI"/>
            </a:endParaRPr>
          </a:p>
        </p:txBody>
      </p:sp>
      <p:sp>
        <p:nvSpPr>
          <p:cNvPr id="42" name="Shape 40"/>
          <p:cNvSpPr/>
          <p:nvPr/>
        </p:nvSpPr>
        <p:spPr>
          <a:xfrm>
            <a:off x="5029200" y="5340096"/>
            <a:ext cx="868680" cy="384048"/>
          </a:xfrm>
          <a:prstGeom prst="rect">
            <a:avLst/>
          </a:prstGeom>
          <a:solidFill>
            <a:srgbClr val="10B981"/>
          </a:solidFill>
          <a:ln/>
        </p:spPr>
        <p:txBody>
          <a:bodyPr/>
          <a:p/>
        </p:txBody>
      </p:sp>
      <p:sp>
        <p:nvSpPr>
          <p:cNvPr id="43" name="Text 41"/>
          <p:cNvSpPr/>
          <p:nvPr/>
        </p:nvSpPr>
        <p:spPr>
          <a:xfrm>
            <a:off x="5029200" y="5340096"/>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通信短縮</a:t>
            </a:r>
            <a:endParaRPr lang="en-US" sz="1000" dirty="0">
              <a:latin typeface="Meiryo UI"/>
              <a:ea typeface="Meiryo UI"/>
              <a:cs typeface="Meiryo UI"/>
              <a:sym typeface="Meiryo UI"/>
            </a:endParaRPr>
          </a:p>
        </p:txBody>
      </p:sp>
      <p:sp>
        <p:nvSpPr>
          <p:cNvPr id="44" name="Text 42"/>
          <p:cNvSpPr/>
          <p:nvPr/>
        </p:nvSpPr>
        <p:spPr>
          <a:xfrm>
            <a:off x="777240" y="5751576"/>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zipcloud / Maps への接続を早期化</a:t>
            </a:r>
            <a:endParaRPr lang="en-US" sz="1200" dirty="0">
              <a:latin typeface="Meiryo UI"/>
              <a:ea typeface="Meiryo UI"/>
              <a:cs typeface="Meiryo UI"/>
              <a:sym typeface="Meiryo UI"/>
            </a:endParaRPr>
          </a:p>
        </p:txBody>
      </p:sp>
      <p:sp>
        <p:nvSpPr>
          <p:cNvPr id="45" name="Shape 43"/>
          <p:cNvSpPr/>
          <p:nvPr/>
        </p:nvSpPr>
        <p:spPr>
          <a:xfrm>
            <a:off x="6172200" y="5202936"/>
            <a:ext cx="5486400" cy="1024128"/>
          </a:xfrm>
          <a:prstGeom prst="rect">
            <a:avLst/>
          </a:prstGeom>
          <a:solidFill>
            <a:srgbClr val="F8FAFC"/>
          </a:solidFill>
          <a:ln w="6350">
            <a:solidFill>
              <a:srgbClr val="E2E8F0"/>
            </a:solidFill>
            <a:prstDash val="solid"/>
          </a:ln>
        </p:spPr>
        <p:txBody>
          <a:bodyPr/>
          <a:p/>
        </p:txBody>
      </p:sp>
      <p:sp>
        <p:nvSpPr>
          <p:cNvPr id="46" name="Shape 44"/>
          <p:cNvSpPr/>
          <p:nvPr/>
        </p:nvSpPr>
        <p:spPr>
          <a:xfrm>
            <a:off x="6309360" y="5340096"/>
            <a:ext cx="1051560" cy="384048"/>
          </a:xfrm>
          <a:prstGeom prst="rect">
            <a:avLst/>
          </a:prstGeom>
          <a:solidFill>
            <a:srgbClr val="0F172A"/>
          </a:solidFill>
          <a:ln/>
        </p:spPr>
        <p:txBody>
          <a:bodyPr/>
          <a:p/>
        </p:txBody>
      </p:sp>
      <p:sp>
        <p:nvSpPr>
          <p:cNvPr id="47" name="Text 45"/>
          <p:cNvSpPr/>
          <p:nvPr/>
        </p:nvSpPr>
        <p:spPr>
          <a:xfrm>
            <a:off x="6309360" y="5340096"/>
            <a:ext cx="1051560" cy="384048"/>
          </a:xfrm>
          <a:prstGeom prst="rect">
            <a:avLst/>
          </a:prstGeom>
          <a:noFill/>
          <a:ln/>
        </p:spPr>
        <p:txBody>
          <a:bodyPr wrap="square" lIns="0" tIns="0" rIns="0" bIns="0" rtlCol="0" anchor="ctr"/>
          <a:lstStyle/>
          <a:p>
            <a:pPr algn="ctr" indent="0" marL="0">
              <a:buNone/>
            </a:pPr>
            <a:r>
              <a:rPr lang="en-US" sz="1100" b="1" dirty="0">
                <a:solidFill>
                  <a:srgbClr val="EBC528"/>
                </a:solidFill>
                <a:latin typeface="Meiryo UI" pitchFamily="34" charset="0"/>
                <a:ea typeface="Meiryo UI" pitchFamily="34" charset="-122"/>
                <a:cs typeface="Meiryo UI" pitchFamily="34" charset="-120"/>
                <a:sym typeface="Meiryo UI"/>
              </a:rPr>
              <a:t>i18n</a:t>
            </a:r>
            <a:endParaRPr lang="en-US" sz="1100" dirty="0">
              <a:latin typeface="Meiryo UI"/>
              <a:ea typeface="Meiryo UI"/>
              <a:cs typeface="Meiryo UI"/>
              <a:sym typeface="Meiryo UI"/>
            </a:endParaRPr>
          </a:p>
        </p:txBody>
      </p:sp>
      <p:sp>
        <p:nvSpPr>
          <p:cNvPr id="48" name="Text 46"/>
          <p:cNvSpPr/>
          <p:nvPr/>
        </p:nvSpPr>
        <p:spPr>
          <a:xfrm>
            <a:off x="7498080" y="5294376"/>
            <a:ext cx="3108960" cy="457200"/>
          </a:xfrm>
          <a:prstGeom prst="rect">
            <a:avLst/>
          </a:prstGeom>
          <a:noFill/>
          <a:ln/>
        </p:spPr>
        <p:txBody>
          <a:bodyPr wrap="square" lIns="0" tIns="0" rIns="0" bIns="0" rtlCol="0" anchor="ctr"/>
          <a:lstStyle/>
          <a:p>
            <a:pPr indent="0" marL="0">
              <a:buNone/>
            </a:pPr>
            <a:r>
              <a:rPr lang="en-US" sz="1400" b="1" dirty="0">
                <a:solidFill>
                  <a:srgbClr val="0F172A"/>
                </a:solidFill>
                <a:latin typeface="Meiryo UI" pitchFamily="34" charset="0"/>
                <a:ea typeface="Meiryo UI" pitchFamily="34" charset="-122"/>
                <a:cs typeface="Meiryo UI" pitchFamily="34" charset="-120"/>
                <a:sym typeface="Meiryo UI"/>
              </a:rPr>
              <a:t>getTexts を useMemo 化</a:t>
            </a:r>
            <a:endParaRPr lang="en-US" sz="1400" dirty="0">
              <a:latin typeface="Meiryo UI"/>
              <a:ea typeface="Meiryo UI"/>
              <a:cs typeface="Meiryo UI"/>
              <a:sym typeface="Meiryo UI"/>
            </a:endParaRPr>
          </a:p>
        </p:txBody>
      </p:sp>
      <p:sp>
        <p:nvSpPr>
          <p:cNvPr id="49" name="Shape 47"/>
          <p:cNvSpPr/>
          <p:nvPr/>
        </p:nvSpPr>
        <p:spPr>
          <a:xfrm>
            <a:off x="10652760" y="5340096"/>
            <a:ext cx="868680" cy="384048"/>
          </a:xfrm>
          <a:prstGeom prst="rect">
            <a:avLst/>
          </a:prstGeom>
          <a:solidFill>
            <a:srgbClr val="10B981"/>
          </a:solidFill>
          <a:ln/>
        </p:spPr>
        <p:txBody>
          <a:bodyPr/>
          <a:p/>
        </p:txBody>
      </p:sp>
      <p:sp>
        <p:nvSpPr>
          <p:cNvPr id="50" name="Text 48"/>
          <p:cNvSpPr/>
          <p:nvPr/>
        </p:nvSpPr>
        <p:spPr>
          <a:xfrm>
            <a:off x="10652760" y="5340096"/>
            <a:ext cx="868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sym typeface="Meiryo UI"/>
              </a:rPr>
              <a:t>計算節約</a:t>
            </a:r>
            <a:endParaRPr lang="en-US" sz="1000" dirty="0">
              <a:latin typeface="Meiryo UI"/>
              <a:ea typeface="Meiryo UI"/>
              <a:cs typeface="Meiryo UI"/>
              <a:sym typeface="Meiryo UI"/>
            </a:endParaRPr>
          </a:p>
        </p:txBody>
      </p:sp>
      <p:sp>
        <p:nvSpPr>
          <p:cNvPr id="51" name="Text 49"/>
          <p:cNvSpPr/>
          <p:nvPr/>
        </p:nvSpPr>
        <p:spPr>
          <a:xfrm>
            <a:off x="6400800" y="5751576"/>
            <a:ext cx="5120640" cy="438912"/>
          </a:xfrm>
          <a:prstGeom prst="rect">
            <a:avLst/>
          </a:prstGeom>
          <a:noFill/>
          <a:ln/>
        </p:spPr>
        <p:txBody>
          <a:bodyPr wrap="square" lIns="0" tIns="0" rIns="0" bIns="0" rtlCol="0" anchor="ctr"/>
          <a:lstStyle/>
          <a:p>
            <a:pPr indent="0" marL="0">
              <a:buNone/>
            </a:pPr>
            <a:r>
              <a:rPr lang="en-US" sz="1200" dirty="0">
                <a:solidFill>
                  <a:srgbClr val="64748B"/>
                </a:solidFill>
                <a:latin typeface="Meiryo UI" pitchFamily="34" charset="0"/>
                <a:ea typeface="Meiryo UI" pitchFamily="34" charset="-122"/>
                <a:cs typeface="Meiryo UI" pitchFamily="34" charset="-120"/>
                <a:sym typeface="Meiryo UI"/>
              </a:rPr>
              <a:t>言語が変わった時だけ再生成</a:t>
            </a:r>
            <a:endParaRPr lang="en-US" sz="1200" dirty="0">
              <a:latin typeface="Meiryo UI"/>
              <a:ea typeface="Meiryo UI"/>
              <a:cs typeface="Meiryo UI"/>
              <a:sym typeface="Meiryo UI"/>
            </a:endParaRPr>
          </a:p>
        </p:txBody>
      </p:sp>
      <p:sp>
        <p:nvSpPr>
          <p:cNvPr id="52" name="Text 5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Meiryo UI" pitchFamily="34" charset="0"/>
                <a:ea typeface="Meiryo UI" pitchFamily="34" charset="-122"/>
                <a:cs typeface="Meiryo UI" pitchFamily="34" charset="-120"/>
                <a:sym typeface="Meiryo UI"/>
              </a:rPr>
              <a:t>株式会社ライトパス サイト構築</a:t>
            </a:r>
            <a:endParaRPr lang="en-US" sz="1000" dirty="0">
              <a:latin typeface="Meiryo UI"/>
              <a:ea typeface="Meiryo UI"/>
              <a:cs typeface="Meiryo UI"/>
              <a:sym typeface="Meiryo UI"/>
            </a:endParaRPr>
          </a:p>
        </p:txBody>
      </p:sp>
      <p:sp>
        <p:nvSpPr>
          <p:cNvPr id="53" name="Text 51"/>
          <p:cNvSpPr/>
          <p:nvPr/>
        </p:nvSpPr>
        <p:spPr>
          <a:xfrm>
            <a:off x="10820095" y="6473952"/>
            <a:ext cx="822960" cy="274320"/>
          </a:xfrm>
          <a:prstGeom prst="rect">
            <a:avLst/>
          </a:prstGeom>
          <a:noFill/>
          <a:ln/>
        </p:spPr>
        <p:txBody>
          <a:bodyPr wrap="square" lIns="0" tIns="0" rIns="0" bIns="0" rtlCol="0" anchor="ctr"/>
          <a:lstStyle/>
          <a:p>
            <a:pPr algn="r" indent="0" marL="0">
              <a:buNone/>
            </a:pPr>
            <a:r>
              <a:rPr lang="en-US" sz="1000" dirty="0">
                <a:solidFill>
                  <a:srgbClr val="64748B"/>
                </a:solidFill>
                <a:latin typeface="Meiryo UI" pitchFamily="34" charset="0"/>
                <a:ea typeface="Meiryo UI" pitchFamily="34" charset="-122"/>
                <a:cs typeface="Meiryo UI" pitchFamily="34" charset="-120"/>
                <a:sym typeface="Meiryo UI"/>
              </a:rPr>
              <a:t>11 / 12</a:t>
            </a:r>
            <a:endParaRPr lang="en-US" sz="1000" dirty="0">
              <a:latin typeface="Meiryo UI"/>
              <a:ea typeface="Meiryo UI"/>
              <a:cs typeface="Meiryo UI"/>
              <a:sym typeface="Meiryo U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txBody>
          <a:bodyPr/>
          <a:p/>
        </p:txBody>
      </p:sp>
      <p:sp>
        <p:nvSpPr>
          <p:cNvPr id="3" name="Text 1"/>
          <p:cNvSpPr/>
          <p:nvPr/>
        </p:nvSpPr>
        <p:spPr>
          <a:xfrm>
            <a:off x="1097280" y="914400"/>
            <a:ext cx="10058400" cy="457200"/>
          </a:xfrm>
          <a:prstGeom prst="rect">
            <a:avLst/>
          </a:prstGeom>
          <a:noFill/>
          <a:ln/>
        </p:spPr>
        <p:txBody>
          <a:bodyPr wrap="square" lIns="0" tIns="0" rIns="0" bIns="0" rtlCol="0" anchor="ctr"/>
          <a:lstStyle/>
          <a:p>
            <a:pPr indent="0" marL="0">
              <a:buNone/>
            </a:pPr>
            <a:r>
              <a:rPr lang="en-US" sz="1600" b="1" spc="600" kern="0" dirty="0">
                <a:solidFill>
                  <a:srgbClr val="EBC528"/>
                </a:solidFill>
                <a:latin typeface="Meiryo UI" pitchFamily="34" charset="0"/>
                <a:ea typeface="Meiryo UI" pitchFamily="34" charset="-122"/>
                <a:cs typeface="Meiryo UI" pitchFamily="34" charset="-120"/>
                <a:sym typeface="Meiryo UI"/>
              </a:rPr>
              <a:t>SUMMARY</a:t>
            </a:r>
            <a:endParaRPr lang="en-US" sz="1600" dirty="0">
              <a:latin typeface="Meiryo UI"/>
              <a:ea typeface="Meiryo UI"/>
              <a:cs typeface="Meiryo UI"/>
              <a:sym typeface="Meiryo UI"/>
            </a:endParaRPr>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UI" pitchFamily="34" charset="0"/>
                <a:ea typeface="Meiryo UI" pitchFamily="34" charset="-122"/>
                <a:cs typeface="Meiryo UI" pitchFamily="34" charset="-120"/>
                <a:sym typeface="Meiryo UI"/>
              </a:rPr>
              <a:t>5 つの軸で作りました。</a:t>
            </a:r>
            <a:endParaRPr lang="en-US" sz="4000" dirty="0">
              <a:latin typeface="Meiryo UI"/>
              <a:ea typeface="Meiryo UI"/>
              <a:cs typeface="Meiryo UI"/>
              <a:sym typeface="Meiryo UI"/>
            </a:endParaRPr>
          </a:p>
        </p:txBody>
      </p:sp>
      <p:sp>
        <p:nvSpPr>
          <p:cNvPr id="5" name="Shape 3"/>
          <p:cNvSpPr/>
          <p:nvPr/>
        </p:nvSpPr>
        <p:spPr>
          <a:xfrm>
            <a:off x="1097280" y="2697480"/>
            <a:ext cx="2377440" cy="457200"/>
          </a:xfrm>
          <a:prstGeom prst="rect">
            <a:avLst/>
          </a:prstGeom>
          <a:solidFill>
            <a:srgbClr val="EBC528"/>
          </a:solidFill>
          <a:ln/>
        </p:spPr>
        <p:txBody>
          <a:bodyPr/>
          <a:p/>
        </p:txBody>
      </p:sp>
      <p:sp>
        <p:nvSpPr>
          <p:cNvPr id="6" name="Text 4"/>
          <p:cNvSpPr/>
          <p:nvPr/>
        </p:nvSpPr>
        <p:spPr>
          <a:xfrm>
            <a:off x="1097280" y="2697480"/>
            <a:ext cx="2377440" cy="457200"/>
          </a:xfrm>
          <a:prstGeom prst="rect">
            <a:avLst/>
          </a:prstGeom>
          <a:noFill/>
          <a:ln/>
        </p:spPr>
        <p:txBody>
          <a:bodyPr wrap="square" lIns="0" tIns="0" rIns="0" bIns="0" rtlCol="0" anchor="ctr"/>
          <a:lstStyle/>
          <a:p>
            <a:pPr algn="ctr" indent="0" marL="0">
              <a:buNone/>
            </a:pPr>
            <a:r>
              <a:rPr lang="en-US" sz="1300" b="1" dirty="0">
                <a:solidFill>
                  <a:srgbClr val="0F172A"/>
                </a:solidFill>
                <a:latin typeface="Meiryo UI" pitchFamily="34" charset="0"/>
                <a:ea typeface="Meiryo UI" pitchFamily="34" charset="-122"/>
                <a:cs typeface="Meiryo UI" pitchFamily="34" charset="-120"/>
                <a:sym typeface="Meiryo UI"/>
              </a:rPr>
              <a:t>セキュリティ</a:t>
            </a:r>
            <a:endParaRPr lang="en-US" sz="1300" dirty="0">
              <a:latin typeface="Meiryo UI"/>
              <a:ea typeface="Meiryo UI"/>
              <a:cs typeface="Meiryo UI"/>
              <a:sym typeface="Meiryo UI"/>
            </a:endParaRPr>
          </a:p>
        </p:txBody>
      </p:sp>
      <p:sp>
        <p:nvSpPr>
          <p:cNvPr id="7" name="Text 5"/>
          <p:cNvSpPr/>
          <p:nvPr/>
        </p:nvSpPr>
        <p:spPr>
          <a:xfrm>
            <a:off x="3611880" y="2697480"/>
            <a:ext cx="8229600" cy="457200"/>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88項目 監査 / CSP / PDF 3層検証 / CSRF / SSRF</a:t>
            </a:r>
            <a:endParaRPr lang="en-US" sz="1400" dirty="0">
              <a:latin typeface="Meiryo UI"/>
              <a:ea typeface="Meiryo UI"/>
              <a:cs typeface="Meiryo UI"/>
              <a:sym typeface="Meiryo UI"/>
            </a:endParaRPr>
          </a:p>
        </p:txBody>
      </p:sp>
      <p:sp>
        <p:nvSpPr>
          <p:cNvPr id="8" name="Shape 6"/>
          <p:cNvSpPr/>
          <p:nvPr/>
        </p:nvSpPr>
        <p:spPr>
          <a:xfrm>
            <a:off x="1097280" y="3246120"/>
            <a:ext cx="2377440" cy="457200"/>
          </a:xfrm>
          <a:prstGeom prst="rect">
            <a:avLst/>
          </a:prstGeom>
          <a:solidFill>
            <a:srgbClr val="EBC528"/>
          </a:solidFill>
          <a:ln/>
        </p:spPr>
        <p:txBody>
          <a:bodyPr/>
          <a:p/>
        </p:txBody>
      </p:sp>
      <p:sp>
        <p:nvSpPr>
          <p:cNvPr id="9" name="Text 7"/>
          <p:cNvSpPr/>
          <p:nvPr/>
        </p:nvSpPr>
        <p:spPr>
          <a:xfrm>
            <a:off x="1097280" y="3246120"/>
            <a:ext cx="2377440" cy="457200"/>
          </a:xfrm>
          <a:prstGeom prst="rect">
            <a:avLst/>
          </a:prstGeom>
          <a:noFill/>
          <a:ln/>
        </p:spPr>
        <p:txBody>
          <a:bodyPr wrap="square" lIns="0" tIns="0" rIns="0" bIns="0" rtlCol="0" anchor="ctr"/>
          <a:lstStyle/>
          <a:p>
            <a:pPr algn="ctr" indent="0" marL="0">
              <a:buNone/>
            </a:pPr>
            <a:r>
              <a:rPr lang="en-US" sz="1300" b="1" dirty="0">
                <a:solidFill>
                  <a:srgbClr val="0F172A"/>
                </a:solidFill>
                <a:latin typeface="Meiryo UI" pitchFamily="34" charset="0"/>
                <a:ea typeface="Meiryo UI" pitchFamily="34" charset="-122"/>
                <a:cs typeface="Meiryo UI" pitchFamily="34" charset="-120"/>
                <a:sym typeface="Meiryo UI"/>
              </a:rPr>
              <a:t>モバイル UX</a:t>
            </a:r>
            <a:endParaRPr lang="en-US" sz="1300" dirty="0">
              <a:latin typeface="Meiryo UI"/>
              <a:ea typeface="Meiryo UI"/>
              <a:cs typeface="Meiryo UI"/>
              <a:sym typeface="Meiryo UI"/>
            </a:endParaRPr>
          </a:p>
        </p:txBody>
      </p:sp>
      <p:sp>
        <p:nvSpPr>
          <p:cNvPr id="10" name="Text 8"/>
          <p:cNvSpPr/>
          <p:nvPr/>
        </p:nvSpPr>
        <p:spPr>
          <a:xfrm>
            <a:off x="3611880" y="3246120"/>
            <a:ext cx="8229600" cy="457200"/>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ドロワー・背景固定・タップ拡大</a:t>
            </a:r>
            <a:endParaRPr lang="en-US" sz="1400" dirty="0">
              <a:latin typeface="Meiryo UI"/>
              <a:ea typeface="Meiryo UI"/>
              <a:cs typeface="Meiryo UI"/>
              <a:sym typeface="Meiryo UI"/>
            </a:endParaRPr>
          </a:p>
        </p:txBody>
      </p:sp>
      <p:sp>
        <p:nvSpPr>
          <p:cNvPr id="11" name="Shape 9"/>
          <p:cNvSpPr/>
          <p:nvPr/>
        </p:nvSpPr>
        <p:spPr>
          <a:xfrm>
            <a:off x="1097280" y="3794760"/>
            <a:ext cx="2377440" cy="457200"/>
          </a:xfrm>
          <a:prstGeom prst="rect">
            <a:avLst/>
          </a:prstGeom>
          <a:solidFill>
            <a:srgbClr val="EBC528"/>
          </a:solidFill>
          <a:ln/>
        </p:spPr>
        <p:txBody>
          <a:bodyPr/>
          <a:p/>
        </p:txBody>
      </p:sp>
      <p:sp>
        <p:nvSpPr>
          <p:cNvPr id="12" name="Text 10"/>
          <p:cNvSpPr/>
          <p:nvPr/>
        </p:nvSpPr>
        <p:spPr>
          <a:xfrm>
            <a:off x="1097280" y="3794760"/>
            <a:ext cx="2377440" cy="457200"/>
          </a:xfrm>
          <a:prstGeom prst="rect">
            <a:avLst/>
          </a:prstGeom>
          <a:noFill/>
          <a:ln/>
        </p:spPr>
        <p:txBody>
          <a:bodyPr wrap="square" lIns="0" tIns="0" rIns="0" bIns="0" rtlCol="0" anchor="ctr"/>
          <a:lstStyle/>
          <a:p>
            <a:pPr algn="ctr" indent="0" marL="0">
              <a:buNone/>
            </a:pPr>
            <a:r>
              <a:rPr lang="en-US" sz="1300" b="1" dirty="0">
                <a:solidFill>
                  <a:srgbClr val="0F172A"/>
                </a:solidFill>
                <a:latin typeface="Meiryo UI" pitchFamily="34" charset="0"/>
                <a:ea typeface="Meiryo UI" pitchFamily="34" charset="-122"/>
                <a:cs typeface="Meiryo UI" pitchFamily="34" charset="-120"/>
                <a:sym typeface="Meiryo UI"/>
              </a:rPr>
              <a:t>アニメーション</a:t>
            </a:r>
            <a:endParaRPr lang="en-US" sz="1300" dirty="0">
              <a:latin typeface="Meiryo UI"/>
              <a:ea typeface="Meiryo UI"/>
              <a:cs typeface="Meiryo UI"/>
              <a:sym typeface="Meiryo UI"/>
            </a:endParaRPr>
          </a:p>
        </p:txBody>
      </p:sp>
      <p:sp>
        <p:nvSpPr>
          <p:cNvPr id="13" name="Text 11"/>
          <p:cNvSpPr/>
          <p:nvPr/>
        </p:nvSpPr>
        <p:spPr>
          <a:xfrm>
            <a:off x="3611880" y="3794760"/>
            <a:ext cx="8229600" cy="457200"/>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Reveal × 6 種類・マーキー</a:t>
            </a:r>
            <a:endParaRPr lang="en-US" sz="1400" dirty="0">
              <a:latin typeface="Meiryo UI"/>
              <a:ea typeface="Meiryo UI"/>
              <a:cs typeface="Meiryo UI"/>
              <a:sym typeface="Meiryo UI"/>
            </a:endParaRPr>
          </a:p>
        </p:txBody>
      </p:sp>
      <p:sp>
        <p:nvSpPr>
          <p:cNvPr id="14" name="Shape 12"/>
          <p:cNvSpPr/>
          <p:nvPr/>
        </p:nvSpPr>
        <p:spPr>
          <a:xfrm>
            <a:off x="1097280" y="4343400"/>
            <a:ext cx="2377440" cy="457200"/>
          </a:xfrm>
          <a:prstGeom prst="rect">
            <a:avLst/>
          </a:prstGeom>
          <a:solidFill>
            <a:srgbClr val="EBC528"/>
          </a:solidFill>
          <a:ln/>
        </p:spPr>
        <p:txBody>
          <a:bodyPr/>
          <a:p/>
        </p:txBody>
      </p:sp>
      <p:sp>
        <p:nvSpPr>
          <p:cNvPr id="15" name="Text 13"/>
          <p:cNvSpPr/>
          <p:nvPr/>
        </p:nvSpPr>
        <p:spPr>
          <a:xfrm>
            <a:off x="1097280" y="4343400"/>
            <a:ext cx="2377440" cy="457200"/>
          </a:xfrm>
          <a:prstGeom prst="rect">
            <a:avLst/>
          </a:prstGeom>
          <a:noFill/>
          <a:ln/>
        </p:spPr>
        <p:txBody>
          <a:bodyPr wrap="square" lIns="0" tIns="0" rIns="0" bIns="0" rtlCol="0" anchor="ctr"/>
          <a:lstStyle/>
          <a:p>
            <a:pPr algn="ctr" indent="0" marL="0">
              <a:buNone/>
            </a:pPr>
            <a:r>
              <a:rPr lang="en-US" sz="1300" b="1" dirty="0">
                <a:solidFill>
                  <a:srgbClr val="0F172A"/>
                </a:solidFill>
                <a:latin typeface="Meiryo UI" pitchFamily="34" charset="0"/>
                <a:ea typeface="Meiryo UI" pitchFamily="34" charset="-122"/>
                <a:cs typeface="Meiryo UI" pitchFamily="34" charset="-120"/>
                <a:sym typeface="Meiryo UI"/>
              </a:rPr>
              <a:t>国際化</a:t>
            </a:r>
            <a:endParaRPr lang="en-US" sz="1300" dirty="0">
              <a:latin typeface="Meiryo UI"/>
              <a:ea typeface="Meiryo UI"/>
              <a:cs typeface="Meiryo UI"/>
              <a:sym typeface="Meiryo UI"/>
            </a:endParaRPr>
          </a:p>
        </p:txBody>
      </p:sp>
      <p:sp>
        <p:nvSpPr>
          <p:cNvPr id="16" name="Text 14"/>
          <p:cNvSpPr/>
          <p:nvPr/>
        </p:nvSpPr>
        <p:spPr>
          <a:xfrm>
            <a:off x="3611880" y="4343400"/>
            <a:ext cx="8229600" cy="457200"/>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JP/EN ボタン 1 つで全切替</a:t>
            </a:r>
            <a:endParaRPr lang="en-US" sz="1400" dirty="0">
              <a:latin typeface="Meiryo UI"/>
              <a:ea typeface="Meiryo UI"/>
              <a:cs typeface="Meiryo UI"/>
              <a:sym typeface="Meiryo UI"/>
            </a:endParaRPr>
          </a:p>
        </p:txBody>
      </p:sp>
      <p:sp>
        <p:nvSpPr>
          <p:cNvPr id="17" name="Shape 15"/>
          <p:cNvSpPr/>
          <p:nvPr/>
        </p:nvSpPr>
        <p:spPr>
          <a:xfrm>
            <a:off x="1097280" y="4892040"/>
            <a:ext cx="2377440" cy="457200"/>
          </a:xfrm>
          <a:prstGeom prst="rect">
            <a:avLst/>
          </a:prstGeom>
          <a:solidFill>
            <a:srgbClr val="EBC528"/>
          </a:solidFill>
          <a:ln/>
        </p:spPr>
        <p:txBody>
          <a:bodyPr/>
          <a:p/>
        </p:txBody>
      </p:sp>
      <p:sp>
        <p:nvSpPr>
          <p:cNvPr id="18" name="Text 16"/>
          <p:cNvSpPr/>
          <p:nvPr/>
        </p:nvSpPr>
        <p:spPr>
          <a:xfrm>
            <a:off x="1097280" y="4892040"/>
            <a:ext cx="2377440" cy="457200"/>
          </a:xfrm>
          <a:prstGeom prst="rect">
            <a:avLst/>
          </a:prstGeom>
          <a:noFill/>
          <a:ln/>
        </p:spPr>
        <p:txBody>
          <a:bodyPr wrap="square" lIns="0" tIns="0" rIns="0" bIns="0" rtlCol="0" anchor="ctr"/>
          <a:lstStyle/>
          <a:p>
            <a:pPr algn="ctr" indent="0" marL="0">
              <a:buNone/>
            </a:pPr>
            <a:r>
              <a:rPr lang="en-US" sz="1300" b="1" dirty="0">
                <a:solidFill>
                  <a:srgbClr val="0F172A"/>
                </a:solidFill>
                <a:latin typeface="Meiryo UI" pitchFamily="34" charset="0"/>
                <a:ea typeface="Meiryo UI" pitchFamily="34" charset="-122"/>
                <a:cs typeface="Meiryo UI" pitchFamily="34" charset="-120"/>
                <a:sym typeface="Meiryo UI"/>
              </a:rPr>
              <a:t>性能</a:t>
            </a:r>
            <a:endParaRPr lang="en-US" sz="1300" dirty="0">
              <a:latin typeface="Meiryo UI"/>
              <a:ea typeface="Meiryo UI"/>
              <a:cs typeface="Meiryo UI"/>
              <a:sym typeface="Meiryo UI"/>
            </a:endParaRPr>
          </a:p>
        </p:txBody>
      </p:sp>
      <p:sp>
        <p:nvSpPr>
          <p:cNvPr id="19" name="Text 17"/>
          <p:cNvSpPr/>
          <p:nvPr/>
        </p:nvSpPr>
        <p:spPr>
          <a:xfrm>
            <a:off x="3611880" y="4892040"/>
            <a:ext cx="8229600" cy="457200"/>
          </a:xfrm>
          <a:prstGeom prst="rect">
            <a:avLst/>
          </a:prstGeom>
          <a:noFill/>
          <a:ln/>
        </p:spPr>
        <p:txBody>
          <a:bodyPr wrap="square" lIns="0" tIns="0" rIns="0" bIns="0" rtlCol="0" anchor="ctr"/>
          <a:lstStyle/>
          <a:p>
            <a:pPr indent="0" marL="0">
              <a:buNone/>
            </a:pPr>
            <a:r>
              <a:rPr lang="en-US" sz="1400" dirty="0">
                <a:solidFill>
                  <a:srgbClr val="FFFFFF"/>
                </a:solidFill>
                <a:latin typeface="Meiryo UI" pitchFamily="34" charset="0"/>
                <a:ea typeface="Meiryo UI" pitchFamily="34" charset="-122"/>
                <a:cs typeface="Meiryo UI" pitchFamily="34" charset="-120"/>
                <a:sym typeface="Meiryo UI"/>
              </a:rPr>
              <a:t>共有 Observer / next/image / preconnect</a:t>
            </a:r>
            <a:endParaRPr lang="en-US" sz="1400" dirty="0">
              <a:latin typeface="Meiryo UI"/>
              <a:ea typeface="Meiryo UI"/>
              <a:cs typeface="Meiryo UI"/>
              <a:sym typeface="Meiryo UI"/>
            </a:endParaRPr>
          </a:p>
        </p:txBody>
      </p:sp>
      <p:sp>
        <p:nvSpPr>
          <p:cNvPr id="20" name="Text 18"/>
          <p:cNvSpPr/>
          <p:nvPr/>
        </p:nvSpPr>
        <p:spPr>
          <a:xfrm>
            <a:off x="1097280" y="5852160"/>
            <a:ext cx="10058400" cy="457200"/>
          </a:xfrm>
          <a:prstGeom prst="rect">
            <a:avLst/>
          </a:prstGeom>
          <a:noFill/>
          <a:ln/>
        </p:spPr>
        <p:txBody>
          <a:bodyPr wrap="square" lIns="0" tIns="0" rIns="0" bIns="0" rtlCol="0" anchor="ctr"/>
          <a:lstStyle/>
          <a:p>
            <a:pPr indent="0" marL="0">
              <a:buNone/>
            </a:pPr>
            <a:r>
              <a:rPr lang="en-US" sz="1800" dirty="0">
                <a:solidFill>
                  <a:srgbClr val="CBD5E1"/>
                </a:solidFill>
                <a:latin typeface="Meiryo UI" pitchFamily="34" charset="0"/>
                <a:ea typeface="Meiryo UI" pitchFamily="34" charset="-122"/>
                <a:cs typeface="Meiryo UI" pitchFamily="34" charset="-120"/>
                <a:sym typeface="Meiryo UI"/>
              </a:rPr>
              <a:t>ご清聴ありがとうございました。</a:t>
            </a:r>
            <a:endParaRPr lang="en-US" sz="1800" dirty="0">
              <a:latin typeface="Meiryo UI"/>
              <a:ea typeface="Meiryo UI"/>
              <a:cs typeface="Meiryo UI"/>
              <a:sym typeface="Meiryo UI"/>
            </a:endParaRPr>
          </a:p>
        </p:txBody>
      </p:sp>
      <p:sp>
        <p:nvSpPr>
          <p:cNvPr id="21" name="Text 19"/>
          <p:cNvSpPr/>
          <p:nvPr/>
        </p:nvSpPr>
        <p:spPr>
          <a:xfrm>
            <a:off x="1097280" y="6355080"/>
            <a:ext cx="10058400" cy="320040"/>
          </a:xfrm>
          <a:prstGeom prst="rect">
            <a:avLst/>
          </a:prstGeom>
          <a:noFill/>
          <a:ln/>
        </p:spPr>
        <p:txBody>
          <a:bodyPr wrap="square" lIns="0" tIns="0" rIns="0" bIns="0" rtlCol="0" anchor="ctr"/>
          <a:lstStyle/>
          <a:p>
            <a:pPr indent="0" marL="0">
              <a:buNone/>
            </a:pPr>
            <a:r>
              <a:rPr lang="en-US" sz="1100" dirty="0">
                <a:solidFill>
                  <a:srgbClr val="94A3B8"/>
                </a:solidFill>
                <a:latin typeface="Meiryo UI" pitchFamily="34" charset="0"/>
                <a:ea typeface="Meiryo UI" pitchFamily="34" charset="-122"/>
                <a:cs typeface="Meiryo UI" pitchFamily="34" charset="-120"/>
                <a:sym typeface="Meiryo UI"/>
              </a:rPr>
              <a:t>株式会社ライトパス｜サイト構築ピッチ</a:t>
            </a:r>
            <a:endParaRPr lang="en-US" sz="1100" dirty="0">
              <a:latin typeface="Meiryo UI"/>
              <a:ea typeface="Meiryo UI"/>
              <a:cs typeface="Meiryo UI"/>
              <a:sym typeface="Meiryo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v5（大きめフォント）</dc:title>
  <dc:subject>PptxGenJS Presentation</dc:subject>
  <dc:creator>株式会社ライトパス</dc:creator>
  <cp:lastModifiedBy>株式会社ライトパス</cp:lastModifiedBy>
  <cp:revision>1</cp:revision>
  <dcterms:created xsi:type="dcterms:W3CDTF">2026-06-24T13:43:03Z</dcterms:created>
  <dcterms:modified xsi:type="dcterms:W3CDTF">2026-06-24T13:43:03Z</dcterms:modified>
</cp:coreProperties>
</file>