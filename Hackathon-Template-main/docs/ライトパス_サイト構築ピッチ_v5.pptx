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皆さん、こんにちは。本日は、株式会社ライトパスのコーポレートサイト構築プロジェクトについてお話しします。</a:t>
            </a:r>
          </a:p>
          <a:p>
            <a:r>
              <a:rPr sz="1100">
                <a:latin typeface="Meiryo UI"/>
              </a:rPr>
              <a:t>このサイトは、最新の技術スタックである Next.js 15 と React 19 を使い、TypeScript で型安全に、そして Tailwind CSS で見た目を整えています。</a:t>
            </a:r>
          </a:p>
          <a:p>
            <a:r>
              <a:rPr sz="1100">
                <a:latin typeface="Meiryo UI"/>
              </a:rPr>
              <a:t>発表時間は約10分。ウェブ制作に詳しくない方にもイメージしてもらえるよう、技術用語は最小限に、ポイントを「要は！」というキーワードでわかりやすく整理しました。</a:t>
            </a:r>
          </a:p>
          <a:p>
            <a:r>
              <a:rPr sz="1100">
                <a:latin typeface="Meiryo UI"/>
              </a:rPr>
              <a:t>このバージョン v5 では、最新のサイト改修内容（歯車の動画背景・採用ページのカルーセル・全体フォント拡大・画像最適化）も反映しています。</a:t>
            </a:r>
          </a:p>
          <a:p>
            <a:r>
              <a:rPr sz="1100">
                <a:latin typeface="Meiryo UI"/>
              </a:rPr>
              <a:t>それでは、よろしくお願いいたします。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まずプロジェクト全体像から。</a:t>
            </a:r>
          </a:p>
          <a:p>
            <a:r>
              <a:rPr sz="1100">
                <a:latin typeface="Meiryo UI"/>
              </a:rPr>
              <a:t>3 つの軸でご紹介します。左側「技術スタック」は、家でいう骨組みと壁。最新の Next.js 15 と React 19、型を厳密に扱う TypeScript、Tailwind というデザインの定規を使っています。</a:t>
            </a:r>
          </a:p>
          <a:p>
            <a:r>
              <a:rPr sz="1100">
                <a:latin typeface="Meiryo UI"/>
              </a:rPr>
              <a:t>真ん中「実装ページ」が今回作ったページ一覧。ホームには動画背景が入り、会社案内・採用・お問い合わせ・プライバシーまで、合計 5 つのページを完成させました。</a:t>
            </a:r>
          </a:p>
          <a:p>
            <a:r>
              <a:rPr sz="1100">
                <a:latin typeface="Meiryo UI"/>
              </a:rPr>
              <a:t>右の「重点アピール」は、特にこだわって作った 4 つのポイント。セキュリティ、スマホ操作の使いやすさ、最新の動画＆カルーセル演出、そして日英切替です。</a:t>
            </a:r>
          </a:p>
          <a:p>
            <a:r>
              <a:rPr sz="1100">
                <a:latin typeface="Meiryo UI"/>
              </a:rPr>
              <a:t>要は、本格的な会社サイトの「全部入り」を一式作りました、というのが概要です。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デザインで最も工夫したのは「色の管理を 1 か所にまとめた」ことです。</a:t>
            </a:r>
          </a:p>
          <a:p>
            <a:r>
              <a:rPr sz="1100">
                <a:latin typeface="Meiryo UI"/>
              </a:rPr>
              <a:t>画面左を見てください。globals.css というファイルに「黄色は #EBC528」と書いてあります。サイトのボタン・下線・ホバー枠など、黄色を使う全部分が、この 1 行を見にきます。</a:t>
            </a:r>
          </a:p>
          <a:p>
            <a:r>
              <a:rPr sz="1100">
                <a:latin typeface="Meiryo UI"/>
              </a:rPr>
              <a:t>ですから、もし将来「黄色じゃなくて青に変えて」と言われたら、この 1 行を青に書き換えるだけで、サイト全体が一斉に青に変わります。これは保守のしやすさが段違いです。</a:t>
            </a:r>
          </a:p>
          <a:p>
            <a:r>
              <a:rPr sz="1100">
                <a:latin typeface="Meiryo UI"/>
              </a:rPr>
              <a:t>右側はレイアウトの 3 つの原則。見本ベースの統一感、4 ページ共通のバナー高さ、そして本文を 1 段階大きくして読みやすさを向上、という工夫を入れています。</a:t>
            </a:r>
          </a:p>
          <a:p>
            <a:r>
              <a:rPr sz="1100">
                <a:latin typeface="Meiryo UI"/>
              </a:rPr>
              <a:t>要は「ファイル 1 か所直すだけで全部変わる」設計です。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スマホ対応の工夫を 4 つご紹介します。</a:t>
            </a:r>
          </a:p>
          <a:p>
            <a:r>
              <a:rPr sz="1100">
                <a:latin typeface="Meiryo UI"/>
              </a:rPr>
              <a:t>左上：モバイルファースト設計。先にスマホ用のデザインを作って、PC では大きく書き足す、という順番。逆だと PC では綺麗でもスマホで崩れがちなんです。</a:t>
            </a:r>
          </a:p>
          <a:p>
            <a:r>
              <a:rPr sz="1100">
                <a:latin typeface="Meiryo UI"/>
              </a:rPr>
              <a:t>右上：ハンバーガーメニュー。右からスライドで出てきます。ESC キーや背景クリック、ページ遷移で自動で閉じる気の利いた作りです。</a:t>
            </a:r>
          </a:p>
          <a:p>
            <a:r>
              <a:rPr sz="1100">
                <a:latin typeface="Meiryo UI"/>
              </a:rPr>
              <a:t>左下：メニューを開いている間、後ろのページが一緒にスクロールしないようロックしています。意外と気づきにくいですが、無いとイライラする UX です。</a:t>
            </a:r>
          </a:p>
          <a:p>
            <a:r>
              <a:rPr sz="1100">
                <a:latin typeface="Meiryo UI"/>
              </a:rPr>
              <a:t>右下：アクセス情報の写真などをタップすると大きく表示。再利用可能な部品として作っているので、他のページでも同じ動きで使えます。</a:t>
            </a:r>
          </a:p>
          <a:p>
            <a:r>
              <a:rPr sz="1100">
                <a:latin typeface="Meiryo UI"/>
              </a:rPr>
              <a:t>要は、スマホでも PC でも、指でも マウスでも、ストレスなく使える、ということです。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アニメーションの仕組みについて。</a:t>
            </a:r>
          </a:p>
          <a:p>
            <a:r>
              <a:rPr sz="1100">
                <a:latin typeface="Meiryo UI"/>
              </a:rPr>
              <a:t>左ブロック：スクロールで要素がふわっと出てくる「Reveal」と呼ぶ仕組み。Observer という監視役が「この要素が画面に入ったよ」と教えてくれて、CSS のアニメーションが動きます。</a:t>
            </a:r>
          </a:p>
          <a:p>
            <a:r>
              <a:rPr sz="1100">
                <a:latin typeface="Meiryo UI"/>
              </a:rPr>
              <a:t>動きは 6 種類用意。下からフェード、ふわっと拡大、横からスライドなど、場所に合わせて使い分けます。</a:t>
            </a:r>
          </a:p>
          <a:p>
            <a:r>
              <a:rPr sz="1100">
                <a:latin typeface="Meiryo UI"/>
              </a:rPr>
              <a:t>ここで重要な工夫が「監視役は 1 個だけ」。普通は要素ごとに監視役を作ってしまいがちですが、それだと 20 個動かすと 20 個分のメモリを使ってしまう。1 個に集約することで軽量化しています。</a:t>
            </a:r>
          </a:p>
          <a:p>
            <a:r>
              <a:rPr sz="1100">
                <a:latin typeface="Meiryo UI"/>
              </a:rPr>
              <a:t>右ブロック：場所ごとの使い分け。トップは歯車動画＋右からスライド、カードは順番にフェード、写真はマーキー、というように調整しています。</a:t>
            </a:r>
          </a:p>
          <a:p>
            <a:r>
              <a:rPr sz="1100">
                <a:latin typeface="Meiryo UI"/>
              </a:rPr>
              <a:t>そして「動きが苦手」と OS で設定している方には、アニメーション無しで即表示。配慮も忘れません。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ここは v5 で新しく追加したスライドです。直近の改修をまとめてご紹介します。</a:t>
            </a:r>
          </a:p>
          <a:p>
            <a:r>
              <a:rPr sz="1100">
                <a:latin typeface="Meiryo UI"/>
              </a:rPr>
              <a:t>左：TOP ページの背景を、これまでの静止画から「歯車が回る動画」に切り替えました。</a:t>
            </a:r>
          </a:p>
          <a:p>
            <a:r>
              <a:rPr sz="1100">
                <a:latin typeface="Meiryo UI"/>
              </a:rPr>
              <a:t>ファイルサイズは HEVC mov 6.4 MB を H.264 mp4 676 KB に最適化、約 1/10 の軽さです。ループの繋ぎ目も JS で微調整して、違和感のない無限再生にしました。</a:t>
            </a:r>
          </a:p>
          <a:p>
            <a:r>
              <a:rPr sz="1100">
                <a:latin typeface="Meiryo UI"/>
              </a:rPr>
              <a:t>真ん中：採用ページに「メンバー写真カルーセル」を新設。5 枚の写真が 5 秒ごとに自動で切り替わり、矢印・ドット・スワイプ・キーボードと、どの操作方法でも使えます。ホバー時は自動で止まる気配りも入れています。</a:t>
            </a:r>
          </a:p>
          <a:p>
            <a:r>
              <a:rPr sz="1100">
                <a:latin typeface="Meiryo UI"/>
              </a:rPr>
              <a:t>右：「読みやすさ向上」として、サイト全体の文字を一段階大きくしました。本文 14px から 16px へ、ヘッダーやボタン、フォーム要素も連動して拡大。同時に PageHeader バナーの高さも 4 ページで完全統一しました。</a:t>
            </a:r>
          </a:p>
          <a:p>
            <a:r>
              <a:rPr sz="1100">
                <a:latin typeface="Meiryo UI"/>
              </a:rPr>
              <a:t>要は、見た目の活気と、文字の読みやすさ、その両方を底上げした改修です。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ここからセキュリティの話、3 枚続きます。</a:t>
            </a:r>
          </a:p>
          <a:p>
            <a:r>
              <a:rPr sz="1100">
                <a:latin typeface="Meiryo UI"/>
              </a:rPr>
              <a:t>今回 3 段階の防御壁を作りました。</a:t>
            </a:r>
          </a:p>
          <a:p>
            <a:r>
              <a:rPr sz="1100">
                <a:latin typeface="Meiryo UI"/>
              </a:rPr>
              <a:t>1 つ目「入り口で防ぐ」。ブラウザに対して「うちのサイトはこの範囲しか動かしません」と宣言するのが CSP、外部サイトへの埋め込みを防ぐのが XFO、HTTPS を強制するのが HSTS です。</a:t>
            </a:r>
          </a:p>
          <a:p>
            <a:r>
              <a:rPr sz="1100">
                <a:latin typeface="Meiryo UI"/>
              </a:rPr>
              <a:t>2 つ目「中身を確認する」。アップロードされた PDF が本物か、フォーム送信が他サイトから来ていないか、API のメソッドが正しいか、入力が想定の形式か、を全部確認します。</a:t>
            </a:r>
          </a:p>
          <a:p>
            <a:r>
              <a:rPr sz="1100">
                <a:latin typeface="Meiryo UI"/>
              </a:rPr>
              <a:t>3 つ目「ヒントを与えない」。サーバの種類をバラさない、ソースコードの地図を本番に置かない、エラー画面でスタックトレースを出さない、というような「攻撃者にヒントを与えない」工夫です。</a:t>
            </a:r>
          </a:p>
          <a:p>
            <a:r>
              <a:rPr sz="1100">
                <a:latin typeface="Meiryo UI"/>
              </a:rPr>
              <a:t>要は、入り口・中身・露出、3 軸で守るということです。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セキュリティ 2 枚目。代表的な対策、PDF 3 層検証と API 強化の話です。</a:t>
            </a:r>
          </a:p>
          <a:p>
            <a:r>
              <a:rPr sz="1100">
                <a:latin typeface="Meiryo UI"/>
              </a:rPr>
              <a:t>上段は履歴書アップロードでの 3 段階チェック。</a:t>
            </a:r>
          </a:p>
          <a:p>
            <a:r>
              <a:rPr sz="1100">
                <a:latin typeface="Meiryo UI"/>
              </a:rPr>
              <a:t>1 段目：拡張子が .pdf で終わるか。</a:t>
            </a:r>
          </a:p>
          <a:p>
            <a:r>
              <a:rPr sz="1100">
                <a:latin typeface="Meiryo UI"/>
              </a:rPr>
              <a:t>2 段目：ブラウザが申告する MIME タイプが application/pdf か。</a:t>
            </a:r>
          </a:p>
          <a:p>
            <a:r>
              <a:rPr sz="1100">
                <a:latin typeface="Meiryo UI"/>
              </a:rPr>
              <a:t>3 段目：これが一番大事。実際のファイル中身の先頭 5 バイトが %PDF- になっているか、を確認します。これがマジックバイトと呼ばれる本物の印で、ここまでチェックすれば偽装はほぼ不可能です。</a:t>
            </a:r>
          </a:p>
          <a:p>
            <a:r>
              <a:rPr sz="1100">
                <a:latin typeface="Meiryo UI"/>
              </a:rPr>
              <a:t>下段は API 自体の強化。CSRF 対策で「うちのドメイン以外からは受け付けない」、POST 以外は 405 で弾く、CORS 応答は返さない、キャッシュさせない、検索エンジンに乗せない、と多層防御しています。</a:t>
            </a:r>
          </a:p>
          <a:p>
            <a:r>
              <a:rPr sz="1100">
                <a:latin typeface="Meiryo UI"/>
              </a:rPr>
              <a:t>クライアントの JS 検証は迂回されうるので、必ずサーバ側でも同じ検証を強制する。これがポイントです。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セキュリティ 3 枚目。「結局どこまでやったの？」を数字で示します。</a:t>
            </a:r>
          </a:p>
          <a:p>
            <a:r>
              <a:rPr sz="1100">
                <a:latin typeface="Meiryo UI"/>
              </a:rPr>
              <a:t>業界標準のセキュリティチェックリスト 88 項目を、1 つずつ全部見ました。</a:t>
            </a:r>
          </a:p>
          <a:p>
            <a:r>
              <a:rPr sz="1100">
                <a:latin typeface="Meiryo UI"/>
              </a:rPr>
              <a:t>内訳：26 項目が「対応済」。CSP・HSTS・XFO といったヘッダ、PDF 3 層検証、CSRF、SSRF、エラー保護などです。</a:t>
            </a:r>
          </a:p>
          <a:p>
            <a:r>
              <a:rPr sz="1100">
                <a:latin typeface="Meiryo UI"/>
              </a:rPr>
              <a:t>56 項目は「非該当」。これは認証機能・JWT・DB クエリ・管理画面など、今回のサイトに存在しない機能の項目で、評価対象外という意味です。</a:t>
            </a:r>
          </a:p>
          <a:p>
            <a:r>
              <a:rPr sz="1100">
                <a:latin typeface="Meiryo UI"/>
              </a:rPr>
              <a:t>残り 6 項目は「運用補完」。WAF、依存ライブラリの定期監査、ウイルススキャン、レート制限など、本番デプロイ時にインフラ側で補う領域です。</a:t>
            </a:r>
          </a:p>
          <a:p>
            <a:r>
              <a:rPr sz="1100">
                <a:latin typeface="Meiryo UI"/>
              </a:rPr>
              <a:t>要は、本サイトに該当する項目は、すべて対応済み、というのが結論です。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ここからコードの工夫を 3 枚。最初は CSS 変数と Tailwind の組み合わせ。</a:t>
            </a:r>
          </a:p>
          <a:p>
            <a:r>
              <a:rPr sz="1100">
                <a:latin typeface="Meiryo UI"/>
              </a:rPr>
              <a:t>左の暗い画面がコードです。globals.css の冒頭で「primary は #ebc528」「background は #f8fafc」と定義しています。</a:t>
            </a:r>
          </a:p>
          <a:p>
            <a:r>
              <a:rPr sz="1100">
                <a:latin typeface="Meiryo UI"/>
              </a:rPr>
              <a:t>そして Tailwind 設定で、その変数を参照するよう橋渡しします。これで bg-primary と書けば、ボタンも下線もホバー枠も、全部この 1 か所の色を見にきます。</a:t>
            </a:r>
          </a:p>
          <a:p>
            <a:r>
              <a:rPr sz="1100">
                <a:latin typeface="Meiryo UI"/>
              </a:rPr>
              <a:t>右側は効果の説明。1 か所変えれば全部変わる、Tailwind と橋渡しできる、ダークモードへの拡張も容易、という 3 つのメリット。</a:t>
            </a:r>
          </a:p>
          <a:p>
            <a:r>
              <a:rPr sz="1100">
                <a:latin typeface="Meiryo UI"/>
              </a:rPr>
              <a:t>3 番目のダークモード対応が特に強力で、.dark セレクタで CSS 変数を上書きするだけで、サイト全体がダーク配色に切り替わる仕掛けです。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コードの工夫 2 枚目。日英切替（i18n）です。</a:t>
            </a:r>
          </a:p>
          <a:p>
            <a:r>
              <a:rPr sz="1100">
                <a:latin typeface="Meiryo UI"/>
              </a:rPr>
              <a:t>上のフロー：右上の JP/EN ボタンを押すと、Provider という親管理人が言語状態を更新。すると useLanguage という子関数経由で、サイト全部の文字・ボタン名・画像 alt が一斉に切り替わります。0.1 秒もかかりません。</a:t>
            </a:r>
          </a:p>
          <a:p>
            <a:r>
              <a:rPr sz="1100">
                <a:latin typeface="Meiryo UI"/>
              </a:rPr>
              <a:t>下のカード 4 つが工夫ポイント。</a:t>
            </a:r>
          </a:p>
          <a:p>
            <a:r>
              <a:rPr sz="1100">
                <a:latin typeface="Meiryo UI"/>
              </a:rPr>
              <a:t>1：Localized 型として「日本語と英語の両方を持つ箱」を全データに適用、pick で取り出します。</a:t>
            </a:r>
          </a:p>
          <a:p>
            <a:r>
              <a:rPr sz="1100">
                <a:latin typeface="Meiryo UI"/>
              </a:rPr>
              <a:t>2：英語表示時はふりがな欄を自動で消す。英語圏には不要なので。</a:t>
            </a:r>
          </a:p>
          <a:p>
            <a:r>
              <a:rPr sz="1100">
                <a:latin typeface="Meiryo UI"/>
              </a:rPr>
              <a:t>3：初回訪問時、ブラウザの言語設定を見て自動で初期言語を判定。</a:t>
            </a:r>
          </a:p>
          <a:p>
            <a:r>
              <a:rPr sz="1100">
                <a:latin typeface="Meiryo UI"/>
              </a:rPr>
              <a:t>4：選んだ言語は localStorage で保存。次に来た時も同じ言語で出迎えます。</a:t>
            </a:r>
          </a:p>
          <a:p>
            <a:r>
              <a:rPr sz="1100">
                <a:latin typeface="Meiryo UI"/>
              </a:rPr>
              <a:t>要は、ボタン 1 つで「世界が切り替わる」体験を提供しています。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コードの工夫 3 枚目。パフォーマンス改善を 6 項目ご紹介します。</a:t>
            </a:r>
          </a:p>
          <a:p>
            <a:r>
              <a:rPr sz="1100">
                <a:latin typeface="Meiryo UI"/>
              </a:rPr>
              <a:t>特に効いたのが左上の「画像圧縮」。元画像合計 50 MB を、sharp というツールで圧縮して約 4 MB、つまり 1/10 以下まで小さくしました。これだけで初回表示の体感速度が大きく変わります。</a:t>
            </a:r>
          </a:p>
          <a:p>
            <a:r>
              <a:rPr sz="1100">
                <a:latin typeface="Meiryo UI"/>
              </a:rPr>
              <a:t>その隣 next/image は AVIF や WebP という新しい画像形式を、対応ブラウザに自動で配信する仕組み。</a:t>
            </a:r>
          </a:p>
          <a:p>
            <a:r>
              <a:rPr sz="1100">
                <a:latin typeface="Meiryo UI"/>
              </a:rPr>
              <a:t>共有 Observer は先ほどのアニメ最適化、Observer を 20 個から 1 個に集約してメモリと CPU を節約。</a:t>
            </a:r>
          </a:p>
          <a:p>
            <a:r>
              <a:rPr sz="1100">
                <a:latin typeface="Meiryo UI"/>
              </a:rPr>
              <a:t>動画も同じ思想で、HEVC mov 6.4 MB を H.264 mp4 676 KB に最適化。</a:t>
            </a:r>
          </a:p>
          <a:p>
            <a:r>
              <a:rPr sz="1100">
                <a:latin typeface="Meiryo UI"/>
              </a:rPr>
              <a:t>あと DNS プリフェッチで通信を先回りし、i18n の翻訳取得は useMemo でキャッシュして再計算を防いでいます。</a:t>
            </a:r>
          </a:p>
          <a:p>
            <a:r>
              <a:rPr sz="1100">
                <a:latin typeface="Meiryo UI"/>
              </a:rPr>
              <a:t>要は「サクサク動く」を多角的に作り込んでいます。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>
                <a:latin typeface="Meiryo UI"/>
              </a:rPr>
              <a:t>改めてまとめです。</a:t>
            </a:r>
          </a:p>
          <a:p>
            <a:r>
              <a:rPr sz="1100">
                <a:latin typeface="Meiryo UI"/>
              </a:rPr>
              <a:t>このサイトは 5 つの軸で作りました。</a:t>
            </a:r>
          </a:p>
          <a:p>
            <a:r>
              <a:rPr sz="1100">
                <a:latin typeface="Meiryo UI"/>
              </a:rPr>
              <a:t>セキュリティは 88 項目を監査、CSP・PDF 3 層検証・CSRF・SSRF まで多層防御。</a:t>
            </a:r>
          </a:p>
          <a:p>
            <a:r>
              <a:rPr sz="1100">
                <a:latin typeface="Meiryo UI"/>
              </a:rPr>
              <a:t>モバイル UX はドロワー、背景固定、タップ拡大で、スマホでも気持ちよく使える。</a:t>
            </a:r>
          </a:p>
          <a:p>
            <a:r>
              <a:rPr sz="1100">
                <a:latin typeface="Meiryo UI"/>
              </a:rPr>
              <a:t>ビジュアルは歯車動画背景、採用ページの写真カルーセル、統一バナーで、見て楽しいサイトに。</a:t>
            </a:r>
          </a:p>
          <a:p>
            <a:r>
              <a:rPr sz="1100">
                <a:latin typeface="Meiryo UI"/>
              </a:rPr>
              <a:t>国際化は JP/EN ボタン 1 つで全文字を切替、海外からの問い合わせにも対応。</a:t>
            </a:r>
          </a:p>
          <a:p>
            <a:r>
              <a:rPr sz="1100">
                <a:latin typeface="Meiryo UI"/>
              </a:rPr>
              <a:t>そして性能は、画像 50 MB を 4 MB に圧縮、共有 Observer、next/image など多面的な最適化。</a:t>
            </a:r>
          </a:p>
          <a:p>
            <a:r>
              <a:rPr sz="1100">
                <a:latin typeface="Meiryo UI"/>
              </a:rPr>
              <a:t>このような工夫を凝らした 5 ページ構成のサイトを構築しました。ご清聴ありがとうございました。質問があればお願いいたします。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554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CORPORATE WEBSITE PITCH</a:t>
            </a:r>
            <a:endParaRPr lang="en-US" sz="16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コーポレートサイト構築</a:t>
            </a:r>
            <a:endParaRPr lang="en-US" sz="5400" dirty="0">
              <a:latin typeface="Meiryo UI"/>
              <a:ea typeface="Meiryo U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セキュリティ・モバイル・アニメーションを軸にした実装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4251960"/>
            <a:ext cx="1463040" cy="54864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Next.js 15 + React 19 + TypeScript + Tailwind CSS</a:t>
            </a:r>
            <a:endParaRPr lang="en-US" sz="16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4983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分のプレゼンテーション（初心者向け・v5 最新版）</a:t>
            </a:r>
            <a:endParaRPr lang="en-US" sz="16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</a:t>
            </a:r>
            <a:endParaRPr lang="en-US" sz="14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  OVERVIEW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プロジェクト概要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最新のレシピで「ちゃんと動く本格的な会社サイト」を一式作りました。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安全・スマホ対応・気持ちいい動き・日英対応 ぜんぶ入りです。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566160" cy="3246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3566160" cy="5486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技術スタック</a:t>
            </a:r>
            <a:endParaRPr lang="en-US" sz="1700" dirty="0">
              <a:latin typeface="Meiryo UI"/>
              <a:ea typeface="Meiryo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Next.js 15 (App Router)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React 19 / TypeScript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Tailwind CSS 3.4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CSS Variables でテーマ管理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43400" y="2971800"/>
            <a:ext cx="3566160" cy="3246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971800"/>
            <a:ext cx="356616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実装ページ</a:t>
            </a:r>
            <a:endParaRPr lang="en-US" sz="1700" dirty="0">
              <a:latin typeface="Meiryo UI"/>
              <a:ea typeface="Meiryo U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 (動画背景)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会社案内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採用情報 (カルーセル/エントリー)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お問い合わせ / プライバシー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38160" y="2971800"/>
            <a:ext cx="3566160" cy="3246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971800"/>
            <a:ext cx="356616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重点アピール</a:t>
            </a:r>
            <a:endParaRPr lang="en-US" sz="1700" dirty="0">
              <a:latin typeface="Meiryo UI"/>
              <a:ea typeface="Meiryo U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66760" y="3611880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セキュリティ（多層防御）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スマホ用 UX（ドロワー / 拡大）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動画背景・カルーセル（最新）</a:t>
            </a:r>
            <a:endParaRPr lang="en-US" sz="1400" dirty="0">
              <a:latin typeface="Meiryo UI"/>
              <a:ea typeface="Meiryo U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日英切替（i18n）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  DESIGN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デザインで工夫したところ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サイトの色はファイル 1 か所にまとめて書いてあるので、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後で「青に変えたい」と言われたら 1 行直すだけで全部変わります。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86400" cy="3246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テーマカラーの集中管理</a:t>
            </a:r>
            <a:endParaRPr lang="en-US" sz="1600" dirty="0">
              <a:latin typeface="Meiryo UI"/>
              <a:ea typeface="Meiryo U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566160"/>
            <a:ext cx="1371600" cy="82296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PRIMARY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#EBC528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31720" y="3566160"/>
            <a:ext cx="13716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ACCENT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3172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#0F172A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40480" y="3566160"/>
            <a:ext cx="1371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BG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4048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#F8FAFC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globals.css に色変数を定義 → Tailwind がそれを参照 → サイト全体が一括で変わる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5212080"/>
            <a:ext cx="493776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--color-primary: #ebc528;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5715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// この1行で全ボタン・下線・ホバー枠の色が変わる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レイアウトの軸</a:t>
            </a:r>
            <a:endParaRPr lang="en-US" sz="1600" dirty="0">
              <a:latin typeface="Meiryo UI"/>
              <a:ea typeface="Meiryo U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3520440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520440"/>
            <a:ext cx="73152" cy="80467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35935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  見本ベースの統一感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29400" y="3931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ヘッダー帯 → 各セクション の流れを全ページで共通化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4434840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434840"/>
            <a:ext cx="73152" cy="80467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45079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  全ページバナー高さ統一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29400" y="4846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PageHeader をアスペクト比固定 (1366:186) で揃える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5349240"/>
            <a:ext cx="5212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349240"/>
            <a:ext cx="73152" cy="80467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5422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  本文の読みやすさ向上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629400" y="5760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全テキストを 1 段階拡大（本文 14px → 16px 等）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  KEY POINT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スマホ用サイトの工夫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スマホで開いても、PC で開いても、見やすく崩れません。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メニューも画像拡大も、指で気持ちよく操作できます。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8640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4612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モバイルファースト設計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00200" y="3474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「スマホ前提で作って大画面で上書き」する書き方。PC でも崩れない。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600200" y="416052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4160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sm: 640px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63240" y="416052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4160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md: 768px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26280" y="416052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4160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lg: 1024px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72200" y="2971800"/>
            <a:ext cx="548640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246120"/>
            <a:ext cx="685800" cy="68580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≡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2376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右からスライドメニュー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23760" y="3474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ハンバーガーを押すと右からメニュー。ESC・外側クリック・遷移で自動で閉じる。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223760" y="416052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4160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useState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686800" y="416052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4160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ESC キー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149840" y="416052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4160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遷移検知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4663440"/>
            <a:ext cx="548640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493776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937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↕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60020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メニュー中は背景固定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600200" y="5166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メニューを開いている間、背景ページが一緒にスクロールしない工夫。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600200" y="58521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0200" y="5852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lock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063240" y="58521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5852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状態復元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526280" y="58521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5852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UX 安定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172200" y="4663440"/>
            <a:ext cx="5486400" cy="1600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493776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4937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22376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タップで画像拡大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223760" y="5166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アクセス情報の写真などをタップすると大きく見られる。再利用可能な部品。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223760" y="58521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5852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タップ拡大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686800" y="58521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5852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背景で閉じる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149840" y="585216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49840" y="5852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再利用可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  KEY POINT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アニメーションの工夫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スクロールすると要素がふわっと現れる「気持ちいいサイト」にしました。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ただ動かすだけでなく「軽い」「動きが苦手な人にも配慮」する工夫もしています。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86400" cy="3246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Reveal × 共有 IntersectionObserver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" y="3611880"/>
            <a:ext cx="1371600" cy="82296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スクロール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40280" y="3995928"/>
            <a:ext cx="2743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4600" y="3611880"/>
            <a:ext cx="1371600" cy="82296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3611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Observer 検出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86200" y="3995928"/>
            <a:ext cx="2743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0520" y="3611880"/>
            <a:ext cx="1371600" cy="82296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3611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CSS アニメ発火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 種類の動きを使い分け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fade-up / fade-up-strong（下からふわっと）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fade / scale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slide-right / slide-left（横からスライド）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5760720"/>
            <a:ext cx="49377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760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工夫：20 個動かしても監視役は 1 個だけ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場所ごとに違う動きを使い分け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347472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74720"/>
            <a:ext cx="73152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51129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ヒーロー：歯車動画＋右からスライド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83680" y="37307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TOP 背景は歯車の動画ループで活気を演出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402336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023360"/>
            <a:ext cx="73152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0599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特徴カード：順番にフェード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83680" y="42793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100/200/300ms ずらして 1 枚ずつ出る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457200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572000"/>
            <a:ext cx="73152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6085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代表挨拶：右スライド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83680" y="482803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横幅を活かして印象的に登場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0" y="512064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5120640"/>
            <a:ext cx="73152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515721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写真バンド：マーキー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583680" y="53766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32秒で1周、無限ループ、ホバーで停止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0800" y="566928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5669280"/>
            <a:ext cx="73152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57058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動き OFF 設定に対応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583680" y="59253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OS の「動きを減らす」設定を尊重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  NEW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 &amp; 採用ページの最新強化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TOP の歯車を動画化、採用ページに 5 枚のカルーセルを追加。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見た目の活気を上げつつ、読みやすさのため文字サイズも全体的に大きく。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5661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35661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歯車動画背景（TOP）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5.5 秒ループの歯車回転動画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MP4 (H.264) で 676 KB に軽量化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 で繋ぎ目を微調整 (loopEnd)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白系グラデーションで文字可読性確保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reduced-motion 配慮（静止画 fallback）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43400" y="2971800"/>
            <a:ext cx="35661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971800"/>
            <a:ext cx="35661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メンバー写真カルーセル（採用）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26280" y="37490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枚の写真を 5 秒ごと自動切替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矢印 / ドット / スワイプ操作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キーボード ← → でも操作可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ホバー・フォーカスで自動停止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WAI-ARIA Carousel パターン準拠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38160" y="2971800"/>
            <a:ext cx="35661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971800"/>
            <a:ext cx="3566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読みやすさ向上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21040" y="37490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全テキストを 1 段階拡大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本文 14px → 16px（+2pt）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ヘッダーナビ・ボタンも追随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フォーム列幅・バッジも自動調整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PageHeader 高さも全ページ統一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  KEY POINT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セキュリティの工夫 ①｜全体像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悪い人がサイトを荒らしにくいよう、3 段階の防御壁を作っています。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「入り口で防ぐ」「中身を確かめる」「ヒントを与えない」の 3 軸です。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5661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356616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入り口で防ぐ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セキュリティヘッダ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Content-Security-Policy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X-Frame-Options + frame-ancestors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Strict-Transport-Security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Cross-Origin-Opener-Policy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Permissions-Policy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43400" y="2971800"/>
            <a:ext cx="35661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971800"/>
            <a:ext cx="356616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中身を確認する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API / フォーム検証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26280" y="37947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 3 層検証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Origin / Referer 検証（CSRF）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 以外を 405 拒否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zipcloud は 7 桁数字限定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外部リンクは rel=noopener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38160" y="2971800"/>
            <a:ext cx="35661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971800"/>
            <a:ext cx="356616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露出を減らす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2104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情報の秘匿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21040" y="37947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X-Powered-By 無効化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本番ソースマップを生成しない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console.log を本番で除去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エラー画面でスタック非表示</a:t>
            </a:r>
            <a:endParaRPr lang="en-US" sz="1100" dirty="0">
              <a:latin typeface="Meiryo UI"/>
              <a:ea typeface="Meiryo U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API は noindex + no-store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  KEY POINT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セキュリティの工夫 ②｜PDF 3 層検証 ＋ API 強化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「これは PDF ですよ」と嘘をついても見破れる、3 段階チェックです。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クライアントを迂回されてもサーバが弾く仕組みで二重に守っています。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566160" cy="14173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拡張子</a:t>
            </a:r>
            <a:endParaRPr lang="en-US" sz="2000" dirty="0">
              <a:latin typeface="Meiryo UI"/>
              <a:ea typeface="Meiryo U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3867912"/>
            <a:ext cx="3108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.pdf で終わるか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43400" y="2971800"/>
            <a:ext cx="3566160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MIME</a:t>
            </a:r>
            <a:endParaRPr lang="en-US" sz="2000" dirty="0">
              <a:latin typeface="Meiryo UI"/>
              <a:ea typeface="Meiryo U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3867912"/>
            <a:ext cx="3108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application/pdf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38160" y="2971800"/>
            <a:ext cx="3566160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6676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マジックバイト</a:t>
            </a:r>
            <a:endParaRPr lang="en-US" sz="2000" dirty="0">
              <a:latin typeface="Meiryo UI"/>
              <a:ea typeface="Meiryo U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366760" y="3867912"/>
            <a:ext cx="3108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%PDF- = 0x25...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23360" y="338328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&gt;</a:t>
            </a:r>
            <a:endParaRPr lang="en-US" sz="3200" dirty="0">
              <a:latin typeface="Meiryo UI"/>
              <a:ea typeface="Meiryo U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818120" y="338328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&gt;</a:t>
            </a:r>
            <a:endParaRPr lang="en-US" sz="3200" dirty="0">
              <a:latin typeface="Meiryo UI"/>
              <a:ea typeface="Meiryo U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110642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526280"/>
            <a:ext cx="109728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5720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/api/upload-resume の追加強化（CSRF / メソッド / CORS）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4965192"/>
            <a:ext cx="201168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965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Origin/Referer 検証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980944" y="4965192"/>
            <a:ext cx="20116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2980944" y="4965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 以外 405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138928" y="4965192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138928" y="4965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CORS ヘッダ非応答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296912" y="4965192"/>
            <a:ext cx="2011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296912" y="4965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Cache-Control: no-store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54896" y="4965192"/>
            <a:ext cx="20116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9454896" y="4965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X-Robots-Tag: noindex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60527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不正ファイル → 400 ／ 他オリジン → 403 ／ 他メソッド → 405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2960" y="59436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クライアントの JS 検証は迂回されうるので、必ずサーバ側で同じ検証を強制。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  KEY POINT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セキュリティの工夫 ③｜88 項目チェックリスト対応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業界標準のセキュリティチェックリスト 88 項目をぜんぶ確認しました。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本サイトに関係する項目には、すべて対応済みです。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200400" cy="3246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175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88</a:t>
            </a:r>
            <a:endParaRPr lang="en-US" sz="9600" dirty="0">
              <a:latin typeface="Meiryo UI"/>
              <a:ea typeface="Meiryo U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ITEMS AUDITED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OWASP 系の脆弱性チェックリスト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Critical / High / Medium / Low / Info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全 88 項目を照合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77640" y="2971800"/>
            <a:ext cx="76352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971800"/>
            <a:ext cx="109728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3081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対応済</a:t>
            </a:r>
            <a:endParaRPr lang="en-US" sz="2000" dirty="0">
              <a:latin typeface="Meiryo UI"/>
              <a:ea typeface="Meiryo U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418320" y="3118104"/>
            <a:ext cx="20116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3118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26 項目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06240" y="348386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CSP・HSTS・XFO・PDF 3 層・CSRF・SSRF・エラー保護 等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77640" y="4069080"/>
            <a:ext cx="76352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4069080"/>
            <a:ext cx="109728" cy="10058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4178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非該当</a:t>
            </a:r>
            <a:endParaRPr lang="en-US" sz="2000" dirty="0">
              <a:latin typeface="Meiryo UI"/>
              <a:ea typeface="Meiryo U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18320" y="4215384"/>
            <a:ext cx="2011680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0" y="4215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56 項目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206240" y="458114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認証・JWT・DB クエリ・Cookie・管理画面 など（機能なし）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977640" y="5166360"/>
            <a:ext cx="76352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516636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5276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運用補完</a:t>
            </a:r>
            <a:endParaRPr lang="en-US" sz="2000" dirty="0">
              <a:latin typeface="Meiryo UI"/>
              <a:ea typeface="Meiryo U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418320" y="5312664"/>
            <a:ext cx="20116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9418320" y="53126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6 項目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206240" y="567842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WAF・npm audit CI・AV スキャン・レート制限 等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  CODE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コードの工夫 ①｜CSS変数 × Tailwind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色の設定は「globals.css」1 ファイルに全部書いてあります。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ダークモードや色変更が、ファイル 1 つ直すだけで完了します。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86400" cy="3246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/* globals.css */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:root {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3584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--color-primary: #ebc528;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831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--color-background: #f8fafc;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4078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--color-accent: #0f172a;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4325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}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4818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/* tailwind.config.ts */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50657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colors: {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7240" y="5312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primary: 'var(--color-primary)',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5559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background: 'var(--color-background)',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5806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}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2971800"/>
            <a:ext cx="5212080" cy="9875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971800"/>
            <a:ext cx="73152" cy="9875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090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か所変えれば全部変わる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29400" y="34472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CSS 変数 1 行で、ボタン・下線・ホバー枠がすべて切替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4069080"/>
            <a:ext cx="5212080" cy="9875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4069080"/>
            <a:ext cx="73152" cy="9875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187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Tailwind と橋渡し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29400" y="45445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bg-primary / text-accent などが CSS 変数を参照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5166360"/>
            <a:ext cx="5212080" cy="9875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166360"/>
            <a:ext cx="73152" cy="9875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5285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ダークモード化も容易</a:t>
            </a:r>
            <a:endParaRPr lang="en-US" sz="1500" dirty="0">
              <a:latin typeface="Meiryo UI"/>
              <a:ea typeface="Meiryo U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9400" y="5641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.dark セレクタで CSS 変数を上書きすれば全要素が連動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 CODE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コードの工夫 ②｜日英切替（i18n）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右上の JP / EN ボタンを押すと、サイトの全文字が日本語と英語で瞬時に切替。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海外からの問い合わせにも対応できます。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2651760" cy="11430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[JP|EN] ボタン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0" y="315468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&gt;</a:t>
            </a:r>
            <a:endParaRPr lang="en-US" sz="2600" dirty="0">
              <a:latin typeface="Meiryo UI"/>
              <a:ea typeface="Meiryo U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29000" y="2971800"/>
            <a:ext cx="265176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9718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Provider 状態更新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80760" y="315468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&gt;</a:t>
            </a:r>
            <a:endParaRPr lang="en-US" sz="2600" dirty="0">
              <a:latin typeface="Meiryo UI"/>
              <a:ea typeface="Meiryo U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2971800"/>
            <a:ext cx="265176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9718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useLanguage() が反応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61120" y="315468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&gt;</a:t>
            </a:r>
            <a:endParaRPr lang="en-US" sz="2600" dirty="0">
              <a:latin typeface="Meiryo UI"/>
              <a:ea typeface="Meiryo U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89720" y="2971800"/>
            <a:ext cx="2651760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29718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ラベル/文/alt 切替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54864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43400"/>
            <a:ext cx="73152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165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Localized&lt;T&gt; 型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7240" y="47823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 ja: T, en: T } を全データに適用。pick() で言語別に取り出し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72200" y="4343400"/>
            <a:ext cx="54864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343400"/>
            <a:ext cx="73152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4165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ふりがな自動非表示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0" y="47823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英語表示時はふりがな欄を自動的に非表示（英語圏には不要）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54864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03520"/>
            <a:ext cx="73152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376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ブラウザ自動判定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240" y="5742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navigator.language が en で始まれば初期表示を英語に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72200" y="5303520"/>
            <a:ext cx="54864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5303520"/>
            <a:ext cx="73152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5376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状態保持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00800" y="5742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localStorage に保存。次回訪問時も選択した言語を維持</a:t>
            </a:r>
            <a:endParaRPr lang="en-US" sz="1200" dirty="0">
              <a:latin typeface="Meiryo UI"/>
              <a:ea typeface="Meiryo U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  CODE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コードの工夫 ③｜パフォーマンス</a:t>
            </a:r>
            <a:endParaRPr lang="en-US" sz="28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BC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64592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要は！</a:t>
            </a:r>
            <a:endParaRPr lang="en-US" sz="2400" dirty="0">
              <a:latin typeface="Meiryo UI"/>
              <a:ea typeface="Meiryo U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サクサク動くサイトにするため、画像・動き・キャッシュなど多角的に最適化。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画像は 50MB → 4MB に圧縮し、初回表示も大幅に高速化しました。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8640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08960"/>
            <a:ext cx="10515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089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画像圧縮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7452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50MB → 4MB（sharp）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0" y="3108960"/>
            <a:ext cx="8686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108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LCP 改善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巨大 JPG/PNG をリサイズ + 高圧縮で 1/10 以下に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72200" y="2971800"/>
            <a:ext cx="548640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108960"/>
            <a:ext cx="10515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1089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next/image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8080" y="3063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AVIF→WebP 自動配信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652760" y="3108960"/>
            <a:ext cx="8686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652760" y="3108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通信短縮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520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ブラウザ対応形式に自動変換、30日キャッシュ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548640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224528"/>
            <a:ext cx="10515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24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Observer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74520" y="4178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Reveal の共有 Observer 化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29200" y="4224528"/>
            <a:ext cx="8686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42245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 軽量化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77240" y="46360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20個 → 1個に集約してメモリ/CPU 削減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72200" y="4087368"/>
            <a:ext cx="548640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224528"/>
            <a:ext cx="10515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224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動画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98080" y="4178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歯車動画 676 KB に最適化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652760" y="4224528"/>
            <a:ext cx="8686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10652760" y="42245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高速読込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0" y="46360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HEVC .mov 6.4MB → H.264 .mp4 で 1/10 化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8640" y="5202936"/>
            <a:ext cx="548640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5340096"/>
            <a:ext cx="10515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534009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API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874520" y="5294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DNS prefetch + preconnect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029200" y="5340096"/>
            <a:ext cx="8686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53400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通信短縮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77240" y="57515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zipcloud / Maps への接続を早期化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72200" y="5202936"/>
            <a:ext cx="548640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5340096"/>
            <a:ext cx="10515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534009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i18n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498080" y="5294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getTexts を useMemo 化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652760" y="5340096"/>
            <a:ext cx="8686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10652760" y="53400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計算節約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400800" y="57515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言語が変わった時だけ再生成</a:t>
            </a:r>
            <a:endParaRPr lang="en-US" sz="1100" dirty="0">
              <a:latin typeface="Meiryo UI"/>
              <a:ea typeface="Meiryo UI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 サイト構築</a:t>
            </a:r>
            <a:endParaRPr lang="en-US" sz="1000" dirty="0">
              <a:latin typeface="Meiryo UI"/>
              <a:ea typeface="Meiryo UI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 / 13</a:t>
            </a:r>
            <a:endParaRPr lang="en-US" sz="10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EBC5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SUMMARY</a:t>
            </a:r>
            <a:endParaRPr lang="en-US" sz="1600" dirty="0">
              <a:latin typeface="Meiryo UI"/>
              <a:ea typeface="Meiryo U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つの軸で作りました。</a:t>
            </a:r>
            <a:endParaRPr lang="en-US" sz="4000" dirty="0">
              <a:latin typeface="Meiryo UI"/>
              <a:ea typeface="Meiryo U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7280" y="2697480"/>
            <a:ext cx="237744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1188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88項目 監査 / CSP / PDF 3層検証 / CSRF / SSRF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7280" y="3246120"/>
            <a:ext cx="237744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モバイル UX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11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ドロワー・背景固定・タップ拡大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237744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ビジュアル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1188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歯車動画背景・採用カルーセル・統一バナー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97280" y="4343400"/>
            <a:ext cx="237744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国際化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118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JP/EN ボタン 1 つで全切替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97280" y="4892040"/>
            <a:ext cx="237744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性能</a:t>
            </a:r>
            <a:endParaRPr lang="en-US" sz="1300" dirty="0">
              <a:latin typeface="Meiryo UI"/>
              <a:ea typeface="Meiryo U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1188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画像 50MB→4MB / 共有 Observer / next/image</a:t>
            </a:r>
            <a:endParaRPr lang="en-US" sz="1400" dirty="0">
              <a:latin typeface="Meiryo UI"/>
              <a:ea typeface="Meiryo U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ご清聴ありがとうございました。</a:t>
            </a:r>
            <a:endParaRPr lang="en-US" sz="1800" dirty="0">
              <a:latin typeface="Meiryo UI"/>
              <a:ea typeface="Meiryo U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株式会社ライトパス｜サイト構築ピッチ v5</a:t>
            </a:r>
            <a:endParaRPr lang="en-US" sz="1100" dirty="0">
              <a:latin typeface="Meiryo UI"/>
              <a:ea typeface="Meiryo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サイト構築ピッチ v5</dc:title>
  <dc:subject>PptxGenJS Presentation</dc:subject>
  <dc:creator>株式会社ライトパス</dc:creator>
  <cp:lastModifiedBy>株式会社ライトパス</cp:lastModifiedBy>
  <cp:revision>1</cp:revision>
  <dcterms:created xsi:type="dcterms:W3CDTF">2026-06-24T15:33:24Z</dcterms:created>
  <dcterms:modified xsi:type="dcterms:W3CDTF">2026-06-24T15:33:24Z</dcterms:modified>
</cp:coreProperties>
</file>