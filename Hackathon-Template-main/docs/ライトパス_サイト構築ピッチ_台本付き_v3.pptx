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それでは、コーポレートサイト構築プロジェクトについて発表いたします。</a:t>
            </a:r>
            <a:endParaRPr lang="en-US" dirty="0"/>
          </a:p>
          <a:p/>
          <a:p>
            <a:r>
              <a:t>このプレゼンでは、株式会社ライトパス様のウェブサイトを Next.js を使ってフルスクラッチで構築した内容をご紹介します。</a:t>
            </a:r>
          </a:p>
          <a:p/>
          <a:p>
            <a:r>
              <a:t>特にアピールしたいのは、セキュリティ・スマートフォン対応・アニメーションの 3 点です。10 分間お付き合いください。</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まずプロジェクトの全体像をお話しします。</a:t>
            </a:r>
            <a:endParaRPr lang="en-US" dirty="0"/>
          </a:p>
          <a:p/>
          <a:p>
            <a:r>
              <a:t>技術スタックは Next.js 15、React 19、TypeScript、Tailwind CSS。最新の組み合わせで作っています。</a:t>
            </a:r>
          </a:p>
          <a:p/>
          <a:p>
            <a:r>
              <a:t>実装したページは 5 つ。ホーム、会社案内、採用情報、お問い合わせ、プライバシーポリシーです。お問い合わせと採用エントリーは、それぞれ入力 → 確認 → 完了の 3 段階フローを用意しています。</a:t>
            </a:r>
          </a:p>
          <a:p/>
          <a:p>
            <a:r>
              <a:t>そして今日特にアピールしたいのが右端の 4 つ。セキュリティ、スマホ UX、アニメーション、そして日英の国際化です。この後のスライドで、それぞれ詳しくお話しします。</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まずデザイン面の工夫からです。</a:t>
            </a:r>
            <a:endParaRPr lang="en-US" dirty="0"/>
          </a:p>
          <a:p/>
          <a:p>
            <a:r>
              <a:t>左側、テーマカラーの集中管理。黄色のプライマリ、ダークスレートのアクセント、ベージュの背景。この 3 色を globals.css の 1 ファイルに CSS 変数として集約しています。</a:t>
            </a:r>
          </a:p>
          <a:p/>
          <a:p>
            <a:r>
              <a:t>そして Tailwind の設定でこの変数を参照することで、画面下の `--color-primary` という 1 行を変えるだけで、サイト全体のボタン・下線・ホバー枠線がすべて連動して切り替わる構造です。</a:t>
            </a:r>
          </a:p>
          <a:p/>
          <a:p>
            <a:r>
              <a:t>右側のレイアウトの軸では、ヘッダーバナーから集合写真、各セクションへ続く流れを全ページで統一しています。それから「英字ラベル＋日本語見出し＋説明」という 3 段構成を SectionTitle というコンポーネントとして共通化しています。</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ここからはアピールポイントです。まずスマートフォン対応について。</a:t>
            </a:r>
            <a:endParaRPr lang="en-US" dirty="0"/>
          </a:p>
          <a:p/>
          <a:p>
            <a:r>
              <a:t>左上、モバイルファースト設計。Tailwind では sm: md: lg: のようなブレークポイント記法を使いますが、これは「大画面で上書きする」という意味です。つまり既定値は必ずスマホ前提で書く。これで「PC では綺麗だがスマホで崩れる」という事故を構造的に防いでいます。</a:t>
            </a:r>
          </a:p>
          <a:p/>
          <a:p>
            <a:r>
              <a:t>右上、ドロワーメニュー。ハンバーガーボタンを押すと右からスライドインします。閉じる方法を 3 つ用意していて、ESC キー、外側クリック、そしてページ遷移したら自動で閉じます。</a:t>
            </a:r>
          </a:p>
          <a:p/>
          <a:p>
            <a:r>
              <a:t>左下、body スクロール固定。ドロワーを開いている間、背景のページが一緒にスクロールしないように body の overflow を hidden にしています。閉じたら必ず元の値に戻す。これで UX が安定します。</a:t>
            </a:r>
          </a:p>
          <a:p/>
          <a:p>
            <a:r>
              <a:t>右下、画像の拡大表示。アクセス情報の写真などをタップすると拡大できる ZoomableImage コンポーネントを作りました。再利用できる作りにしているので、他のページでも簡単に拡大対応が追加できます。</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次にアニメーションです。</a:t>
            </a:r>
            <a:endParaRPr lang="en-US" dirty="0"/>
          </a:p>
          <a:p/>
          <a:p>
            <a:r>
              <a:t>左側、Reveal というコンポーネントを自作しました。要素が画面に入ってきたタイミングで、ふわっと出現します。仕組みは IntersectionObserver というブラウザ API を使い、スクロール量を監視して、要素が画面に入ったら CSS アニメーションを発火させる、というものです。</a:t>
            </a:r>
          </a:p>
          <a:p/>
          <a:p>
            <a:r>
              <a:t>下の黒い帯が今回のキーポイントです。最初の実装では Reveal を 20 個使うと Observer も 20 個できていました。これを共有方式に変更し、1 ページに何個 Reveal があっても Observer は 1 個で済むようにしました。これでメモリと CPU の消費を大きく削減しています。</a:t>
            </a:r>
          </a:p>
          <a:p/>
          <a:p>
            <a:r>
              <a:t>バリエーションは 6 種類。フェードアップ、フェード、スケール、左右のスライドなど、用途に応じて使い分けています。</a:t>
            </a:r>
          </a:p>
          <a:p/>
          <a:p>
            <a:r>
              <a:t>右側はコンテンツ別の演出例です。ヒーローは右からスライド、特徴カードはスタッガーで順番に出現、写真バンドは無限マーキー、というように、それぞれの見せ場に合わせて動きを変えています。</a:t>
            </a:r>
          </a:p>
          <a:p/>
          <a:p>
            <a:r>
              <a:t>最後の reduced-motion 対応。OS の「動きを減らす」設定をオンにしている人には、アニメーションを止めて即時表示するようにしています。アクセシビリティへの配慮です。</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ここからはセキュリティの工夫です。3 つの軸で多層防御を組みました。</a:t>
            </a:r>
            <a:endParaRPr lang="en-US" dirty="0"/>
          </a:p>
          <a:p/>
          <a:p>
            <a:r>
              <a:t>1 つ目、入り口で防ぐ。HTTP レスポンスヘッダで多層防御しています。今回新たに Content-Security-Policy、いわゆる CSP を追加し、XSS とクリックジャッキングの強力な防御層を作りました。さらに Cross-Origin-Opener-Policy も追加し、別オリジンとの分離も徹底しています。HSTS や Permissions-Policy も併用しています。</a:t>
            </a:r>
          </a:p>
          <a:p/>
          <a:p>
            <a:r>
              <a:t>2 つ目、中身を確認する。PDF の 3 層検証に加えて、今回 API エンドポイントに Origin と Referer の検証を追加。これは CSRF 対策です。さらに POST 以外の HTTP メソッドは全て 405 で拒否するようにしました。郵便番号 API への通信も、入力を 7 桁数字に厳格に正規化し、5 秒のタイムアウトを設定して SSRF 攻撃を防いでいます。</a:t>
            </a:r>
          </a:p>
          <a:p/>
          <a:p>
            <a:r>
              <a:t>3 つ目、露出を減らす。X-Powered-By や本番ソースマップは元から削除済みですが、今回新たにエラー画面でスタックトレースが出ないようにしました。また、API は noindex と no-store を強制して、検索エンジンのキャッシュにも残らないようにしています。</a:t>
            </a:r>
          </a:p>
          <a:p/>
          <a:p>
            <a:r>
              <a:t>次のスライドで、特にアピールしたい PDF 検証と API 強化の詳細をお話しします。</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履歴書 PDF の検証と、API 全体のハードニングです。</a:t>
            </a:r>
            <a:endParaRPr lang="en-US" dirty="0"/>
          </a:p>
          <a:p/>
          <a:p>
            <a:r>
              <a:t>上の 3 枚のカード。PDF は単純に「拡張子が pdf」だけでは安全ではありません。拡張子だけ書き換えた exe ファイルを送りつけられてしまいます。なので 3 層で確認します。01 拡張子、02 MIME タイプ、そして 03 マジックバイト。マジックバイトはファイルの先頭 5 バイトが「%PDF-」になっているかを確認するもので、PDF 仕様で必ず先頭に書かれている署名なので偽装が事実上不可能です。</a:t>
            </a:r>
          </a:p>
          <a:p/>
          <a:p>
            <a:r>
              <a:t>そして真ん中の黄色いバーで囲まれたセクション。今回の補強で API 層に追加した防御です。</a:t>
            </a:r>
          </a:p>
          <a:p/>
          <a:p>
            <a:r>
              <a:t>5 つのバッジを順に。1 つ目、Origin と Referer の検証で CSRF 攻撃を防ぎます。2 つ目、POST 以外のメソッドは 405 で拒否。3 つ目、CORS ヘッダを意図的に返さないことで、ブラウザ側がクロスオリジンリクエストをブロックします。4 つ目、Cache-Control no-store でレスポンスをキャッシュさせない。5 つ目、X-Robots-Tag noindex で検索エンジンに拾わせない。</a:t>
            </a:r>
          </a:p>
          <a:p/>
          <a:p>
            <a:r>
              <a:t>そして下の黒い帯がポイントです。クライアントの JavaScript 検証は開発者ツールで簡単に迂回できるので、必ずサーバ側で同じ検証を強制する。これが API セキュリティの基本です。</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そして今回、提示された 88 項目の脆弱性チェックリストを全項目照合し、対応状況を整理しました。</a:t>
            </a:r>
            <a:endParaRPr lang="en-US" dirty="0"/>
          </a:p>
          <a:p/>
          <a:p>
            <a:r>
              <a:t>左側の大きな 88。これが今回照合した項目数です。OWASP 系のチェックリストで、Critical から Info まで全レベル網羅されています。</a:t>
            </a:r>
          </a:p>
          <a:p/>
          <a:p>
            <a:r>
              <a:t>右側 3 つに分類しました。</a:t>
            </a:r>
          </a:p>
          <a:p/>
          <a:p>
            <a:r>
              <a:t>対応済が約 26 項目。CSP・HSTS・XFO といったヘッダ群、PDF 3 層検証、CSRF 対策、SSRF 対策、エラー保護など。本サイトに該当する全項目に対応しています。</a:t>
            </a:r>
          </a:p>
          <a:p/>
          <a:p>
            <a:r>
              <a:t>非該当が約 56 項目。これが多いのですが、本サイトはデータベースなし、認証機能なし、JWT なし、管理画面なし、ユーザ管理 Cookie なし、というシンプル構成のため、それらに関連する項目は構造的に発生不可能です。例えば SQL インジェクションは DB クエリ自体が無いので原理的に成立しない、といった具合です。</a:t>
            </a:r>
          </a:p>
          <a:p/>
          <a:p>
            <a:r>
              <a:t>運用補完が約 6 項目。これは WAF、npm audit の CI 統合、アンチウイルススキャン、レート制限など。アプリ層ではなくインフラ・運用層で実施すべきものです。</a:t>
            </a:r>
          </a:p>
          <a:p/>
          <a:p>
            <a:r>
              <a:t>このように、構造で防ぐ部分、コードで防ぐ部分、運用で防ぐ部分、を明確に分けて対策しています。</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ここからは技術寄りの話を 3 つご紹介します。</a:t>
            </a:r>
            <a:endParaRPr lang="en-US" dirty="0"/>
          </a:p>
          <a:p/>
          <a:p>
            <a:r>
              <a:t>まずは先ほどのテーマカラーの裏側を、もう少し具体的に。左側のコードのとおり、globals.css の :root に CSS 変数を定義します。そして tailwind.config.ts で「primary は var(--color-primary) を参照する」と橋渡しします。</a:t>
            </a:r>
          </a:p>
          <a:p/>
          <a:p>
            <a:r>
              <a:t>これだけで、Tailwind のクラス bg-primary や text-accent が常に CSS 変数経由で色を取得するようになります。</a:t>
            </a:r>
          </a:p>
          <a:p/>
          <a:p>
            <a:r>
              <a:t>右側に書いたように、1 箇所変えれば全部変わる。ダークモード化もこの仕組みでファイル 1 つの編集で完結します。色の管理コストを大幅に減らせる設計です。</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次に日英切替、i18n の仕組みです。</a:t>
            </a:r>
            <a:endParaRPr lang="en-US" dirty="0"/>
          </a:p>
          <a:p/>
          <a:p>
            <a:r>
              <a:t>サイト全体の言語切替を 1 ボタンで実現しています。右上の JP/EN ボタンを押すと、React の Context が状態を更新し、useLanguage フックを使っているすべてのコンポーネントが反応して、ラベル・本文・画像 alt まで一斉に切り替わります。</a:t>
            </a:r>
          </a:p>
          <a:p/>
          <a:p>
            <a:r>
              <a:t>特徴は 4 つ。Localized&lt;T&gt; という型を作り、UI 文言もデータも同じ仕組みで管理しています。英語表示時はふりがな欄を自動的に非表示にする工夫も入れています。ブラウザの言語設定が英語なら初期表示も英語に。そして localStorage に保存することで、次回訪問時も選択した言語を維持します。</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最後にパフォーマンス最適化です。</a:t>
            </a:r>
            <a:endParaRPr lang="en-US" dirty="0"/>
          </a:p>
          <a:p/>
          <a:p>
            <a:r>
              <a:t>6 つの工夫を組み合わせています。画像は next/image で AVIF や WebP に自動変換。Reveal の Observer は共有方式で 20 個から 1 個に集約。安全網タイマーも 3 秒から 1.5 秒に短縮。ナビゲーション配列は定数化して毎レンダーで再生成されないように。外部 API への DNS プリフェッチで接続を早期化。フォームの文言バンドルは useMemo でキャッシュ。</a:t>
            </a:r>
          </a:p>
          <a:p/>
          <a:p>
            <a:r>
              <a:t>これらの複合効果で、Google Core Web Vitals の LCP すなわち体感速度と、CPU 消費の両面を改善しています。</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まとめです。</a:t>
            </a:r>
            <a:endParaRPr lang="en-US" dirty="0"/>
          </a:p>
          <a:p/>
          <a:p>
            <a:r>
              <a:t>このサイトは 5 つの軸で作りました。</a:t>
            </a:r>
          </a:p>
          <a:p>
            <a:r>
              <a:t>セキュリティでは 88 項目の監査に対応し、CSP・PDF 3層検証・CSRF・SSRF まで多層防御。モバイル UX・アニメーション・国際化・性能も合わせて高水準で実装しています。</a:t>
            </a:r>
          </a:p>
          <a:p/>
          <a:p>
            <a:r>
              <a:t>今回の発表では、特にセキュリティ・モバイル・アニメーションの 3 つを深掘りしてご紹介しました。これらが組み合わさることで、安全で、どの端末でも見やすく、そして気持ちのよい操作感のあるコーポレートサイトに仕上がっています。</a:t>
            </a:r>
          </a:p>
          <a:p/>
          <a:p>
            <a:r>
              <a:t>ご清聴ありがとうございました。ご質問をお受けします。</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EBC528"/>
          </a:solidFill>
          <a:ln/>
        </p:spPr>
      </p:sp>
      <p:sp>
        <p:nvSpPr>
          <p:cNvPr id="3" name="Text 1"/>
          <p:cNvSpPr/>
          <p:nvPr/>
        </p:nvSpPr>
        <p:spPr>
          <a:xfrm>
            <a:off x="1097280" y="1645920"/>
            <a:ext cx="10058400" cy="457200"/>
          </a:xfrm>
          <a:prstGeom prst="rect">
            <a:avLst/>
          </a:prstGeom>
          <a:noFill/>
          <a:ln/>
        </p:spPr>
        <p:txBody>
          <a:bodyPr wrap="square" lIns="0" tIns="0" rIns="0" bIns="0" rtlCol="0" anchor="ctr"/>
          <a:lstStyle/>
          <a:p>
            <a:pPr indent="0" marL="0">
              <a:buNone/>
            </a:pPr>
            <a:r>
              <a:rPr lang="en-US" sz="1400" b="1" spc="800" kern="0" dirty="0">
                <a:solidFill>
                  <a:srgbClr val="EBC528"/>
                </a:solidFill>
                <a:latin typeface="Yu Gothic" pitchFamily="34" charset="0"/>
                <a:ea typeface="Yu Gothic" pitchFamily="34" charset="-122"/>
                <a:cs typeface="Yu Gothic" pitchFamily="34" charset="-120"/>
              </a:rPr>
              <a:t>CORPORATE WEBSITE PITCH</a:t>
            </a:r>
            <a:endParaRPr lang="en-US" sz="1400" dirty="0"/>
          </a:p>
        </p:txBody>
      </p:sp>
      <p:sp>
        <p:nvSpPr>
          <p:cNvPr id="4" name="Text 2"/>
          <p:cNvSpPr/>
          <p:nvPr/>
        </p:nvSpPr>
        <p:spPr>
          <a:xfrm>
            <a:off x="1097280" y="2194560"/>
            <a:ext cx="10058400" cy="1005840"/>
          </a:xfrm>
          <a:prstGeom prst="rect">
            <a:avLst/>
          </a:prstGeom>
          <a:noFill/>
          <a:ln/>
        </p:spPr>
        <p:txBody>
          <a:bodyPr wrap="square" lIns="0" tIns="0" rIns="0" bIns="0" rtlCol="0" anchor="ctr"/>
          <a:lstStyle/>
          <a:p>
            <a:pPr indent="0" marL="0">
              <a:buNone/>
            </a:pPr>
            <a:r>
              <a:rPr lang="en-US" sz="4800" b="1" dirty="0">
                <a:solidFill>
                  <a:srgbClr val="FFFFFF"/>
                </a:solidFill>
                <a:latin typeface="Yu Gothic" pitchFamily="34" charset="0"/>
                <a:ea typeface="Yu Gothic" pitchFamily="34" charset="-122"/>
                <a:cs typeface="Yu Gothic" pitchFamily="34" charset="-120"/>
              </a:rPr>
              <a:t>コーポレートサイト構築</a:t>
            </a:r>
            <a:endParaRPr lang="en-US" sz="4800" dirty="0"/>
          </a:p>
        </p:txBody>
      </p:sp>
      <p:sp>
        <p:nvSpPr>
          <p:cNvPr id="5" name="Text 3"/>
          <p:cNvSpPr/>
          <p:nvPr/>
        </p:nvSpPr>
        <p:spPr>
          <a:xfrm>
            <a:off x="1097280" y="3291840"/>
            <a:ext cx="10058400" cy="548640"/>
          </a:xfrm>
          <a:prstGeom prst="rect">
            <a:avLst/>
          </a:prstGeom>
          <a:noFill/>
          <a:ln/>
        </p:spPr>
        <p:txBody>
          <a:bodyPr wrap="square" lIns="0" tIns="0" rIns="0" bIns="0" rtlCol="0" anchor="ctr"/>
          <a:lstStyle/>
          <a:p>
            <a:pPr indent="0" marL="0">
              <a:buNone/>
            </a:pPr>
            <a:r>
              <a:rPr lang="en-US" sz="2200" dirty="0">
                <a:solidFill>
                  <a:srgbClr val="FFFFFF"/>
                </a:solidFill>
                <a:latin typeface="Yu Gothic" pitchFamily="34" charset="0"/>
                <a:ea typeface="Yu Gothic" pitchFamily="34" charset="-122"/>
                <a:cs typeface="Yu Gothic" pitchFamily="34" charset="-120"/>
              </a:rPr>
              <a:t>セキュリティ・モバイル・アニメーションを軸にした実装</a:t>
            </a:r>
            <a:endParaRPr lang="en-US" sz="2200" dirty="0"/>
          </a:p>
        </p:txBody>
      </p:sp>
      <p:sp>
        <p:nvSpPr>
          <p:cNvPr id="6" name="Shape 4"/>
          <p:cNvSpPr/>
          <p:nvPr/>
        </p:nvSpPr>
        <p:spPr>
          <a:xfrm>
            <a:off x="1097280" y="4114800"/>
            <a:ext cx="1463040" cy="45720"/>
          </a:xfrm>
          <a:prstGeom prst="rect">
            <a:avLst/>
          </a:prstGeom>
          <a:solidFill>
            <a:srgbClr val="EBC528"/>
          </a:solidFill>
          <a:ln/>
        </p:spPr>
      </p:sp>
      <p:sp>
        <p:nvSpPr>
          <p:cNvPr id="7" name="Text 5"/>
          <p:cNvSpPr/>
          <p:nvPr/>
        </p:nvSpPr>
        <p:spPr>
          <a:xfrm>
            <a:off x="1097280" y="4297680"/>
            <a:ext cx="10058400" cy="365760"/>
          </a:xfrm>
          <a:prstGeom prst="rect">
            <a:avLst/>
          </a:prstGeom>
          <a:noFill/>
          <a:ln/>
        </p:spPr>
        <p:txBody>
          <a:bodyPr wrap="square" lIns="0" tIns="0" rIns="0" bIns="0" rtlCol="0" anchor="ctr"/>
          <a:lstStyle/>
          <a:p>
            <a:pPr indent="0" marL="0">
              <a:buNone/>
            </a:pPr>
            <a:r>
              <a:rPr lang="en-US" sz="1400" dirty="0">
                <a:solidFill>
                  <a:srgbClr val="CBD5E1"/>
                </a:solidFill>
                <a:latin typeface="Yu Gothic" pitchFamily="34" charset="0"/>
                <a:ea typeface="Yu Gothic" pitchFamily="34" charset="-122"/>
                <a:cs typeface="Yu Gothic" pitchFamily="34" charset="-120"/>
              </a:rPr>
              <a:t>Next.js 15 + React 19 + TypeScript + Tailwind CSS</a:t>
            </a:r>
            <a:endParaRPr lang="en-US" sz="1400" dirty="0"/>
          </a:p>
        </p:txBody>
      </p:sp>
      <p:sp>
        <p:nvSpPr>
          <p:cNvPr id="8" name="Text 6"/>
          <p:cNvSpPr/>
          <p:nvPr/>
        </p:nvSpPr>
        <p:spPr>
          <a:xfrm>
            <a:off x="1097280" y="4846320"/>
            <a:ext cx="10058400" cy="365760"/>
          </a:xfrm>
          <a:prstGeom prst="rect">
            <a:avLst/>
          </a:prstGeom>
          <a:noFill/>
          <a:ln/>
        </p:spPr>
        <p:txBody>
          <a:bodyPr wrap="square" lIns="0" tIns="0" rIns="0" bIns="0" rtlCol="0" anchor="ctr"/>
          <a:lstStyle/>
          <a:p>
            <a:pPr indent="0" marL="0">
              <a:buNone/>
            </a:pPr>
            <a:r>
              <a:rPr lang="en-US" sz="1400" dirty="0">
                <a:solidFill>
                  <a:srgbClr val="CBD5E1"/>
                </a:solidFill>
                <a:latin typeface="Yu Gothic" pitchFamily="34" charset="0"/>
                <a:ea typeface="Yu Gothic" pitchFamily="34" charset="-122"/>
                <a:cs typeface="Yu Gothic" pitchFamily="34" charset="-120"/>
              </a:rPr>
              <a:t>10 分のプレゼンテーション</a:t>
            </a:r>
            <a:endParaRPr lang="en-US" sz="1400" dirty="0"/>
          </a:p>
        </p:txBody>
      </p:sp>
      <p:sp>
        <p:nvSpPr>
          <p:cNvPr id="9" name="Text 7"/>
          <p:cNvSpPr/>
          <p:nvPr/>
        </p:nvSpPr>
        <p:spPr>
          <a:xfrm>
            <a:off x="1097280" y="5943600"/>
            <a:ext cx="5486400" cy="365760"/>
          </a:xfrm>
          <a:prstGeom prst="rect">
            <a:avLst/>
          </a:prstGeom>
          <a:noFill/>
          <a:ln/>
        </p:spPr>
        <p:txBody>
          <a:bodyPr wrap="square" lIns="0" tIns="0" rIns="0" bIns="0" rtlCol="0" anchor="ctr"/>
          <a:lstStyle/>
          <a:p>
            <a:pPr indent="0" marL="0">
              <a:buNone/>
            </a:pPr>
            <a:r>
              <a:rPr lang="en-US" sz="1200" dirty="0">
                <a:solidFill>
                  <a:srgbClr val="94A3B8"/>
                </a:solidFill>
                <a:latin typeface="Yu Gothic" pitchFamily="34" charset="0"/>
                <a:ea typeface="Yu Gothic" pitchFamily="34" charset="-122"/>
                <a:cs typeface="Yu Gothic" pitchFamily="34" charset="-120"/>
              </a:rPr>
              <a:t>株式会社ライトパス</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164592" cy="164592"/>
          </a:xfrm>
          <a:prstGeom prst="rect">
            <a:avLst/>
          </a:prstGeom>
          <a:solidFill>
            <a:srgbClr val="EBC528"/>
          </a:solidFill>
          <a:ln/>
        </p:spPr>
      </p:sp>
      <p:sp>
        <p:nvSpPr>
          <p:cNvPr id="3" name="Text 1"/>
          <p:cNvSpPr/>
          <p:nvPr/>
        </p:nvSpPr>
        <p:spPr>
          <a:xfrm>
            <a:off x="777240" y="365760"/>
            <a:ext cx="7315200" cy="365760"/>
          </a:xfrm>
          <a:prstGeom prst="rect">
            <a:avLst/>
          </a:prstGeom>
          <a:noFill/>
          <a:ln/>
        </p:spPr>
        <p:txBody>
          <a:bodyPr wrap="square" lIns="0" tIns="0" rIns="0" bIns="0" rtlCol="0" anchor="ctr"/>
          <a:lstStyle/>
          <a:p>
            <a:pPr indent="0" marL="0">
              <a:buNone/>
            </a:pPr>
            <a:r>
              <a:rPr lang="en-US" sz="1100" b="1" spc="400" kern="0" dirty="0">
                <a:solidFill>
                  <a:srgbClr val="64748B"/>
                </a:solidFill>
                <a:latin typeface="Yu Gothic" pitchFamily="34" charset="0"/>
                <a:ea typeface="Yu Gothic" pitchFamily="34" charset="-122"/>
                <a:cs typeface="Yu Gothic" pitchFamily="34" charset="-120"/>
              </a:rPr>
              <a:t>01  OVERVIEW</a:t>
            </a:r>
            <a:endParaRPr lang="en-US" sz="1100" dirty="0"/>
          </a:p>
        </p:txBody>
      </p:sp>
      <p:sp>
        <p:nvSpPr>
          <p:cNvPr id="4" name="Text 2"/>
          <p:cNvSpPr/>
          <p:nvPr/>
        </p:nvSpPr>
        <p:spPr>
          <a:xfrm>
            <a:off x="548640" y="713232"/>
            <a:ext cx="10972800" cy="594360"/>
          </a:xfrm>
          <a:prstGeom prst="rect">
            <a:avLst/>
          </a:prstGeom>
          <a:noFill/>
          <a:ln/>
        </p:spPr>
        <p:txBody>
          <a:bodyPr wrap="square" lIns="0" tIns="0" rIns="0" bIns="0" rtlCol="0" anchor="ctr"/>
          <a:lstStyle/>
          <a:p>
            <a:pPr indent="0" marL="0">
              <a:buNone/>
            </a:pPr>
            <a:r>
              <a:rPr lang="en-US" sz="2400" b="1" dirty="0">
                <a:solidFill>
                  <a:srgbClr val="0F172A"/>
                </a:solidFill>
                <a:latin typeface="Yu Gothic" pitchFamily="34" charset="0"/>
                <a:ea typeface="Yu Gothic" pitchFamily="34" charset="-122"/>
                <a:cs typeface="Yu Gothic" pitchFamily="34" charset="-120"/>
              </a:rPr>
              <a:t>プロジェクト概要</a:t>
            </a:r>
            <a:endParaRPr lang="en-US" sz="2400" dirty="0"/>
          </a:p>
        </p:txBody>
      </p:sp>
      <p:sp>
        <p:nvSpPr>
          <p:cNvPr id="5" name="Shape 3"/>
          <p:cNvSpPr/>
          <p:nvPr/>
        </p:nvSpPr>
        <p:spPr>
          <a:xfrm>
            <a:off x="548640" y="1417320"/>
            <a:ext cx="11064240" cy="868680"/>
          </a:xfrm>
          <a:prstGeom prst="rect">
            <a:avLst/>
          </a:prstGeom>
          <a:solidFill>
            <a:srgbClr val="F8FAFC"/>
          </a:solidFill>
          <a:ln w="6350">
            <a:solidFill>
              <a:srgbClr val="E2E8F0"/>
            </a:solidFill>
            <a:prstDash val="solid"/>
          </a:ln>
        </p:spPr>
      </p:sp>
      <p:sp>
        <p:nvSpPr>
          <p:cNvPr id="6" name="Shape 4"/>
          <p:cNvSpPr/>
          <p:nvPr/>
        </p:nvSpPr>
        <p:spPr>
          <a:xfrm>
            <a:off x="548640" y="1417320"/>
            <a:ext cx="109728" cy="868680"/>
          </a:xfrm>
          <a:prstGeom prst="rect">
            <a:avLst/>
          </a:prstGeom>
          <a:solidFill>
            <a:srgbClr val="EBC528"/>
          </a:solidFill>
          <a:ln/>
        </p:spPr>
      </p:sp>
      <p:sp>
        <p:nvSpPr>
          <p:cNvPr id="7" name="Text 5"/>
          <p:cNvSpPr/>
          <p:nvPr/>
        </p:nvSpPr>
        <p:spPr>
          <a:xfrm>
            <a:off x="822960" y="1508760"/>
            <a:ext cx="868680" cy="274320"/>
          </a:xfrm>
          <a:prstGeom prst="rect">
            <a:avLst/>
          </a:prstGeom>
          <a:noFill/>
          <a:ln/>
        </p:spPr>
        <p:txBody>
          <a:bodyPr wrap="square" lIns="0" tIns="0" rIns="0" bIns="0" rtlCol="0" anchor="ctr"/>
          <a:lstStyle/>
          <a:p>
            <a:pPr indent="0" marL="0">
              <a:buNone/>
            </a:pPr>
            <a:r>
              <a:rPr lang="en-US" sz="1000" b="1" spc="600" kern="0" dirty="0">
                <a:solidFill>
                  <a:srgbClr val="0F172A"/>
                </a:solidFill>
                <a:latin typeface="Yu Gothic" pitchFamily="34" charset="0"/>
                <a:ea typeface="Yu Gothic" pitchFamily="34" charset="-122"/>
                <a:cs typeface="Yu Gothic" pitchFamily="34" charset="-120"/>
              </a:rPr>
              <a:t>POINT</a:t>
            </a:r>
            <a:endParaRPr lang="en-US" sz="1000" dirty="0"/>
          </a:p>
        </p:txBody>
      </p:sp>
      <p:sp>
        <p:nvSpPr>
          <p:cNvPr id="8" name="Shape 6"/>
          <p:cNvSpPr/>
          <p:nvPr/>
        </p:nvSpPr>
        <p:spPr>
          <a:xfrm>
            <a:off x="1828800" y="1618488"/>
            <a:ext cx="164592" cy="164592"/>
          </a:xfrm>
          <a:prstGeom prst="ellipse">
            <a:avLst/>
          </a:prstGeom>
          <a:solidFill>
            <a:srgbClr val="EBC528"/>
          </a:solidFill>
          <a:ln/>
        </p:spPr>
      </p:sp>
      <p:sp>
        <p:nvSpPr>
          <p:cNvPr id="9" name="Text 7"/>
          <p:cNvSpPr/>
          <p:nvPr/>
        </p:nvSpPr>
        <p:spPr>
          <a:xfrm>
            <a:off x="2103120" y="1508760"/>
            <a:ext cx="9418320" cy="411480"/>
          </a:xfrm>
          <a:prstGeom prst="rect">
            <a:avLst/>
          </a:prstGeom>
          <a:noFill/>
          <a:ln/>
        </p:spPr>
        <p:txBody>
          <a:bodyPr wrap="square" lIns="0" tIns="0" rIns="0" bIns="0" rtlCol="0" anchor="ctr"/>
          <a:lstStyle/>
          <a:p>
            <a:pPr indent="0" marL="0">
              <a:buNone/>
            </a:pPr>
            <a:r>
              <a:rPr lang="en-US" sz="1400" b="1" dirty="0">
                <a:solidFill>
                  <a:srgbClr val="0F172A"/>
                </a:solidFill>
                <a:latin typeface="Yu Gothic" pitchFamily="34" charset="0"/>
                <a:ea typeface="Yu Gothic" pitchFamily="34" charset="-122"/>
                <a:cs typeface="Yu Gothic" pitchFamily="34" charset="-120"/>
              </a:rPr>
              <a:t>Next.js 15 + React 19 + TypeScript で 5 ページをフルスクラッチ実装</a:t>
            </a:r>
            <a:endParaRPr lang="en-US" sz="1400" dirty="0"/>
          </a:p>
        </p:txBody>
      </p:sp>
      <p:sp>
        <p:nvSpPr>
          <p:cNvPr id="10" name="Shape 8"/>
          <p:cNvSpPr/>
          <p:nvPr/>
        </p:nvSpPr>
        <p:spPr>
          <a:xfrm>
            <a:off x="1828800" y="1961388"/>
            <a:ext cx="164592" cy="164592"/>
          </a:xfrm>
          <a:prstGeom prst="ellipse">
            <a:avLst/>
          </a:prstGeom>
          <a:solidFill>
            <a:srgbClr val="EBC528"/>
          </a:solidFill>
          <a:ln/>
        </p:spPr>
      </p:sp>
      <p:sp>
        <p:nvSpPr>
          <p:cNvPr id="11" name="Text 9"/>
          <p:cNvSpPr/>
          <p:nvPr/>
        </p:nvSpPr>
        <p:spPr>
          <a:xfrm>
            <a:off x="2103120" y="1851660"/>
            <a:ext cx="9418320" cy="411480"/>
          </a:xfrm>
          <a:prstGeom prst="rect">
            <a:avLst/>
          </a:prstGeom>
          <a:noFill/>
          <a:ln/>
        </p:spPr>
        <p:txBody>
          <a:bodyPr wrap="square" lIns="0" tIns="0" rIns="0" bIns="0" rtlCol="0" anchor="ctr"/>
          <a:lstStyle/>
          <a:p>
            <a:pPr indent="0" marL="0">
              <a:buNone/>
            </a:pPr>
            <a:r>
              <a:rPr lang="en-US" sz="1400" b="1" dirty="0">
                <a:solidFill>
                  <a:srgbClr val="0F172A"/>
                </a:solidFill>
                <a:latin typeface="Yu Gothic" pitchFamily="34" charset="0"/>
                <a:ea typeface="Yu Gothic" pitchFamily="34" charset="-122"/>
                <a:cs typeface="Yu Gothic" pitchFamily="34" charset="-120"/>
              </a:rPr>
              <a:t>セキュリティ・モバイル UX・アニメーション・国際化を単一コードベースで両立</a:t>
            </a:r>
            <a:endParaRPr lang="en-US" sz="1400" dirty="0"/>
          </a:p>
        </p:txBody>
      </p:sp>
      <p:sp>
        <p:nvSpPr>
          <p:cNvPr id="12" name="Shape 10"/>
          <p:cNvSpPr/>
          <p:nvPr/>
        </p:nvSpPr>
        <p:spPr>
          <a:xfrm>
            <a:off x="548640" y="2697480"/>
            <a:ext cx="3566160" cy="3520440"/>
          </a:xfrm>
          <a:prstGeom prst="rect">
            <a:avLst/>
          </a:prstGeom>
          <a:solidFill>
            <a:srgbClr val="F8FAFC"/>
          </a:solidFill>
          <a:ln w="6350">
            <a:solidFill>
              <a:srgbClr val="E2E8F0"/>
            </a:solidFill>
            <a:prstDash val="solid"/>
          </a:ln>
        </p:spPr>
      </p:sp>
      <p:sp>
        <p:nvSpPr>
          <p:cNvPr id="13" name="Shape 11"/>
          <p:cNvSpPr/>
          <p:nvPr/>
        </p:nvSpPr>
        <p:spPr>
          <a:xfrm>
            <a:off x="548640" y="2697480"/>
            <a:ext cx="3566160" cy="548640"/>
          </a:xfrm>
          <a:prstGeom prst="rect">
            <a:avLst/>
          </a:prstGeom>
          <a:solidFill>
            <a:srgbClr val="EBC528"/>
          </a:solidFill>
          <a:ln/>
        </p:spPr>
      </p:sp>
      <p:sp>
        <p:nvSpPr>
          <p:cNvPr id="14" name="Text 12"/>
          <p:cNvSpPr/>
          <p:nvPr/>
        </p:nvSpPr>
        <p:spPr>
          <a:xfrm>
            <a:off x="777240" y="2697480"/>
            <a:ext cx="3200400" cy="548640"/>
          </a:xfrm>
          <a:prstGeom prst="rect">
            <a:avLst/>
          </a:prstGeom>
          <a:noFill/>
          <a:ln/>
        </p:spPr>
        <p:txBody>
          <a:bodyPr wrap="square" lIns="0" tIns="0" rIns="0" bIns="0" rtlCol="0" anchor="ctr"/>
          <a:lstStyle/>
          <a:p>
            <a:pPr indent="0" marL="0">
              <a:buNone/>
            </a:pPr>
            <a:r>
              <a:rPr lang="en-US" sz="1600" b="1" dirty="0">
                <a:solidFill>
                  <a:srgbClr val="0F172A"/>
                </a:solidFill>
                <a:latin typeface="Yu Gothic" pitchFamily="34" charset="0"/>
                <a:ea typeface="Yu Gothic" pitchFamily="34" charset="-122"/>
                <a:cs typeface="Yu Gothic" pitchFamily="34" charset="-120"/>
              </a:rPr>
              <a:t>技術スタック</a:t>
            </a:r>
            <a:endParaRPr lang="en-US" sz="1600" dirty="0"/>
          </a:p>
        </p:txBody>
      </p:sp>
      <p:sp>
        <p:nvSpPr>
          <p:cNvPr id="15" name="Text 13"/>
          <p:cNvSpPr/>
          <p:nvPr/>
        </p:nvSpPr>
        <p:spPr>
          <a:xfrm>
            <a:off x="777240" y="3383280"/>
            <a:ext cx="3200400" cy="2743200"/>
          </a:xfrm>
          <a:prstGeom prst="rect">
            <a:avLst/>
          </a:prstGeom>
          <a:noFill/>
          <a:ln/>
        </p:spPr>
        <p:txBody>
          <a:bodyPr wrap="square" rtlCol="0" anchor="ctr"/>
          <a:lstStyle/>
          <a:p>
            <a:pPr marL="342900" indent="-342900">
              <a:spcAft>
                <a:spcPts val="1000"/>
              </a:spcAft>
              <a:buSzPct val="100000"/>
              <a:buChar char="•"/>
            </a:pPr>
            <a:r>
              <a:rPr lang="en-US" sz="1300" dirty="0">
                <a:solidFill>
                  <a:srgbClr val="1E293B"/>
                </a:solidFill>
                <a:latin typeface="Yu Gothic" pitchFamily="34" charset="0"/>
                <a:ea typeface="Yu Gothic" pitchFamily="34" charset="-122"/>
                <a:cs typeface="Yu Gothic" pitchFamily="34" charset="-120"/>
              </a:rPr>
              <a:t>Next.js 15 (App Router)</a:t>
            </a:r>
            <a:endParaRPr lang="en-US" sz="1300" dirty="0"/>
          </a:p>
          <a:p>
            <a:pPr marL="342900" indent="-342900">
              <a:spcAft>
                <a:spcPts val="1000"/>
              </a:spcAft>
              <a:buSzPct val="100000"/>
              <a:buChar char="•"/>
            </a:pPr>
            <a:r>
              <a:rPr lang="en-US" sz="1300" dirty="0">
                <a:solidFill>
                  <a:srgbClr val="1E293B"/>
                </a:solidFill>
                <a:latin typeface="Yu Gothic" pitchFamily="34" charset="0"/>
                <a:ea typeface="Yu Gothic" pitchFamily="34" charset="-122"/>
                <a:cs typeface="Yu Gothic" pitchFamily="34" charset="-120"/>
              </a:rPr>
              <a:t>React 19 / TypeScript</a:t>
            </a:r>
            <a:endParaRPr lang="en-US" sz="1300" dirty="0"/>
          </a:p>
          <a:p>
            <a:pPr marL="342900" indent="-342900">
              <a:spcAft>
                <a:spcPts val="1000"/>
              </a:spcAft>
              <a:buSzPct val="100000"/>
              <a:buChar char="•"/>
            </a:pPr>
            <a:r>
              <a:rPr lang="en-US" sz="1300" dirty="0">
                <a:solidFill>
                  <a:srgbClr val="1E293B"/>
                </a:solidFill>
                <a:latin typeface="Yu Gothic" pitchFamily="34" charset="0"/>
                <a:ea typeface="Yu Gothic" pitchFamily="34" charset="-122"/>
                <a:cs typeface="Yu Gothic" pitchFamily="34" charset="-120"/>
              </a:rPr>
              <a:t>Tailwind CSS 3.4</a:t>
            </a:r>
            <a:endParaRPr lang="en-US" sz="1300" dirty="0"/>
          </a:p>
          <a:p>
            <a:pPr marL="342900" indent="-342900">
              <a:spcAft>
                <a:spcPts val="1000"/>
              </a:spcAft>
              <a:buSzPct val="100000"/>
              <a:buChar char="•"/>
            </a:pPr>
            <a:r>
              <a:rPr lang="en-US" sz="1300" dirty="0">
                <a:solidFill>
                  <a:srgbClr val="1E293B"/>
                </a:solidFill>
                <a:latin typeface="Yu Gothic" pitchFamily="34" charset="0"/>
                <a:ea typeface="Yu Gothic" pitchFamily="34" charset="-122"/>
                <a:cs typeface="Yu Gothic" pitchFamily="34" charset="-120"/>
              </a:rPr>
              <a:t>CSS Variables でテーマ管理</a:t>
            </a:r>
            <a:endParaRPr lang="en-US" sz="1300" dirty="0"/>
          </a:p>
        </p:txBody>
      </p:sp>
      <p:sp>
        <p:nvSpPr>
          <p:cNvPr id="16" name="Shape 14"/>
          <p:cNvSpPr/>
          <p:nvPr/>
        </p:nvSpPr>
        <p:spPr>
          <a:xfrm>
            <a:off x="4343400" y="2697480"/>
            <a:ext cx="3566160" cy="3520440"/>
          </a:xfrm>
          <a:prstGeom prst="rect">
            <a:avLst/>
          </a:prstGeom>
          <a:solidFill>
            <a:srgbClr val="F8FAFC"/>
          </a:solidFill>
          <a:ln w="6350">
            <a:solidFill>
              <a:srgbClr val="E2E8F0"/>
            </a:solidFill>
            <a:prstDash val="solid"/>
          </a:ln>
        </p:spPr>
      </p:sp>
      <p:sp>
        <p:nvSpPr>
          <p:cNvPr id="17" name="Shape 15"/>
          <p:cNvSpPr/>
          <p:nvPr/>
        </p:nvSpPr>
        <p:spPr>
          <a:xfrm>
            <a:off x="4343400" y="2697480"/>
            <a:ext cx="3566160" cy="548640"/>
          </a:xfrm>
          <a:prstGeom prst="rect">
            <a:avLst/>
          </a:prstGeom>
          <a:solidFill>
            <a:srgbClr val="10B981"/>
          </a:solidFill>
          <a:ln/>
        </p:spPr>
      </p:sp>
      <p:sp>
        <p:nvSpPr>
          <p:cNvPr id="18" name="Text 16"/>
          <p:cNvSpPr/>
          <p:nvPr/>
        </p:nvSpPr>
        <p:spPr>
          <a:xfrm>
            <a:off x="4572000" y="2697480"/>
            <a:ext cx="3200400" cy="548640"/>
          </a:xfrm>
          <a:prstGeom prst="rect">
            <a:avLst/>
          </a:prstGeom>
          <a:noFill/>
          <a:ln/>
        </p:spPr>
        <p:txBody>
          <a:bodyPr wrap="square" lIns="0" tIns="0" rIns="0" bIns="0" rtlCol="0" anchor="ctr"/>
          <a:lstStyle/>
          <a:p>
            <a:pPr indent="0" marL="0">
              <a:buNone/>
            </a:pPr>
            <a:r>
              <a:rPr lang="en-US" sz="1600" b="1" dirty="0">
                <a:solidFill>
                  <a:srgbClr val="FFFFFF"/>
                </a:solidFill>
                <a:latin typeface="Yu Gothic" pitchFamily="34" charset="0"/>
                <a:ea typeface="Yu Gothic" pitchFamily="34" charset="-122"/>
                <a:cs typeface="Yu Gothic" pitchFamily="34" charset="-120"/>
              </a:rPr>
              <a:t>実装ページ</a:t>
            </a:r>
            <a:endParaRPr lang="en-US" sz="1600" dirty="0"/>
          </a:p>
        </p:txBody>
      </p:sp>
      <p:sp>
        <p:nvSpPr>
          <p:cNvPr id="19" name="Text 17"/>
          <p:cNvSpPr/>
          <p:nvPr/>
        </p:nvSpPr>
        <p:spPr>
          <a:xfrm>
            <a:off x="4572000" y="3383280"/>
            <a:ext cx="3200400" cy="2743200"/>
          </a:xfrm>
          <a:prstGeom prst="rect">
            <a:avLst/>
          </a:prstGeom>
          <a:noFill/>
          <a:ln/>
        </p:spPr>
        <p:txBody>
          <a:bodyPr wrap="square" rtlCol="0" anchor="ctr"/>
          <a:lstStyle/>
          <a:p>
            <a:pPr marL="342900" indent="-342900">
              <a:spcAft>
                <a:spcPts val="1000"/>
              </a:spcAft>
              <a:buSzPct val="100000"/>
              <a:buChar char="•"/>
            </a:pPr>
            <a:r>
              <a:rPr lang="en-US" sz="1300" dirty="0">
                <a:solidFill>
                  <a:srgbClr val="1E293B"/>
                </a:solidFill>
                <a:latin typeface="Yu Gothic" pitchFamily="34" charset="0"/>
                <a:ea typeface="Yu Gothic" pitchFamily="34" charset="-122"/>
                <a:cs typeface="Yu Gothic" pitchFamily="34" charset="-120"/>
              </a:rPr>
              <a:t>ホーム / 会社案内</a:t>
            </a:r>
            <a:endParaRPr lang="en-US" sz="1300" dirty="0"/>
          </a:p>
          <a:p>
            <a:pPr marL="342900" indent="-342900">
              <a:spcAft>
                <a:spcPts val="1000"/>
              </a:spcAft>
              <a:buSzPct val="100000"/>
              <a:buChar char="•"/>
            </a:pPr>
            <a:r>
              <a:rPr lang="en-US" sz="1300" dirty="0">
                <a:solidFill>
                  <a:srgbClr val="1E293B"/>
                </a:solidFill>
                <a:latin typeface="Yu Gothic" pitchFamily="34" charset="0"/>
                <a:ea typeface="Yu Gothic" pitchFamily="34" charset="-122"/>
                <a:cs typeface="Yu Gothic" pitchFamily="34" charset="-120"/>
              </a:rPr>
              <a:t>採用情報 (エントリーフォーム)</a:t>
            </a:r>
            <a:endParaRPr lang="en-US" sz="1300" dirty="0"/>
          </a:p>
          <a:p>
            <a:pPr marL="342900" indent="-342900">
              <a:spcAft>
                <a:spcPts val="1000"/>
              </a:spcAft>
              <a:buSzPct val="100000"/>
              <a:buChar char="•"/>
            </a:pPr>
            <a:r>
              <a:rPr lang="en-US" sz="1300" dirty="0">
                <a:solidFill>
                  <a:srgbClr val="1E293B"/>
                </a:solidFill>
                <a:latin typeface="Yu Gothic" pitchFamily="34" charset="0"/>
                <a:ea typeface="Yu Gothic" pitchFamily="34" charset="-122"/>
                <a:cs typeface="Yu Gothic" pitchFamily="34" charset="-120"/>
              </a:rPr>
              <a:t>お問い合わせ (3段階フロー)</a:t>
            </a:r>
            <a:endParaRPr lang="en-US" sz="1300" dirty="0"/>
          </a:p>
          <a:p>
            <a:pPr marL="342900" indent="-342900">
              <a:spcAft>
                <a:spcPts val="1000"/>
              </a:spcAft>
              <a:buSzPct val="100000"/>
              <a:buChar char="•"/>
            </a:pPr>
            <a:r>
              <a:rPr lang="en-US" sz="1300" dirty="0">
                <a:solidFill>
                  <a:srgbClr val="1E293B"/>
                </a:solidFill>
                <a:latin typeface="Yu Gothic" pitchFamily="34" charset="0"/>
                <a:ea typeface="Yu Gothic" pitchFamily="34" charset="-122"/>
                <a:cs typeface="Yu Gothic" pitchFamily="34" charset="-120"/>
              </a:rPr>
              <a:t>プライバシーポリシー</a:t>
            </a:r>
            <a:endParaRPr lang="en-US" sz="1300" dirty="0"/>
          </a:p>
        </p:txBody>
      </p:sp>
      <p:sp>
        <p:nvSpPr>
          <p:cNvPr id="20" name="Shape 18"/>
          <p:cNvSpPr/>
          <p:nvPr/>
        </p:nvSpPr>
        <p:spPr>
          <a:xfrm>
            <a:off x="8138160" y="2697480"/>
            <a:ext cx="3566160" cy="3520440"/>
          </a:xfrm>
          <a:prstGeom prst="rect">
            <a:avLst/>
          </a:prstGeom>
          <a:solidFill>
            <a:srgbClr val="F8FAFC"/>
          </a:solidFill>
          <a:ln w="6350">
            <a:solidFill>
              <a:srgbClr val="E2E8F0"/>
            </a:solidFill>
            <a:prstDash val="solid"/>
          </a:ln>
        </p:spPr>
      </p:sp>
      <p:sp>
        <p:nvSpPr>
          <p:cNvPr id="21" name="Shape 19"/>
          <p:cNvSpPr/>
          <p:nvPr/>
        </p:nvSpPr>
        <p:spPr>
          <a:xfrm>
            <a:off x="8138160" y="2697480"/>
            <a:ext cx="3566160" cy="548640"/>
          </a:xfrm>
          <a:prstGeom prst="rect">
            <a:avLst/>
          </a:prstGeom>
          <a:solidFill>
            <a:srgbClr val="EF4444"/>
          </a:solidFill>
          <a:ln/>
        </p:spPr>
      </p:sp>
      <p:sp>
        <p:nvSpPr>
          <p:cNvPr id="22" name="Text 20"/>
          <p:cNvSpPr/>
          <p:nvPr/>
        </p:nvSpPr>
        <p:spPr>
          <a:xfrm>
            <a:off x="8366760" y="2697480"/>
            <a:ext cx="3200400" cy="548640"/>
          </a:xfrm>
          <a:prstGeom prst="rect">
            <a:avLst/>
          </a:prstGeom>
          <a:noFill/>
          <a:ln/>
        </p:spPr>
        <p:txBody>
          <a:bodyPr wrap="square" lIns="0" tIns="0" rIns="0" bIns="0" rtlCol="0" anchor="ctr"/>
          <a:lstStyle/>
          <a:p>
            <a:pPr indent="0" marL="0">
              <a:buNone/>
            </a:pPr>
            <a:r>
              <a:rPr lang="en-US" sz="1600" b="1" dirty="0">
                <a:solidFill>
                  <a:srgbClr val="FFFFFF"/>
                </a:solidFill>
                <a:latin typeface="Yu Gothic" pitchFamily="34" charset="0"/>
                <a:ea typeface="Yu Gothic" pitchFamily="34" charset="-122"/>
                <a:cs typeface="Yu Gothic" pitchFamily="34" charset="-120"/>
              </a:rPr>
              <a:t>重点アピール</a:t>
            </a:r>
            <a:endParaRPr lang="en-US" sz="1600" dirty="0"/>
          </a:p>
        </p:txBody>
      </p:sp>
      <p:sp>
        <p:nvSpPr>
          <p:cNvPr id="23" name="Text 21"/>
          <p:cNvSpPr/>
          <p:nvPr/>
        </p:nvSpPr>
        <p:spPr>
          <a:xfrm>
            <a:off x="8366760" y="3383280"/>
            <a:ext cx="3200400" cy="2743200"/>
          </a:xfrm>
          <a:prstGeom prst="rect">
            <a:avLst/>
          </a:prstGeom>
          <a:noFill/>
          <a:ln/>
        </p:spPr>
        <p:txBody>
          <a:bodyPr wrap="square" rtlCol="0" anchor="ctr"/>
          <a:lstStyle/>
          <a:p>
            <a:pPr marL="342900" indent="-342900">
              <a:spcAft>
                <a:spcPts val="1000"/>
              </a:spcAft>
              <a:buSzPct val="100000"/>
              <a:buChar char="•"/>
            </a:pPr>
            <a:r>
              <a:rPr lang="en-US" sz="1300" dirty="0">
                <a:solidFill>
                  <a:srgbClr val="1E293B"/>
                </a:solidFill>
                <a:latin typeface="Yu Gothic" pitchFamily="34" charset="0"/>
                <a:ea typeface="Yu Gothic" pitchFamily="34" charset="-122"/>
                <a:cs typeface="Yu Gothic" pitchFamily="34" charset="-120"/>
              </a:rPr>
              <a:t>セキュリティ（多層防御）</a:t>
            </a:r>
            <a:endParaRPr lang="en-US" sz="1300" dirty="0"/>
          </a:p>
          <a:p>
            <a:pPr marL="342900" indent="-342900">
              <a:spcAft>
                <a:spcPts val="1000"/>
              </a:spcAft>
              <a:buSzPct val="100000"/>
              <a:buChar char="•"/>
            </a:pPr>
            <a:r>
              <a:rPr lang="en-US" sz="1300" dirty="0">
                <a:solidFill>
                  <a:srgbClr val="1E293B"/>
                </a:solidFill>
                <a:latin typeface="Yu Gothic" pitchFamily="34" charset="0"/>
                <a:ea typeface="Yu Gothic" pitchFamily="34" charset="-122"/>
                <a:cs typeface="Yu Gothic" pitchFamily="34" charset="-120"/>
              </a:rPr>
              <a:t>スマホ用 UX（ドロワー / 拡大）</a:t>
            </a:r>
            <a:endParaRPr lang="en-US" sz="1300" dirty="0"/>
          </a:p>
          <a:p>
            <a:pPr marL="342900" indent="-342900">
              <a:spcAft>
                <a:spcPts val="1000"/>
              </a:spcAft>
              <a:buSzPct val="100000"/>
              <a:buChar char="•"/>
            </a:pPr>
            <a:r>
              <a:rPr lang="en-US" sz="1300" dirty="0">
                <a:solidFill>
                  <a:srgbClr val="1E293B"/>
                </a:solidFill>
                <a:latin typeface="Yu Gothic" pitchFamily="34" charset="0"/>
                <a:ea typeface="Yu Gothic" pitchFamily="34" charset="-122"/>
                <a:cs typeface="Yu Gothic" pitchFamily="34" charset="-120"/>
              </a:rPr>
              <a:t>アニメーション（出現演出）</a:t>
            </a:r>
            <a:endParaRPr lang="en-US" sz="1300" dirty="0"/>
          </a:p>
          <a:p>
            <a:pPr marL="342900" indent="-342900">
              <a:spcAft>
                <a:spcPts val="1000"/>
              </a:spcAft>
              <a:buSzPct val="100000"/>
              <a:buChar char="•"/>
            </a:pPr>
            <a:r>
              <a:rPr lang="en-US" sz="1300" dirty="0">
                <a:solidFill>
                  <a:srgbClr val="1E293B"/>
                </a:solidFill>
                <a:latin typeface="Yu Gothic" pitchFamily="34" charset="0"/>
                <a:ea typeface="Yu Gothic" pitchFamily="34" charset="-122"/>
                <a:cs typeface="Yu Gothic" pitchFamily="34" charset="-120"/>
              </a:rPr>
              <a:t>日英切替（i18n）</a:t>
            </a:r>
            <a:endParaRPr lang="en-US" sz="1300" dirty="0"/>
          </a:p>
        </p:txBody>
      </p:sp>
      <p:sp>
        <p:nvSpPr>
          <p:cNvPr id="24" name="Text 22"/>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Yu Gothic" pitchFamily="34" charset="0"/>
                <a:ea typeface="Yu Gothic" pitchFamily="34" charset="-122"/>
                <a:cs typeface="Yu Gothic" pitchFamily="34" charset="-120"/>
              </a:rPr>
              <a:t>株式会社ライトパス サイト構築</a:t>
            </a:r>
            <a:endParaRPr lang="en-US" sz="900" dirty="0"/>
          </a:p>
        </p:txBody>
      </p:sp>
      <p:sp>
        <p:nvSpPr>
          <p:cNvPr id="25" name="Text 23"/>
          <p:cNvSpPr/>
          <p:nvPr/>
        </p:nvSpPr>
        <p:spPr>
          <a:xfrm>
            <a:off x="10820095" y="6446520"/>
            <a:ext cx="822960" cy="274320"/>
          </a:xfrm>
          <a:prstGeom prst="rect">
            <a:avLst/>
          </a:prstGeom>
          <a:noFill/>
          <a:ln/>
        </p:spPr>
        <p:txBody>
          <a:bodyPr wrap="square" lIns="0" tIns="0" rIns="0" bIns="0" rtlCol="0" anchor="ctr"/>
          <a:lstStyle/>
          <a:p>
            <a:pPr algn="r" indent="0" marL="0">
              <a:buNone/>
            </a:pPr>
            <a:r>
              <a:rPr lang="en-US" sz="900" dirty="0">
                <a:solidFill>
                  <a:srgbClr val="64748B"/>
                </a:solidFill>
                <a:latin typeface="Yu Gothic" pitchFamily="34" charset="0"/>
                <a:ea typeface="Yu Gothic" pitchFamily="34" charset="-122"/>
                <a:cs typeface="Yu Gothic" pitchFamily="34" charset="-120"/>
              </a:rPr>
              <a:t>2 / 12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164592" cy="164592"/>
          </a:xfrm>
          <a:prstGeom prst="rect">
            <a:avLst/>
          </a:prstGeom>
          <a:solidFill>
            <a:srgbClr val="EBC528"/>
          </a:solidFill>
          <a:ln/>
        </p:spPr>
      </p:sp>
      <p:sp>
        <p:nvSpPr>
          <p:cNvPr id="3" name="Text 1"/>
          <p:cNvSpPr/>
          <p:nvPr/>
        </p:nvSpPr>
        <p:spPr>
          <a:xfrm>
            <a:off x="777240" y="365760"/>
            <a:ext cx="7315200" cy="365760"/>
          </a:xfrm>
          <a:prstGeom prst="rect">
            <a:avLst/>
          </a:prstGeom>
          <a:noFill/>
          <a:ln/>
        </p:spPr>
        <p:txBody>
          <a:bodyPr wrap="square" lIns="0" tIns="0" rIns="0" bIns="0" rtlCol="0" anchor="ctr"/>
          <a:lstStyle/>
          <a:p>
            <a:pPr indent="0" marL="0">
              <a:buNone/>
            </a:pPr>
            <a:r>
              <a:rPr lang="en-US" sz="1100" b="1" spc="400" kern="0" dirty="0">
                <a:solidFill>
                  <a:srgbClr val="64748B"/>
                </a:solidFill>
                <a:latin typeface="Yu Gothic" pitchFamily="34" charset="0"/>
                <a:ea typeface="Yu Gothic" pitchFamily="34" charset="-122"/>
                <a:cs typeface="Yu Gothic" pitchFamily="34" charset="-120"/>
              </a:rPr>
              <a:t>02  DESIGN</a:t>
            </a:r>
            <a:endParaRPr lang="en-US" sz="1100" dirty="0"/>
          </a:p>
        </p:txBody>
      </p:sp>
      <p:sp>
        <p:nvSpPr>
          <p:cNvPr id="4" name="Text 2"/>
          <p:cNvSpPr/>
          <p:nvPr/>
        </p:nvSpPr>
        <p:spPr>
          <a:xfrm>
            <a:off x="548640" y="713232"/>
            <a:ext cx="10972800" cy="594360"/>
          </a:xfrm>
          <a:prstGeom prst="rect">
            <a:avLst/>
          </a:prstGeom>
          <a:noFill/>
          <a:ln/>
        </p:spPr>
        <p:txBody>
          <a:bodyPr wrap="square" lIns="0" tIns="0" rIns="0" bIns="0" rtlCol="0" anchor="ctr"/>
          <a:lstStyle/>
          <a:p>
            <a:pPr indent="0" marL="0">
              <a:buNone/>
            </a:pPr>
            <a:r>
              <a:rPr lang="en-US" sz="2400" b="1" dirty="0">
                <a:solidFill>
                  <a:srgbClr val="0F172A"/>
                </a:solidFill>
                <a:latin typeface="Yu Gothic" pitchFamily="34" charset="0"/>
                <a:ea typeface="Yu Gothic" pitchFamily="34" charset="-122"/>
                <a:cs typeface="Yu Gothic" pitchFamily="34" charset="-120"/>
              </a:rPr>
              <a:t>デザインで工夫したところ</a:t>
            </a:r>
            <a:endParaRPr lang="en-US" sz="2400" dirty="0"/>
          </a:p>
        </p:txBody>
      </p:sp>
      <p:sp>
        <p:nvSpPr>
          <p:cNvPr id="5" name="Shape 3"/>
          <p:cNvSpPr/>
          <p:nvPr/>
        </p:nvSpPr>
        <p:spPr>
          <a:xfrm>
            <a:off x="548640" y="1417320"/>
            <a:ext cx="11064240" cy="868680"/>
          </a:xfrm>
          <a:prstGeom prst="rect">
            <a:avLst/>
          </a:prstGeom>
          <a:solidFill>
            <a:srgbClr val="F8FAFC"/>
          </a:solidFill>
          <a:ln w="6350">
            <a:solidFill>
              <a:srgbClr val="E2E8F0"/>
            </a:solidFill>
            <a:prstDash val="solid"/>
          </a:ln>
        </p:spPr>
      </p:sp>
      <p:sp>
        <p:nvSpPr>
          <p:cNvPr id="6" name="Shape 4"/>
          <p:cNvSpPr/>
          <p:nvPr/>
        </p:nvSpPr>
        <p:spPr>
          <a:xfrm>
            <a:off x="548640" y="1417320"/>
            <a:ext cx="109728" cy="868680"/>
          </a:xfrm>
          <a:prstGeom prst="rect">
            <a:avLst/>
          </a:prstGeom>
          <a:solidFill>
            <a:srgbClr val="EBC528"/>
          </a:solidFill>
          <a:ln/>
        </p:spPr>
      </p:sp>
      <p:sp>
        <p:nvSpPr>
          <p:cNvPr id="7" name="Text 5"/>
          <p:cNvSpPr/>
          <p:nvPr/>
        </p:nvSpPr>
        <p:spPr>
          <a:xfrm>
            <a:off x="822960" y="1508760"/>
            <a:ext cx="868680" cy="274320"/>
          </a:xfrm>
          <a:prstGeom prst="rect">
            <a:avLst/>
          </a:prstGeom>
          <a:noFill/>
          <a:ln/>
        </p:spPr>
        <p:txBody>
          <a:bodyPr wrap="square" lIns="0" tIns="0" rIns="0" bIns="0" rtlCol="0" anchor="ctr"/>
          <a:lstStyle/>
          <a:p>
            <a:pPr indent="0" marL="0">
              <a:buNone/>
            </a:pPr>
            <a:r>
              <a:rPr lang="en-US" sz="1000" b="1" spc="600" kern="0" dirty="0">
                <a:solidFill>
                  <a:srgbClr val="0F172A"/>
                </a:solidFill>
                <a:latin typeface="Yu Gothic" pitchFamily="34" charset="0"/>
                <a:ea typeface="Yu Gothic" pitchFamily="34" charset="-122"/>
                <a:cs typeface="Yu Gothic" pitchFamily="34" charset="-120"/>
              </a:rPr>
              <a:t>POINT</a:t>
            </a:r>
            <a:endParaRPr lang="en-US" sz="1000" dirty="0"/>
          </a:p>
        </p:txBody>
      </p:sp>
      <p:sp>
        <p:nvSpPr>
          <p:cNvPr id="8" name="Shape 6"/>
          <p:cNvSpPr/>
          <p:nvPr/>
        </p:nvSpPr>
        <p:spPr>
          <a:xfrm>
            <a:off x="1828800" y="1618488"/>
            <a:ext cx="164592" cy="164592"/>
          </a:xfrm>
          <a:prstGeom prst="ellipse">
            <a:avLst/>
          </a:prstGeom>
          <a:solidFill>
            <a:srgbClr val="EBC528"/>
          </a:solidFill>
          <a:ln/>
        </p:spPr>
      </p:sp>
      <p:sp>
        <p:nvSpPr>
          <p:cNvPr id="9" name="Text 7"/>
          <p:cNvSpPr/>
          <p:nvPr/>
        </p:nvSpPr>
        <p:spPr>
          <a:xfrm>
            <a:off x="2103120" y="1508760"/>
            <a:ext cx="9418320" cy="411480"/>
          </a:xfrm>
          <a:prstGeom prst="rect">
            <a:avLst/>
          </a:prstGeom>
          <a:noFill/>
          <a:ln/>
        </p:spPr>
        <p:txBody>
          <a:bodyPr wrap="square" lIns="0" tIns="0" rIns="0" bIns="0" rtlCol="0" anchor="ctr"/>
          <a:lstStyle/>
          <a:p>
            <a:pPr indent="0" marL="0">
              <a:buNone/>
            </a:pPr>
            <a:r>
              <a:rPr lang="en-US" sz="1400" b="1" dirty="0">
                <a:solidFill>
                  <a:srgbClr val="0F172A"/>
                </a:solidFill>
                <a:latin typeface="Yu Gothic" pitchFamily="34" charset="0"/>
                <a:ea typeface="Yu Gothic" pitchFamily="34" charset="-122"/>
                <a:cs typeface="Yu Gothic" pitchFamily="34" charset="-120"/>
              </a:rPr>
              <a:t>CSS 変数 1 行を変えるだけでサイト全体の色が切替わる構造</a:t>
            </a:r>
            <a:endParaRPr lang="en-US" sz="1400" dirty="0"/>
          </a:p>
        </p:txBody>
      </p:sp>
      <p:sp>
        <p:nvSpPr>
          <p:cNvPr id="10" name="Shape 8"/>
          <p:cNvSpPr/>
          <p:nvPr/>
        </p:nvSpPr>
        <p:spPr>
          <a:xfrm>
            <a:off x="1828800" y="1961388"/>
            <a:ext cx="164592" cy="164592"/>
          </a:xfrm>
          <a:prstGeom prst="ellipse">
            <a:avLst/>
          </a:prstGeom>
          <a:solidFill>
            <a:srgbClr val="EBC528"/>
          </a:solidFill>
          <a:ln/>
        </p:spPr>
      </p:sp>
      <p:sp>
        <p:nvSpPr>
          <p:cNvPr id="11" name="Text 9"/>
          <p:cNvSpPr/>
          <p:nvPr/>
        </p:nvSpPr>
        <p:spPr>
          <a:xfrm>
            <a:off x="2103120" y="1851660"/>
            <a:ext cx="9418320" cy="411480"/>
          </a:xfrm>
          <a:prstGeom prst="rect">
            <a:avLst/>
          </a:prstGeom>
          <a:noFill/>
          <a:ln/>
        </p:spPr>
        <p:txBody>
          <a:bodyPr wrap="square" lIns="0" tIns="0" rIns="0" bIns="0" rtlCol="0" anchor="ctr"/>
          <a:lstStyle/>
          <a:p>
            <a:pPr indent="0" marL="0">
              <a:buNone/>
            </a:pPr>
            <a:r>
              <a:rPr lang="en-US" sz="1400" b="1" dirty="0">
                <a:solidFill>
                  <a:srgbClr val="0F172A"/>
                </a:solidFill>
                <a:latin typeface="Yu Gothic" pitchFamily="34" charset="0"/>
                <a:ea typeface="Yu Gothic" pitchFamily="34" charset="-122"/>
                <a:cs typeface="Yu Gothic" pitchFamily="34" charset="-120"/>
              </a:rPr>
              <a:t>全セクションを「アイブロウ + 見出し + 説明」の 3 段構成で統一</a:t>
            </a:r>
            <a:endParaRPr lang="en-US" sz="1400" dirty="0"/>
          </a:p>
        </p:txBody>
      </p:sp>
      <p:sp>
        <p:nvSpPr>
          <p:cNvPr id="12" name="Shape 10"/>
          <p:cNvSpPr/>
          <p:nvPr/>
        </p:nvSpPr>
        <p:spPr>
          <a:xfrm>
            <a:off x="548640" y="2606040"/>
            <a:ext cx="5486400" cy="3611880"/>
          </a:xfrm>
          <a:prstGeom prst="rect">
            <a:avLst/>
          </a:prstGeom>
          <a:solidFill>
            <a:srgbClr val="F8FAFC"/>
          </a:solidFill>
          <a:ln w="6350">
            <a:solidFill>
              <a:srgbClr val="E2E8F0"/>
            </a:solidFill>
            <a:prstDash val="solid"/>
          </a:ln>
        </p:spPr>
      </p:sp>
      <p:sp>
        <p:nvSpPr>
          <p:cNvPr id="13" name="Text 11"/>
          <p:cNvSpPr/>
          <p:nvPr/>
        </p:nvSpPr>
        <p:spPr>
          <a:xfrm>
            <a:off x="822960" y="2743200"/>
            <a:ext cx="4937760" cy="365760"/>
          </a:xfrm>
          <a:prstGeom prst="rect">
            <a:avLst/>
          </a:prstGeom>
          <a:noFill/>
          <a:ln/>
        </p:spPr>
        <p:txBody>
          <a:bodyPr wrap="square" lIns="0" tIns="0" rIns="0" bIns="0" rtlCol="0" anchor="ctr"/>
          <a:lstStyle/>
          <a:p>
            <a:pPr indent="0" marL="0">
              <a:buNone/>
            </a:pPr>
            <a:r>
              <a:rPr lang="en-US" sz="1600" b="1" dirty="0">
                <a:solidFill>
                  <a:srgbClr val="0F172A"/>
                </a:solidFill>
                <a:latin typeface="Yu Gothic" pitchFamily="34" charset="0"/>
                <a:ea typeface="Yu Gothic" pitchFamily="34" charset="-122"/>
                <a:cs typeface="Yu Gothic" pitchFamily="34" charset="-120"/>
              </a:rPr>
              <a:t>テーマカラーの集中管理</a:t>
            </a:r>
            <a:endParaRPr lang="en-US" sz="1600" dirty="0"/>
          </a:p>
        </p:txBody>
      </p:sp>
      <p:sp>
        <p:nvSpPr>
          <p:cNvPr id="14" name="Shape 12"/>
          <p:cNvSpPr/>
          <p:nvPr/>
        </p:nvSpPr>
        <p:spPr>
          <a:xfrm>
            <a:off x="822960" y="3246120"/>
            <a:ext cx="1371600" cy="868680"/>
          </a:xfrm>
          <a:prstGeom prst="rect">
            <a:avLst/>
          </a:prstGeom>
          <a:solidFill>
            <a:srgbClr val="EBC528"/>
          </a:solidFill>
          <a:ln/>
        </p:spPr>
      </p:sp>
      <p:sp>
        <p:nvSpPr>
          <p:cNvPr id="15" name="Text 13"/>
          <p:cNvSpPr/>
          <p:nvPr/>
        </p:nvSpPr>
        <p:spPr>
          <a:xfrm>
            <a:off x="822960" y="3246120"/>
            <a:ext cx="1371600" cy="365760"/>
          </a:xfrm>
          <a:prstGeom prst="rect">
            <a:avLst/>
          </a:prstGeom>
          <a:noFill/>
          <a:ln/>
        </p:spPr>
        <p:txBody>
          <a:bodyPr wrap="square" lIns="0" tIns="0" rIns="0" bIns="0" rtlCol="0" anchor="t"/>
          <a:lstStyle/>
          <a:p>
            <a:pPr algn="ctr" indent="0" marL="0">
              <a:buNone/>
            </a:pPr>
            <a:r>
              <a:rPr lang="en-US" sz="900" b="1" dirty="0">
                <a:solidFill>
                  <a:srgbClr val="0F172A"/>
                </a:solidFill>
                <a:latin typeface="Yu Gothic" pitchFamily="34" charset="0"/>
                <a:ea typeface="Yu Gothic" pitchFamily="34" charset="-122"/>
                <a:cs typeface="Yu Gothic" pitchFamily="34" charset="-120"/>
              </a:rPr>
              <a:t>PRIMARY</a:t>
            </a:r>
            <a:endParaRPr lang="en-US" sz="900" dirty="0"/>
          </a:p>
        </p:txBody>
      </p:sp>
      <p:sp>
        <p:nvSpPr>
          <p:cNvPr id="16" name="Text 14"/>
          <p:cNvSpPr/>
          <p:nvPr/>
        </p:nvSpPr>
        <p:spPr>
          <a:xfrm>
            <a:off x="822960" y="3611880"/>
            <a:ext cx="1371600" cy="457200"/>
          </a:xfrm>
          <a:prstGeom prst="rect">
            <a:avLst/>
          </a:prstGeom>
          <a:noFill/>
          <a:ln/>
        </p:spPr>
        <p:txBody>
          <a:bodyPr wrap="square" lIns="0" tIns="0" rIns="0" bIns="0" rtlCol="0" anchor="ctr"/>
          <a:lstStyle/>
          <a:p>
            <a:pPr algn="ctr" indent="0" marL="0">
              <a:buNone/>
            </a:pPr>
            <a:r>
              <a:rPr lang="en-US" sz="1100" b="1" dirty="0">
                <a:solidFill>
                  <a:srgbClr val="0F172A"/>
                </a:solidFill>
                <a:latin typeface="Yu Gothic" pitchFamily="34" charset="0"/>
                <a:ea typeface="Yu Gothic" pitchFamily="34" charset="-122"/>
                <a:cs typeface="Yu Gothic" pitchFamily="34" charset="-120"/>
              </a:rPr>
              <a:t>#EBC528</a:t>
            </a:r>
            <a:endParaRPr lang="en-US" sz="1100" dirty="0"/>
          </a:p>
        </p:txBody>
      </p:sp>
      <p:sp>
        <p:nvSpPr>
          <p:cNvPr id="17" name="Shape 15"/>
          <p:cNvSpPr/>
          <p:nvPr/>
        </p:nvSpPr>
        <p:spPr>
          <a:xfrm>
            <a:off x="2331720" y="3246120"/>
            <a:ext cx="1371600" cy="868680"/>
          </a:xfrm>
          <a:prstGeom prst="rect">
            <a:avLst/>
          </a:prstGeom>
          <a:solidFill>
            <a:srgbClr val="0F172A"/>
          </a:solidFill>
          <a:ln/>
        </p:spPr>
      </p:sp>
      <p:sp>
        <p:nvSpPr>
          <p:cNvPr id="18" name="Text 16"/>
          <p:cNvSpPr/>
          <p:nvPr/>
        </p:nvSpPr>
        <p:spPr>
          <a:xfrm>
            <a:off x="2331720" y="3246120"/>
            <a:ext cx="1371600" cy="365760"/>
          </a:xfrm>
          <a:prstGeom prst="rect">
            <a:avLst/>
          </a:prstGeom>
          <a:noFill/>
          <a:ln/>
        </p:spPr>
        <p:txBody>
          <a:bodyPr wrap="square" lIns="0" tIns="0" rIns="0" bIns="0" rtlCol="0" anchor="t"/>
          <a:lstStyle/>
          <a:p>
            <a:pPr algn="ctr" indent="0" marL="0">
              <a:buNone/>
            </a:pPr>
            <a:r>
              <a:rPr lang="en-US" sz="900" b="1" dirty="0">
                <a:solidFill>
                  <a:srgbClr val="EBC528"/>
                </a:solidFill>
                <a:latin typeface="Yu Gothic" pitchFamily="34" charset="0"/>
                <a:ea typeface="Yu Gothic" pitchFamily="34" charset="-122"/>
                <a:cs typeface="Yu Gothic" pitchFamily="34" charset="-120"/>
              </a:rPr>
              <a:t>ACCENT</a:t>
            </a:r>
            <a:endParaRPr lang="en-US" sz="900" dirty="0"/>
          </a:p>
        </p:txBody>
      </p:sp>
      <p:sp>
        <p:nvSpPr>
          <p:cNvPr id="19" name="Text 17"/>
          <p:cNvSpPr/>
          <p:nvPr/>
        </p:nvSpPr>
        <p:spPr>
          <a:xfrm>
            <a:off x="2331720" y="3611880"/>
            <a:ext cx="1371600" cy="457200"/>
          </a:xfrm>
          <a:prstGeom prst="rect">
            <a:avLst/>
          </a:prstGeom>
          <a:noFill/>
          <a:ln/>
        </p:spPr>
        <p:txBody>
          <a:bodyPr wrap="square" lIns="0" tIns="0" rIns="0" bIns="0" rtlCol="0" anchor="ctr"/>
          <a:lstStyle/>
          <a:p>
            <a:pPr algn="ctr" indent="0" marL="0">
              <a:buNone/>
            </a:pPr>
            <a:r>
              <a:rPr lang="en-US" sz="1100" b="1" dirty="0">
                <a:solidFill>
                  <a:srgbClr val="EBC528"/>
                </a:solidFill>
                <a:latin typeface="Yu Gothic" pitchFamily="34" charset="0"/>
                <a:ea typeface="Yu Gothic" pitchFamily="34" charset="-122"/>
                <a:cs typeface="Yu Gothic" pitchFamily="34" charset="-120"/>
              </a:rPr>
              <a:t>#0F172A</a:t>
            </a:r>
            <a:endParaRPr lang="en-US" sz="1100" dirty="0"/>
          </a:p>
        </p:txBody>
      </p:sp>
      <p:sp>
        <p:nvSpPr>
          <p:cNvPr id="20" name="Shape 18"/>
          <p:cNvSpPr/>
          <p:nvPr/>
        </p:nvSpPr>
        <p:spPr>
          <a:xfrm>
            <a:off x="3840480" y="3246120"/>
            <a:ext cx="1371600" cy="868680"/>
          </a:xfrm>
          <a:prstGeom prst="rect">
            <a:avLst/>
          </a:prstGeom>
          <a:solidFill>
            <a:srgbClr val="F8FAFC"/>
          </a:solidFill>
          <a:ln w="6350">
            <a:solidFill>
              <a:srgbClr val="E2E8F0"/>
            </a:solidFill>
            <a:prstDash val="solid"/>
          </a:ln>
        </p:spPr>
      </p:sp>
      <p:sp>
        <p:nvSpPr>
          <p:cNvPr id="21" name="Text 19"/>
          <p:cNvSpPr/>
          <p:nvPr/>
        </p:nvSpPr>
        <p:spPr>
          <a:xfrm>
            <a:off x="3840480" y="3246120"/>
            <a:ext cx="1371600" cy="365760"/>
          </a:xfrm>
          <a:prstGeom prst="rect">
            <a:avLst/>
          </a:prstGeom>
          <a:noFill/>
          <a:ln/>
        </p:spPr>
        <p:txBody>
          <a:bodyPr wrap="square" lIns="0" tIns="0" rIns="0" bIns="0" rtlCol="0" anchor="t"/>
          <a:lstStyle/>
          <a:p>
            <a:pPr algn="ctr" indent="0" marL="0">
              <a:buNone/>
            </a:pPr>
            <a:r>
              <a:rPr lang="en-US" sz="900" b="1" dirty="0">
                <a:solidFill>
                  <a:srgbClr val="0F172A"/>
                </a:solidFill>
                <a:latin typeface="Yu Gothic" pitchFamily="34" charset="0"/>
                <a:ea typeface="Yu Gothic" pitchFamily="34" charset="-122"/>
                <a:cs typeface="Yu Gothic" pitchFamily="34" charset="-120"/>
              </a:rPr>
              <a:t>BG</a:t>
            </a:r>
            <a:endParaRPr lang="en-US" sz="900" dirty="0"/>
          </a:p>
        </p:txBody>
      </p:sp>
      <p:sp>
        <p:nvSpPr>
          <p:cNvPr id="22" name="Text 20"/>
          <p:cNvSpPr/>
          <p:nvPr/>
        </p:nvSpPr>
        <p:spPr>
          <a:xfrm>
            <a:off x="3840480" y="3611880"/>
            <a:ext cx="1371600" cy="457200"/>
          </a:xfrm>
          <a:prstGeom prst="rect">
            <a:avLst/>
          </a:prstGeom>
          <a:noFill/>
          <a:ln/>
        </p:spPr>
        <p:txBody>
          <a:bodyPr wrap="square" lIns="0" tIns="0" rIns="0" bIns="0" rtlCol="0" anchor="ctr"/>
          <a:lstStyle/>
          <a:p>
            <a:pPr algn="ctr" indent="0" marL="0">
              <a:buNone/>
            </a:pPr>
            <a:r>
              <a:rPr lang="en-US" sz="1100" b="1" dirty="0">
                <a:solidFill>
                  <a:srgbClr val="0F172A"/>
                </a:solidFill>
                <a:latin typeface="Yu Gothic" pitchFamily="34" charset="0"/>
                <a:ea typeface="Yu Gothic" pitchFamily="34" charset="-122"/>
                <a:cs typeface="Yu Gothic" pitchFamily="34" charset="-120"/>
              </a:rPr>
              <a:t>#F8FAFC</a:t>
            </a:r>
            <a:endParaRPr lang="en-US" sz="1100" dirty="0"/>
          </a:p>
        </p:txBody>
      </p:sp>
      <p:sp>
        <p:nvSpPr>
          <p:cNvPr id="23" name="Text 21"/>
          <p:cNvSpPr/>
          <p:nvPr/>
        </p:nvSpPr>
        <p:spPr>
          <a:xfrm>
            <a:off x="822960" y="4297680"/>
            <a:ext cx="4937760" cy="914400"/>
          </a:xfrm>
          <a:prstGeom prst="rect">
            <a:avLst/>
          </a:prstGeom>
          <a:noFill/>
          <a:ln/>
        </p:spPr>
        <p:txBody>
          <a:bodyPr wrap="square" lIns="0" tIns="0" rIns="0" bIns="0" rtlCol="0" anchor="ctr"/>
          <a:lstStyle/>
          <a:p>
            <a:pPr indent="0" marL="0">
              <a:buNone/>
            </a:pPr>
            <a:r>
              <a:rPr lang="en-US" sz="1100" dirty="0">
                <a:solidFill>
                  <a:srgbClr val="1E293B"/>
                </a:solidFill>
                <a:latin typeface="Yu Gothic" pitchFamily="34" charset="0"/>
                <a:ea typeface="Yu Gothic" pitchFamily="34" charset="-122"/>
                <a:cs typeface="Yu Gothic" pitchFamily="34" charset="-120"/>
              </a:rPr>
              <a:t>globals.css の :root に CSS 変数で定義。Tailwind 側で var(--color-primary) を参照することで、1 箇所変えるだけでサイト全体に反映されます。</a:t>
            </a:r>
            <a:endParaRPr lang="en-US" sz="1100" dirty="0"/>
          </a:p>
        </p:txBody>
      </p:sp>
      <p:sp>
        <p:nvSpPr>
          <p:cNvPr id="24" name="Text 22"/>
          <p:cNvSpPr/>
          <p:nvPr/>
        </p:nvSpPr>
        <p:spPr>
          <a:xfrm>
            <a:off x="822960" y="5349240"/>
            <a:ext cx="4937760" cy="365760"/>
          </a:xfrm>
          <a:prstGeom prst="rect">
            <a:avLst/>
          </a:prstGeom>
          <a:solidFill>
            <a:srgbClr val="0F172A"/>
          </a:solidFill>
          <a:ln/>
        </p:spPr>
        <p:txBody>
          <a:bodyPr wrap="square" lIns="76200" tIns="76200" rIns="76200" bIns="76200" rtlCol="0" anchor="ctr"/>
          <a:lstStyle/>
          <a:p>
            <a:pPr indent="0" marL="0">
              <a:buNone/>
            </a:pPr>
            <a:r>
              <a:rPr lang="en-US" sz="1200" b="1" dirty="0">
                <a:solidFill>
                  <a:srgbClr val="EBC528"/>
                </a:solidFill>
                <a:latin typeface="Yu Gothic" pitchFamily="34" charset="0"/>
                <a:ea typeface="Yu Gothic" pitchFamily="34" charset="-122"/>
                <a:cs typeface="Yu Gothic" pitchFamily="34" charset="-120"/>
              </a:rPr>
              <a:t>--color-primary: #ebc528;</a:t>
            </a:r>
            <a:endParaRPr lang="en-US" sz="1200" dirty="0"/>
          </a:p>
        </p:txBody>
      </p:sp>
      <p:sp>
        <p:nvSpPr>
          <p:cNvPr id="25" name="Text 23"/>
          <p:cNvSpPr/>
          <p:nvPr/>
        </p:nvSpPr>
        <p:spPr>
          <a:xfrm>
            <a:off x="822960" y="5760720"/>
            <a:ext cx="4937760" cy="274320"/>
          </a:xfrm>
          <a:prstGeom prst="rect">
            <a:avLst/>
          </a:prstGeom>
          <a:noFill/>
          <a:ln/>
        </p:spPr>
        <p:txBody>
          <a:bodyPr wrap="square" lIns="0" tIns="0" rIns="0" bIns="0" rtlCol="0" anchor="ctr"/>
          <a:lstStyle/>
          <a:p>
            <a:pPr indent="0" marL="0">
              <a:buNone/>
            </a:pPr>
            <a:r>
              <a:rPr lang="en-US" sz="900" i="1" dirty="0">
                <a:solidFill>
                  <a:srgbClr val="64748B"/>
                </a:solidFill>
                <a:latin typeface="Yu Gothic" pitchFamily="34" charset="0"/>
                <a:ea typeface="Yu Gothic" pitchFamily="34" charset="-122"/>
                <a:cs typeface="Yu Gothic" pitchFamily="34" charset="-120"/>
              </a:rPr>
              <a:t>// この1行を変えると全ボタン色が即時変更</a:t>
            </a:r>
            <a:endParaRPr lang="en-US" sz="900" dirty="0"/>
          </a:p>
        </p:txBody>
      </p:sp>
      <p:sp>
        <p:nvSpPr>
          <p:cNvPr id="26" name="Text 24"/>
          <p:cNvSpPr/>
          <p:nvPr/>
        </p:nvSpPr>
        <p:spPr>
          <a:xfrm>
            <a:off x="6400800" y="2697480"/>
            <a:ext cx="5212080" cy="365760"/>
          </a:xfrm>
          <a:prstGeom prst="rect">
            <a:avLst/>
          </a:prstGeom>
          <a:noFill/>
          <a:ln/>
        </p:spPr>
        <p:txBody>
          <a:bodyPr wrap="square" lIns="0" tIns="0" rIns="0" bIns="0" rtlCol="0" anchor="ctr"/>
          <a:lstStyle/>
          <a:p>
            <a:pPr indent="0" marL="0">
              <a:buNone/>
            </a:pPr>
            <a:r>
              <a:rPr lang="en-US" sz="1600" b="1" dirty="0">
                <a:solidFill>
                  <a:srgbClr val="0F172A"/>
                </a:solidFill>
                <a:latin typeface="Yu Gothic" pitchFamily="34" charset="0"/>
                <a:ea typeface="Yu Gothic" pitchFamily="34" charset="-122"/>
                <a:cs typeface="Yu Gothic" pitchFamily="34" charset="-120"/>
              </a:rPr>
              <a:t>レイアウトの軸</a:t>
            </a:r>
            <a:endParaRPr lang="en-US" sz="1600" dirty="0"/>
          </a:p>
        </p:txBody>
      </p:sp>
      <p:sp>
        <p:nvSpPr>
          <p:cNvPr id="27" name="Shape 25"/>
          <p:cNvSpPr/>
          <p:nvPr/>
        </p:nvSpPr>
        <p:spPr>
          <a:xfrm>
            <a:off x="6400800" y="3200400"/>
            <a:ext cx="5212080" cy="868680"/>
          </a:xfrm>
          <a:prstGeom prst="rect">
            <a:avLst/>
          </a:prstGeom>
          <a:solidFill>
            <a:srgbClr val="FFFFFF"/>
          </a:solidFill>
          <a:ln w="6350">
            <a:solidFill>
              <a:srgbClr val="E2E8F0"/>
            </a:solidFill>
            <a:prstDash val="solid"/>
          </a:ln>
        </p:spPr>
      </p:sp>
      <p:sp>
        <p:nvSpPr>
          <p:cNvPr id="28" name="Shape 26"/>
          <p:cNvSpPr/>
          <p:nvPr/>
        </p:nvSpPr>
        <p:spPr>
          <a:xfrm>
            <a:off x="6400800" y="3200400"/>
            <a:ext cx="73152" cy="868680"/>
          </a:xfrm>
          <a:prstGeom prst="rect">
            <a:avLst/>
          </a:prstGeom>
          <a:solidFill>
            <a:srgbClr val="EBC528"/>
          </a:solidFill>
          <a:ln/>
        </p:spPr>
      </p:sp>
      <p:sp>
        <p:nvSpPr>
          <p:cNvPr id="29" name="Text 27"/>
          <p:cNvSpPr/>
          <p:nvPr/>
        </p:nvSpPr>
        <p:spPr>
          <a:xfrm>
            <a:off x="6629400" y="3291840"/>
            <a:ext cx="4937760" cy="320040"/>
          </a:xfrm>
          <a:prstGeom prst="rect">
            <a:avLst/>
          </a:prstGeom>
          <a:noFill/>
          <a:ln/>
        </p:spPr>
        <p:txBody>
          <a:bodyPr wrap="square" lIns="0" tIns="0" rIns="0" bIns="0" rtlCol="0" anchor="ctr"/>
          <a:lstStyle/>
          <a:p>
            <a:pPr indent="0" marL="0">
              <a:buNone/>
            </a:pPr>
            <a:r>
              <a:rPr lang="en-US" sz="1200" b="1" dirty="0">
                <a:solidFill>
                  <a:srgbClr val="0F172A"/>
                </a:solidFill>
                <a:latin typeface="Yu Gothic" pitchFamily="34" charset="0"/>
                <a:ea typeface="Yu Gothic" pitchFamily="34" charset="-122"/>
                <a:cs typeface="Yu Gothic" pitchFamily="34" charset="-120"/>
              </a:rPr>
              <a:t>01  見本ベースの統一感</a:t>
            </a:r>
            <a:endParaRPr lang="en-US" sz="1200" dirty="0"/>
          </a:p>
        </p:txBody>
      </p:sp>
      <p:sp>
        <p:nvSpPr>
          <p:cNvPr id="30" name="Text 28"/>
          <p:cNvSpPr/>
          <p:nvPr/>
        </p:nvSpPr>
        <p:spPr>
          <a:xfrm>
            <a:off x="6629400" y="3611880"/>
            <a:ext cx="4937760" cy="411480"/>
          </a:xfrm>
          <a:prstGeom prst="rect">
            <a:avLst/>
          </a:prstGeom>
          <a:noFill/>
          <a:ln/>
        </p:spPr>
        <p:txBody>
          <a:bodyPr wrap="square" lIns="0" tIns="0" rIns="0" bIns="0" rtlCol="0" anchor="ctr"/>
          <a:lstStyle/>
          <a:p>
            <a:pPr indent="0" marL="0">
              <a:buNone/>
            </a:pPr>
            <a:r>
              <a:rPr lang="en-US" sz="1000" dirty="0">
                <a:solidFill>
                  <a:srgbClr val="64748B"/>
                </a:solidFill>
                <a:latin typeface="Yu Gothic" pitchFamily="34" charset="0"/>
                <a:ea typeface="Yu Gothic" pitchFamily="34" charset="-122"/>
                <a:cs typeface="Yu Gothic" pitchFamily="34" charset="-120"/>
              </a:rPr>
              <a:t>ヘッダー帯 → 集合写真 → セクション群 の流れを全ページで共通化</a:t>
            </a:r>
            <a:endParaRPr lang="en-US" sz="1000" dirty="0"/>
          </a:p>
        </p:txBody>
      </p:sp>
      <p:sp>
        <p:nvSpPr>
          <p:cNvPr id="31" name="Shape 29"/>
          <p:cNvSpPr/>
          <p:nvPr/>
        </p:nvSpPr>
        <p:spPr>
          <a:xfrm>
            <a:off x="6400800" y="4206240"/>
            <a:ext cx="5212080" cy="868680"/>
          </a:xfrm>
          <a:prstGeom prst="rect">
            <a:avLst/>
          </a:prstGeom>
          <a:solidFill>
            <a:srgbClr val="FFFFFF"/>
          </a:solidFill>
          <a:ln w="6350">
            <a:solidFill>
              <a:srgbClr val="E2E8F0"/>
            </a:solidFill>
            <a:prstDash val="solid"/>
          </a:ln>
        </p:spPr>
      </p:sp>
      <p:sp>
        <p:nvSpPr>
          <p:cNvPr id="32" name="Shape 30"/>
          <p:cNvSpPr/>
          <p:nvPr/>
        </p:nvSpPr>
        <p:spPr>
          <a:xfrm>
            <a:off x="6400800" y="4206240"/>
            <a:ext cx="73152" cy="868680"/>
          </a:xfrm>
          <a:prstGeom prst="rect">
            <a:avLst/>
          </a:prstGeom>
          <a:solidFill>
            <a:srgbClr val="EBC528"/>
          </a:solidFill>
          <a:ln/>
        </p:spPr>
      </p:sp>
      <p:sp>
        <p:nvSpPr>
          <p:cNvPr id="33" name="Text 31"/>
          <p:cNvSpPr/>
          <p:nvPr/>
        </p:nvSpPr>
        <p:spPr>
          <a:xfrm>
            <a:off x="6629400" y="4297680"/>
            <a:ext cx="4937760" cy="320040"/>
          </a:xfrm>
          <a:prstGeom prst="rect">
            <a:avLst/>
          </a:prstGeom>
          <a:noFill/>
          <a:ln/>
        </p:spPr>
        <p:txBody>
          <a:bodyPr wrap="square" lIns="0" tIns="0" rIns="0" bIns="0" rtlCol="0" anchor="ctr"/>
          <a:lstStyle/>
          <a:p>
            <a:pPr indent="0" marL="0">
              <a:buNone/>
            </a:pPr>
            <a:r>
              <a:rPr lang="en-US" sz="1200" b="1" dirty="0">
                <a:solidFill>
                  <a:srgbClr val="0F172A"/>
                </a:solidFill>
                <a:latin typeface="Yu Gothic" pitchFamily="34" charset="0"/>
                <a:ea typeface="Yu Gothic" pitchFamily="34" charset="-122"/>
                <a:cs typeface="Yu Gothic" pitchFamily="34" charset="-120"/>
              </a:rPr>
              <a:t>02  Tailwind ユーティリティ</a:t>
            </a:r>
            <a:endParaRPr lang="en-US" sz="1200" dirty="0"/>
          </a:p>
        </p:txBody>
      </p:sp>
      <p:sp>
        <p:nvSpPr>
          <p:cNvPr id="34" name="Text 32"/>
          <p:cNvSpPr/>
          <p:nvPr/>
        </p:nvSpPr>
        <p:spPr>
          <a:xfrm>
            <a:off x="6629400" y="4617720"/>
            <a:ext cx="4937760" cy="411480"/>
          </a:xfrm>
          <a:prstGeom prst="rect">
            <a:avLst/>
          </a:prstGeom>
          <a:noFill/>
          <a:ln/>
        </p:spPr>
        <p:txBody>
          <a:bodyPr wrap="square" lIns="0" tIns="0" rIns="0" bIns="0" rtlCol="0" anchor="ctr"/>
          <a:lstStyle/>
          <a:p>
            <a:pPr indent="0" marL="0">
              <a:buNone/>
            </a:pPr>
            <a:r>
              <a:rPr lang="en-US" sz="1000" dirty="0">
                <a:solidFill>
                  <a:srgbClr val="64748B"/>
                </a:solidFill>
                <a:latin typeface="Yu Gothic" pitchFamily="34" charset="0"/>
                <a:ea typeface="Yu Gothic" pitchFamily="34" charset="-122"/>
                <a:cs typeface="Yu Gothic" pitchFamily="34" charset="-120"/>
              </a:rPr>
              <a:t>CSS を別ファイルに書かず、コンポーネント内で完結</a:t>
            </a:r>
            <a:endParaRPr lang="en-US" sz="1000" dirty="0"/>
          </a:p>
        </p:txBody>
      </p:sp>
      <p:sp>
        <p:nvSpPr>
          <p:cNvPr id="35" name="Shape 33"/>
          <p:cNvSpPr/>
          <p:nvPr/>
        </p:nvSpPr>
        <p:spPr>
          <a:xfrm>
            <a:off x="6400800" y="5212080"/>
            <a:ext cx="5212080" cy="868680"/>
          </a:xfrm>
          <a:prstGeom prst="rect">
            <a:avLst/>
          </a:prstGeom>
          <a:solidFill>
            <a:srgbClr val="FFFFFF"/>
          </a:solidFill>
          <a:ln w="6350">
            <a:solidFill>
              <a:srgbClr val="E2E8F0"/>
            </a:solidFill>
            <a:prstDash val="solid"/>
          </a:ln>
        </p:spPr>
      </p:sp>
      <p:sp>
        <p:nvSpPr>
          <p:cNvPr id="36" name="Shape 34"/>
          <p:cNvSpPr/>
          <p:nvPr/>
        </p:nvSpPr>
        <p:spPr>
          <a:xfrm>
            <a:off x="6400800" y="5212080"/>
            <a:ext cx="73152" cy="868680"/>
          </a:xfrm>
          <a:prstGeom prst="rect">
            <a:avLst/>
          </a:prstGeom>
          <a:solidFill>
            <a:srgbClr val="EBC528"/>
          </a:solidFill>
          <a:ln/>
        </p:spPr>
      </p:sp>
      <p:sp>
        <p:nvSpPr>
          <p:cNvPr id="37" name="Text 35"/>
          <p:cNvSpPr/>
          <p:nvPr/>
        </p:nvSpPr>
        <p:spPr>
          <a:xfrm>
            <a:off x="6629400" y="5303520"/>
            <a:ext cx="4937760" cy="320040"/>
          </a:xfrm>
          <a:prstGeom prst="rect">
            <a:avLst/>
          </a:prstGeom>
          <a:noFill/>
          <a:ln/>
        </p:spPr>
        <p:txBody>
          <a:bodyPr wrap="square" lIns="0" tIns="0" rIns="0" bIns="0" rtlCol="0" anchor="ctr"/>
          <a:lstStyle/>
          <a:p>
            <a:pPr indent="0" marL="0">
              <a:buNone/>
            </a:pPr>
            <a:r>
              <a:rPr lang="en-US" sz="1200" b="1" dirty="0">
                <a:solidFill>
                  <a:srgbClr val="0F172A"/>
                </a:solidFill>
                <a:latin typeface="Yu Gothic" pitchFamily="34" charset="0"/>
                <a:ea typeface="Yu Gothic" pitchFamily="34" charset="-122"/>
                <a:cs typeface="Yu Gothic" pitchFamily="34" charset="-120"/>
              </a:rPr>
              <a:t>03  アイブロウ＋見出し＋説明</a:t>
            </a:r>
            <a:endParaRPr lang="en-US" sz="1200" dirty="0"/>
          </a:p>
        </p:txBody>
      </p:sp>
      <p:sp>
        <p:nvSpPr>
          <p:cNvPr id="38" name="Text 36"/>
          <p:cNvSpPr/>
          <p:nvPr/>
        </p:nvSpPr>
        <p:spPr>
          <a:xfrm>
            <a:off x="6629400" y="5623560"/>
            <a:ext cx="4937760" cy="411480"/>
          </a:xfrm>
          <a:prstGeom prst="rect">
            <a:avLst/>
          </a:prstGeom>
          <a:noFill/>
          <a:ln/>
        </p:spPr>
        <p:txBody>
          <a:bodyPr wrap="square" lIns="0" tIns="0" rIns="0" bIns="0" rtlCol="0" anchor="ctr"/>
          <a:lstStyle/>
          <a:p>
            <a:pPr indent="0" marL="0">
              <a:buNone/>
            </a:pPr>
            <a:r>
              <a:rPr lang="en-US" sz="1000" dirty="0">
                <a:solidFill>
                  <a:srgbClr val="64748B"/>
                </a:solidFill>
                <a:latin typeface="Yu Gothic" pitchFamily="34" charset="0"/>
                <a:ea typeface="Yu Gothic" pitchFamily="34" charset="-122"/>
                <a:cs typeface="Yu Gothic" pitchFamily="34" charset="-120"/>
              </a:rPr>
              <a:t>全セクションで NSD 風の 3 段構成（SectionTitle）</a:t>
            </a:r>
            <a:endParaRPr lang="en-US" sz="1000" dirty="0"/>
          </a:p>
        </p:txBody>
      </p:sp>
      <p:sp>
        <p:nvSpPr>
          <p:cNvPr id="39" name="Text 37"/>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Yu Gothic" pitchFamily="34" charset="0"/>
                <a:ea typeface="Yu Gothic" pitchFamily="34" charset="-122"/>
                <a:cs typeface="Yu Gothic" pitchFamily="34" charset="-120"/>
              </a:rPr>
              <a:t>株式会社ライトパス サイト構築</a:t>
            </a:r>
            <a:endParaRPr lang="en-US" sz="900" dirty="0"/>
          </a:p>
        </p:txBody>
      </p:sp>
      <p:sp>
        <p:nvSpPr>
          <p:cNvPr id="40" name="Text 38"/>
          <p:cNvSpPr/>
          <p:nvPr/>
        </p:nvSpPr>
        <p:spPr>
          <a:xfrm>
            <a:off x="10820095" y="6446520"/>
            <a:ext cx="822960" cy="274320"/>
          </a:xfrm>
          <a:prstGeom prst="rect">
            <a:avLst/>
          </a:prstGeom>
          <a:noFill/>
          <a:ln/>
        </p:spPr>
        <p:txBody>
          <a:bodyPr wrap="square" lIns="0" tIns="0" rIns="0" bIns="0" rtlCol="0" anchor="ctr"/>
          <a:lstStyle/>
          <a:p>
            <a:pPr algn="r" indent="0" marL="0">
              <a:buNone/>
            </a:pPr>
            <a:r>
              <a:rPr lang="en-US" sz="900" dirty="0">
                <a:solidFill>
                  <a:srgbClr val="64748B"/>
                </a:solidFill>
                <a:latin typeface="Yu Gothic" pitchFamily="34" charset="0"/>
                <a:ea typeface="Yu Gothic" pitchFamily="34" charset="-122"/>
                <a:cs typeface="Yu Gothic" pitchFamily="34" charset="-120"/>
              </a:rPr>
              <a:t>3 / 12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164592" cy="164592"/>
          </a:xfrm>
          <a:prstGeom prst="rect">
            <a:avLst/>
          </a:prstGeom>
          <a:solidFill>
            <a:srgbClr val="EBC528"/>
          </a:solidFill>
          <a:ln/>
        </p:spPr>
      </p:sp>
      <p:sp>
        <p:nvSpPr>
          <p:cNvPr id="3" name="Text 1"/>
          <p:cNvSpPr/>
          <p:nvPr/>
        </p:nvSpPr>
        <p:spPr>
          <a:xfrm>
            <a:off x="777240" y="365760"/>
            <a:ext cx="7315200" cy="365760"/>
          </a:xfrm>
          <a:prstGeom prst="rect">
            <a:avLst/>
          </a:prstGeom>
          <a:noFill/>
          <a:ln/>
        </p:spPr>
        <p:txBody>
          <a:bodyPr wrap="square" lIns="0" tIns="0" rIns="0" bIns="0" rtlCol="0" anchor="ctr"/>
          <a:lstStyle/>
          <a:p>
            <a:pPr indent="0" marL="0">
              <a:buNone/>
            </a:pPr>
            <a:r>
              <a:rPr lang="en-US" sz="1100" b="1" spc="400" kern="0" dirty="0">
                <a:solidFill>
                  <a:srgbClr val="64748B"/>
                </a:solidFill>
                <a:latin typeface="Yu Gothic" pitchFamily="34" charset="0"/>
                <a:ea typeface="Yu Gothic" pitchFamily="34" charset="-122"/>
                <a:cs typeface="Yu Gothic" pitchFamily="34" charset="-120"/>
              </a:rPr>
              <a:t>03  KEY POINT</a:t>
            </a:r>
            <a:endParaRPr lang="en-US" sz="1100" dirty="0"/>
          </a:p>
        </p:txBody>
      </p:sp>
      <p:sp>
        <p:nvSpPr>
          <p:cNvPr id="4" name="Text 2"/>
          <p:cNvSpPr/>
          <p:nvPr/>
        </p:nvSpPr>
        <p:spPr>
          <a:xfrm>
            <a:off x="548640" y="713232"/>
            <a:ext cx="10972800" cy="594360"/>
          </a:xfrm>
          <a:prstGeom prst="rect">
            <a:avLst/>
          </a:prstGeom>
          <a:noFill/>
          <a:ln/>
        </p:spPr>
        <p:txBody>
          <a:bodyPr wrap="square" lIns="0" tIns="0" rIns="0" bIns="0" rtlCol="0" anchor="ctr"/>
          <a:lstStyle/>
          <a:p>
            <a:pPr indent="0" marL="0">
              <a:buNone/>
            </a:pPr>
            <a:r>
              <a:rPr lang="en-US" sz="2400" b="1" dirty="0">
                <a:solidFill>
                  <a:srgbClr val="0F172A"/>
                </a:solidFill>
                <a:latin typeface="Yu Gothic" pitchFamily="34" charset="0"/>
                <a:ea typeface="Yu Gothic" pitchFamily="34" charset="-122"/>
                <a:cs typeface="Yu Gothic" pitchFamily="34" charset="-120"/>
              </a:rPr>
              <a:t>スマホ用サイトの工夫</a:t>
            </a:r>
            <a:endParaRPr lang="en-US" sz="2400" dirty="0"/>
          </a:p>
        </p:txBody>
      </p:sp>
      <p:sp>
        <p:nvSpPr>
          <p:cNvPr id="5" name="Shape 3"/>
          <p:cNvSpPr/>
          <p:nvPr/>
        </p:nvSpPr>
        <p:spPr>
          <a:xfrm>
            <a:off x="548640" y="1417320"/>
            <a:ext cx="11064240" cy="1097280"/>
          </a:xfrm>
          <a:prstGeom prst="rect">
            <a:avLst/>
          </a:prstGeom>
          <a:solidFill>
            <a:srgbClr val="F8FAFC"/>
          </a:solidFill>
          <a:ln w="6350">
            <a:solidFill>
              <a:srgbClr val="E2E8F0"/>
            </a:solidFill>
            <a:prstDash val="solid"/>
          </a:ln>
        </p:spPr>
      </p:sp>
      <p:sp>
        <p:nvSpPr>
          <p:cNvPr id="6" name="Shape 4"/>
          <p:cNvSpPr/>
          <p:nvPr/>
        </p:nvSpPr>
        <p:spPr>
          <a:xfrm>
            <a:off x="548640" y="1417320"/>
            <a:ext cx="109728" cy="1097280"/>
          </a:xfrm>
          <a:prstGeom prst="rect">
            <a:avLst/>
          </a:prstGeom>
          <a:solidFill>
            <a:srgbClr val="EBC528"/>
          </a:solidFill>
          <a:ln/>
        </p:spPr>
      </p:sp>
      <p:sp>
        <p:nvSpPr>
          <p:cNvPr id="7" name="Text 5"/>
          <p:cNvSpPr/>
          <p:nvPr/>
        </p:nvSpPr>
        <p:spPr>
          <a:xfrm>
            <a:off x="822960" y="1508760"/>
            <a:ext cx="868680" cy="274320"/>
          </a:xfrm>
          <a:prstGeom prst="rect">
            <a:avLst/>
          </a:prstGeom>
          <a:noFill/>
          <a:ln/>
        </p:spPr>
        <p:txBody>
          <a:bodyPr wrap="square" lIns="0" tIns="0" rIns="0" bIns="0" rtlCol="0" anchor="ctr"/>
          <a:lstStyle/>
          <a:p>
            <a:pPr indent="0" marL="0">
              <a:buNone/>
            </a:pPr>
            <a:r>
              <a:rPr lang="en-US" sz="1000" b="1" spc="600" kern="0" dirty="0">
                <a:solidFill>
                  <a:srgbClr val="0F172A"/>
                </a:solidFill>
                <a:latin typeface="Yu Gothic" pitchFamily="34" charset="0"/>
                <a:ea typeface="Yu Gothic" pitchFamily="34" charset="-122"/>
                <a:cs typeface="Yu Gothic" pitchFamily="34" charset="-120"/>
              </a:rPr>
              <a:t>POINT</a:t>
            </a:r>
            <a:endParaRPr lang="en-US" sz="1000" dirty="0"/>
          </a:p>
        </p:txBody>
      </p:sp>
      <p:sp>
        <p:nvSpPr>
          <p:cNvPr id="8" name="Shape 6"/>
          <p:cNvSpPr/>
          <p:nvPr/>
        </p:nvSpPr>
        <p:spPr>
          <a:xfrm>
            <a:off x="1828800" y="1618488"/>
            <a:ext cx="164592" cy="164592"/>
          </a:xfrm>
          <a:prstGeom prst="ellipse">
            <a:avLst/>
          </a:prstGeom>
          <a:solidFill>
            <a:srgbClr val="EBC528"/>
          </a:solidFill>
          <a:ln/>
        </p:spPr>
      </p:sp>
      <p:sp>
        <p:nvSpPr>
          <p:cNvPr id="9" name="Text 7"/>
          <p:cNvSpPr/>
          <p:nvPr/>
        </p:nvSpPr>
        <p:spPr>
          <a:xfrm>
            <a:off x="2103120" y="1508760"/>
            <a:ext cx="9418320" cy="411480"/>
          </a:xfrm>
          <a:prstGeom prst="rect">
            <a:avLst/>
          </a:prstGeom>
          <a:noFill/>
          <a:ln/>
        </p:spPr>
        <p:txBody>
          <a:bodyPr wrap="square" lIns="0" tIns="0" rIns="0" bIns="0" rtlCol="0" anchor="ctr"/>
          <a:lstStyle/>
          <a:p>
            <a:pPr indent="0" marL="0">
              <a:buNone/>
            </a:pPr>
            <a:r>
              <a:rPr lang="en-US" sz="1400" b="1" dirty="0">
                <a:solidFill>
                  <a:srgbClr val="0F172A"/>
                </a:solidFill>
                <a:latin typeface="Yu Gothic" pitchFamily="34" charset="0"/>
                <a:ea typeface="Yu Gothic" pitchFamily="34" charset="-122"/>
                <a:cs typeface="Yu Gothic" pitchFamily="34" charset="-120"/>
              </a:rPr>
              <a:t>既定値をモバイル前提で組み、大画面で上書きする「モバイルファースト」設計</a:t>
            </a:r>
            <a:endParaRPr lang="en-US" sz="1400" dirty="0"/>
          </a:p>
        </p:txBody>
      </p:sp>
      <p:sp>
        <p:nvSpPr>
          <p:cNvPr id="10" name="Shape 8"/>
          <p:cNvSpPr/>
          <p:nvPr/>
        </p:nvSpPr>
        <p:spPr>
          <a:xfrm>
            <a:off x="1828800" y="1923288"/>
            <a:ext cx="164592" cy="164592"/>
          </a:xfrm>
          <a:prstGeom prst="ellipse">
            <a:avLst/>
          </a:prstGeom>
          <a:solidFill>
            <a:srgbClr val="EBC528"/>
          </a:solidFill>
          <a:ln/>
        </p:spPr>
      </p:sp>
      <p:sp>
        <p:nvSpPr>
          <p:cNvPr id="11" name="Text 9"/>
          <p:cNvSpPr/>
          <p:nvPr/>
        </p:nvSpPr>
        <p:spPr>
          <a:xfrm>
            <a:off x="2103120" y="1813560"/>
            <a:ext cx="9418320" cy="411480"/>
          </a:xfrm>
          <a:prstGeom prst="rect">
            <a:avLst/>
          </a:prstGeom>
          <a:noFill/>
          <a:ln/>
        </p:spPr>
        <p:txBody>
          <a:bodyPr wrap="square" lIns="0" tIns="0" rIns="0" bIns="0" rtlCol="0" anchor="ctr"/>
          <a:lstStyle/>
          <a:p>
            <a:pPr indent="0" marL="0">
              <a:buNone/>
            </a:pPr>
            <a:r>
              <a:rPr lang="en-US" sz="1400" b="1" dirty="0">
                <a:solidFill>
                  <a:srgbClr val="0F172A"/>
                </a:solidFill>
                <a:latin typeface="Yu Gothic" pitchFamily="34" charset="0"/>
                <a:ea typeface="Yu Gothic" pitchFamily="34" charset="-122"/>
                <a:cs typeface="Yu Gothic" pitchFamily="34" charset="-120"/>
              </a:rPr>
              <a:t>右からスライドインするドロワー＋ESC／外側クリックで自動で閉じる</a:t>
            </a:r>
            <a:endParaRPr lang="en-US" sz="1400" dirty="0"/>
          </a:p>
        </p:txBody>
      </p:sp>
      <p:sp>
        <p:nvSpPr>
          <p:cNvPr id="12" name="Shape 10"/>
          <p:cNvSpPr/>
          <p:nvPr/>
        </p:nvSpPr>
        <p:spPr>
          <a:xfrm>
            <a:off x="1828800" y="2228088"/>
            <a:ext cx="164592" cy="164592"/>
          </a:xfrm>
          <a:prstGeom prst="ellipse">
            <a:avLst/>
          </a:prstGeom>
          <a:solidFill>
            <a:srgbClr val="EBC528"/>
          </a:solidFill>
          <a:ln/>
        </p:spPr>
      </p:sp>
      <p:sp>
        <p:nvSpPr>
          <p:cNvPr id="13" name="Text 11"/>
          <p:cNvSpPr/>
          <p:nvPr/>
        </p:nvSpPr>
        <p:spPr>
          <a:xfrm>
            <a:off x="2103120" y="2118360"/>
            <a:ext cx="9418320" cy="411480"/>
          </a:xfrm>
          <a:prstGeom prst="rect">
            <a:avLst/>
          </a:prstGeom>
          <a:noFill/>
          <a:ln/>
        </p:spPr>
        <p:txBody>
          <a:bodyPr wrap="square" lIns="0" tIns="0" rIns="0" bIns="0" rtlCol="0" anchor="ctr"/>
          <a:lstStyle/>
          <a:p>
            <a:pPr indent="0" marL="0">
              <a:buNone/>
            </a:pPr>
            <a:r>
              <a:rPr lang="en-US" sz="1400" b="1" dirty="0">
                <a:solidFill>
                  <a:srgbClr val="0F172A"/>
                </a:solidFill>
                <a:latin typeface="Yu Gothic" pitchFamily="34" charset="0"/>
                <a:ea typeface="Yu Gothic" pitchFamily="34" charset="-122"/>
                <a:cs typeface="Yu Gothic" pitchFamily="34" charset="-120"/>
              </a:rPr>
              <a:t>画像クリックで拡大表示できる ZoomableImage を再利用可能化</a:t>
            </a:r>
            <a:endParaRPr lang="en-US" sz="1400" dirty="0"/>
          </a:p>
        </p:txBody>
      </p:sp>
      <p:sp>
        <p:nvSpPr>
          <p:cNvPr id="14" name="Shape 12"/>
          <p:cNvSpPr/>
          <p:nvPr/>
        </p:nvSpPr>
        <p:spPr>
          <a:xfrm>
            <a:off x="548640" y="2697480"/>
            <a:ext cx="5486400" cy="1645920"/>
          </a:xfrm>
          <a:prstGeom prst="rect">
            <a:avLst/>
          </a:prstGeom>
          <a:solidFill>
            <a:srgbClr val="F8FAFC"/>
          </a:solidFill>
          <a:ln w="6350">
            <a:solidFill>
              <a:srgbClr val="E2E8F0"/>
            </a:solidFill>
            <a:prstDash val="solid"/>
          </a:ln>
        </p:spPr>
      </p:sp>
      <p:sp>
        <p:nvSpPr>
          <p:cNvPr id="15" name="Shape 13"/>
          <p:cNvSpPr/>
          <p:nvPr/>
        </p:nvSpPr>
        <p:spPr>
          <a:xfrm>
            <a:off x="777240" y="2971800"/>
            <a:ext cx="640080" cy="640080"/>
          </a:xfrm>
          <a:prstGeom prst="ellipse">
            <a:avLst/>
          </a:prstGeom>
          <a:solidFill>
            <a:srgbClr val="2563EB"/>
          </a:solidFill>
          <a:ln/>
        </p:spPr>
      </p:sp>
      <p:sp>
        <p:nvSpPr>
          <p:cNvPr id="16" name="Text 14"/>
          <p:cNvSpPr/>
          <p:nvPr/>
        </p:nvSpPr>
        <p:spPr>
          <a:xfrm>
            <a:off x="777240" y="29718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Yu Gothic" pitchFamily="34" charset="0"/>
                <a:ea typeface="Yu Gothic" pitchFamily="34" charset="-122"/>
                <a:cs typeface="Yu Gothic" pitchFamily="34" charset="-120"/>
              </a:rPr>
              <a:t>M</a:t>
            </a:r>
            <a:endParaRPr lang="en-US" sz="2200" dirty="0"/>
          </a:p>
        </p:txBody>
      </p:sp>
      <p:sp>
        <p:nvSpPr>
          <p:cNvPr id="17" name="Text 15"/>
          <p:cNvSpPr/>
          <p:nvPr/>
        </p:nvSpPr>
        <p:spPr>
          <a:xfrm>
            <a:off x="1554480" y="2880360"/>
            <a:ext cx="4297680" cy="365760"/>
          </a:xfrm>
          <a:prstGeom prst="rect">
            <a:avLst/>
          </a:prstGeom>
          <a:noFill/>
          <a:ln/>
        </p:spPr>
        <p:txBody>
          <a:bodyPr wrap="square" lIns="0" tIns="0" rIns="0" bIns="0" rtlCol="0" anchor="ctr"/>
          <a:lstStyle/>
          <a:p>
            <a:pPr indent="0" marL="0">
              <a:buNone/>
            </a:pPr>
            <a:r>
              <a:rPr lang="en-US" sz="1300" b="1" dirty="0">
                <a:solidFill>
                  <a:srgbClr val="0F172A"/>
                </a:solidFill>
                <a:latin typeface="Yu Gothic" pitchFamily="34" charset="0"/>
                <a:ea typeface="Yu Gothic" pitchFamily="34" charset="-122"/>
                <a:cs typeface="Yu Gothic" pitchFamily="34" charset="-120"/>
              </a:rPr>
              <a:t>モバイルファースト設計</a:t>
            </a:r>
            <a:endParaRPr lang="en-US" sz="1300" dirty="0"/>
          </a:p>
        </p:txBody>
      </p:sp>
      <p:sp>
        <p:nvSpPr>
          <p:cNvPr id="18" name="Text 16"/>
          <p:cNvSpPr/>
          <p:nvPr/>
        </p:nvSpPr>
        <p:spPr>
          <a:xfrm>
            <a:off x="1554480" y="3246120"/>
            <a:ext cx="4297680" cy="640080"/>
          </a:xfrm>
          <a:prstGeom prst="rect">
            <a:avLst/>
          </a:prstGeom>
          <a:noFill/>
          <a:ln/>
        </p:spPr>
        <p:txBody>
          <a:bodyPr wrap="square" lIns="0" tIns="0" rIns="0" bIns="0" rtlCol="0" anchor="ctr"/>
          <a:lstStyle/>
          <a:p>
            <a:pPr indent="0" marL="0">
              <a:buNone/>
            </a:pPr>
            <a:r>
              <a:rPr lang="en-US" sz="1000" dirty="0">
                <a:solidFill>
                  <a:srgbClr val="1E293B"/>
                </a:solidFill>
                <a:latin typeface="Yu Gothic" pitchFamily="34" charset="0"/>
                <a:ea typeface="Yu Gothic" pitchFamily="34" charset="-122"/>
                <a:cs typeface="Yu Gothic" pitchFamily="34" charset="-120"/>
              </a:rPr>
              <a:t>Tailwind のブレークポイントは sm:/md:/lg: で大画面の上書きのみ。既定値はスマホ前提。</a:t>
            </a:r>
            <a:endParaRPr lang="en-US" sz="1000" dirty="0"/>
          </a:p>
        </p:txBody>
      </p:sp>
      <p:sp>
        <p:nvSpPr>
          <p:cNvPr id="19" name="Shape 17"/>
          <p:cNvSpPr/>
          <p:nvPr/>
        </p:nvSpPr>
        <p:spPr>
          <a:xfrm>
            <a:off x="1554480" y="3931920"/>
            <a:ext cx="1371600" cy="292608"/>
          </a:xfrm>
          <a:prstGeom prst="rect">
            <a:avLst/>
          </a:prstGeom>
          <a:solidFill>
            <a:srgbClr val="FFFFFF"/>
          </a:solidFill>
          <a:ln w="6350">
            <a:solidFill>
              <a:srgbClr val="E2E8F0"/>
            </a:solidFill>
            <a:prstDash val="solid"/>
          </a:ln>
        </p:spPr>
      </p:sp>
      <p:sp>
        <p:nvSpPr>
          <p:cNvPr id="20" name="Text 18"/>
          <p:cNvSpPr/>
          <p:nvPr/>
        </p:nvSpPr>
        <p:spPr>
          <a:xfrm>
            <a:off x="1554480" y="3931920"/>
            <a:ext cx="1371600" cy="292608"/>
          </a:xfrm>
          <a:prstGeom prst="rect">
            <a:avLst/>
          </a:prstGeom>
          <a:noFill/>
          <a:ln/>
        </p:spPr>
        <p:txBody>
          <a:bodyPr wrap="square" lIns="0" tIns="0" rIns="0" bIns="0" rtlCol="0" anchor="ctr"/>
          <a:lstStyle/>
          <a:p>
            <a:pPr algn="ctr" indent="0" marL="0">
              <a:buNone/>
            </a:pPr>
            <a:r>
              <a:rPr lang="en-US" sz="900" b="1" dirty="0">
                <a:solidFill>
                  <a:srgbClr val="1E293B"/>
                </a:solidFill>
                <a:latin typeface="Yu Gothic" pitchFamily="34" charset="0"/>
                <a:ea typeface="Yu Gothic" pitchFamily="34" charset="-122"/>
                <a:cs typeface="Yu Gothic" pitchFamily="34" charset="-120"/>
              </a:rPr>
              <a:t>sm: 640px</a:t>
            </a:r>
            <a:endParaRPr lang="en-US" sz="900" dirty="0"/>
          </a:p>
        </p:txBody>
      </p:sp>
      <p:sp>
        <p:nvSpPr>
          <p:cNvPr id="21" name="Shape 19"/>
          <p:cNvSpPr/>
          <p:nvPr/>
        </p:nvSpPr>
        <p:spPr>
          <a:xfrm>
            <a:off x="3017520" y="3931920"/>
            <a:ext cx="1371600" cy="292608"/>
          </a:xfrm>
          <a:prstGeom prst="rect">
            <a:avLst/>
          </a:prstGeom>
          <a:solidFill>
            <a:srgbClr val="FFFFFF"/>
          </a:solidFill>
          <a:ln w="6350">
            <a:solidFill>
              <a:srgbClr val="E2E8F0"/>
            </a:solidFill>
            <a:prstDash val="solid"/>
          </a:ln>
        </p:spPr>
      </p:sp>
      <p:sp>
        <p:nvSpPr>
          <p:cNvPr id="22" name="Text 20"/>
          <p:cNvSpPr/>
          <p:nvPr/>
        </p:nvSpPr>
        <p:spPr>
          <a:xfrm>
            <a:off x="3017520" y="3931920"/>
            <a:ext cx="1371600" cy="292608"/>
          </a:xfrm>
          <a:prstGeom prst="rect">
            <a:avLst/>
          </a:prstGeom>
          <a:noFill/>
          <a:ln/>
        </p:spPr>
        <p:txBody>
          <a:bodyPr wrap="square" lIns="0" tIns="0" rIns="0" bIns="0" rtlCol="0" anchor="ctr"/>
          <a:lstStyle/>
          <a:p>
            <a:pPr algn="ctr" indent="0" marL="0">
              <a:buNone/>
            </a:pPr>
            <a:r>
              <a:rPr lang="en-US" sz="900" b="1" dirty="0">
                <a:solidFill>
                  <a:srgbClr val="1E293B"/>
                </a:solidFill>
                <a:latin typeface="Yu Gothic" pitchFamily="34" charset="0"/>
                <a:ea typeface="Yu Gothic" pitchFamily="34" charset="-122"/>
                <a:cs typeface="Yu Gothic" pitchFamily="34" charset="-120"/>
              </a:rPr>
              <a:t>md: 768px</a:t>
            </a:r>
            <a:endParaRPr lang="en-US" sz="900" dirty="0"/>
          </a:p>
        </p:txBody>
      </p:sp>
      <p:sp>
        <p:nvSpPr>
          <p:cNvPr id="23" name="Shape 21"/>
          <p:cNvSpPr/>
          <p:nvPr/>
        </p:nvSpPr>
        <p:spPr>
          <a:xfrm>
            <a:off x="4480560" y="3931920"/>
            <a:ext cx="1371600" cy="292608"/>
          </a:xfrm>
          <a:prstGeom prst="rect">
            <a:avLst/>
          </a:prstGeom>
          <a:solidFill>
            <a:srgbClr val="FFFFFF"/>
          </a:solidFill>
          <a:ln w="6350">
            <a:solidFill>
              <a:srgbClr val="E2E8F0"/>
            </a:solidFill>
            <a:prstDash val="solid"/>
          </a:ln>
        </p:spPr>
      </p:sp>
      <p:sp>
        <p:nvSpPr>
          <p:cNvPr id="24" name="Text 22"/>
          <p:cNvSpPr/>
          <p:nvPr/>
        </p:nvSpPr>
        <p:spPr>
          <a:xfrm>
            <a:off x="4480560" y="3931920"/>
            <a:ext cx="1371600" cy="292608"/>
          </a:xfrm>
          <a:prstGeom prst="rect">
            <a:avLst/>
          </a:prstGeom>
          <a:noFill/>
          <a:ln/>
        </p:spPr>
        <p:txBody>
          <a:bodyPr wrap="square" lIns="0" tIns="0" rIns="0" bIns="0" rtlCol="0" anchor="ctr"/>
          <a:lstStyle/>
          <a:p>
            <a:pPr algn="ctr" indent="0" marL="0">
              <a:buNone/>
            </a:pPr>
            <a:r>
              <a:rPr lang="en-US" sz="900" b="1" dirty="0">
                <a:solidFill>
                  <a:srgbClr val="1E293B"/>
                </a:solidFill>
                <a:latin typeface="Yu Gothic" pitchFamily="34" charset="0"/>
                <a:ea typeface="Yu Gothic" pitchFamily="34" charset="-122"/>
                <a:cs typeface="Yu Gothic" pitchFamily="34" charset="-120"/>
              </a:rPr>
              <a:t>lg: 1024px</a:t>
            </a:r>
            <a:endParaRPr lang="en-US" sz="900" dirty="0"/>
          </a:p>
        </p:txBody>
      </p:sp>
      <p:sp>
        <p:nvSpPr>
          <p:cNvPr id="25" name="Shape 23"/>
          <p:cNvSpPr/>
          <p:nvPr/>
        </p:nvSpPr>
        <p:spPr>
          <a:xfrm>
            <a:off x="6172200" y="2697480"/>
            <a:ext cx="5486400" cy="1645920"/>
          </a:xfrm>
          <a:prstGeom prst="rect">
            <a:avLst/>
          </a:prstGeom>
          <a:solidFill>
            <a:srgbClr val="F8FAFC"/>
          </a:solidFill>
          <a:ln w="6350">
            <a:solidFill>
              <a:srgbClr val="E2E8F0"/>
            </a:solidFill>
            <a:prstDash val="solid"/>
          </a:ln>
        </p:spPr>
      </p:sp>
      <p:sp>
        <p:nvSpPr>
          <p:cNvPr id="26" name="Shape 24"/>
          <p:cNvSpPr/>
          <p:nvPr/>
        </p:nvSpPr>
        <p:spPr>
          <a:xfrm>
            <a:off x="6400800" y="2971800"/>
            <a:ext cx="640080" cy="640080"/>
          </a:xfrm>
          <a:prstGeom prst="ellipse">
            <a:avLst/>
          </a:prstGeom>
          <a:solidFill>
            <a:srgbClr val="EBC528"/>
          </a:solidFill>
          <a:ln/>
        </p:spPr>
      </p:sp>
      <p:sp>
        <p:nvSpPr>
          <p:cNvPr id="27" name="Text 25"/>
          <p:cNvSpPr/>
          <p:nvPr/>
        </p:nvSpPr>
        <p:spPr>
          <a:xfrm>
            <a:off x="6400800" y="2971800"/>
            <a:ext cx="640080" cy="640080"/>
          </a:xfrm>
          <a:prstGeom prst="rect">
            <a:avLst/>
          </a:prstGeom>
          <a:noFill/>
          <a:ln/>
        </p:spPr>
        <p:txBody>
          <a:bodyPr wrap="square" lIns="0" tIns="0" rIns="0" bIns="0" rtlCol="0" anchor="ctr"/>
          <a:lstStyle/>
          <a:p>
            <a:pPr algn="ctr" indent="0" marL="0">
              <a:buNone/>
            </a:pPr>
            <a:r>
              <a:rPr lang="en-US" sz="2200" b="1" dirty="0">
                <a:solidFill>
                  <a:srgbClr val="0F172A"/>
                </a:solidFill>
                <a:latin typeface="Yu Gothic" pitchFamily="34" charset="0"/>
                <a:ea typeface="Yu Gothic" pitchFamily="34" charset="-122"/>
                <a:cs typeface="Yu Gothic" pitchFamily="34" charset="-120"/>
              </a:rPr>
              <a:t>≡</a:t>
            </a:r>
            <a:endParaRPr lang="en-US" sz="2200" dirty="0"/>
          </a:p>
        </p:txBody>
      </p:sp>
      <p:sp>
        <p:nvSpPr>
          <p:cNvPr id="28" name="Text 26"/>
          <p:cNvSpPr/>
          <p:nvPr/>
        </p:nvSpPr>
        <p:spPr>
          <a:xfrm>
            <a:off x="7178040" y="2880360"/>
            <a:ext cx="4297680" cy="365760"/>
          </a:xfrm>
          <a:prstGeom prst="rect">
            <a:avLst/>
          </a:prstGeom>
          <a:noFill/>
          <a:ln/>
        </p:spPr>
        <p:txBody>
          <a:bodyPr wrap="square" lIns="0" tIns="0" rIns="0" bIns="0" rtlCol="0" anchor="ctr"/>
          <a:lstStyle/>
          <a:p>
            <a:pPr indent="0" marL="0">
              <a:buNone/>
            </a:pPr>
            <a:r>
              <a:rPr lang="en-US" sz="1300" b="1" dirty="0">
                <a:solidFill>
                  <a:srgbClr val="0F172A"/>
                </a:solidFill>
                <a:latin typeface="Yu Gothic" pitchFamily="34" charset="0"/>
                <a:ea typeface="Yu Gothic" pitchFamily="34" charset="-122"/>
                <a:cs typeface="Yu Gothic" pitchFamily="34" charset="-120"/>
              </a:rPr>
              <a:t>右側スライドインドロワー</a:t>
            </a:r>
            <a:endParaRPr lang="en-US" sz="1300" dirty="0"/>
          </a:p>
        </p:txBody>
      </p:sp>
      <p:sp>
        <p:nvSpPr>
          <p:cNvPr id="29" name="Text 27"/>
          <p:cNvSpPr/>
          <p:nvPr/>
        </p:nvSpPr>
        <p:spPr>
          <a:xfrm>
            <a:off x="7178040" y="3246120"/>
            <a:ext cx="4297680" cy="640080"/>
          </a:xfrm>
          <a:prstGeom prst="rect">
            <a:avLst/>
          </a:prstGeom>
          <a:noFill/>
          <a:ln/>
        </p:spPr>
        <p:txBody>
          <a:bodyPr wrap="square" lIns="0" tIns="0" rIns="0" bIns="0" rtlCol="0" anchor="ctr"/>
          <a:lstStyle/>
          <a:p>
            <a:pPr indent="0" marL="0">
              <a:buNone/>
            </a:pPr>
            <a:r>
              <a:rPr lang="en-US" sz="1000" dirty="0">
                <a:solidFill>
                  <a:srgbClr val="1E293B"/>
                </a:solidFill>
                <a:latin typeface="Yu Gothic" pitchFamily="34" charset="0"/>
                <a:ea typeface="Yu Gothic" pitchFamily="34" charset="-122"/>
                <a:cs typeface="Yu Gothic" pitchFamily="34" charset="-120"/>
              </a:rPr>
              <a:t>ハンバーガー → 右からスライド。ESC・外側クリック・ページ遷移で自動的に閉じる。</a:t>
            </a:r>
            <a:endParaRPr lang="en-US" sz="1000" dirty="0"/>
          </a:p>
        </p:txBody>
      </p:sp>
      <p:sp>
        <p:nvSpPr>
          <p:cNvPr id="30" name="Shape 28"/>
          <p:cNvSpPr/>
          <p:nvPr/>
        </p:nvSpPr>
        <p:spPr>
          <a:xfrm>
            <a:off x="7178040" y="3931920"/>
            <a:ext cx="1371600" cy="292608"/>
          </a:xfrm>
          <a:prstGeom prst="rect">
            <a:avLst/>
          </a:prstGeom>
          <a:solidFill>
            <a:srgbClr val="FFFFFF"/>
          </a:solidFill>
          <a:ln w="6350">
            <a:solidFill>
              <a:srgbClr val="E2E8F0"/>
            </a:solidFill>
            <a:prstDash val="solid"/>
          </a:ln>
        </p:spPr>
      </p:sp>
      <p:sp>
        <p:nvSpPr>
          <p:cNvPr id="31" name="Text 29"/>
          <p:cNvSpPr/>
          <p:nvPr/>
        </p:nvSpPr>
        <p:spPr>
          <a:xfrm>
            <a:off x="7178040" y="3931920"/>
            <a:ext cx="1371600" cy="292608"/>
          </a:xfrm>
          <a:prstGeom prst="rect">
            <a:avLst/>
          </a:prstGeom>
          <a:noFill/>
          <a:ln/>
        </p:spPr>
        <p:txBody>
          <a:bodyPr wrap="square" lIns="0" tIns="0" rIns="0" bIns="0" rtlCol="0" anchor="ctr"/>
          <a:lstStyle/>
          <a:p>
            <a:pPr algn="ctr" indent="0" marL="0">
              <a:buNone/>
            </a:pPr>
            <a:r>
              <a:rPr lang="en-US" sz="900" b="1" dirty="0">
                <a:solidFill>
                  <a:srgbClr val="1E293B"/>
                </a:solidFill>
                <a:latin typeface="Yu Gothic" pitchFamily="34" charset="0"/>
                <a:ea typeface="Yu Gothic" pitchFamily="34" charset="-122"/>
                <a:cs typeface="Yu Gothic" pitchFamily="34" charset="-120"/>
              </a:rPr>
              <a:t>useState</a:t>
            </a:r>
            <a:endParaRPr lang="en-US" sz="900" dirty="0"/>
          </a:p>
        </p:txBody>
      </p:sp>
      <p:sp>
        <p:nvSpPr>
          <p:cNvPr id="32" name="Shape 30"/>
          <p:cNvSpPr/>
          <p:nvPr/>
        </p:nvSpPr>
        <p:spPr>
          <a:xfrm>
            <a:off x="8641080" y="3931920"/>
            <a:ext cx="1371600" cy="292608"/>
          </a:xfrm>
          <a:prstGeom prst="rect">
            <a:avLst/>
          </a:prstGeom>
          <a:solidFill>
            <a:srgbClr val="FFFFFF"/>
          </a:solidFill>
          <a:ln w="6350">
            <a:solidFill>
              <a:srgbClr val="E2E8F0"/>
            </a:solidFill>
            <a:prstDash val="solid"/>
          </a:ln>
        </p:spPr>
      </p:sp>
      <p:sp>
        <p:nvSpPr>
          <p:cNvPr id="33" name="Text 31"/>
          <p:cNvSpPr/>
          <p:nvPr/>
        </p:nvSpPr>
        <p:spPr>
          <a:xfrm>
            <a:off x="8641080" y="3931920"/>
            <a:ext cx="1371600" cy="292608"/>
          </a:xfrm>
          <a:prstGeom prst="rect">
            <a:avLst/>
          </a:prstGeom>
          <a:noFill/>
          <a:ln/>
        </p:spPr>
        <p:txBody>
          <a:bodyPr wrap="square" lIns="0" tIns="0" rIns="0" bIns="0" rtlCol="0" anchor="ctr"/>
          <a:lstStyle/>
          <a:p>
            <a:pPr algn="ctr" indent="0" marL="0">
              <a:buNone/>
            </a:pPr>
            <a:r>
              <a:rPr lang="en-US" sz="900" b="1" dirty="0">
                <a:solidFill>
                  <a:srgbClr val="1E293B"/>
                </a:solidFill>
                <a:latin typeface="Yu Gothic" pitchFamily="34" charset="0"/>
                <a:ea typeface="Yu Gothic" pitchFamily="34" charset="-122"/>
                <a:cs typeface="Yu Gothic" pitchFamily="34" charset="-120"/>
              </a:rPr>
              <a:t>ESC キー</a:t>
            </a:r>
            <a:endParaRPr lang="en-US" sz="900" dirty="0"/>
          </a:p>
        </p:txBody>
      </p:sp>
      <p:sp>
        <p:nvSpPr>
          <p:cNvPr id="34" name="Shape 32"/>
          <p:cNvSpPr/>
          <p:nvPr/>
        </p:nvSpPr>
        <p:spPr>
          <a:xfrm>
            <a:off x="10104120" y="3931920"/>
            <a:ext cx="1371600" cy="292608"/>
          </a:xfrm>
          <a:prstGeom prst="rect">
            <a:avLst/>
          </a:prstGeom>
          <a:solidFill>
            <a:srgbClr val="FFFFFF"/>
          </a:solidFill>
          <a:ln w="6350">
            <a:solidFill>
              <a:srgbClr val="E2E8F0"/>
            </a:solidFill>
            <a:prstDash val="solid"/>
          </a:ln>
        </p:spPr>
      </p:sp>
      <p:sp>
        <p:nvSpPr>
          <p:cNvPr id="35" name="Text 33"/>
          <p:cNvSpPr/>
          <p:nvPr/>
        </p:nvSpPr>
        <p:spPr>
          <a:xfrm>
            <a:off x="10104120" y="3931920"/>
            <a:ext cx="1371600" cy="292608"/>
          </a:xfrm>
          <a:prstGeom prst="rect">
            <a:avLst/>
          </a:prstGeom>
          <a:noFill/>
          <a:ln/>
        </p:spPr>
        <p:txBody>
          <a:bodyPr wrap="square" lIns="0" tIns="0" rIns="0" bIns="0" rtlCol="0" anchor="ctr"/>
          <a:lstStyle/>
          <a:p>
            <a:pPr algn="ctr" indent="0" marL="0">
              <a:buNone/>
            </a:pPr>
            <a:r>
              <a:rPr lang="en-US" sz="900" b="1" dirty="0">
                <a:solidFill>
                  <a:srgbClr val="1E293B"/>
                </a:solidFill>
                <a:latin typeface="Yu Gothic" pitchFamily="34" charset="0"/>
                <a:ea typeface="Yu Gothic" pitchFamily="34" charset="-122"/>
                <a:cs typeface="Yu Gothic" pitchFamily="34" charset="-120"/>
              </a:rPr>
              <a:t>ページ遷移検知</a:t>
            </a:r>
            <a:endParaRPr lang="en-US" sz="900" dirty="0"/>
          </a:p>
        </p:txBody>
      </p:sp>
      <p:sp>
        <p:nvSpPr>
          <p:cNvPr id="36" name="Shape 34"/>
          <p:cNvSpPr/>
          <p:nvPr/>
        </p:nvSpPr>
        <p:spPr>
          <a:xfrm>
            <a:off x="548640" y="4480560"/>
            <a:ext cx="5486400" cy="1645920"/>
          </a:xfrm>
          <a:prstGeom prst="rect">
            <a:avLst/>
          </a:prstGeom>
          <a:solidFill>
            <a:srgbClr val="F8FAFC"/>
          </a:solidFill>
          <a:ln w="6350">
            <a:solidFill>
              <a:srgbClr val="E2E8F0"/>
            </a:solidFill>
            <a:prstDash val="solid"/>
          </a:ln>
        </p:spPr>
      </p:sp>
      <p:sp>
        <p:nvSpPr>
          <p:cNvPr id="37" name="Shape 35"/>
          <p:cNvSpPr/>
          <p:nvPr/>
        </p:nvSpPr>
        <p:spPr>
          <a:xfrm>
            <a:off x="777240" y="4754880"/>
            <a:ext cx="640080" cy="640080"/>
          </a:xfrm>
          <a:prstGeom prst="ellipse">
            <a:avLst/>
          </a:prstGeom>
          <a:solidFill>
            <a:srgbClr val="10B981"/>
          </a:solidFill>
          <a:ln/>
        </p:spPr>
      </p:sp>
      <p:sp>
        <p:nvSpPr>
          <p:cNvPr id="38" name="Text 36"/>
          <p:cNvSpPr/>
          <p:nvPr/>
        </p:nvSpPr>
        <p:spPr>
          <a:xfrm>
            <a:off x="777240" y="47548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Yu Gothic" pitchFamily="34" charset="0"/>
                <a:ea typeface="Yu Gothic" pitchFamily="34" charset="-122"/>
                <a:cs typeface="Yu Gothic" pitchFamily="34" charset="-120"/>
              </a:rPr>
              <a:t>↕</a:t>
            </a:r>
            <a:endParaRPr lang="en-US" sz="2200" dirty="0"/>
          </a:p>
        </p:txBody>
      </p:sp>
      <p:sp>
        <p:nvSpPr>
          <p:cNvPr id="39" name="Text 37"/>
          <p:cNvSpPr/>
          <p:nvPr/>
        </p:nvSpPr>
        <p:spPr>
          <a:xfrm>
            <a:off x="1554480" y="4663440"/>
            <a:ext cx="4297680" cy="365760"/>
          </a:xfrm>
          <a:prstGeom prst="rect">
            <a:avLst/>
          </a:prstGeom>
          <a:noFill/>
          <a:ln/>
        </p:spPr>
        <p:txBody>
          <a:bodyPr wrap="square" lIns="0" tIns="0" rIns="0" bIns="0" rtlCol="0" anchor="ctr"/>
          <a:lstStyle/>
          <a:p>
            <a:pPr indent="0" marL="0">
              <a:buNone/>
            </a:pPr>
            <a:r>
              <a:rPr lang="en-US" sz="1300" b="1" dirty="0">
                <a:solidFill>
                  <a:srgbClr val="0F172A"/>
                </a:solidFill>
                <a:latin typeface="Yu Gothic" pitchFamily="34" charset="0"/>
                <a:ea typeface="Yu Gothic" pitchFamily="34" charset="-122"/>
                <a:cs typeface="Yu Gothic" pitchFamily="34" charset="-120"/>
              </a:rPr>
              <a:t>body スクロール固定</a:t>
            </a:r>
            <a:endParaRPr lang="en-US" sz="1300" dirty="0"/>
          </a:p>
        </p:txBody>
      </p:sp>
      <p:sp>
        <p:nvSpPr>
          <p:cNvPr id="40" name="Text 38"/>
          <p:cNvSpPr/>
          <p:nvPr/>
        </p:nvSpPr>
        <p:spPr>
          <a:xfrm>
            <a:off x="1554480" y="5029200"/>
            <a:ext cx="4297680" cy="640080"/>
          </a:xfrm>
          <a:prstGeom prst="rect">
            <a:avLst/>
          </a:prstGeom>
          <a:noFill/>
          <a:ln/>
        </p:spPr>
        <p:txBody>
          <a:bodyPr wrap="square" lIns="0" tIns="0" rIns="0" bIns="0" rtlCol="0" anchor="ctr"/>
          <a:lstStyle/>
          <a:p>
            <a:pPr indent="0" marL="0">
              <a:buNone/>
            </a:pPr>
            <a:r>
              <a:rPr lang="en-US" sz="1000" dirty="0">
                <a:solidFill>
                  <a:srgbClr val="1E293B"/>
                </a:solidFill>
                <a:latin typeface="Yu Gothic" pitchFamily="34" charset="0"/>
                <a:ea typeface="Yu Gothic" pitchFamily="34" charset="-122"/>
                <a:cs typeface="Yu Gothic" pitchFamily="34" charset="-120"/>
              </a:rPr>
              <a:t>メニュー開放中は body.style.overflow = 'hidden' でスクロール固定。閉じたら復元。</a:t>
            </a:r>
            <a:endParaRPr lang="en-US" sz="1000" dirty="0"/>
          </a:p>
        </p:txBody>
      </p:sp>
      <p:sp>
        <p:nvSpPr>
          <p:cNvPr id="41" name="Shape 39"/>
          <p:cNvSpPr/>
          <p:nvPr/>
        </p:nvSpPr>
        <p:spPr>
          <a:xfrm>
            <a:off x="1554480" y="5715000"/>
            <a:ext cx="1371600" cy="292608"/>
          </a:xfrm>
          <a:prstGeom prst="rect">
            <a:avLst/>
          </a:prstGeom>
          <a:solidFill>
            <a:srgbClr val="FFFFFF"/>
          </a:solidFill>
          <a:ln w="6350">
            <a:solidFill>
              <a:srgbClr val="E2E8F0"/>
            </a:solidFill>
            <a:prstDash val="solid"/>
          </a:ln>
        </p:spPr>
      </p:sp>
      <p:sp>
        <p:nvSpPr>
          <p:cNvPr id="42" name="Text 40"/>
          <p:cNvSpPr/>
          <p:nvPr/>
        </p:nvSpPr>
        <p:spPr>
          <a:xfrm>
            <a:off x="1554480" y="5715000"/>
            <a:ext cx="1371600" cy="292608"/>
          </a:xfrm>
          <a:prstGeom prst="rect">
            <a:avLst/>
          </a:prstGeom>
          <a:noFill/>
          <a:ln/>
        </p:spPr>
        <p:txBody>
          <a:bodyPr wrap="square" lIns="0" tIns="0" rIns="0" bIns="0" rtlCol="0" anchor="ctr"/>
          <a:lstStyle/>
          <a:p>
            <a:pPr algn="ctr" indent="0" marL="0">
              <a:buNone/>
            </a:pPr>
            <a:r>
              <a:rPr lang="en-US" sz="900" b="1" dirty="0">
                <a:solidFill>
                  <a:srgbClr val="1E293B"/>
                </a:solidFill>
                <a:latin typeface="Yu Gothic" pitchFamily="34" charset="0"/>
                <a:ea typeface="Yu Gothic" pitchFamily="34" charset="-122"/>
                <a:cs typeface="Yu Gothic" pitchFamily="34" charset="-120"/>
              </a:rPr>
              <a:t>body lock</a:t>
            </a:r>
            <a:endParaRPr lang="en-US" sz="900" dirty="0"/>
          </a:p>
        </p:txBody>
      </p:sp>
      <p:sp>
        <p:nvSpPr>
          <p:cNvPr id="43" name="Shape 41"/>
          <p:cNvSpPr/>
          <p:nvPr/>
        </p:nvSpPr>
        <p:spPr>
          <a:xfrm>
            <a:off x="3017520" y="5715000"/>
            <a:ext cx="1371600" cy="292608"/>
          </a:xfrm>
          <a:prstGeom prst="rect">
            <a:avLst/>
          </a:prstGeom>
          <a:solidFill>
            <a:srgbClr val="FFFFFF"/>
          </a:solidFill>
          <a:ln w="6350">
            <a:solidFill>
              <a:srgbClr val="E2E8F0"/>
            </a:solidFill>
            <a:prstDash val="solid"/>
          </a:ln>
        </p:spPr>
      </p:sp>
      <p:sp>
        <p:nvSpPr>
          <p:cNvPr id="44" name="Text 42"/>
          <p:cNvSpPr/>
          <p:nvPr/>
        </p:nvSpPr>
        <p:spPr>
          <a:xfrm>
            <a:off x="3017520" y="5715000"/>
            <a:ext cx="1371600" cy="292608"/>
          </a:xfrm>
          <a:prstGeom prst="rect">
            <a:avLst/>
          </a:prstGeom>
          <a:noFill/>
          <a:ln/>
        </p:spPr>
        <p:txBody>
          <a:bodyPr wrap="square" lIns="0" tIns="0" rIns="0" bIns="0" rtlCol="0" anchor="ctr"/>
          <a:lstStyle/>
          <a:p>
            <a:pPr algn="ctr" indent="0" marL="0">
              <a:buNone/>
            </a:pPr>
            <a:r>
              <a:rPr lang="en-US" sz="900" b="1" dirty="0">
                <a:solidFill>
                  <a:srgbClr val="1E293B"/>
                </a:solidFill>
                <a:latin typeface="Yu Gothic" pitchFamily="34" charset="0"/>
                <a:ea typeface="Yu Gothic" pitchFamily="34" charset="-122"/>
                <a:cs typeface="Yu Gothic" pitchFamily="34" charset="-120"/>
              </a:rPr>
              <a:t>状態復元</a:t>
            </a:r>
            <a:endParaRPr lang="en-US" sz="900" dirty="0"/>
          </a:p>
        </p:txBody>
      </p:sp>
      <p:sp>
        <p:nvSpPr>
          <p:cNvPr id="45" name="Shape 43"/>
          <p:cNvSpPr/>
          <p:nvPr/>
        </p:nvSpPr>
        <p:spPr>
          <a:xfrm>
            <a:off x="4480560" y="5715000"/>
            <a:ext cx="1371600" cy="292608"/>
          </a:xfrm>
          <a:prstGeom prst="rect">
            <a:avLst/>
          </a:prstGeom>
          <a:solidFill>
            <a:srgbClr val="FFFFFF"/>
          </a:solidFill>
          <a:ln w="6350">
            <a:solidFill>
              <a:srgbClr val="E2E8F0"/>
            </a:solidFill>
            <a:prstDash val="solid"/>
          </a:ln>
        </p:spPr>
      </p:sp>
      <p:sp>
        <p:nvSpPr>
          <p:cNvPr id="46" name="Text 44"/>
          <p:cNvSpPr/>
          <p:nvPr/>
        </p:nvSpPr>
        <p:spPr>
          <a:xfrm>
            <a:off x="4480560" y="5715000"/>
            <a:ext cx="1371600" cy="292608"/>
          </a:xfrm>
          <a:prstGeom prst="rect">
            <a:avLst/>
          </a:prstGeom>
          <a:noFill/>
          <a:ln/>
        </p:spPr>
        <p:txBody>
          <a:bodyPr wrap="square" lIns="0" tIns="0" rIns="0" bIns="0" rtlCol="0" anchor="ctr"/>
          <a:lstStyle/>
          <a:p>
            <a:pPr algn="ctr" indent="0" marL="0">
              <a:buNone/>
            </a:pPr>
            <a:r>
              <a:rPr lang="en-US" sz="900" b="1" dirty="0">
                <a:solidFill>
                  <a:srgbClr val="1E293B"/>
                </a:solidFill>
                <a:latin typeface="Yu Gothic" pitchFamily="34" charset="0"/>
                <a:ea typeface="Yu Gothic" pitchFamily="34" charset="-122"/>
                <a:cs typeface="Yu Gothic" pitchFamily="34" charset="-120"/>
              </a:rPr>
              <a:t>UX 安定</a:t>
            </a:r>
            <a:endParaRPr lang="en-US" sz="900" dirty="0"/>
          </a:p>
        </p:txBody>
      </p:sp>
      <p:sp>
        <p:nvSpPr>
          <p:cNvPr id="47" name="Shape 45"/>
          <p:cNvSpPr/>
          <p:nvPr/>
        </p:nvSpPr>
        <p:spPr>
          <a:xfrm>
            <a:off x="6172200" y="4480560"/>
            <a:ext cx="5486400" cy="1645920"/>
          </a:xfrm>
          <a:prstGeom prst="rect">
            <a:avLst/>
          </a:prstGeom>
          <a:solidFill>
            <a:srgbClr val="F8FAFC"/>
          </a:solidFill>
          <a:ln w="6350">
            <a:solidFill>
              <a:srgbClr val="E2E8F0"/>
            </a:solidFill>
            <a:prstDash val="solid"/>
          </a:ln>
        </p:spPr>
      </p:sp>
      <p:sp>
        <p:nvSpPr>
          <p:cNvPr id="48" name="Shape 46"/>
          <p:cNvSpPr/>
          <p:nvPr/>
        </p:nvSpPr>
        <p:spPr>
          <a:xfrm>
            <a:off x="6400800" y="4754880"/>
            <a:ext cx="640080" cy="640080"/>
          </a:xfrm>
          <a:prstGeom prst="ellipse">
            <a:avLst/>
          </a:prstGeom>
          <a:solidFill>
            <a:srgbClr val="7C3AED"/>
          </a:solidFill>
          <a:ln/>
        </p:spPr>
      </p:sp>
      <p:sp>
        <p:nvSpPr>
          <p:cNvPr id="49" name="Text 47"/>
          <p:cNvSpPr/>
          <p:nvPr/>
        </p:nvSpPr>
        <p:spPr>
          <a:xfrm>
            <a:off x="6400800" y="47548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Yu Gothic" pitchFamily="34" charset="0"/>
                <a:ea typeface="Yu Gothic" pitchFamily="34" charset="-122"/>
                <a:cs typeface="Yu Gothic" pitchFamily="34" charset="-120"/>
              </a:rPr>
              <a:t>+</a:t>
            </a:r>
            <a:endParaRPr lang="en-US" sz="2200" dirty="0"/>
          </a:p>
        </p:txBody>
      </p:sp>
      <p:sp>
        <p:nvSpPr>
          <p:cNvPr id="50" name="Text 48"/>
          <p:cNvSpPr/>
          <p:nvPr/>
        </p:nvSpPr>
        <p:spPr>
          <a:xfrm>
            <a:off x="7178040" y="4663440"/>
            <a:ext cx="4297680" cy="365760"/>
          </a:xfrm>
          <a:prstGeom prst="rect">
            <a:avLst/>
          </a:prstGeom>
          <a:noFill/>
          <a:ln/>
        </p:spPr>
        <p:txBody>
          <a:bodyPr wrap="square" lIns="0" tIns="0" rIns="0" bIns="0" rtlCol="0" anchor="ctr"/>
          <a:lstStyle/>
          <a:p>
            <a:pPr indent="0" marL="0">
              <a:buNone/>
            </a:pPr>
            <a:r>
              <a:rPr lang="en-US" sz="1300" b="1" dirty="0">
                <a:solidFill>
                  <a:srgbClr val="0F172A"/>
                </a:solidFill>
                <a:latin typeface="Yu Gothic" pitchFamily="34" charset="0"/>
                <a:ea typeface="Yu Gothic" pitchFamily="34" charset="-122"/>
                <a:cs typeface="Yu Gothic" pitchFamily="34" charset="-120"/>
              </a:rPr>
              <a:t>画像拡大表示</a:t>
            </a:r>
            <a:endParaRPr lang="en-US" sz="1300" dirty="0"/>
          </a:p>
        </p:txBody>
      </p:sp>
      <p:sp>
        <p:nvSpPr>
          <p:cNvPr id="51" name="Text 49"/>
          <p:cNvSpPr/>
          <p:nvPr/>
        </p:nvSpPr>
        <p:spPr>
          <a:xfrm>
            <a:off x="7178040" y="5029200"/>
            <a:ext cx="4297680" cy="640080"/>
          </a:xfrm>
          <a:prstGeom prst="rect">
            <a:avLst/>
          </a:prstGeom>
          <a:noFill/>
          <a:ln/>
        </p:spPr>
        <p:txBody>
          <a:bodyPr wrap="square" lIns="0" tIns="0" rIns="0" bIns="0" rtlCol="0" anchor="ctr"/>
          <a:lstStyle/>
          <a:p>
            <a:pPr indent="0" marL="0">
              <a:buNone/>
            </a:pPr>
            <a:r>
              <a:rPr lang="en-US" sz="1000" dirty="0">
                <a:solidFill>
                  <a:srgbClr val="1E293B"/>
                </a:solidFill>
                <a:latin typeface="Yu Gothic" pitchFamily="34" charset="0"/>
                <a:ea typeface="Yu Gothic" pitchFamily="34" charset="-122"/>
                <a:cs typeface="Yu Gothic" pitchFamily="34" charset="-120"/>
              </a:rPr>
              <a:t>アクセス情報の写真をクリック/タップで拡大表示。ZoomableImage で再利用化。</a:t>
            </a:r>
            <a:endParaRPr lang="en-US" sz="1000" dirty="0"/>
          </a:p>
        </p:txBody>
      </p:sp>
      <p:sp>
        <p:nvSpPr>
          <p:cNvPr id="52" name="Shape 50"/>
          <p:cNvSpPr/>
          <p:nvPr/>
        </p:nvSpPr>
        <p:spPr>
          <a:xfrm>
            <a:off x="7178040" y="5715000"/>
            <a:ext cx="1371600" cy="292608"/>
          </a:xfrm>
          <a:prstGeom prst="rect">
            <a:avLst/>
          </a:prstGeom>
          <a:solidFill>
            <a:srgbClr val="FFFFFF"/>
          </a:solidFill>
          <a:ln w="6350">
            <a:solidFill>
              <a:srgbClr val="E2E8F0"/>
            </a:solidFill>
            <a:prstDash val="solid"/>
          </a:ln>
        </p:spPr>
      </p:sp>
      <p:sp>
        <p:nvSpPr>
          <p:cNvPr id="53" name="Text 51"/>
          <p:cNvSpPr/>
          <p:nvPr/>
        </p:nvSpPr>
        <p:spPr>
          <a:xfrm>
            <a:off x="7178040" y="5715000"/>
            <a:ext cx="1371600" cy="292608"/>
          </a:xfrm>
          <a:prstGeom prst="rect">
            <a:avLst/>
          </a:prstGeom>
          <a:noFill/>
          <a:ln/>
        </p:spPr>
        <p:txBody>
          <a:bodyPr wrap="square" lIns="0" tIns="0" rIns="0" bIns="0" rtlCol="0" anchor="ctr"/>
          <a:lstStyle/>
          <a:p>
            <a:pPr algn="ctr" indent="0" marL="0">
              <a:buNone/>
            </a:pPr>
            <a:r>
              <a:rPr lang="en-US" sz="900" b="1" dirty="0">
                <a:solidFill>
                  <a:srgbClr val="1E293B"/>
                </a:solidFill>
                <a:latin typeface="Yu Gothic" pitchFamily="34" charset="0"/>
                <a:ea typeface="Yu Gothic" pitchFamily="34" charset="-122"/>
                <a:cs typeface="Yu Gothic" pitchFamily="34" charset="-120"/>
              </a:rPr>
              <a:t>タップ拡大</a:t>
            </a:r>
            <a:endParaRPr lang="en-US" sz="900" dirty="0"/>
          </a:p>
        </p:txBody>
      </p:sp>
      <p:sp>
        <p:nvSpPr>
          <p:cNvPr id="54" name="Shape 52"/>
          <p:cNvSpPr/>
          <p:nvPr/>
        </p:nvSpPr>
        <p:spPr>
          <a:xfrm>
            <a:off x="8641080" y="5715000"/>
            <a:ext cx="1371600" cy="292608"/>
          </a:xfrm>
          <a:prstGeom prst="rect">
            <a:avLst/>
          </a:prstGeom>
          <a:solidFill>
            <a:srgbClr val="FFFFFF"/>
          </a:solidFill>
          <a:ln w="6350">
            <a:solidFill>
              <a:srgbClr val="E2E8F0"/>
            </a:solidFill>
            <a:prstDash val="solid"/>
          </a:ln>
        </p:spPr>
      </p:sp>
      <p:sp>
        <p:nvSpPr>
          <p:cNvPr id="55" name="Text 53"/>
          <p:cNvSpPr/>
          <p:nvPr/>
        </p:nvSpPr>
        <p:spPr>
          <a:xfrm>
            <a:off x="8641080" y="5715000"/>
            <a:ext cx="1371600" cy="292608"/>
          </a:xfrm>
          <a:prstGeom prst="rect">
            <a:avLst/>
          </a:prstGeom>
          <a:noFill/>
          <a:ln/>
        </p:spPr>
        <p:txBody>
          <a:bodyPr wrap="square" lIns="0" tIns="0" rIns="0" bIns="0" rtlCol="0" anchor="ctr"/>
          <a:lstStyle/>
          <a:p>
            <a:pPr algn="ctr" indent="0" marL="0">
              <a:buNone/>
            </a:pPr>
            <a:r>
              <a:rPr lang="en-US" sz="900" b="1" dirty="0">
                <a:solidFill>
                  <a:srgbClr val="1E293B"/>
                </a:solidFill>
                <a:latin typeface="Yu Gothic" pitchFamily="34" charset="0"/>
                <a:ea typeface="Yu Gothic" pitchFamily="34" charset="-122"/>
                <a:cs typeface="Yu Gothic" pitchFamily="34" charset="-120"/>
              </a:rPr>
              <a:t>背景クリックで閉じる</a:t>
            </a:r>
            <a:endParaRPr lang="en-US" sz="900" dirty="0"/>
          </a:p>
        </p:txBody>
      </p:sp>
      <p:sp>
        <p:nvSpPr>
          <p:cNvPr id="56" name="Shape 54"/>
          <p:cNvSpPr/>
          <p:nvPr/>
        </p:nvSpPr>
        <p:spPr>
          <a:xfrm>
            <a:off x="10104120" y="5715000"/>
            <a:ext cx="1371600" cy="292608"/>
          </a:xfrm>
          <a:prstGeom prst="rect">
            <a:avLst/>
          </a:prstGeom>
          <a:solidFill>
            <a:srgbClr val="FFFFFF"/>
          </a:solidFill>
          <a:ln w="6350">
            <a:solidFill>
              <a:srgbClr val="E2E8F0"/>
            </a:solidFill>
            <a:prstDash val="solid"/>
          </a:ln>
        </p:spPr>
      </p:sp>
      <p:sp>
        <p:nvSpPr>
          <p:cNvPr id="57" name="Text 55"/>
          <p:cNvSpPr/>
          <p:nvPr/>
        </p:nvSpPr>
        <p:spPr>
          <a:xfrm>
            <a:off x="10104120" y="5715000"/>
            <a:ext cx="1371600" cy="292608"/>
          </a:xfrm>
          <a:prstGeom prst="rect">
            <a:avLst/>
          </a:prstGeom>
          <a:noFill/>
          <a:ln/>
        </p:spPr>
        <p:txBody>
          <a:bodyPr wrap="square" lIns="0" tIns="0" rIns="0" bIns="0" rtlCol="0" anchor="ctr"/>
          <a:lstStyle/>
          <a:p>
            <a:pPr algn="ctr" indent="0" marL="0">
              <a:buNone/>
            </a:pPr>
            <a:r>
              <a:rPr lang="en-US" sz="900" b="1" dirty="0">
                <a:solidFill>
                  <a:srgbClr val="1E293B"/>
                </a:solidFill>
                <a:latin typeface="Yu Gothic" pitchFamily="34" charset="0"/>
                <a:ea typeface="Yu Gothic" pitchFamily="34" charset="-122"/>
                <a:cs typeface="Yu Gothic" pitchFamily="34" charset="-120"/>
              </a:rPr>
              <a:t>再利用可</a:t>
            </a:r>
            <a:endParaRPr lang="en-US" sz="900" dirty="0"/>
          </a:p>
        </p:txBody>
      </p:sp>
      <p:sp>
        <p:nvSpPr>
          <p:cNvPr id="58" name="Text 56"/>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Yu Gothic" pitchFamily="34" charset="0"/>
                <a:ea typeface="Yu Gothic" pitchFamily="34" charset="-122"/>
                <a:cs typeface="Yu Gothic" pitchFamily="34" charset="-120"/>
              </a:rPr>
              <a:t>株式会社ライトパス サイト構築</a:t>
            </a:r>
            <a:endParaRPr lang="en-US" sz="900" dirty="0"/>
          </a:p>
        </p:txBody>
      </p:sp>
      <p:sp>
        <p:nvSpPr>
          <p:cNvPr id="59" name="Text 57"/>
          <p:cNvSpPr/>
          <p:nvPr/>
        </p:nvSpPr>
        <p:spPr>
          <a:xfrm>
            <a:off x="10820095" y="6446520"/>
            <a:ext cx="822960" cy="274320"/>
          </a:xfrm>
          <a:prstGeom prst="rect">
            <a:avLst/>
          </a:prstGeom>
          <a:noFill/>
          <a:ln/>
        </p:spPr>
        <p:txBody>
          <a:bodyPr wrap="square" lIns="0" tIns="0" rIns="0" bIns="0" rtlCol="0" anchor="ctr"/>
          <a:lstStyle/>
          <a:p>
            <a:pPr algn="r" indent="0" marL="0">
              <a:buNone/>
            </a:pPr>
            <a:r>
              <a:rPr lang="en-US" sz="900" dirty="0">
                <a:solidFill>
                  <a:srgbClr val="64748B"/>
                </a:solidFill>
                <a:latin typeface="Yu Gothic" pitchFamily="34" charset="0"/>
                <a:ea typeface="Yu Gothic" pitchFamily="34" charset="-122"/>
                <a:cs typeface="Yu Gothic" pitchFamily="34" charset="-120"/>
              </a:rPr>
              <a:t>4 / 12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164592" cy="164592"/>
          </a:xfrm>
          <a:prstGeom prst="rect">
            <a:avLst/>
          </a:prstGeom>
          <a:solidFill>
            <a:srgbClr val="EBC528"/>
          </a:solidFill>
          <a:ln/>
        </p:spPr>
      </p:sp>
      <p:sp>
        <p:nvSpPr>
          <p:cNvPr id="3" name="Text 1"/>
          <p:cNvSpPr/>
          <p:nvPr/>
        </p:nvSpPr>
        <p:spPr>
          <a:xfrm>
            <a:off x="777240" y="365760"/>
            <a:ext cx="7315200" cy="365760"/>
          </a:xfrm>
          <a:prstGeom prst="rect">
            <a:avLst/>
          </a:prstGeom>
          <a:noFill/>
          <a:ln/>
        </p:spPr>
        <p:txBody>
          <a:bodyPr wrap="square" lIns="0" tIns="0" rIns="0" bIns="0" rtlCol="0" anchor="ctr"/>
          <a:lstStyle/>
          <a:p>
            <a:pPr indent="0" marL="0">
              <a:buNone/>
            </a:pPr>
            <a:r>
              <a:rPr lang="en-US" sz="1100" b="1" spc="400" kern="0" dirty="0">
                <a:solidFill>
                  <a:srgbClr val="64748B"/>
                </a:solidFill>
                <a:latin typeface="Yu Gothic" pitchFamily="34" charset="0"/>
                <a:ea typeface="Yu Gothic" pitchFamily="34" charset="-122"/>
                <a:cs typeface="Yu Gothic" pitchFamily="34" charset="-120"/>
              </a:rPr>
              <a:t>04  KEY POINT</a:t>
            </a:r>
            <a:endParaRPr lang="en-US" sz="1100" dirty="0"/>
          </a:p>
        </p:txBody>
      </p:sp>
      <p:sp>
        <p:nvSpPr>
          <p:cNvPr id="4" name="Text 2"/>
          <p:cNvSpPr/>
          <p:nvPr/>
        </p:nvSpPr>
        <p:spPr>
          <a:xfrm>
            <a:off x="548640" y="713232"/>
            <a:ext cx="10972800" cy="594360"/>
          </a:xfrm>
          <a:prstGeom prst="rect">
            <a:avLst/>
          </a:prstGeom>
          <a:noFill/>
          <a:ln/>
        </p:spPr>
        <p:txBody>
          <a:bodyPr wrap="square" lIns="0" tIns="0" rIns="0" bIns="0" rtlCol="0" anchor="ctr"/>
          <a:lstStyle/>
          <a:p>
            <a:pPr indent="0" marL="0">
              <a:buNone/>
            </a:pPr>
            <a:r>
              <a:rPr lang="en-US" sz="2400" b="1" dirty="0">
                <a:solidFill>
                  <a:srgbClr val="0F172A"/>
                </a:solidFill>
                <a:latin typeface="Yu Gothic" pitchFamily="34" charset="0"/>
                <a:ea typeface="Yu Gothic" pitchFamily="34" charset="-122"/>
                <a:cs typeface="Yu Gothic" pitchFamily="34" charset="-120"/>
              </a:rPr>
              <a:t>アニメーションの工夫</a:t>
            </a:r>
            <a:endParaRPr lang="en-US" sz="2400" dirty="0"/>
          </a:p>
        </p:txBody>
      </p:sp>
      <p:sp>
        <p:nvSpPr>
          <p:cNvPr id="5" name="Shape 3"/>
          <p:cNvSpPr/>
          <p:nvPr/>
        </p:nvSpPr>
        <p:spPr>
          <a:xfrm>
            <a:off x="548640" y="1417320"/>
            <a:ext cx="11064240" cy="1097280"/>
          </a:xfrm>
          <a:prstGeom prst="rect">
            <a:avLst/>
          </a:prstGeom>
          <a:solidFill>
            <a:srgbClr val="F8FAFC"/>
          </a:solidFill>
          <a:ln w="6350">
            <a:solidFill>
              <a:srgbClr val="E2E8F0"/>
            </a:solidFill>
            <a:prstDash val="solid"/>
          </a:ln>
        </p:spPr>
      </p:sp>
      <p:sp>
        <p:nvSpPr>
          <p:cNvPr id="6" name="Shape 4"/>
          <p:cNvSpPr/>
          <p:nvPr/>
        </p:nvSpPr>
        <p:spPr>
          <a:xfrm>
            <a:off x="548640" y="1417320"/>
            <a:ext cx="109728" cy="1097280"/>
          </a:xfrm>
          <a:prstGeom prst="rect">
            <a:avLst/>
          </a:prstGeom>
          <a:solidFill>
            <a:srgbClr val="EBC528"/>
          </a:solidFill>
          <a:ln/>
        </p:spPr>
      </p:sp>
      <p:sp>
        <p:nvSpPr>
          <p:cNvPr id="7" name="Text 5"/>
          <p:cNvSpPr/>
          <p:nvPr/>
        </p:nvSpPr>
        <p:spPr>
          <a:xfrm>
            <a:off x="822960" y="1508760"/>
            <a:ext cx="868680" cy="274320"/>
          </a:xfrm>
          <a:prstGeom prst="rect">
            <a:avLst/>
          </a:prstGeom>
          <a:noFill/>
          <a:ln/>
        </p:spPr>
        <p:txBody>
          <a:bodyPr wrap="square" lIns="0" tIns="0" rIns="0" bIns="0" rtlCol="0" anchor="ctr"/>
          <a:lstStyle/>
          <a:p>
            <a:pPr indent="0" marL="0">
              <a:buNone/>
            </a:pPr>
            <a:r>
              <a:rPr lang="en-US" sz="1000" b="1" spc="600" kern="0" dirty="0">
                <a:solidFill>
                  <a:srgbClr val="0F172A"/>
                </a:solidFill>
                <a:latin typeface="Yu Gothic" pitchFamily="34" charset="0"/>
                <a:ea typeface="Yu Gothic" pitchFamily="34" charset="-122"/>
                <a:cs typeface="Yu Gothic" pitchFamily="34" charset="-120"/>
              </a:rPr>
              <a:t>POINT</a:t>
            </a:r>
            <a:endParaRPr lang="en-US" sz="1000" dirty="0"/>
          </a:p>
        </p:txBody>
      </p:sp>
      <p:sp>
        <p:nvSpPr>
          <p:cNvPr id="8" name="Shape 6"/>
          <p:cNvSpPr/>
          <p:nvPr/>
        </p:nvSpPr>
        <p:spPr>
          <a:xfrm>
            <a:off x="1828800" y="1618488"/>
            <a:ext cx="164592" cy="164592"/>
          </a:xfrm>
          <a:prstGeom prst="ellipse">
            <a:avLst/>
          </a:prstGeom>
          <a:solidFill>
            <a:srgbClr val="EBC528"/>
          </a:solidFill>
          <a:ln/>
        </p:spPr>
      </p:sp>
      <p:sp>
        <p:nvSpPr>
          <p:cNvPr id="9" name="Text 7"/>
          <p:cNvSpPr/>
          <p:nvPr/>
        </p:nvSpPr>
        <p:spPr>
          <a:xfrm>
            <a:off x="2103120" y="1508760"/>
            <a:ext cx="9418320" cy="411480"/>
          </a:xfrm>
          <a:prstGeom prst="rect">
            <a:avLst/>
          </a:prstGeom>
          <a:noFill/>
          <a:ln/>
        </p:spPr>
        <p:txBody>
          <a:bodyPr wrap="square" lIns="0" tIns="0" rIns="0" bIns="0" rtlCol="0" anchor="ctr"/>
          <a:lstStyle/>
          <a:p>
            <a:pPr indent="0" marL="0">
              <a:buNone/>
            </a:pPr>
            <a:r>
              <a:rPr lang="en-US" sz="1400" b="1" dirty="0">
                <a:solidFill>
                  <a:srgbClr val="0F172A"/>
                </a:solidFill>
                <a:latin typeface="Yu Gothic" pitchFamily="34" charset="0"/>
                <a:ea typeface="Yu Gothic" pitchFamily="34" charset="-122"/>
                <a:cs typeface="Yu Gothic" pitchFamily="34" charset="-120"/>
              </a:rPr>
              <a:t>スクロールで要素が出現する Reveal を 6 種のバリアントで使い分け</a:t>
            </a:r>
            <a:endParaRPr lang="en-US" sz="1400" dirty="0"/>
          </a:p>
        </p:txBody>
      </p:sp>
      <p:sp>
        <p:nvSpPr>
          <p:cNvPr id="10" name="Shape 8"/>
          <p:cNvSpPr/>
          <p:nvPr/>
        </p:nvSpPr>
        <p:spPr>
          <a:xfrm>
            <a:off x="1828800" y="1923288"/>
            <a:ext cx="164592" cy="164592"/>
          </a:xfrm>
          <a:prstGeom prst="ellipse">
            <a:avLst/>
          </a:prstGeom>
          <a:solidFill>
            <a:srgbClr val="EBC528"/>
          </a:solidFill>
          <a:ln/>
        </p:spPr>
      </p:sp>
      <p:sp>
        <p:nvSpPr>
          <p:cNvPr id="11" name="Text 9"/>
          <p:cNvSpPr/>
          <p:nvPr/>
        </p:nvSpPr>
        <p:spPr>
          <a:xfrm>
            <a:off x="2103120" y="1813560"/>
            <a:ext cx="9418320" cy="411480"/>
          </a:xfrm>
          <a:prstGeom prst="rect">
            <a:avLst/>
          </a:prstGeom>
          <a:noFill/>
          <a:ln/>
        </p:spPr>
        <p:txBody>
          <a:bodyPr wrap="square" lIns="0" tIns="0" rIns="0" bIns="0" rtlCol="0" anchor="ctr"/>
          <a:lstStyle/>
          <a:p>
            <a:pPr indent="0" marL="0">
              <a:buNone/>
            </a:pPr>
            <a:r>
              <a:rPr lang="en-US" sz="1400" b="1" dirty="0">
                <a:solidFill>
                  <a:srgbClr val="0F172A"/>
                </a:solidFill>
                <a:latin typeface="Yu Gothic" pitchFamily="34" charset="0"/>
                <a:ea typeface="Yu Gothic" pitchFamily="34" charset="-122"/>
                <a:cs typeface="Yu Gothic" pitchFamily="34" charset="-120"/>
              </a:rPr>
              <a:t>共有 IntersectionObserver で 20 個の Reveal でも Observer は 1 個に集約</a:t>
            </a:r>
            <a:endParaRPr lang="en-US" sz="1400" dirty="0"/>
          </a:p>
        </p:txBody>
      </p:sp>
      <p:sp>
        <p:nvSpPr>
          <p:cNvPr id="12" name="Shape 10"/>
          <p:cNvSpPr/>
          <p:nvPr/>
        </p:nvSpPr>
        <p:spPr>
          <a:xfrm>
            <a:off x="1828800" y="2228088"/>
            <a:ext cx="164592" cy="164592"/>
          </a:xfrm>
          <a:prstGeom prst="ellipse">
            <a:avLst/>
          </a:prstGeom>
          <a:solidFill>
            <a:srgbClr val="EBC528"/>
          </a:solidFill>
          <a:ln/>
        </p:spPr>
      </p:sp>
      <p:sp>
        <p:nvSpPr>
          <p:cNvPr id="13" name="Text 11"/>
          <p:cNvSpPr/>
          <p:nvPr/>
        </p:nvSpPr>
        <p:spPr>
          <a:xfrm>
            <a:off x="2103120" y="2118360"/>
            <a:ext cx="9418320" cy="411480"/>
          </a:xfrm>
          <a:prstGeom prst="rect">
            <a:avLst/>
          </a:prstGeom>
          <a:noFill/>
          <a:ln/>
        </p:spPr>
        <p:txBody>
          <a:bodyPr wrap="square" lIns="0" tIns="0" rIns="0" bIns="0" rtlCol="0" anchor="ctr"/>
          <a:lstStyle/>
          <a:p>
            <a:pPr indent="0" marL="0">
              <a:buNone/>
            </a:pPr>
            <a:r>
              <a:rPr lang="en-US" sz="1400" b="1" dirty="0">
                <a:solidFill>
                  <a:srgbClr val="0F172A"/>
                </a:solidFill>
                <a:latin typeface="Yu Gothic" pitchFamily="34" charset="0"/>
                <a:ea typeface="Yu Gothic" pitchFamily="34" charset="-122"/>
                <a:cs typeface="Yu Gothic" pitchFamily="34" charset="-120"/>
              </a:rPr>
              <a:t>prefers-reduced-motion を尊重し、動きを減らしたい人には即時表示</a:t>
            </a:r>
            <a:endParaRPr lang="en-US" sz="1400" dirty="0"/>
          </a:p>
        </p:txBody>
      </p:sp>
      <p:sp>
        <p:nvSpPr>
          <p:cNvPr id="14" name="Shape 12"/>
          <p:cNvSpPr/>
          <p:nvPr/>
        </p:nvSpPr>
        <p:spPr>
          <a:xfrm>
            <a:off x="548640" y="2697480"/>
            <a:ext cx="5486400" cy="3520440"/>
          </a:xfrm>
          <a:prstGeom prst="rect">
            <a:avLst/>
          </a:prstGeom>
          <a:solidFill>
            <a:srgbClr val="F8FAFC"/>
          </a:solidFill>
          <a:ln w="6350">
            <a:solidFill>
              <a:srgbClr val="E2E8F0"/>
            </a:solidFill>
            <a:prstDash val="solid"/>
          </a:ln>
        </p:spPr>
      </p:sp>
      <p:sp>
        <p:nvSpPr>
          <p:cNvPr id="15" name="Text 13"/>
          <p:cNvSpPr/>
          <p:nvPr/>
        </p:nvSpPr>
        <p:spPr>
          <a:xfrm>
            <a:off x="822960" y="2834640"/>
            <a:ext cx="4937760" cy="365760"/>
          </a:xfrm>
          <a:prstGeom prst="rect">
            <a:avLst/>
          </a:prstGeom>
          <a:noFill/>
          <a:ln/>
        </p:spPr>
        <p:txBody>
          <a:bodyPr wrap="square" lIns="0" tIns="0" rIns="0" bIns="0" rtlCol="0" anchor="ctr"/>
          <a:lstStyle/>
          <a:p>
            <a:pPr indent="0" marL="0">
              <a:buNone/>
            </a:pPr>
            <a:r>
              <a:rPr lang="en-US" sz="1400" b="1" dirty="0">
                <a:solidFill>
                  <a:srgbClr val="0F172A"/>
                </a:solidFill>
                <a:latin typeface="Yu Gothic" pitchFamily="34" charset="0"/>
                <a:ea typeface="Yu Gothic" pitchFamily="34" charset="-122"/>
                <a:cs typeface="Yu Gothic" pitchFamily="34" charset="-120"/>
              </a:rPr>
              <a:t>Reveal × 共有 IntersectionObserver</a:t>
            </a:r>
            <a:endParaRPr lang="en-US" sz="1400" dirty="0"/>
          </a:p>
        </p:txBody>
      </p:sp>
      <p:sp>
        <p:nvSpPr>
          <p:cNvPr id="16" name="Shape 14"/>
          <p:cNvSpPr/>
          <p:nvPr/>
        </p:nvSpPr>
        <p:spPr>
          <a:xfrm>
            <a:off x="868680" y="3337560"/>
            <a:ext cx="1371600" cy="822960"/>
          </a:xfrm>
          <a:prstGeom prst="ellipse">
            <a:avLst/>
          </a:prstGeom>
          <a:solidFill>
            <a:srgbClr val="EBC528"/>
          </a:solidFill>
          <a:ln/>
        </p:spPr>
      </p:sp>
      <p:sp>
        <p:nvSpPr>
          <p:cNvPr id="17" name="Text 15"/>
          <p:cNvSpPr/>
          <p:nvPr/>
        </p:nvSpPr>
        <p:spPr>
          <a:xfrm>
            <a:off x="868680" y="3337560"/>
            <a:ext cx="1371600" cy="822960"/>
          </a:xfrm>
          <a:prstGeom prst="rect">
            <a:avLst/>
          </a:prstGeom>
          <a:noFill/>
          <a:ln/>
        </p:spPr>
        <p:txBody>
          <a:bodyPr wrap="square" lIns="0" tIns="0" rIns="0" bIns="0" rtlCol="0" anchor="ctr"/>
          <a:lstStyle/>
          <a:p>
            <a:pPr algn="ctr" indent="0" marL="0">
              <a:buNone/>
            </a:pPr>
            <a:r>
              <a:rPr lang="en-US" sz="1100" b="1" dirty="0">
                <a:solidFill>
                  <a:srgbClr val="0F172A"/>
                </a:solidFill>
                <a:latin typeface="Yu Gothic" pitchFamily="34" charset="0"/>
                <a:ea typeface="Yu Gothic" pitchFamily="34" charset="-122"/>
                <a:cs typeface="Yu Gothic" pitchFamily="34" charset="-120"/>
              </a:rPr>
              <a:t>スクロール</a:t>
            </a:r>
            <a:endParaRPr lang="en-US" sz="1100" dirty="0"/>
          </a:p>
        </p:txBody>
      </p:sp>
      <p:sp>
        <p:nvSpPr>
          <p:cNvPr id="18" name="Shape 16"/>
          <p:cNvSpPr/>
          <p:nvPr/>
        </p:nvSpPr>
        <p:spPr>
          <a:xfrm>
            <a:off x="2240280" y="3721608"/>
            <a:ext cx="274320" cy="54864"/>
          </a:xfrm>
          <a:prstGeom prst="rect">
            <a:avLst/>
          </a:prstGeom>
          <a:solidFill>
            <a:srgbClr val="0F172A"/>
          </a:solidFill>
          <a:ln/>
        </p:spPr>
      </p:sp>
      <p:sp>
        <p:nvSpPr>
          <p:cNvPr id="19" name="Shape 17"/>
          <p:cNvSpPr/>
          <p:nvPr/>
        </p:nvSpPr>
        <p:spPr>
          <a:xfrm>
            <a:off x="2514600" y="3337560"/>
            <a:ext cx="1371600" cy="822960"/>
          </a:xfrm>
          <a:prstGeom prst="ellipse">
            <a:avLst/>
          </a:prstGeom>
          <a:solidFill>
            <a:srgbClr val="EBC528"/>
          </a:solidFill>
          <a:ln/>
        </p:spPr>
      </p:sp>
      <p:sp>
        <p:nvSpPr>
          <p:cNvPr id="20" name="Text 18"/>
          <p:cNvSpPr/>
          <p:nvPr/>
        </p:nvSpPr>
        <p:spPr>
          <a:xfrm>
            <a:off x="2514600" y="3337560"/>
            <a:ext cx="1371600" cy="822960"/>
          </a:xfrm>
          <a:prstGeom prst="rect">
            <a:avLst/>
          </a:prstGeom>
          <a:noFill/>
          <a:ln/>
        </p:spPr>
        <p:txBody>
          <a:bodyPr wrap="square" lIns="0" tIns="0" rIns="0" bIns="0" rtlCol="0" anchor="ctr"/>
          <a:lstStyle/>
          <a:p>
            <a:pPr algn="ctr" indent="0" marL="0">
              <a:buNone/>
            </a:pPr>
            <a:r>
              <a:rPr lang="en-US" sz="1100" b="1" dirty="0">
                <a:solidFill>
                  <a:srgbClr val="0F172A"/>
                </a:solidFill>
                <a:latin typeface="Yu Gothic" pitchFamily="34" charset="0"/>
                <a:ea typeface="Yu Gothic" pitchFamily="34" charset="-122"/>
                <a:cs typeface="Yu Gothic" pitchFamily="34" charset="-120"/>
              </a:rPr>
              <a:t>Observer 検出</a:t>
            </a:r>
            <a:endParaRPr lang="en-US" sz="1100" dirty="0"/>
          </a:p>
        </p:txBody>
      </p:sp>
      <p:sp>
        <p:nvSpPr>
          <p:cNvPr id="21" name="Shape 19"/>
          <p:cNvSpPr/>
          <p:nvPr/>
        </p:nvSpPr>
        <p:spPr>
          <a:xfrm>
            <a:off x="3886200" y="3721608"/>
            <a:ext cx="274320" cy="54864"/>
          </a:xfrm>
          <a:prstGeom prst="rect">
            <a:avLst/>
          </a:prstGeom>
          <a:solidFill>
            <a:srgbClr val="0F172A"/>
          </a:solidFill>
          <a:ln/>
        </p:spPr>
      </p:sp>
      <p:sp>
        <p:nvSpPr>
          <p:cNvPr id="22" name="Shape 20"/>
          <p:cNvSpPr/>
          <p:nvPr/>
        </p:nvSpPr>
        <p:spPr>
          <a:xfrm>
            <a:off x="4160520" y="3337560"/>
            <a:ext cx="1371600" cy="822960"/>
          </a:xfrm>
          <a:prstGeom prst="ellipse">
            <a:avLst/>
          </a:prstGeom>
          <a:solidFill>
            <a:srgbClr val="EBC528"/>
          </a:solidFill>
          <a:ln/>
        </p:spPr>
      </p:sp>
      <p:sp>
        <p:nvSpPr>
          <p:cNvPr id="23" name="Text 21"/>
          <p:cNvSpPr/>
          <p:nvPr/>
        </p:nvSpPr>
        <p:spPr>
          <a:xfrm>
            <a:off x="4160520" y="3337560"/>
            <a:ext cx="1371600" cy="822960"/>
          </a:xfrm>
          <a:prstGeom prst="rect">
            <a:avLst/>
          </a:prstGeom>
          <a:noFill/>
          <a:ln/>
        </p:spPr>
        <p:txBody>
          <a:bodyPr wrap="square" lIns="0" tIns="0" rIns="0" bIns="0" rtlCol="0" anchor="ctr"/>
          <a:lstStyle/>
          <a:p>
            <a:pPr algn="ctr" indent="0" marL="0">
              <a:buNone/>
            </a:pPr>
            <a:r>
              <a:rPr lang="en-US" sz="1100" b="1" dirty="0">
                <a:solidFill>
                  <a:srgbClr val="0F172A"/>
                </a:solidFill>
                <a:latin typeface="Yu Gothic" pitchFamily="34" charset="0"/>
                <a:ea typeface="Yu Gothic" pitchFamily="34" charset="-122"/>
                <a:cs typeface="Yu Gothic" pitchFamily="34" charset="-120"/>
              </a:rPr>
              <a:t>CSS アニメ発火</a:t>
            </a:r>
            <a:endParaRPr lang="en-US" sz="1100" dirty="0"/>
          </a:p>
        </p:txBody>
      </p:sp>
      <p:sp>
        <p:nvSpPr>
          <p:cNvPr id="24" name="Text 22"/>
          <p:cNvSpPr/>
          <p:nvPr/>
        </p:nvSpPr>
        <p:spPr>
          <a:xfrm>
            <a:off x="822960" y="4343400"/>
            <a:ext cx="4937760" cy="320040"/>
          </a:xfrm>
          <a:prstGeom prst="rect">
            <a:avLst/>
          </a:prstGeom>
          <a:noFill/>
          <a:ln/>
        </p:spPr>
        <p:txBody>
          <a:bodyPr wrap="square" lIns="0" tIns="0" rIns="0" bIns="0" rtlCol="0" anchor="ctr"/>
          <a:lstStyle/>
          <a:p>
            <a:pPr indent="0" marL="0">
              <a:buNone/>
            </a:pPr>
            <a:r>
              <a:rPr lang="en-US" sz="1200" b="1" dirty="0">
                <a:solidFill>
                  <a:srgbClr val="0F172A"/>
                </a:solidFill>
                <a:latin typeface="Yu Gothic" pitchFamily="34" charset="0"/>
                <a:ea typeface="Yu Gothic" pitchFamily="34" charset="-122"/>
                <a:cs typeface="Yu Gothic" pitchFamily="34" charset="-120"/>
              </a:rPr>
              <a:t>6 種のバリアント</a:t>
            </a:r>
            <a:endParaRPr lang="en-US" sz="1200" dirty="0"/>
          </a:p>
        </p:txBody>
      </p:sp>
      <p:sp>
        <p:nvSpPr>
          <p:cNvPr id="25" name="Text 23"/>
          <p:cNvSpPr/>
          <p:nvPr/>
        </p:nvSpPr>
        <p:spPr>
          <a:xfrm>
            <a:off x="822960" y="4663440"/>
            <a:ext cx="4937760" cy="1005840"/>
          </a:xfrm>
          <a:prstGeom prst="rect">
            <a:avLst/>
          </a:prstGeom>
          <a:noFill/>
          <a:ln/>
        </p:spPr>
        <p:txBody>
          <a:bodyPr wrap="square" rtlCol="0" anchor="ctr"/>
          <a:lstStyle/>
          <a:p>
            <a:pPr marL="342900" indent="-342900">
              <a:spcAft>
                <a:spcPts val="300"/>
              </a:spcAft>
              <a:buSzPct val="100000"/>
              <a:buChar char="•"/>
            </a:pPr>
            <a:r>
              <a:rPr lang="en-US" sz="1000" dirty="0">
                <a:solidFill>
                  <a:srgbClr val="1E293B"/>
                </a:solidFill>
                <a:latin typeface="Yu Gothic" pitchFamily="34" charset="0"/>
                <a:ea typeface="Yu Gothic" pitchFamily="34" charset="-122"/>
                <a:cs typeface="Yu Gothic" pitchFamily="34" charset="-120"/>
              </a:rPr>
              <a:t>fade-up / fade-up-strong（既定）</a:t>
            </a:r>
            <a:endParaRPr lang="en-US" sz="1000" dirty="0"/>
          </a:p>
          <a:p>
            <a:pPr marL="342900" indent="-342900">
              <a:spcAft>
                <a:spcPts val="300"/>
              </a:spcAft>
              <a:buSzPct val="100000"/>
              <a:buChar char="•"/>
            </a:pPr>
            <a:r>
              <a:rPr lang="en-US" sz="1000" dirty="0">
                <a:solidFill>
                  <a:srgbClr val="1E293B"/>
                </a:solidFill>
                <a:latin typeface="Yu Gothic" pitchFamily="34" charset="0"/>
                <a:ea typeface="Yu Gothic" pitchFamily="34" charset="-122"/>
                <a:cs typeface="Yu Gothic" pitchFamily="34" charset="-120"/>
              </a:rPr>
              <a:t>fade / scale</a:t>
            </a:r>
            <a:endParaRPr lang="en-US" sz="1000" dirty="0"/>
          </a:p>
          <a:p>
            <a:pPr marL="342900" indent="-342900">
              <a:spcAft>
                <a:spcPts val="300"/>
              </a:spcAft>
              <a:buSzPct val="100000"/>
              <a:buChar char="•"/>
            </a:pPr>
            <a:r>
              <a:rPr lang="en-US" sz="1000" dirty="0">
                <a:solidFill>
                  <a:srgbClr val="1E293B"/>
                </a:solidFill>
                <a:latin typeface="Yu Gothic" pitchFamily="34" charset="0"/>
                <a:ea typeface="Yu Gothic" pitchFamily="34" charset="-122"/>
                <a:cs typeface="Yu Gothic" pitchFamily="34" charset="-120"/>
              </a:rPr>
              <a:t>slide-right / slide-left（左右から登場）</a:t>
            </a:r>
            <a:endParaRPr lang="en-US" sz="1000" dirty="0"/>
          </a:p>
        </p:txBody>
      </p:sp>
      <p:sp>
        <p:nvSpPr>
          <p:cNvPr id="26" name="Shape 24"/>
          <p:cNvSpPr/>
          <p:nvPr/>
        </p:nvSpPr>
        <p:spPr>
          <a:xfrm>
            <a:off x="822960" y="5715000"/>
            <a:ext cx="4937760" cy="457200"/>
          </a:xfrm>
          <a:prstGeom prst="rect">
            <a:avLst/>
          </a:prstGeom>
          <a:solidFill>
            <a:srgbClr val="0F172A"/>
          </a:solidFill>
          <a:ln/>
        </p:spPr>
      </p:sp>
      <p:sp>
        <p:nvSpPr>
          <p:cNvPr id="27" name="Text 25"/>
          <p:cNvSpPr/>
          <p:nvPr/>
        </p:nvSpPr>
        <p:spPr>
          <a:xfrm>
            <a:off x="914400" y="5715000"/>
            <a:ext cx="4754880" cy="457200"/>
          </a:xfrm>
          <a:prstGeom prst="rect">
            <a:avLst/>
          </a:prstGeom>
          <a:noFill/>
          <a:ln/>
        </p:spPr>
        <p:txBody>
          <a:bodyPr wrap="square" lIns="0" tIns="0" rIns="0" bIns="0" rtlCol="0" anchor="ctr"/>
          <a:lstStyle/>
          <a:p>
            <a:pPr indent="0" marL="0">
              <a:buNone/>
            </a:pPr>
            <a:r>
              <a:rPr lang="en-US" sz="1000" b="1" dirty="0">
                <a:solidFill>
                  <a:srgbClr val="EBC528"/>
                </a:solidFill>
                <a:latin typeface="Yu Gothic" pitchFamily="34" charset="0"/>
                <a:ea typeface="Yu Gothic" pitchFamily="34" charset="-122"/>
                <a:cs typeface="Yu Gothic" pitchFamily="34" charset="-120"/>
              </a:rPr>
              <a:t>最適化：20 個の Reveal でも Observer は 1 個</a:t>
            </a:r>
            <a:endParaRPr lang="en-US" sz="1000" dirty="0"/>
          </a:p>
        </p:txBody>
      </p:sp>
      <p:sp>
        <p:nvSpPr>
          <p:cNvPr id="28" name="Text 26"/>
          <p:cNvSpPr/>
          <p:nvPr/>
        </p:nvSpPr>
        <p:spPr>
          <a:xfrm>
            <a:off x="6400800" y="2697480"/>
            <a:ext cx="5212080" cy="365760"/>
          </a:xfrm>
          <a:prstGeom prst="rect">
            <a:avLst/>
          </a:prstGeom>
          <a:noFill/>
          <a:ln/>
        </p:spPr>
        <p:txBody>
          <a:bodyPr wrap="square" lIns="0" tIns="0" rIns="0" bIns="0" rtlCol="0" anchor="ctr"/>
          <a:lstStyle/>
          <a:p>
            <a:pPr indent="0" marL="0">
              <a:buNone/>
            </a:pPr>
            <a:r>
              <a:rPr lang="en-US" sz="1400" b="1" dirty="0">
                <a:solidFill>
                  <a:srgbClr val="0F172A"/>
                </a:solidFill>
                <a:latin typeface="Yu Gothic" pitchFamily="34" charset="0"/>
                <a:ea typeface="Yu Gothic" pitchFamily="34" charset="-122"/>
                <a:cs typeface="Yu Gothic" pitchFamily="34" charset="-120"/>
              </a:rPr>
              <a:t>コンテンツ別の演出</a:t>
            </a:r>
            <a:endParaRPr lang="en-US" sz="1400" dirty="0"/>
          </a:p>
        </p:txBody>
      </p:sp>
      <p:sp>
        <p:nvSpPr>
          <p:cNvPr id="29" name="Shape 27"/>
          <p:cNvSpPr/>
          <p:nvPr/>
        </p:nvSpPr>
        <p:spPr>
          <a:xfrm>
            <a:off x="6400800" y="3108960"/>
            <a:ext cx="5212080" cy="548640"/>
          </a:xfrm>
          <a:prstGeom prst="rect">
            <a:avLst/>
          </a:prstGeom>
          <a:solidFill>
            <a:srgbClr val="FFFFFF"/>
          </a:solidFill>
          <a:ln w="6350">
            <a:solidFill>
              <a:srgbClr val="E2E8F0"/>
            </a:solidFill>
            <a:prstDash val="solid"/>
          </a:ln>
        </p:spPr>
      </p:sp>
      <p:sp>
        <p:nvSpPr>
          <p:cNvPr id="30" name="Shape 28"/>
          <p:cNvSpPr/>
          <p:nvPr/>
        </p:nvSpPr>
        <p:spPr>
          <a:xfrm>
            <a:off x="6400800" y="3108960"/>
            <a:ext cx="73152" cy="548640"/>
          </a:xfrm>
          <a:prstGeom prst="rect">
            <a:avLst/>
          </a:prstGeom>
          <a:solidFill>
            <a:srgbClr val="EBC528"/>
          </a:solidFill>
          <a:ln/>
        </p:spPr>
      </p:sp>
      <p:sp>
        <p:nvSpPr>
          <p:cNvPr id="31" name="Text 29"/>
          <p:cNvSpPr/>
          <p:nvPr/>
        </p:nvSpPr>
        <p:spPr>
          <a:xfrm>
            <a:off x="6583680" y="3154680"/>
            <a:ext cx="4937760" cy="256032"/>
          </a:xfrm>
          <a:prstGeom prst="rect">
            <a:avLst/>
          </a:prstGeom>
          <a:noFill/>
          <a:ln/>
        </p:spPr>
        <p:txBody>
          <a:bodyPr wrap="square" lIns="0" tIns="0" rIns="0" bIns="0" rtlCol="0" anchor="ctr"/>
          <a:lstStyle/>
          <a:p>
            <a:pPr indent="0" marL="0">
              <a:buNone/>
            </a:pPr>
            <a:r>
              <a:rPr lang="en-US" sz="1000" b="1" dirty="0">
                <a:solidFill>
                  <a:srgbClr val="0F172A"/>
                </a:solidFill>
                <a:latin typeface="Yu Gothic" pitchFamily="34" charset="0"/>
                <a:ea typeface="Yu Gothic" pitchFamily="34" charset="-122"/>
                <a:cs typeface="Yu Gothic" pitchFamily="34" charset="-120"/>
              </a:rPr>
              <a:t>ヒーロー：右からスライド</a:t>
            </a:r>
            <a:endParaRPr lang="en-US" sz="1000" dirty="0"/>
          </a:p>
        </p:txBody>
      </p:sp>
      <p:sp>
        <p:nvSpPr>
          <p:cNvPr id="32" name="Text 30"/>
          <p:cNvSpPr/>
          <p:nvPr/>
        </p:nvSpPr>
        <p:spPr>
          <a:xfrm>
            <a:off x="6583680" y="3401568"/>
            <a:ext cx="4937760" cy="237744"/>
          </a:xfrm>
          <a:prstGeom prst="rect">
            <a:avLst/>
          </a:prstGeom>
          <a:noFill/>
          <a:ln/>
        </p:spPr>
        <p:txBody>
          <a:bodyPr wrap="square" lIns="0" tIns="0" rIns="0" bIns="0" rtlCol="0" anchor="ctr"/>
          <a:lstStyle/>
          <a:p>
            <a:pPr indent="0" marL="0">
              <a:buNone/>
            </a:pPr>
            <a:r>
              <a:rPr lang="en-US" sz="900" dirty="0">
                <a:solidFill>
                  <a:srgbClr val="64748B"/>
                </a:solidFill>
                <a:latin typeface="Yu Gothic" pitchFamily="34" charset="0"/>
                <a:ea typeface="Yu Gothic" pitchFamily="34" charset="-122"/>
                <a:cs typeface="Yu Gothic" pitchFamily="34" charset="-120"/>
              </a:rPr>
              <a:t>1秒・easing でキャッチコピーが流れ込む</a:t>
            </a:r>
            <a:endParaRPr lang="en-US" sz="900" dirty="0"/>
          </a:p>
        </p:txBody>
      </p:sp>
      <p:sp>
        <p:nvSpPr>
          <p:cNvPr id="33" name="Shape 31"/>
          <p:cNvSpPr/>
          <p:nvPr/>
        </p:nvSpPr>
        <p:spPr>
          <a:xfrm>
            <a:off x="6400800" y="3730752"/>
            <a:ext cx="5212080" cy="548640"/>
          </a:xfrm>
          <a:prstGeom prst="rect">
            <a:avLst/>
          </a:prstGeom>
          <a:solidFill>
            <a:srgbClr val="FFFFFF"/>
          </a:solidFill>
          <a:ln w="6350">
            <a:solidFill>
              <a:srgbClr val="E2E8F0"/>
            </a:solidFill>
            <a:prstDash val="solid"/>
          </a:ln>
        </p:spPr>
      </p:sp>
      <p:sp>
        <p:nvSpPr>
          <p:cNvPr id="34" name="Shape 32"/>
          <p:cNvSpPr/>
          <p:nvPr/>
        </p:nvSpPr>
        <p:spPr>
          <a:xfrm>
            <a:off x="6400800" y="3730752"/>
            <a:ext cx="73152" cy="548640"/>
          </a:xfrm>
          <a:prstGeom prst="rect">
            <a:avLst/>
          </a:prstGeom>
          <a:solidFill>
            <a:srgbClr val="EBC528"/>
          </a:solidFill>
          <a:ln/>
        </p:spPr>
      </p:sp>
      <p:sp>
        <p:nvSpPr>
          <p:cNvPr id="35" name="Text 33"/>
          <p:cNvSpPr/>
          <p:nvPr/>
        </p:nvSpPr>
        <p:spPr>
          <a:xfrm>
            <a:off x="6583680" y="3776472"/>
            <a:ext cx="4937760" cy="256032"/>
          </a:xfrm>
          <a:prstGeom prst="rect">
            <a:avLst/>
          </a:prstGeom>
          <a:noFill/>
          <a:ln/>
        </p:spPr>
        <p:txBody>
          <a:bodyPr wrap="square" lIns="0" tIns="0" rIns="0" bIns="0" rtlCol="0" anchor="ctr"/>
          <a:lstStyle/>
          <a:p>
            <a:pPr indent="0" marL="0">
              <a:buNone/>
            </a:pPr>
            <a:r>
              <a:rPr lang="en-US" sz="1000" b="1" dirty="0">
                <a:solidFill>
                  <a:srgbClr val="0F172A"/>
                </a:solidFill>
                <a:latin typeface="Yu Gothic" pitchFamily="34" charset="0"/>
                <a:ea typeface="Yu Gothic" pitchFamily="34" charset="-122"/>
                <a:cs typeface="Yu Gothic" pitchFamily="34" charset="-120"/>
              </a:rPr>
              <a:t>特徴カード：強めフェード</a:t>
            </a:r>
            <a:endParaRPr lang="en-US" sz="1000" dirty="0"/>
          </a:p>
        </p:txBody>
      </p:sp>
      <p:sp>
        <p:nvSpPr>
          <p:cNvPr id="36" name="Text 34"/>
          <p:cNvSpPr/>
          <p:nvPr/>
        </p:nvSpPr>
        <p:spPr>
          <a:xfrm>
            <a:off x="6583680" y="4023360"/>
            <a:ext cx="4937760" cy="237744"/>
          </a:xfrm>
          <a:prstGeom prst="rect">
            <a:avLst/>
          </a:prstGeom>
          <a:noFill/>
          <a:ln/>
        </p:spPr>
        <p:txBody>
          <a:bodyPr wrap="square" lIns="0" tIns="0" rIns="0" bIns="0" rtlCol="0" anchor="ctr"/>
          <a:lstStyle/>
          <a:p>
            <a:pPr indent="0" marL="0">
              <a:buNone/>
            </a:pPr>
            <a:r>
              <a:rPr lang="en-US" sz="900" dirty="0">
                <a:solidFill>
                  <a:srgbClr val="64748B"/>
                </a:solidFill>
                <a:latin typeface="Yu Gothic" pitchFamily="34" charset="0"/>
                <a:ea typeface="Yu Gothic" pitchFamily="34" charset="-122"/>
                <a:cs typeface="Yu Gothic" pitchFamily="34" charset="-120"/>
              </a:rPr>
              <a:t>100/200/300ms スタッガー（順次出現）</a:t>
            </a:r>
            <a:endParaRPr lang="en-US" sz="900" dirty="0"/>
          </a:p>
        </p:txBody>
      </p:sp>
      <p:sp>
        <p:nvSpPr>
          <p:cNvPr id="37" name="Shape 35"/>
          <p:cNvSpPr/>
          <p:nvPr/>
        </p:nvSpPr>
        <p:spPr>
          <a:xfrm>
            <a:off x="6400800" y="4352544"/>
            <a:ext cx="5212080" cy="548640"/>
          </a:xfrm>
          <a:prstGeom prst="rect">
            <a:avLst/>
          </a:prstGeom>
          <a:solidFill>
            <a:srgbClr val="FFFFFF"/>
          </a:solidFill>
          <a:ln w="6350">
            <a:solidFill>
              <a:srgbClr val="E2E8F0"/>
            </a:solidFill>
            <a:prstDash val="solid"/>
          </a:ln>
        </p:spPr>
      </p:sp>
      <p:sp>
        <p:nvSpPr>
          <p:cNvPr id="38" name="Shape 36"/>
          <p:cNvSpPr/>
          <p:nvPr/>
        </p:nvSpPr>
        <p:spPr>
          <a:xfrm>
            <a:off x="6400800" y="4352544"/>
            <a:ext cx="73152" cy="548640"/>
          </a:xfrm>
          <a:prstGeom prst="rect">
            <a:avLst/>
          </a:prstGeom>
          <a:solidFill>
            <a:srgbClr val="EBC528"/>
          </a:solidFill>
          <a:ln/>
        </p:spPr>
      </p:sp>
      <p:sp>
        <p:nvSpPr>
          <p:cNvPr id="39" name="Text 37"/>
          <p:cNvSpPr/>
          <p:nvPr/>
        </p:nvSpPr>
        <p:spPr>
          <a:xfrm>
            <a:off x="6583680" y="4398264"/>
            <a:ext cx="4937760" cy="256032"/>
          </a:xfrm>
          <a:prstGeom prst="rect">
            <a:avLst/>
          </a:prstGeom>
          <a:noFill/>
          <a:ln/>
        </p:spPr>
        <p:txBody>
          <a:bodyPr wrap="square" lIns="0" tIns="0" rIns="0" bIns="0" rtlCol="0" anchor="ctr"/>
          <a:lstStyle/>
          <a:p>
            <a:pPr indent="0" marL="0">
              <a:buNone/>
            </a:pPr>
            <a:r>
              <a:rPr lang="en-US" sz="1000" b="1" dirty="0">
                <a:solidFill>
                  <a:srgbClr val="0F172A"/>
                </a:solidFill>
                <a:latin typeface="Yu Gothic" pitchFamily="34" charset="0"/>
                <a:ea typeface="Yu Gothic" pitchFamily="34" charset="-122"/>
                <a:cs typeface="Yu Gothic" pitchFamily="34" charset="-120"/>
              </a:rPr>
              <a:t>代表挨拶：右スライド</a:t>
            </a:r>
            <a:endParaRPr lang="en-US" sz="1000" dirty="0"/>
          </a:p>
        </p:txBody>
      </p:sp>
      <p:sp>
        <p:nvSpPr>
          <p:cNvPr id="40" name="Text 38"/>
          <p:cNvSpPr/>
          <p:nvPr/>
        </p:nvSpPr>
        <p:spPr>
          <a:xfrm>
            <a:off x="6583680" y="4645152"/>
            <a:ext cx="4937760" cy="237744"/>
          </a:xfrm>
          <a:prstGeom prst="rect">
            <a:avLst/>
          </a:prstGeom>
          <a:noFill/>
          <a:ln/>
        </p:spPr>
        <p:txBody>
          <a:bodyPr wrap="square" lIns="0" tIns="0" rIns="0" bIns="0" rtlCol="0" anchor="ctr"/>
          <a:lstStyle/>
          <a:p>
            <a:pPr indent="0" marL="0">
              <a:buNone/>
            </a:pPr>
            <a:r>
              <a:rPr lang="en-US" sz="900" dirty="0">
                <a:solidFill>
                  <a:srgbClr val="64748B"/>
                </a:solidFill>
                <a:latin typeface="Yu Gothic" pitchFamily="34" charset="0"/>
                <a:ea typeface="Yu Gothic" pitchFamily="34" charset="-122"/>
                <a:cs typeface="Yu Gothic" pitchFamily="34" charset="-120"/>
              </a:rPr>
              <a:t>横幅を活かして印象的に登場</a:t>
            </a:r>
            <a:endParaRPr lang="en-US" sz="900" dirty="0"/>
          </a:p>
        </p:txBody>
      </p:sp>
      <p:sp>
        <p:nvSpPr>
          <p:cNvPr id="41" name="Shape 39"/>
          <p:cNvSpPr/>
          <p:nvPr/>
        </p:nvSpPr>
        <p:spPr>
          <a:xfrm>
            <a:off x="6400800" y="4974336"/>
            <a:ext cx="5212080" cy="548640"/>
          </a:xfrm>
          <a:prstGeom prst="rect">
            <a:avLst/>
          </a:prstGeom>
          <a:solidFill>
            <a:srgbClr val="FFFFFF"/>
          </a:solidFill>
          <a:ln w="6350">
            <a:solidFill>
              <a:srgbClr val="E2E8F0"/>
            </a:solidFill>
            <a:prstDash val="solid"/>
          </a:ln>
        </p:spPr>
      </p:sp>
      <p:sp>
        <p:nvSpPr>
          <p:cNvPr id="42" name="Shape 40"/>
          <p:cNvSpPr/>
          <p:nvPr/>
        </p:nvSpPr>
        <p:spPr>
          <a:xfrm>
            <a:off x="6400800" y="4974336"/>
            <a:ext cx="73152" cy="548640"/>
          </a:xfrm>
          <a:prstGeom prst="rect">
            <a:avLst/>
          </a:prstGeom>
          <a:solidFill>
            <a:srgbClr val="EBC528"/>
          </a:solidFill>
          <a:ln/>
        </p:spPr>
      </p:sp>
      <p:sp>
        <p:nvSpPr>
          <p:cNvPr id="43" name="Text 41"/>
          <p:cNvSpPr/>
          <p:nvPr/>
        </p:nvSpPr>
        <p:spPr>
          <a:xfrm>
            <a:off x="6583680" y="5020056"/>
            <a:ext cx="4937760" cy="256032"/>
          </a:xfrm>
          <a:prstGeom prst="rect">
            <a:avLst/>
          </a:prstGeom>
          <a:noFill/>
          <a:ln/>
        </p:spPr>
        <p:txBody>
          <a:bodyPr wrap="square" lIns="0" tIns="0" rIns="0" bIns="0" rtlCol="0" anchor="ctr"/>
          <a:lstStyle/>
          <a:p>
            <a:pPr indent="0" marL="0">
              <a:buNone/>
            </a:pPr>
            <a:r>
              <a:rPr lang="en-US" sz="1000" b="1" dirty="0">
                <a:solidFill>
                  <a:srgbClr val="0F172A"/>
                </a:solidFill>
                <a:latin typeface="Yu Gothic" pitchFamily="34" charset="0"/>
                <a:ea typeface="Yu Gothic" pitchFamily="34" charset="-122"/>
                <a:cs typeface="Yu Gothic" pitchFamily="34" charset="-120"/>
              </a:rPr>
              <a:t>写真バンド：マーキー</a:t>
            </a:r>
            <a:endParaRPr lang="en-US" sz="1000" dirty="0"/>
          </a:p>
        </p:txBody>
      </p:sp>
      <p:sp>
        <p:nvSpPr>
          <p:cNvPr id="44" name="Text 42"/>
          <p:cNvSpPr/>
          <p:nvPr/>
        </p:nvSpPr>
        <p:spPr>
          <a:xfrm>
            <a:off x="6583680" y="5266944"/>
            <a:ext cx="4937760" cy="237744"/>
          </a:xfrm>
          <a:prstGeom prst="rect">
            <a:avLst/>
          </a:prstGeom>
          <a:noFill/>
          <a:ln/>
        </p:spPr>
        <p:txBody>
          <a:bodyPr wrap="square" lIns="0" tIns="0" rIns="0" bIns="0" rtlCol="0" anchor="ctr"/>
          <a:lstStyle/>
          <a:p>
            <a:pPr indent="0" marL="0">
              <a:buNone/>
            </a:pPr>
            <a:r>
              <a:rPr lang="en-US" sz="900" dirty="0">
                <a:solidFill>
                  <a:srgbClr val="64748B"/>
                </a:solidFill>
                <a:latin typeface="Yu Gothic" pitchFamily="34" charset="0"/>
                <a:ea typeface="Yu Gothic" pitchFamily="34" charset="-122"/>
                <a:cs typeface="Yu Gothic" pitchFamily="34" charset="-120"/>
              </a:rPr>
              <a:t>32秒で1周、無限ループ、ホバーで停止</a:t>
            </a:r>
            <a:endParaRPr lang="en-US" sz="900" dirty="0"/>
          </a:p>
        </p:txBody>
      </p:sp>
      <p:sp>
        <p:nvSpPr>
          <p:cNvPr id="45" name="Shape 43"/>
          <p:cNvSpPr/>
          <p:nvPr/>
        </p:nvSpPr>
        <p:spPr>
          <a:xfrm>
            <a:off x="6400800" y="5596128"/>
            <a:ext cx="5212080" cy="548640"/>
          </a:xfrm>
          <a:prstGeom prst="rect">
            <a:avLst/>
          </a:prstGeom>
          <a:solidFill>
            <a:srgbClr val="FFFFFF"/>
          </a:solidFill>
          <a:ln w="6350">
            <a:solidFill>
              <a:srgbClr val="E2E8F0"/>
            </a:solidFill>
            <a:prstDash val="solid"/>
          </a:ln>
        </p:spPr>
      </p:sp>
      <p:sp>
        <p:nvSpPr>
          <p:cNvPr id="46" name="Shape 44"/>
          <p:cNvSpPr/>
          <p:nvPr/>
        </p:nvSpPr>
        <p:spPr>
          <a:xfrm>
            <a:off x="6400800" y="5596128"/>
            <a:ext cx="73152" cy="548640"/>
          </a:xfrm>
          <a:prstGeom prst="rect">
            <a:avLst/>
          </a:prstGeom>
          <a:solidFill>
            <a:srgbClr val="EBC528"/>
          </a:solidFill>
          <a:ln/>
        </p:spPr>
      </p:sp>
      <p:sp>
        <p:nvSpPr>
          <p:cNvPr id="47" name="Text 45"/>
          <p:cNvSpPr/>
          <p:nvPr/>
        </p:nvSpPr>
        <p:spPr>
          <a:xfrm>
            <a:off x="6583680" y="5641848"/>
            <a:ext cx="4937760" cy="256032"/>
          </a:xfrm>
          <a:prstGeom prst="rect">
            <a:avLst/>
          </a:prstGeom>
          <a:noFill/>
          <a:ln/>
        </p:spPr>
        <p:txBody>
          <a:bodyPr wrap="square" lIns="0" tIns="0" rIns="0" bIns="0" rtlCol="0" anchor="ctr"/>
          <a:lstStyle/>
          <a:p>
            <a:pPr indent="0" marL="0">
              <a:buNone/>
            </a:pPr>
            <a:r>
              <a:rPr lang="en-US" sz="1000" b="1" dirty="0">
                <a:solidFill>
                  <a:srgbClr val="0F172A"/>
                </a:solidFill>
                <a:latin typeface="Yu Gothic" pitchFamily="34" charset="0"/>
                <a:ea typeface="Yu Gothic" pitchFamily="34" charset="-122"/>
                <a:cs typeface="Yu Gothic" pitchFamily="34" charset="-120"/>
              </a:rPr>
              <a:t>reduced-motion 対応</a:t>
            </a:r>
            <a:endParaRPr lang="en-US" sz="1000" dirty="0"/>
          </a:p>
        </p:txBody>
      </p:sp>
      <p:sp>
        <p:nvSpPr>
          <p:cNvPr id="48" name="Text 46"/>
          <p:cNvSpPr/>
          <p:nvPr/>
        </p:nvSpPr>
        <p:spPr>
          <a:xfrm>
            <a:off x="6583680" y="5888736"/>
            <a:ext cx="4937760" cy="237744"/>
          </a:xfrm>
          <a:prstGeom prst="rect">
            <a:avLst/>
          </a:prstGeom>
          <a:noFill/>
          <a:ln/>
        </p:spPr>
        <p:txBody>
          <a:bodyPr wrap="square" lIns="0" tIns="0" rIns="0" bIns="0" rtlCol="0" anchor="ctr"/>
          <a:lstStyle/>
          <a:p>
            <a:pPr indent="0" marL="0">
              <a:buNone/>
            </a:pPr>
            <a:r>
              <a:rPr lang="en-US" sz="900" dirty="0">
                <a:solidFill>
                  <a:srgbClr val="64748B"/>
                </a:solidFill>
                <a:latin typeface="Yu Gothic" pitchFamily="34" charset="0"/>
                <a:ea typeface="Yu Gothic" pitchFamily="34" charset="-122"/>
                <a:cs typeface="Yu Gothic" pitchFamily="34" charset="-120"/>
              </a:rPr>
              <a:t>OS 設定でアニメ無効化を尊重</a:t>
            </a:r>
            <a:endParaRPr lang="en-US" sz="900" dirty="0"/>
          </a:p>
        </p:txBody>
      </p:sp>
      <p:sp>
        <p:nvSpPr>
          <p:cNvPr id="49" name="Text 47"/>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Yu Gothic" pitchFamily="34" charset="0"/>
                <a:ea typeface="Yu Gothic" pitchFamily="34" charset="-122"/>
                <a:cs typeface="Yu Gothic" pitchFamily="34" charset="-120"/>
              </a:rPr>
              <a:t>株式会社ライトパス サイト構築</a:t>
            </a:r>
            <a:endParaRPr lang="en-US" sz="900" dirty="0"/>
          </a:p>
        </p:txBody>
      </p:sp>
      <p:sp>
        <p:nvSpPr>
          <p:cNvPr id="50" name="Text 48"/>
          <p:cNvSpPr/>
          <p:nvPr/>
        </p:nvSpPr>
        <p:spPr>
          <a:xfrm>
            <a:off x="10820095" y="6446520"/>
            <a:ext cx="822960" cy="274320"/>
          </a:xfrm>
          <a:prstGeom prst="rect">
            <a:avLst/>
          </a:prstGeom>
          <a:noFill/>
          <a:ln/>
        </p:spPr>
        <p:txBody>
          <a:bodyPr wrap="square" lIns="0" tIns="0" rIns="0" bIns="0" rtlCol="0" anchor="ctr"/>
          <a:lstStyle/>
          <a:p>
            <a:pPr algn="r" indent="0" marL="0">
              <a:buNone/>
            </a:pPr>
            <a:r>
              <a:rPr lang="en-US" sz="900" dirty="0">
                <a:solidFill>
                  <a:srgbClr val="64748B"/>
                </a:solidFill>
                <a:latin typeface="Yu Gothic" pitchFamily="34" charset="0"/>
                <a:ea typeface="Yu Gothic" pitchFamily="34" charset="-122"/>
                <a:cs typeface="Yu Gothic" pitchFamily="34" charset="-120"/>
              </a:rPr>
              <a:t>5 / 12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164592" cy="164592"/>
          </a:xfrm>
          <a:prstGeom prst="rect">
            <a:avLst/>
          </a:prstGeom>
          <a:solidFill>
            <a:srgbClr val="EBC528"/>
          </a:solidFill>
          <a:ln/>
        </p:spPr>
      </p:sp>
      <p:sp>
        <p:nvSpPr>
          <p:cNvPr id="3" name="Text 1"/>
          <p:cNvSpPr/>
          <p:nvPr/>
        </p:nvSpPr>
        <p:spPr>
          <a:xfrm>
            <a:off x="777240" y="365760"/>
            <a:ext cx="7315200" cy="365760"/>
          </a:xfrm>
          <a:prstGeom prst="rect">
            <a:avLst/>
          </a:prstGeom>
          <a:noFill/>
          <a:ln/>
        </p:spPr>
        <p:txBody>
          <a:bodyPr wrap="square" lIns="0" tIns="0" rIns="0" bIns="0" rtlCol="0" anchor="ctr"/>
          <a:lstStyle/>
          <a:p>
            <a:pPr indent="0" marL="0">
              <a:buNone/>
            </a:pPr>
            <a:r>
              <a:rPr lang="en-US" sz="1100" b="1" spc="400" kern="0" dirty="0">
                <a:solidFill>
                  <a:srgbClr val="64748B"/>
                </a:solidFill>
                <a:latin typeface="Yu Gothic" pitchFamily="34" charset="0"/>
                <a:ea typeface="Yu Gothic" pitchFamily="34" charset="-122"/>
                <a:cs typeface="Yu Gothic" pitchFamily="34" charset="-120"/>
              </a:rPr>
              <a:t>05  KEY POINT</a:t>
            </a:r>
            <a:endParaRPr lang="en-US" sz="1100" dirty="0"/>
          </a:p>
        </p:txBody>
      </p:sp>
      <p:sp>
        <p:nvSpPr>
          <p:cNvPr id="4" name="Text 2"/>
          <p:cNvSpPr/>
          <p:nvPr/>
        </p:nvSpPr>
        <p:spPr>
          <a:xfrm>
            <a:off x="548640" y="713232"/>
            <a:ext cx="10972800" cy="594360"/>
          </a:xfrm>
          <a:prstGeom prst="rect">
            <a:avLst/>
          </a:prstGeom>
          <a:noFill/>
          <a:ln/>
        </p:spPr>
        <p:txBody>
          <a:bodyPr wrap="square" lIns="0" tIns="0" rIns="0" bIns="0" rtlCol="0" anchor="ctr"/>
          <a:lstStyle/>
          <a:p>
            <a:pPr indent="0" marL="0">
              <a:buNone/>
            </a:pPr>
            <a:r>
              <a:rPr lang="en-US" sz="2400" b="1" dirty="0">
                <a:solidFill>
                  <a:srgbClr val="0F172A"/>
                </a:solidFill>
                <a:latin typeface="Yu Gothic" pitchFamily="34" charset="0"/>
                <a:ea typeface="Yu Gothic" pitchFamily="34" charset="-122"/>
                <a:cs typeface="Yu Gothic" pitchFamily="34" charset="-120"/>
              </a:rPr>
              <a:t>セキュリティの工夫 ①｜全体像</a:t>
            </a:r>
            <a:endParaRPr lang="en-US" sz="2400" dirty="0"/>
          </a:p>
        </p:txBody>
      </p:sp>
      <p:sp>
        <p:nvSpPr>
          <p:cNvPr id="5" name="Shape 3"/>
          <p:cNvSpPr/>
          <p:nvPr/>
        </p:nvSpPr>
        <p:spPr>
          <a:xfrm>
            <a:off x="548640" y="1417320"/>
            <a:ext cx="11064240" cy="868680"/>
          </a:xfrm>
          <a:prstGeom prst="rect">
            <a:avLst/>
          </a:prstGeom>
          <a:solidFill>
            <a:srgbClr val="F8FAFC"/>
          </a:solidFill>
          <a:ln w="6350">
            <a:solidFill>
              <a:srgbClr val="E2E8F0"/>
            </a:solidFill>
            <a:prstDash val="solid"/>
          </a:ln>
        </p:spPr>
      </p:sp>
      <p:sp>
        <p:nvSpPr>
          <p:cNvPr id="6" name="Shape 4"/>
          <p:cNvSpPr/>
          <p:nvPr/>
        </p:nvSpPr>
        <p:spPr>
          <a:xfrm>
            <a:off x="548640" y="1417320"/>
            <a:ext cx="109728" cy="868680"/>
          </a:xfrm>
          <a:prstGeom prst="rect">
            <a:avLst/>
          </a:prstGeom>
          <a:solidFill>
            <a:srgbClr val="EBC528"/>
          </a:solidFill>
          <a:ln/>
        </p:spPr>
      </p:sp>
      <p:sp>
        <p:nvSpPr>
          <p:cNvPr id="7" name="Text 5"/>
          <p:cNvSpPr/>
          <p:nvPr/>
        </p:nvSpPr>
        <p:spPr>
          <a:xfrm>
            <a:off x="822960" y="1508760"/>
            <a:ext cx="868680" cy="274320"/>
          </a:xfrm>
          <a:prstGeom prst="rect">
            <a:avLst/>
          </a:prstGeom>
          <a:noFill/>
          <a:ln/>
        </p:spPr>
        <p:txBody>
          <a:bodyPr wrap="square" lIns="0" tIns="0" rIns="0" bIns="0" rtlCol="0" anchor="ctr"/>
          <a:lstStyle/>
          <a:p>
            <a:pPr indent="0" marL="0">
              <a:buNone/>
            </a:pPr>
            <a:r>
              <a:rPr lang="en-US" sz="1000" b="1" spc="600" kern="0" dirty="0">
                <a:solidFill>
                  <a:srgbClr val="0F172A"/>
                </a:solidFill>
                <a:latin typeface="Yu Gothic" pitchFamily="34" charset="0"/>
                <a:ea typeface="Yu Gothic" pitchFamily="34" charset="-122"/>
                <a:cs typeface="Yu Gothic" pitchFamily="34" charset="-120"/>
              </a:rPr>
              <a:t>POINT</a:t>
            </a:r>
            <a:endParaRPr lang="en-US" sz="1000" dirty="0"/>
          </a:p>
        </p:txBody>
      </p:sp>
      <p:sp>
        <p:nvSpPr>
          <p:cNvPr id="8" name="Shape 6"/>
          <p:cNvSpPr/>
          <p:nvPr/>
        </p:nvSpPr>
        <p:spPr>
          <a:xfrm>
            <a:off x="1828800" y="1618488"/>
            <a:ext cx="164592" cy="164592"/>
          </a:xfrm>
          <a:prstGeom prst="ellipse">
            <a:avLst/>
          </a:prstGeom>
          <a:solidFill>
            <a:srgbClr val="EBC528"/>
          </a:solidFill>
          <a:ln/>
        </p:spPr>
      </p:sp>
      <p:sp>
        <p:nvSpPr>
          <p:cNvPr id="9" name="Text 7"/>
          <p:cNvSpPr/>
          <p:nvPr/>
        </p:nvSpPr>
        <p:spPr>
          <a:xfrm>
            <a:off x="2103120" y="1508760"/>
            <a:ext cx="9418320" cy="411480"/>
          </a:xfrm>
          <a:prstGeom prst="rect">
            <a:avLst/>
          </a:prstGeom>
          <a:noFill/>
          <a:ln/>
        </p:spPr>
        <p:txBody>
          <a:bodyPr wrap="square" lIns="0" tIns="0" rIns="0" bIns="0" rtlCol="0" anchor="ctr"/>
          <a:lstStyle/>
          <a:p>
            <a:pPr indent="0" marL="0">
              <a:buNone/>
            </a:pPr>
            <a:r>
              <a:rPr lang="en-US" sz="1400" b="1" dirty="0">
                <a:solidFill>
                  <a:srgbClr val="0F172A"/>
                </a:solidFill>
                <a:latin typeface="Yu Gothic" pitchFamily="34" charset="0"/>
                <a:ea typeface="Yu Gothic" pitchFamily="34" charset="-122"/>
                <a:cs typeface="Yu Gothic" pitchFamily="34" charset="-120"/>
              </a:rPr>
              <a:t>「入り口で防ぐ・中身を検証する・露出を減らす」の 3 軸で多層防御</a:t>
            </a:r>
            <a:endParaRPr lang="en-US" sz="1400" dirty="0"/>
          </a:p>
        </p:txBody>
      </p:sp>
      <p:sp>
        <p:nvSpPr>
          <p:cNvPr id="10" name="Shape 8"/>
          <p:cNvSpPr/>
          <p:nvPr/>
        </p:nvSpPr>
        <p:spPr>
          <a:xfrm>
            <a:off x="1828800" y="1961388"/>
            <a:ext cx="164592" cy="164592"/>
          </a:xfrm>
          <a:prstGeom prst="ellipse">
            <a:avLst/>
          </a:prstGeom>
          <a:solidFill>
            <a:srgbClr val="EBC528"/>
          </a:solidFill>
          <a:ln/>
        </p:spPr>
      </p:sp>
      <p:sp>
        <p:nvSpPr>
          <p:cNvPr id="11" name="Text 9"/>
          <p:cNvSpPr/>
          <p:nvPr/>
        </p:nvSpPr>
        <p:spPr>
          <a:xfrm>
            <a:off x="2103120" y="1851660"/>
            <a:ext cx="9418320" cy="411480"/>
          </a:xfrm>
          <a:prstGeom prst="rect">
            <a:avLst/>
          </a:prstGeom>
          <a:noFill/>
          <a:ln/>
        </p:spPr>
        <p:txBody>
          <a:bodyPr wrap="square" lIns="0" tIns="0" rIns="0" bIns="0" rtlCol="0" anchor="ctr"/>
          <a:lstStyle/>
          <a:p>
            <a:pPr indent="0" marL="0">
              <a:buNone/>
            </a:pPr>
            <a:r>
              <a:rPr lang="en-US" sz="1400" b="1" dirty="0">
                <a:solidFill>
                  <a:srgbClr val="0F172A"/>
                </a:solidFill>
                <a:latin typeface="Yu Gothic" pitchFamily="34" charset="0"/>
                <a:ea typeface="Yu Gothic" pitchFamily="34" charset="-122"/>
                <a:cs typeface="Yu Gothic" pitchFamily="34" charset="-120"/>
              </a:rPr>
              <a:t>CSP・クロスオリジン分離・CSRF 対策を追加し、API 層まで防御を拡張</a:t>
            </a:r>
            <a:endParaRPr lang="en-US" sz="1400" dirty="0"/>
          </a:p>
        </p:txBody>
      </p:sp>
      <p:sp>
        <p:nvSpPr>
          <p:cNvPr id="12" name="Shape 10"/>
          <p:cNvSpPr/>
          <p:nvPr/>
        </p:nvSpPr>
        <p:spPr>
          <a:xfrm>
            <a:off x="548640" y="2606040"/>
            <a:ext cx="3566160" cy="3611880"/>
          </a:xfrm>
          <a:prstGeom prst="rect">
            <a:avLst/>
          </a:prstGeom>
          <a:solidFill>
            <a:srgbClr val="FFFFFF"/>
          </a:solidFill>
          <a:ln w="6350">
            <a:solidFill>
              <a:srgbClr val="E2E8F0"/>
            </a:solidFill>
            <a:prstDash val="solid"/>
          </a:ln>
        </p:spPr>
      </p:sp>
      <p:sp>
        <p:nvSpPr>
          <p:cNvPr id="13" name="Shape 11"/>
          <p:cNvSpPr/>
          <p:nvPr/>
        </p:nvSpPr>
        <p:spPr>
          <a:xfrm>
            <a:off x="548640" y="2606040"/>
            <a:ext cx="3566160" cy="685800"/>
          </a:xfrm>
          <a:prstGeom prst="rect">
            <a:avLst/>
          </a:prstGeom>
          <a:solidFill>
            <a:srgbClr val="EF4444"/>
          </a:solidFill>
          <a:ln/>
        </p:spPr>
      </p:sp>
      <p:sp>
        <p:nvSpPr>
          <p:cNvPr id="14" name="Text 12"/>
          <p:cNvSpPr/>
          <p:nvPr/>
        </p:nvSpPr>
        <p:spPr>
          <a:xfrm>
            <a:off x="731520" y="2651760"/>
            <a:ext cx="3200400" cy="320040"/>
          </a:xfrm>
          <a:prstGeom prst="rect">
            <a:avLst/>
          </a:prstGeom>
          <a:noFill/>
          <a:ln/>
        </p:spPr>
        <p:txBody>
          <a:bodyPr wrap="square" lIns="0" tIns="0" rIns="0" bIns="0" rtlCol="0" anchor="ctr"/>
          <a:lstStyle/>
          <a:p>
            <a:pPr indent="0" marL="0">
              <a:buNone/>
            </a:pPr>
            <a:r>
              <a:rPr lang="en-US" sz="1300" b="1" dirty="0">
                <a:solidFill>
                  <a:srgbClr val="FFFFFF"/>
                </a:solidFill>
                <a:latin typeface="Yu Gothic" pitchFamily="34" charset="0"/>
                <a:ea typeface="Yu Gothic" pitchFamily="34" charset="-122"/>
                <a:cs typeface="Yu Gothic" pitchFamily="34" charset="-120"/>
              </a:rPr>
              <a:t>1. 入り口で防ぐ</a:t>
            </a:r>
            <a:endParaRPr lang="en-US" sz="1300" dirty="0"/>
          </a:p>
        </p:txBody>
      </p:sp>
      <p:sp>
        <p:nvSpPr>
          <p:cNvPr id="15" name="Text 13"/>
          <p:cNvSpPr/>
          <p:nvPr/>
        </p:nvSpPr>
        <p:spPr>
          <a:xfrm>
            <a:off x="731520" y="2971800"/>
            <a:ext cx="3200400" cy="274320"/>
          </a:xfrm>
          <a:prstGeom prst="rect">
            <a:avLst/>
          </a:prstGeom>
          <a:noFill/>
          <a:ln/>
        </p:spPr>
        <p:txBody>
          <a:bodyPr wrap="square" lIns="0" tIns="0" rIns="0" bIns="0" rtlCol="0" anchor="ctr"/>
          <a:lstStyle/>
          <a:p>
            <a:pPr indent="0" marL="0">
              <a:buNone/>
            </a:pPr>
            <a:r>
              <a:rPr lang="en-US" sz="1000" dirty="0">
                <a:solidFill>
                  <a:srgbClr val="FFFFFF"/>
                </a:solidFill>
                <a:latin typeface="Yu Gothic" pitchFamily="34" charset="0"/>
                <a:ea typeface="Yu Gothic" pitchFamily="34" charset="-122"/>
                <a:cs typeface="Yu Gothic" pitchFamily="34" charset="-120"/>
              </a:rPr>
              <a:t>セキュリティヘッダ</a:t>
            </a:r>
            <a:endParaRPr lang="en-US" sz="1000" dirty="0"/>
          </a:p>
        </p:txBody>
      </p:sp>
      <p:sp>
        <p:nvSpPr>
          <p:cNvPr id="16" name="Text 14"/>
          <p:cNvSpPr/>
          <p:nvPr/>
        </p:nvSpPr>
        <p:spPr>
          <a:xfrm>
            <a:off x="731520" y="3383280"/>
            <a:ext cx="3200400" cy="2743200"/>
          </a:xfrm>
          <a:prstGeom prst="rect">
            <a:avLst/>
          </a:prstGeom>
          <a:noFill/>
          <a:ln/>
        </p:spPr>
        <p:txBody>
          <a:bodyPr wrap="square" rtlCol="0" anchor="ctr"/>
          <a:lstStyle/>
          <a:p>
            <a:pPr marL="342900" indent="-342900">
              <a:spcAft>
                <a:spcPts val="400"/>
              </a:spcAft>
              <a:buSzPct val="100000"/>
              <a:buChar char="•"/>
            </a:pPr>
            <a:r>
              <a:rPr lang="en-US" sz="1000" dirty="0">
                <a:solidFill>
                  <a:srgbClr val="1E293B"/>
                </a:solidFill>
                <a:latin typeface="Yu Gothic" pitchFamily="34" charset="0"/>
                <a:ea typeface="Yu Gothic" pitchFamily="34" charset="-122"/>
                <a:cs typeface="Yu Gothic" pitchFamily="34" charset="-120"/>
              </a:rPr>
              <a:t>Content-Security-Policy（新規）</a:t>
            </a:r>
            <a:endParaRPr lang="en-US" sz="1000" dirty="0"/>
          </a:p>
          <a:p>
            <a:pPr marL="342900" indent="-342900">
              <a:spcAft>
                <a:spcPts val="400"/>
              </a:spcAft>
              <a:buSzPct val="100000"/>
              <a:buChar char="•"/>
            </a:pPr>
            <a:r>
              <a:rPr lang="en-US" sz="1000" dirty="0">
                <a:solidFill>
                  <a:srgbClr val="1E293B"/>
                </a:solidFill>
                <a:latin typeface="Yu Gothic" pitchFamily="34" charset="0"/>
                <a:ea typeface="Yu Gothic" pitchFamily="34" charset="-122"/>
                <a:cs typeface="Yu Gothic" pitchFamily="34" charset="-120"/>
              </a:rPr>
              <a:t>X-Frame-Options + frame-ancestors</a:t>
            </a:r>
            <a:endParaRPr lang="en-US" sz="1000" dirty="0"/>
          </a:p>
          <a:p>
            <a:pPr marL="342900" indent="-342900">
              <a:spcAft>
                <a:spcPts val="400"/>
              </a:spcAft>
              <a:buSzPct val="100000"/>
              <a:buChar char="•"/>
            </a:pPr>
            <a:r>
              <a:rPr lang="en-US" sz="1000" dirty="0">
                <a:solidFill>
                  <a:srgbClr val="1E293B"/>
                </a:solidFill>
                <a:latin typeface="Yu Gothic" pitchFamily="34" charset="0"/>
                <a:ea typeface="Yu Gothic" pitchFamily="34" charset="-122"/>
                <a:cs typeface="Yu Gothic" pitchFamily="34" charset="-120"/>
              </a:rPr>
              <a:t>Strict-Transport-Security (HSTS)</a:t>
            </a:r>
            <a:endParaRPr lang="en-US" sz="1000" dirty="0"/>
          </a:p>
          <a:p>
            <a:pPr marL="342900" indent="-342900">
              <a:spcAft>
                <a:spcPts val="400"/>
              </a:spcAft>
              <a:buSzPct val="100000"/>
              <a:buChar char="•"/>
            </a:pPr>
            <a:r>
              <a:rPr lang="en-US" sz="1000" dirty="0">
                <a:solidFill>
                  <a:srgbClr val="1E293B"/>
                </a:solidFill>
                <a:latin typeface="Yu Gothic" pitchFamily="34" charset="0"/>
                <a:ea typeface="Yu Gothic" pitchFamily="34" charset="-122"/>
                <a:cs typeface="Yu Gothic" pitchFamily="34" charset="-120"/>
              </a:rPr>
              <a:t>Cross-Origin-Opener / Resource Policy（新規）</a:t>
            </a:r>
            <a:endParaRPr lang="en-US" sz="1000" dirty="0"/>
          </a:p>
          <a:p>
            <a:pPr marL="342900" indent="-342900">
              <a:spcAft>
                <a:spcPts val="400"/>
              </a:spcAft>
              <a:buSzPct val="100000"/>
              <a:buChar char="•"/>
            </a:pPr>
            <a:r>
              <a:rPr lang="en-US" sz="1000" dirty="0">
                <a:solidFill>
                  <a:srgbClr val="1E293B"/>
                </a:solidFill>
                <a:latin typeface="Yu Gothic" pitchFamily="34" charset="0"/>
                <a:ea typeface="Yu Gothic" pitchFamily="34" charset="-122"/>
                <a:cs typeface="Yu Gothic" pitchFamily="34" charset="-120"/>
              </a:rPr>
              <a:t>Permissions-Policy（payment, usb 拡張）</a:t>
            </a:r>
            <a:endParaRPr lang="en-US" sz="1000" dirty="0"/>
          </a:p>
        </p:txBody>
      </p:sp>
      <p:sp>
        <p:nvSpPr>
          <p:cNvPr id="17" name="Shape 15"/>
          <p:cNvSpPr/>
          <p:nvPr/>
        </p:nvSpPr>
        <p:spPr>
          <a:xfrm>
            <a:off x="4343400" y="2606040"/>
            <a:ext cx="3566160" cy="3611880"/>
          </a:xfrm>
          <a:prstGeom prst="rect">
            <a:avLst/>
          </a:prstGeom>
          <a:solidFill>
            <a:srgbClr val="FFFFFF"/>
          </a:solidFill>
          <a:ln w="6350">
            <a:solidFill>
              <a:srgbClr val="E2E8F0"/>
            </a:solidFill>
            <a:prstDash val="solid"/>
          </a:ln>
        </p:spPr>
      </p:sp>
      <p:sp>
        <p:nvSpPr>
          <p:cNvPr id="18" name="Shape 16"/>
          <p:cNvSpPr/>
          <p:nvPr/>
        </p:nvSpPr>
        <p:spPr>
          <a:xfrm>
            <a:off x="4343400" y="2606040"/>
            <a:ext cx="3566160" cy="685800"/>
          </a:xfrm>
          <a:prstGeom prst="rect">
            <a:avLst/>
          </a:prstGeom>
          <a:solidFill>
            <a:srgbClr val="F59E0B"/>
          </a:solidFill>
          <a:ln/>
        </p:spPr>
      </p:sp>
      <p:sp>
        <p:nvSpPr>
          <p:cNvPr id="19" name="Text 17"/>
          <p:cNvSpPr/>
          <p:nvPr/>
        </p:nvSpPr>
        <p:spPr>
          <a:xfrm>
            <a:off x="4526280" y="2651760"/>
            <a:ext cx="3200400" cy="320040"/>
          </a:xfrm>
          <a:prstGeom prst="rect">
            <a:avLst/>
          </a:prstGeom>
          <a:noFill/>
          <a:ln/>
        </p:spPr>
        <p:txBody>
          <a:bodyPr wrap="square" lIns="0" tIns="0" rIns="0" bIns="0" rtlCol="0" anchor="ctr"/>
          <a:lstStyle/>
          <a:p>
            <a:pPr indent="0" marL="0">
              <a:buNone/>
            </a:pPr>
            <a:r>
              <a:rPr lang="en-US" sz="1300" b="1" dirty="0">
                <a:solidFill>
                  <a:srgbClr val="FFFFFF"/>
                </a:solidFill>
                <a:latin typeface="Yu Gothic" pitchFamily="34" charset="0"/>
                <a:ea typeface="Yu Gothic" pitchFamily="34" charset="-122"/>
                <a:cs typeface="Yu Gothic" pitchFamily="34" charset="-120"/>
              </a:rPr>
              <a:t>2. 中身を確認する</a:t>
            </a:r>
            <a:endParaRPr lang="en-US" sz="1300" dirty="0"/>
          </a:p>
        </p:txBody>
      </p:sp>
      <p:sp>
        <p:nvSpPr>
          <p:cNvPr id="20" name="Text 18"/>
          <p:cNvSpPr/>
          <p:nvPr/>
        </p:nvSpPr>
        <p:spPr>
          <a:xfrm>
            <a:off x="4526280" y="2971800"/>
            <a:ext cx="3200400" cy="274320"/>
          </a:xfrm>
          <a:prstGeom prst="rect">
            <a:avLst/>
          </a:prstGeom>
          <a:noFill/>
          <a:ln/>
        </p:spPr>
        <p:txBody>
          <a:bodyPr wrap="square" lIns="0" tIns="0" rIns="0" bIns="0" rtlCol="0" anchor="ctr"/>
          <a:lstStyle/>
          <a:p>
            <a:pPr indent="0" marL="0">
              <a:buNone/>
            </a:pPr>
            <a:r>
              <a:rPr lang="en-US" sz="1000" dirty="0">
                <a:solidFill>
                  <a:srgbClr val="FFFFFF"/>
                </a:solidFill>
                <a:latin typeface="Yu Gothic" pitchFamily="34" charset="0"/>
                <a:ea typeface="Yu Gothic" pitchFamily="34" charset="-122"/>
                <a:cs typeface="Yu Gothic" pitchFamily="34" charset="-120"/>
              </a:rPr>
              <a:t>API / フォーム検証</a:t>
            </a:r>
            <a:endParaRPr lang="en-US" sz="1000" dirty="0"/>
          </a:p>
        </p:txBody>
      </p:sp>
      <p:sp>
        <p:nvSpPr>
          <p:cNvPr id="21" name="Text 19"/>
          <p:cNvSpPr/>
          <p:nvPr/>
        </p:nvSpPr>
        <p:spPr>
          <a:xfrm>
            <a:off x="4526280" y="3383280"/>
            <a:ext cx="3200400" cy="2743200"/>
          </a:xfrm>
          <a:prstGeom prst="rect">
            <a:avLst/>
          </a:prstGeom>
          <a:noFill/>
          <a:ln/>
        </p:spPr>
        <p:txBody>
          <a:bodyPr wrap="square" rtlCol="0" anchor="ctr"/>
          <a:lstStyle/>
          <a:p>
            <a:pPr marL="342900" indent="-342900">
              <a:spcAft>
                <a:spcPts val="400"/>
              </a:spcAft>
              <a:buSzPct val="100000"/>
              <a:buChar char="•"/>
            </a:pPr>
            <a:r>
              <a:rPr lang="en-US" sz="1000" dirty="0">
                <a:solidFill>
                  <a:srgbClr val="1E293B"/>
                </a:solidFill>
                <a:latin typeface="Yu Gothic" pitchFamily="34" charset="0"/>
                <a:ea typeface="Yu Gothic" pitchFamily="34" charset="-122"/>
                <a:cs typeface="Yu Gothic" pitchFamily="34" charset="-120"/>
              </a:rPr>
              <a:t>PDF 3 層検証（拡張子+MIME+マジック）</a:t>
            </a:r>
            <a:endParaRPr lang="en-US" sz="1000" dirty="0"/>
          </a:p>
          <a:p>
            <a:pPr marL="342900" indent="-342900">
              <a:spcAft>
                <a:spcPts val="400"/>
              </a:spcAft>
              <a:buSzPct val="100000"/>
              <a:buChar char="•"/>
            </a:pPr>
            <a:r>
              <a:rPr lang="en-US" sz="1000" dirty="0">
                <a:solidFill>
                  <a:srgbClr val="1E293B"/>
                </a:solidFill>
                <a:latin typeface="Yu Gothic" pitchFamily="34" charset="0"/>
                <a:ea typeface="Yu Gothic" pitchFamily="34" charset="-122"/>
                <a:cs typeface="Yu Gothic" pitchFamily="34" charset="-120"/>
              </a:rPr>
              <a:t>Origin / Referer 検証（CSRF, 新規）</a:t>
            </a:r>
            <a:endParaRPr lang="en-US" sz="1000" dirty="0"/>
          </a:p>
          <a:p>
            <a:pPr marL="342900" indent="-342900">
              <a:spcAft>
                <a:spcPts val="400"/>
              </a:spcAft>
              <a:buSzPct val="100000"/>
              <a:buChar char="•"/>
            </a:pPr>
            <a:r>
              <a:rPr lang="en-US" sz="1000" dirty="0">
                <a:solidFill>
                  <a:srgbClr val="1E293B"/>
                </a:solidFill>
                <a:latin typeface="Yu Gothic" pitchFamily="34" charset="0"/>
                <a:ea typeface="Yu Gothic" pitchFamily="34" charset="-122"/>
                <a:cs typeface="Yu Gothic" pitchFamily="34" charset="-120"/>
              </a:rPr>
              <a:t>POST 以外を 405 拒否（メソッド制限, 新規）</a:t>
            </a:r>
            <a:endParaRPr lang="en-US" sz="1000" dirty="0"/>
          </a:p>
          <a:p>
            <a:pPr marL="342900" indent="-342900">
              <a:spcAft>
                <a:spcPts val="400"/>
              </a:spcAft>
              <a:buSzPct val="100000"/>
              <a:buChar char="•"/>
            </a:pPr>
            <a:r>
              <a:rPr lang="en-US" sz="1000" dirty="0">
                <a:solidFill>
                  <a:srgbClr val="1E293B"/>
                </a:solidFill>
                <a:latin typeface="Yu Gothic" pitchFamily="34" charset="0"/>
                <a:ea typeface="Yu Gothic" pitchFamily="34" charset="-122"/>
                <a:cs typeface="Yu Gothic" pitchFamily="34" charset="-120"/>
              </a:rPr>
              <a:t>zipcloud は 7 桁数字限定 + 5 秒タイムアウト</a:t>
            </a:r>
            <a:endParaRPr lang="en-US" sz="1000" dirty="0"/>
          </a:p>
          <a:p>
            <a:pPr marL="342900" indent="-342900">
              <a:spcAft>
                <a:spcPts val="400"/>
              </a:spcAft>
              <a:buSzPct val="100000"/>
              <a:buChar char="•"/>
            </a:pPr>
            <a:r>
              <a:rPr lang="en-US" sz="1000" dirty="0">
                <a:solidFill>
                  <a:srgbClr val="1E293B"/>
                </a:solidFill>
                <a:latin typeface="Yu Gothic" pitchFamily="34" charset="0"/>
                <a:ea typeface="Yu Gothic" pitchFamily="34" charset="-122"/>
                <a:cs typeface="Yu Gothic" pitchFamily="34" charset="-120"/>
              </a:rPr>
              <a:t>外部リンクは rel=noopener noreferrer</a:t>
            </a:r>
            <a:endParaRPr lang="en-US" sz="1000" dirty="0"/>
          </a:p>
        </p:txBody>
      </p:sp>
      <p:sp>
        <p:nvSpPr>
          <p:cNvPr id="22" name="Shape 20"/>
          <p:cNvSpPr/>
          <p:nvPr/>
        </p:nvSpPr>
        <p:spPr>
          <a:xfrm>
            <a:off x="8138160" y="2606040"/>
            <a:ext cx="3566160" cy="3611880"/>
          </a:xfrm>
          <a:prstGeom prst="rect">
            <a:avLst/>
          </a:prstGeom>
          <a:solidFill>
            <a:srgbClr val="FFFFFF"/>
          </a:solidFill>
          <a:ln w="6350">
            <a:solidFill>
              <a:srgbClr val="E2E8F0"/>
            </a:solidFill>
            <a:prstDash val="solid"/>
          </a:ln>
        </p:spPr>
      </p:sp>
      <p:sp>
        <p:nvSpPr>
          <p:cNvPr id="23" name="Shape 21"/>
          <p:cNvSpPr/>
          <p:nvPr/>
        </p:nvSpPr>
        <p:spPr>
          <a:xfrm>
            <a:off x="8138160" y="2606040"/>
            <a:ext cx="3566160" cy="685800"/>
          </a:xfrm>
          <a:prstGeom prst="rect">
            <a:avLst/>
          </a:prstGeom>
          <a:solidFill>
            <a:srgbClr val="10B981"/>
          </a:solidFill>
          <a:ln/>
        </p:spPr>
      </p:sp>
      <p:sp>
        <p:nvSpPr>
          <p:cNvPr id="24" name="Text 22"/>
          <p:cNvSpPr/>
          <p:nvPr/>
        </p:nvSpPr>
        <p:spPr>
          <a:xfrm>
            <a:off x="8321040" y="2651760"/>
            <a:ext cx="3200400" cy="320040"/>
          </a:xfrm>
          <a:prstGeom prst="rect">
            <a:avLst/>
          </a:prstGeom>
          <a:noFill/>
          <a:ln/>
        </p:spPr>
        <p:txBody>
          <a:bodyPr wrap="square" lIns="0" tIns="0" rIns="0" bIns="0" rtlCol="0" anchor="ctr"/>
          <a:lstStyle/>
          <a:p>
            <a:pPr indent="0" marL="0">
              <a:buNone/>
            </a:pPr>
            <a:r>
              <a:rPr lang="en-US" sz="1300" b="1" dirty="0">
                <a:solidFill>
                  <a:srgbClr val="FFFFFF"/>
                </a:solidFill>
                <a:latin typeface="Yu Gothic" pitchFamily="34" charset="0"/>
                <a:ea typeface="Yu Gothic" pitchFamily="34" charset="-122"/>
                <a:cs typeface="Yu Gothic" pitchFamily="34" charset="-120"/>
              </a:rPr>
              <a:t>3. 露出を減らす</a:t>
            </a:r>
            <a:endParaRPr lang="en-US" sz="1300" dirty="0"/>
          </a:p>
        </p:txBody>
      </p:sp>
      <p:sp>
        <p:nvSpPr>
          <p:cNvPr id="25" name="Text 23"/>
          <p:cNvSpPr/>
          <p:nvPr/>
        </p:nvSpPr>
        <p:spPr>
          <a:xfrm>
            <a:off x="8321040" y="2971800"/>
            <a:ext cx="3200400" cy="274320"/>
          </a:xfrm>
          <a:prstGeom prst="rect">
            <a:avLst/>
          </a:prstGeom>
          <a:noFill/>
          <a:ln/>
        </p:spPr>
        <p:txBody>
          <a:bodyPr wrap="square" lIns="0" tIns="0" rIns="0" bIns="0" rtlCol="0" anchor="ctr"/>
          <a:lstStyle/>
          <a:p>
            <a:pPr indent="0" marL="0">
              <a:buNone/>
            </a:pPr>
            <a:r>
              <a:rPr lang="en-US" sz="1000" dirty="0">
                <a:solidFill>
                  <a:srgbClr val="FFFFFF"/>
                </a:solidFill>
                <a:latin typeface="Yu Gothic" pitchFamily="34" charset="0"/>
                <a:ea typeface="Yu Gothic" pitchFamily="34" charset="-122"/>
                <a:cs typeface="Yu Gothic" pitchFamily="34" charset="-120"/>
              </a:rPr>
              <a:t>情報の秘匿</a:t>
            </a:r>
            <a:endParaRPr lang="en-US" sz="1000" dirty="0"/>
          </a:p>
        </p:txBody>
      </p:sp>
      <p:sp>
        <p:nvSpPr>
          <p:cNvPr id="26" name="Text 24"/>
          <p:cNvSpPr/>
          <p:nvPr/>
        </p:nvSpPr>
        <p:spPr>
          <a:xfrm>
            <a:off x="8321040" y="3383280"/>
            <a:ext cx="3200400" cy="2743200"/>
          </a:xfrm>
          <a:prstGeom prst="rect">
            <a:avLst/>
          </a:prstGeom>
          <a:noFill/>
          <a:ln/>
        </p:spPr>
        <p:txBody>
          <a:bodyPr wrap="square" rtlCol="0" anchor="ctr"/>
          <a:lstStyle/>
          <a:p>
            <a:pPr marL="342900" indent="-342900">
              <a:spcAft>
                <a:spcPts val="400"/>
              </a:spcAft>
              <a:buSzPct val="100000"/>
              <a:buChar char="•"/>
            </a:pPr>
            <a:r>
              <a:rPr lang="en-US" sz="1000" dirty="0">
                <a:solidFill>
                  <a:srgbClr val="1E293B"/>
                </a:solidFill>
                <a:latin typeface="Yu Gothic" pitchFamily="34" charset="0"/>
                <a:ea typeface="Yu Gothic" pitchFamily="34" charset="-122"/>
                <a:cs typeface="Yu Gothic" pitchFamily="34" charset="-120"/>
              </a:rPr>
              <a:t>X-Powered-By ヘッダを無効化</a:t>
            </a:r>
            <a:endParaRPr lang="en-US" sz="1000" dirty="0"/>
          </a:p>
          <a:p>
            <a:pPr marL="342900" indent="-342900">
              <a:spcAft>
                <a:spcPts val="400"/>
              </a:spcAft>
              <a:buSzPct val="100000"/>
              <a:buChar char="•"/>
            </a:pPr>
            <a:r>
              <a:rPr lang="en-US" sz="1000" dirty="0">
                <a:solidFill>
                  <a:srgbClr val="1E293B"/>
                </a:solidFill>
                <a:latin typeface="Yu Gothic" pitchFamily="34" charset="0"/>
                <a:ea typeface="Yu Gothic" pitchFamily="34" charset="-122"/>
                <a:cs typeface="Yu Gothic" pitchFamily="34" charset="-120"/>
              </a:rPr>
              <a:t>本番ソースマップを生成しない</a:t>
            </a:r>
            <a:endParaRPr lang="en-US" sz="1000" dirty="0"/>
          </a:p>
          <a:p>
            <a:pPr marL="342900" indent="-342900">
              <a:spcAft>
                <a:spcPts val="400"/>
              </a:spcAft>
              <a:buSzPct val="100000"/>
              <a:buChar char="•"/>
            </a:pPr>
            <a:r>
              <a:rPr lang="en-US" sz="1000" dirty="0">
                <a:solidFill>
                  <a:srgbClr val="1E293B"/>
                </a:solidFill>
                <a:latin typeface="Yu Gothic" pitchFamily="34" charset="0"/>
                <a:ea typeface="Yu Gothic" pitchFamily="34" charset="-122"/>
                <a:cs typeface="Yu Gothic" pitchFamily="34" charset="-120"/>
              </a:rPr>
              <a:t>console.log を本番ビルドで除去</a:t>
            </a:r>
            <a:endParaRPr lang="en-US" sz="1000" dirty="0"/>
          </a:p>
          <a:p>
            <a:pPr marL="342900" indent="-342900">
              <a:spcAft>
                <a:spcPts val="400"/>
              </a:spcAft>
              <a:buSzPct val="100000"/>
              <a:buChar char="•"/>
            </a:pPr>
            <a:r>
              <a:rPr lang="en-US" sz="1000" dirty="0">
                <a:solidFill>
                  <a:srgbClr val="1E293B"/>
                </a:solidFill>
                <a:latin typeface="Yu Gothic" pitchFamily="34" charset="0"/>
                <a:ea typeface="Yu Gothic" pitchFamily="34" charset="-122"/>
                <a:cs typeface="Yu Gothic" pitchFamily="34" charset="-120"/>
              </a:rPr>
              <a:t>エラー画面でスタック非表示（新規）</a:t>
            </a:r>
            <a:endParaRPr lang="en-US" sz="1000" dirty="0"/>
          </a:p>
          <a:p>
            <a:pPr marL="342900" indent="-342900">
              <a:spcAft>
                <a:spcPts val="400"/>
              </a:spcAft>
              <a:buSzPct val="100000"/>
              <a:buChar char="•"/>
            </a:pPr>
            <a:r>
              <a:rPr lang="en-US" sz="1000" dirty="0">
                <a:solidFill>
                  <a:srgbClr val="1E293B"/>
                </a:solidFill>
                <a:latin typeface="Yu Gothic" pitchFamily="34" charset="0"/>
                <a:ea typeface="Yu Gothic" pitchFamily="34" charset="-122"/>
                <a:cs typeface="Yu Gothic" pitchFamily="34" charset="-120"/>
              </a:rPr>
              <a:t>API は noindex + no-store 強制（新規）</a:t>
            </a:r>
            <a:endParaRPr lang="en-US" sz="1000" dirty="0"/>
          </a:p>
        </p:txBody>
      </p:sp>
      <p:sp>
        <p:nvSpPr>
          <p:cNvPr id="27" name="Text 25"/>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Yu Gothic" pitchFamily="34" charset="0"/>
                <a:ea typeface="Yu Gothic" pitchFamily="34" charset="-122"/>
                <a:cs typeface="Yu Gothic" pitchFamily="34" charset="-120"/>
              </a:rPr>
              <a:t>株式会社ライトパス サイト構築</a:t>
            </a:r>
            <a:endParaRPr lang="en-US" sz="900" dirty="0"/>
          </a:p>
        </p:txBody>
      </p:sp>
      <p:sp>
        <p:nvSpPr>
          <p:cNvPr id="28" name="Text 26"/>
          <p:cNvSpPr/>
          <p:nvPr/>
        </p:nvSpPr>
        <p:spPr>
          <a:xfrm>
            <a:off x="10820095" y="6446520"/>
            <a:ext cx="822960" cy="274320"/>
          </a:xfrm>
          <a:prstGeom prst="rect">
            <a:avLst/>
          </a:prstGeom>
          <a:noFill/>
          <a:ln/>
        </p:spPr>
        <p:txBody>
          <a:bodyPr wrap="square" lIns="0" tIns="0" rIns="0" bIns="0" rtlCol="0" anchor="ctr"/>
          <a:lstStyle/>
          <a:p>
            <a:pPr algn="r" indent="0" marL="0">
              <a:buNone/>
            </a:pPr>
            <a:r>
              <a:rPr lang="en-US" sz="900" dirty="0">
                <a:solidFill>
                  <a:srgbClr val="64748B"/>
                </a:solidFill>
                <a:latin typeface="Yu Gothic" pitchFamily="34" charset="0"/>
                <a:ea typeface="Yu Gothic" pitchFamily="34" charset="-122"/>
                <a:cs typeface="Yu Gothic" pitchFamily="34" charset="-120"/>
              </a:rPr>
              <a:t>6 / 12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164592" cy="164592"/>
          </a:xfrm>
          <a:prstGeom prst="rect">
            <a:avLst/>
          </a:prstGeom>
          <a:solidFill>
            <a:srgbClr val="EBC528"/>
          </a:solidFill>
          <a:ln/>
        </p:spPr>
      </p:sp>
      <p:sp>
        <p:nvSpPr>
          <p:cNvPr id="3" name="Text 1"/>
          <p:cNvSpPr/>
          <p:nvPr/>
        </p:nvSpPr>
        <p:spPr>
          <a:xfrm>
            <a:off x="777240" y="365760"/>
            <a:ext cx="7315200" cy="365760"/>
          </a:xfrm>
          <a:prstGeom prst="rect">
            <a:avLst/>
          </a:prstGeom>
          <a:noFill/>
          <a:ln/>
        </p:spPr>
        <p:txBody>
          <a:bodyPr wrap="square" lIns="0" tIns="0" rIns="0" bIns="0" rtlCol="0" anchor="ctr"/>
          <a:lstStyle/>
          <a:p>
            <a:pPr indent="0" marL="0">
              <a:buNone/>
            </a:pPr>
            <a:r>
              <a:rPr lang="en-US" sz="1100" b="1" spc="400" kern="0" dirty="0">
                <a:solidFill>
                  <a:srgbClr val="64748B"/>
                </a:solidFill>
                <a:latin typeface="Yu Gothic" pitchFamily="34" charset="0"/>
                <a:ea typeface="Yu Gothic" pitchFamily="34" charset="-122"/>
                <a:cs typeface="Yu Gothic" pitchFamily="34" charset="-120"/>
              </a:rPr>
              <a:t>06  KEY POINT</a:t>
            </a:r>
            <a:endParaRPr lang="en-US" sz="1100" dirty="0"/>
          </a:p>
        </p:txBody>
      </p:sp>
      <p:sp>
        <p:nvSpPr>
          <p:cNvPr id="4" name="Text 2"/>
          <p:cNvSpPr/>
          <p:nvPr/>
        </p:nvSpPr>
        <p:spPr>
          <a:xfrm>
            <a:off x="548640" y="713232"/>
            <a:ext cx="10972800" cy="594360"/>
          </a:xfrm>
          <a:prstGeom prst="rect">
            <a:avLst/>
          </a:prstGeom>
          <a:noFill/>
          <a:ln/>
        </p:spPr>
        <p:txBody>
          <a:bodyPr wrap="square" lIns="0" tIns="0" rIns="0" bIns="0" rtlCol="0" anchor="ctr"/>
          <a:lstStyle/>
          <a:p>
            <a:pPr indent="0" marL="0">
              <a:buNone/>
            </a:pPr>
            <a:r>
              <a:rPr lang="en-US" sz="2400" b="1" dirty="0">
                <a:solidFill>
                  <a:srgbClr val="0F172A"/>
                </a:solidFill>
                <a:latin typeface="Yu Gothic" pitchFamily="34" charset="0"/>
                <a:ea typeface="Yu Gothic" pitchFamily="34" charset="-122"/>
                <a:cs typeface="Yu Gothic" pitchFamily="34" charset="-120"/>
              </a:rPr>
              <a:t>セキュリティの工夫 ②｜PDF 3 層検証 ＋ API 強化</a:t>
            </a:r>
            <a:endParaRPr lang="en-US" sz="2400" dirty="0"/>
          </a:p>
        </p:txBody>
      </p:sp>
      <p:sp>
        <p:nvSpPr>
          <p:cNvPr id="5" name="Shape 3"/>
          <p:cNvSpPr/>
          <p:nvPr/>
        </p:nvSpPr>
        <p:spPr>
          <a:xfrm>
            <a:off x="548640" y="1417320"/>
            <a:ext cx="11064240" cy="868680"/>
          </a:xfrm>
          <a:prstGeom prst="rect">
            <a:avLst/>
          </a:prstGeom>
          <a:solidFill>
            <a:srgbClr val="F8FAFC"/>
          </a:solidFill>
          <a:ln w="6350">
            <a:solidFill>
              <a:srgbClr val="E2E8F0"/>
            </a:solidFill>
            <a:prstDash val="solid"/>
          </a:ln>
        </p:spPr>
      </p:sp>
      <p:sp>
        <p:nvSpPr>
          <p:cNvPr id="6" name="Shape 4"/>
          <p:cNvSpPr/>
          <p:nvPr/>
        </p:nvSpPr>
        <p:spPr>
          <a:xfrm>
            <a:off x="548640" y="1417320"/>
            <a:ext cx="109728" cy="868680"/>
          </a:xfrm>
          <a:prstGeom prst="rect">
            <a:avLst/>
          </a:prstGeom>
          <a:solidFill>
            <a:srgbClr val="EBC528"/>
          </a:solidFill>
          <a:ln/>
        </p:spPr>
      </p:sp>
      <p:sp>
        <p:nvSpPr>
          <p:cNvPr id="7" name="Text 5"/>
          <p:cNvSpPr/>
          <p:nvPr/>
        </p:nvSpPr>
        <p:spPr>
          <a:xfrm>
            <a:off x="822960" y="1508760"/>
            <a:ext cx="868680" cy="274320"/>
          </a:xfrm>
          <a:prstGeom prst="rect">
            <a:avLst/>
          </a:prstGeom>
          <a:noFill/>
          <a:ln/>
        </p:spPr>
        <p:txBody>
          <a:bodyPr wrap="square" lIns="0" tIns="0" rIns="0" bIns="0" rtlCol="0" anchor="ctr"/>
          <a:lstStyle/>
          <a:p>
            <a:pPr indent="0" marL="0">
              <a:buNone/>
            </a:pPr>
            <a:r>
              <a:rPr lang="en-US" sz="1000" b="1" spc="600" kern="0" dirty="0">
                <a:solidFill>
                  <a:srgbClr val="0F172A"/>
                </a:solidFill>
                <a:latin typeface="Yu Gothic" pitchFamily="34" charset="0"/>
                <a:ea typeface="Yu Gothic" pitchFamily="34" charset="-122"/>
                <a:cs typeface="Yu Gothic" pitchFamily="34" charset="-120"/>
              </a:rPr>
              <a:t>POINT</a:t>
            </a:r>
            <a:endParaRPr lang="en-US" sz="1000" dirty="0"/>
          </a:p>
        </p:txBody>
      </p:sp>
      <p:sp>
        <p:nvSpPr>
          <p:cNvPr id="8" name="Shape 6"/>
          <p:cNvSpPr/>
          <p:nvPr/>
        </p:nvSpPr>
        <p:spPr>
          <a:xfrm>
            <a:off x="1828800" y="1618488"/>
            <a:ext cx="164592" cy="164592"/>
          </a:xfrm>
          <a:prstGeom prst="ellipse">
            <a:avLst/>
          </a:prstGeom>
          <a:solidFill>
            <a:srgbClr val="EBC528"/>
          </a:solidFill>
          <a:ln/>
        </p:spPr>
      </p:sp>
      <p:sp>
        <p:nvSpPr>
          <p:cNvPr id="9" name="Text 7"/>
          <p:cNvSpPr/>
          <p:nvPr/>
        </p:nvSpPr>
        <p:spPr>
          <a:xfrm>
            <a:off x="2103120" y="1508760"/>
            <a:ext cx="9418320" cy="411480"/>
          </a:xfrm>
          <a:prstGeom prst="rect">
            <a:avLst/>
          </a:prstGeom>
          <a:noFill/>
          <a:ln/>
        </p:spPr>
        <p:txBody>
          <a:bodyPr wrap="square" lIns="0" tIns="0" rIns="0" bIns="0" rtlCol="0" anchor="ctr"/>
          <a:lstStyle/>
          <a:p>
            <a:pPr indent="0" marL="0">
              <a:buNone/>
            </a:pPr>
            <a:r>
              <a:rPr lang="en-US" sz="1400" b="1" dirty="0">
                <a:solidFill>
                  <a:srgbClr val="0F172A"/>
                </a:solidFill>
                <a:latin typeface="Yu Gothic" pitchFamily="34" charset="0"/>
                <a:ea typeface="Yu Gothic" pitchFamily="34" charset="-122"/>
                <a:cs typeface="Yu Gothic" pitchFamily="34" charset="-120"/>
              </a:rPr>
              <a:t>履歴書 PDF を 拡張子 → MIME → マジックバイト の 3 層で検証</a:t>
            </a:r>
            <a:endParaRPr lang="en-US" sz="1400" dirty="0"/>
          </a:p>
        </p:txBody>
      </p:sp>
      <p:sp>
        <p:nvSpPr>
          <p:cNvPr id="10" name="Shape 8"/>
          <p:cNvSpPr/>
          <p:nvPr/>
        </p:nvSpPr>
        <p:spPr>
          <a:xfrm>
            <a:off x="1828800" y="1961388"/>
            <a:ext cx="164592" cy="164592"/>
          </a:xfrm>
          <a:prstGeom prst="ellipse">
            <a:avLst/>
          </a:prstGeom>
          <a:solidFill>
            <a:srgbClr val="EBC528"/>
          </a:solidFill>
          <a:ln/>
        </p:spPr>
      </p:sp>
      <p:sp>
        <p:nvSpPr>
          <p:cNvPr id="11" name="Text 9"/>
          <p:cNvSpPr/>
          <p:nvPr/>
        </p:nvSpPr>
        <p:spPr>
          <a:xfrm>
            <a:off x="2103120" y="1851660"/>
            <a:ext cx="9418320" cy="411480"/>
          </a:xfrm>
          <a:prstGeom prst="rect">
            <a:avLst/>
          </a:prstGeom>
          <a:noFill/>
          <a:ln/>
        </p:spPr>
        <p:txBody>
          <a:bodyPr wrap="square" lIns="0" tIns="0" rIns="0" bIns="0" rtlCol="0" anchor="ctr"/>
          <a:lstStyle/>
          <a:p>
            <a:pPr indent="0" marL="0">
              <a:buNone/>
            </a:pPr>
            <a:r>
              <a:rPr lang="en-US" sz="1400" b="1" dirty="0">
                <a:solidFill>
                  <a:srgbClr val="0F172A"/>
                </a:solidFill>
                <a:latin typeface="Yu Gothic" pitchFamily="34" charset="0"/>
                <a:ea typeface="Yu Gothic" pitchFamily="34" charset="-122"/>
                <a:cs typeface="Yu Gothic" pitchFamily="34" charset="-120"/>
              </a:rPr>
              <a:t>API 層は CSRF・メソッド制限・キャッシュ禁止で多層防御化</a:t>
            </a:r>
            <a:endParaRPr lang="en-US" sz="1400" dirty="0"/>
          </a:p>
        </p:txBody>
      </p:sp>
      <p:sp>
        <p:nvSpPr>
          <p:cNvPr id="12" name="Shape 10"/>
          <p:cNvSpPr/>
          <p:nvPr/>
        </p:nvSpPr>
        <p:spPr>
          <a:xfrm>
            <a:off x="548640" y="2697480"/>
            <a:ext cx="3566160" cy="1417320"/>
          </a:xfrm>
          <a:prstGeom prst="rect">
            <a:avLst/>
          </a:prstGeom>
          <a:solidFill>
            <a:srgbClr val="EBC528"/>
          </a:solidFill>
          <a:ln/>
        </p:spPr>
      </p:sp>
      <p:sp>
        <p:nvSpPr>
          <p:cNvPr id="13" name="Text 11"/>
          <p:cNvSpPr/>
          <p:nvPr/>
        </p:nvSpPr>
        <p:spPr>
          <a:xfrm>
            <a:off x="777240" y="2743200"/>
            <a:ext cx="914400" cy="320040"/>
          </a:xfrm>
          <a:prstGeom prst="rect">
            <a:avLst/>
          </a:prstGeom>
          <a:noFill/>
          <a:ln/>
        </p:spPr>
        <p:txBody>
          <a:bodyPr wrap="square" lIns="0" tIns="0" rIns="0" bIns="0" rtlCol="0" anchor="ctr"/>
          <a:lstStyle/>
          <a:p>
            <a:pPr indent="0" marL="0">
              <a:buNone/>
            </a:pPr>
            <a:r>
              <a:rPr lang="en-US" sz="1100" b="1" dirty="0">
                <a:solidFill>
                  <a:srgbClr val="0F172A"/>
                </a:solidFill>
                <a:latin typeface="Yu Gothic" pitchFamily="34" charset="0"/>
                <a:ea typeface="Yu Gothic" pitchFamily="34" charset="-122"/>
                <a:cs typeface="Yu Gothic" pitchFamily="34" charset="-120"/>
              </a:rPr>
              <a:t>01</a:t>
            </a:r>
            <a:endParaRPr lang="en-US" sz="1100" dirty="0"/>
          </a:p>
        </p:txBody>
      </p:sp>
      <p:sp>
        <p:nvSpPr>
          <p:cNvPr id="14" name="Text 12"/>
          <p:cNvSpPr/>
          <p:nvPr/>
        </p:nvSpPr>
        <p:spPr>
          <a:xfrm>
            <a:off x="777240" y="3063240"/>
            <a:ext cx="3108960" cy="411480"/>
          </a:xfrm>
          <a:prstGeom prst="rect">
            <a:avLst/>
          </a:prstGeom>
          <a:noFill/>
          <a:ln/>
        </p:spPr>
        <p:txBody>
          <a:bodyPr wrap="square" lIns="0" tIns="0" rIns="0" bIns="0" rtlCol="0" anchor="ctr"/>
          <a:lstStyle/>
          <a:p>
            <a:pPr indent="0" marL="0">
              <a:buNone/>
            </a:pPr>
            <a:r>
              <a:rPr lang="en-US" sz="1800" b="1" dirty="0">
                <a:solidFill>
                  <a:srgbClr val="0F172A"/>
                </a:solidFill>
                <a:latin typeface="Yu Gothic" pitchFamily="34" charset="0"/>
                <a:ea typeface="Yu Gothic" pitchFamily="34" charset="-122"/>
                <a:cs typeface="Yu Gothic" pitchFamily="34" charset="-120"/>
              </a:rPr>
              <a:t>拡張子</a:t>
            </a:r>
            <a:endParaRPr lang="en-US" sz="1800" dirty="0"/>
          </a:p>
        </p:txBody>
      </p:sp>
      <p:sp>
        <p:nvSpPr>
          <p:cNvPr id="15" name="Shape 13"/>
          <p:cNvSpPr/>
          <p:nvPr/>
        </p:nvSpPr>
        <p:spPr>
          <a:xfrm>
            <a:off x="777240" y="3611880"/>
            <a:ext cx="3108960" cy="365760"/>
          </a:xfrm>
          <a:prstGeom prst="rect">
            <a:avLst/>
          </a:prstGeom>
          <a:solidFill>
            <a:srgbClr val="FFFFFF"/>
          </a:solidFill>
          <a:ln/>
        </p:spPr>
      </p:sp>
      <p:sp>
        <p:nvSpPr>
          <p:cNvPr id="16" name="Text 14"/>
          <p:cNvSpPr/>
          <p:nvPr/>
        </p:nvSpPr>
        <p:spPr>
          <a:xfrm>
            <a:off x="777240" y="3611880"/>
            <a:ext cx="3108960" cy="365760"/>
          </a:xfrm>
          <a:prstGeom prst="rect">
            <a:avLst/>
          </a:prstGeom>
          <a:noFill/>
          <a:ln/>
        </p:spPr>
        <p:txBody>
          <a:bodyPr wrap="square" lIns="0" tIns="0" rIns="0" bIns="0" rtlCol="0" anchor="ctr"/>
          <a:lstStyle/>
          <a:p>
            <a:pPr algn="ctr" indent="0" marL="0">
              <a:buNone/>
            </a:pPr>
            <a:r>
              <a:rPr lang="en-US" sz="1100" b="1" dirty="0">
                <a:solidFill>
                  <a:srgbClr val="0F172A"/>
                </a:solidFill>
                <a:latin typeface="Yu Gothic" pitchFamily="34" charset="0"/>
                <a:ea typeface="Yu Gothic" pitchFamily="34" charset="-122"/>
                <a:cs typeface="Yu Gothic" pitchFamily="34" charset="-120"/>
              </a:rPr>
              <a:t>.pdf で終わるか</a:t>
            </a:r>
            <a:endParaRPr lang="en-US" sz="1100" dirty="0"/>
          </a:p>
        </p:txBody>
      </p:sp>
      <p:sp>
        <p:nvSpPr>
          <p:cNvPr id="17" name="Shape 15"/>
          <p:cNvSpPr/>
          <p:nvPr/>
        </p:nvSpPr>
        <p:spPr>
          <a:xfrm>
            <a:off x="4343400" y="2697480"/>
            <a:ext cx="3566160" cy="1417320"/>
          </a:xfrm>
          <a:prstGeom prst="rect">
            <a:avLst/>
          </a:prstGeom>
          <a:solidFill>
            <a:srgbClr val="F59E0B"/>
          </a:solidFill>
          <a:ln/>
        </p:spPr>
      </p:sp>
      <p:sp>
        <p:nvSpPr>
          <p:cNvPr id="18" name="Text 16"/>
          <p:cNvSpPr/>
          <p:nvPr/>
        </p:nvSpPr>
        <p:spPr>
          <a:xfrm>
            <a:off x="4572000" y="2743200"/>
            <a:ext cx="914400" cy="320040"/>
          </a:xfrm>
          <a:prstGeom prst="rect">
            <a:avLst/>
          </a:prstGeom>
          <a:noFill/>
          <a:ln/>
        </p:spPr>
        <p:txBody>
          <a:bodyPr wrap="square" lIns="0" tIns="0" rIns="0" bIns="0" rtlCol="0" anchor="ctr"/>
          <a:lstStyle/>
          <a:p>
            <a:pPr indent="0" marL="0">
              <a:buNone/>
            </a:pPr>
            <a:r>
              <a:rPr lang="en-US" sz="1100" b="1" dirty="0">
                <a:solidFill>
                  <a:srgbClr val="FFFFFF"/>
                </a:solidFill>
                <a:latin typeface="Yu Gothic" pitchFamily="34" charset="0"/>
                <a:ea typeface="Yu Gothic" pitchFamily="34" charset="-122"/>
                <a:cs typeface="Yu Gothic" pitchFamily="34" charset="-120"/>
              </a:rPr>
              <a:t>02</a:t>
            </a:r>
            <a:endParaRPr lang="en-US" sz="1100" dirty="0"/>
          </a:p>
        </p:txBody>
      </p:sp>
      <p:sp>
        <p:nvSpPr>
          <p:cNvPr id="19" name="Text 17"/>
          <p:cNvSpPr/>
          <p:nvPr/>
        </p:nvSpPr>
        <p:spPr>
          <a:xfrm>
            <a:off x="4572000" y="3063240"/>
            <a:ext cx="3108960" cy="411480"/>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MIME</a:t>
            </a:r>
            <a:endParaRPr lang="en-US" sz="1800" dirty="0"/>
          </a:p>
        </p:txBody>
      </p:sp>
      <p:sp>
        <p:nvSpPr>
          <p:cNvPr id="20" name="Shape 18"/>
          <p:cNvSpPr/>
          <p:nvPr/>
        </p:nvSpPr>
        <p:spPr>
          <a:xfrm>
            <a:off x="4572000" y="3611880"/>
            <a:ext cx="3108960" cy="365760"/>
          </a:xfrm>
          <a:prstGeom prst="rect">
            <a:avLst/>
          </a:prstGeom>
          <a:solidFill>
            <a:srgbClr val="FFFFFF"/>
          </a:solidFill>
          <a:ln/>
        </p:spPr>
      </p:sp>
      <p:sp>
        <p:nvSpPr>
          <p:cNvPr id="21" name="Text 19"/>
          <p:cNvSpPr/>
          <p:nvPr/>
        </p:nvSpPr>
        <p:spPr>
          <a:xfrm>
            <a:off x="4572000" y="3611880"/>
            <a:ext cx="3108960" cy="365760"/>
          </a:xfrm>
          <a:prstGeom prst="rect">
            <a:avLst/>
          </a:prstGeom>
          <a:noFill/>
          <a:ln/>
        </p:spPr>
        <p:txBody>
          <a:bodyPr wrap="square" lIns="0" tIns="0" rIns="0" bIns="0" rtlCol="0" anchor="ctr"/>
          <a:lstStyle/>
          <a:p>
            <a:pPr algn="ctr" indent="0" marL="0">
              <a:buNone/>
            </a:pPr>
            <a:r>
              <a:rPr lang="en-US" sz="1100" b="1" dirty="0">
                <a:solidFill>
                  <a:srgbClr val="F59E0B"/>
                </a:solidFill>
                <a:latin typeface="Yu Gothic" pitchFamily="34" charset="0"/>
                <a:ea typeface="Yu Gothic" pitchFamily="34" charset="-122"/>
                <a:cs typeface="Yu Gothic" pitchFamily="34" charset="-120"/>
              </a:rPr>
              <a:t>application/pdf</a:t>
            </a:r>
            <a:endParaRPr lang="en-US" sz="1100" dirty="0"/>
          </a:p>
        </p:txBody>
      </p:sp>
      <p:sp>
        <p:nvSpPr>
          <p:cNvPr id="22" name="Shape 20"/>
          <p:cNvSpPr/>
          <p:nvPr/>
        </p:nvSpPr>
        <p:spPr>
          <a:xfrm>
            <a:off x="8138160" y="2697480"/>
            <a:ext cx="3566160" cy="1417320"/>
          </a:xfrm>
          <a:prstGeom prst="rect">
            <a:avLst/>
          </a:prstGeom>
          <a:solidFill>
            <a:srgbClr val="EF4444"/>
          </a:solidFill>
          <a:ln/>
        </p:spPr>
      </p:sp>
      <p:sp>
        <p:nvSpPr>
          <p:cNvPr id="23" name="Text 21"/>
          <p:cNvSpPr/>
          <p:nvPr/>
        </p:nvSpPr>
        <p:spPr>
          <a:xfrm>
            <a:off x="8366760" y="2743200"/>
            <a:ext cx="914400" cy="320040"/>
          </a:xfrm>
          <a:prstGeom prst="rect">
            <a:avLst/>
          </a:prstGeom>
          <a:noFill/>
          <a:ln/>
        </p:spPr>
        <p:txBody>
          <a:bodyPr wrap="square" lIns="0" tIns="0" rIns="0" bIns="0" rtlCol="0" anchor="ctr"/>
          <a:lstStyle/>
          <a:p>
            <a:pPr indent="0" marL="0">
              <a:buNone/>
            </a:pPr>
            <a:r>
              <a:rPr lang="en-US" sz="1100" b="1" dirty="0">
                <a:solidFill>
                  <a:srgbClr val="FFFFFF"/>
                </a:solidFill>
                <a:latin typeface="Yu Gothic" pitchFamily="34" charset="0"/>
                <a:ea typeface="Yu Gothic" pitchFamily="34" charset="-122"/>
                <a:cs typeface="Yu Gothic" pitchFamily="34" charset="-120"/>
              </a:rPr>
              <a:t>03</a:t>
            </a:r>
            <a:endParaRPr lang="en-US" sz="1100" dirty="0"/>
          </a:p>
        </p:txBody>
      </p:sp>
      <p:sp>
        <p:nvSpPr>
          <p:cNvPr id="24" name="Text 22"/>
          <p:cNvSpPr/>
          <p:nvPr/>
        </p:nvSpPr>
        <p:spPr>
          <a:xfrm>
            <a:off x="8366760" y="3063240"/>
            <a:ext cx="3108960" cy="411480"/>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マジックバイト</a:t>
            </a:r>
            <a:endParaRPr lang="en-US" sz="1800" dirty="0"/>
          </a:p>
        </p:txBody>
      </p:sp>
      <p:sp>
        <p:nvSpPr>
          <p:cNvPr id="25" name="Shape 23"/>
          <p:cNvSpPr/>
          <p:nvPr/>
        </p:nvSpPr>
        <p:spPr>
          <a:xfrm>
            <a:off x="8366760" y="3611880"/>
            <a:ext cx="3108960" cy="365760"/>
          </a:xfrm>
          <a:prstGeom prst="rect">
            <a:avLst/>
          </a:prstGeom>
          <a:solidFill>
            <a:srgbClr val="FFFFFF"/>
          </a:solidFill>
          <a:ln/>
        </p:spPr>
      </p:sp>
      <p:sp>
        <p:nvSpPr>
          <p:cNvPr id="26" name="Text 24"/>
          <p:cNvSpPr/>
          <p:nvPr/>
        </p:nvSpPr>
        <p:spPr>
          <a:xfrm>
            <a:off x="8366760" y="3611880"/>
            <a:ext cx="3108960" cy="365760"/>
          </a:xfrm>
          <a:prstGeom prst="rect">
            <a:avLst/>
          </a:prstGeom>
          <a:noFill/>
          <a:ln/>
        </p:spPr>
        <p:txBody>
          <a:bodyPr wrap="square" lIns="0" tIns="0" rIns="0" bIns="0" rtlCol="0" anchor="ctr"/>
          <a:lstStyle/>
          <a:p>
            <a:pPr algn="ctr" indent="0" marL="0">
              <a:buNone/>
            </a:pPr>
            <a:r>
              <a:rPr lang="en-US" sz="1100" b="1" dirty="0">
                <a:solidFill>
                  <a:srgbClr val="EF4444"/>
                </a:solidFill>
                <a:latin typeface="Yu Gothic" pitchFamily="34" charset="0"/>
                <a:ea typeface="Yu Gothic" pitchFamily="34" charset="-122"/>
                <a:cs typeface="Yu Gothic" pitchFamily="34" charset="-120"/>
              </a:rPr>
              <a:t>%PDF- = 0x25...</a:t>
            </a:r>
            <a:endParaRPr lang="en-US" sz="1100" dirty="0"/>
          </a:p>
        </p:txBody>
      </p:sp>
      <p:sp>
        <p:nvSpPr>
          <p:cNvPr id="27" name="Text 25"/>
          <p:cNvSpPr/>
          <p:nvPr/>
        </p:nvSpPr>
        <p:spPr>
          <a:xfrm>
            <a:off x="4023360" y="3108960"/>
            <a:ext cx="274320" cy="548640"/>
          </a:xfrm>
          <a:prstGeom prst="rect">
            <a:avLst/>
          </a:prstGeom>
          <a:noFill/>
          <a:ln/>
        </p:spPr>
        <p:txBody>
          <a:bodyPr wrap="square" lIns="0" tIns="0" rIns="0" bIns="0" rtlCol="0" anchor="ctr"/>
          <a:lstStyle/>
          <a:p>
            <a:pPr algn="ctr" indent="0" marL="0">
              <a:buNone/>
            </a:pPr>
            <a:r>
              <a:rPr lang="en-US" sz="2800" b="1" dirty="0">
                <a:solidFill>
                  <a:srgbClr val="0F172A"/>
                </a:solidFill>
                <a:latin typeface="Yu Gothic" pitchFamily="34" charset="0"/>
                <a:ea typeface="Yu Gothic" pitchFamily="34" charset="-122"/>
                <a:cs typeface="Yu Gothic" pitchFamily="34" charset="-120"/>
              </a:rPr>
              <a:t>&gt;</a:t>
            </a:r>
            <a:endParaRPr lang="en-US" sz="2800" dirty="0"/>
          </a:p>
        </p:txBody>
      </p:sp>
      <p:sp>
        <p:nvSpPr>
          <p:cNvPr id="28" name="Text 26"/>
          <p:cNvSpPr/>
          <p:nvPr/>
        </p:nvSpPr>
        <p:spPr>
          <a:xfrm>
            <a:off x="7818120" y="3108960"/>
            <a:ext cx="274320" cy="548640"/>
          </a:xfrm>
          <a:prstGeom prst="rect">
            <a:avLst/>
          </a:prstGeom>
          <a:noFill/>
          <a:ln/>
        </p:spPr>
        <p:txBody>
          <a:bodyPr wrap="square" lIns="0" tIns="0" rIns="0" bIns="0" rtlCol="0" anchor="ctr"/>
          <a:lstStyle/>
          <a:p>
            <a:pPr algn="ctr" indent="0" marL="0">
              <a:buNone/>
            </a:pPr>
            <a:r>
              <a:rPr lang="en-US" sz="2800" b="1" dirty="0">
                <a:solidFill>
                  <a:srgbClr val="0F172A"/>
                </a:solidFill>
                <a:latin typeface="Yu Gothic" pitchFamily="34" charset="0"/>
                <a:ea typeface="Yu Gothic" pitchFamily="34" charset="-122"/>
                <a:cs typeface="Yu Gothic" pitchFamily="34" charset="-120"/>
              </a:rPr>
              <a:t>&gt;</a:t>
            </a:r>
            <a:endParaRPr lang="en-US" sz="2800" dirty="0"/>
          </a:p>
        </p:txBody>
      </p:sp>
      <p:sp>
        <p:nvSpPr>
          <p:cNvPr id="29" name="Shape 27"/>
          <p:cNvSpPr/>
          <p:nvPr/>
        </p:nvSpPr>
        <p:spPr>
          <a:xfrm>
            <a:off x="548640" y="4343400"/>
            <a:ext cx="11064240" cy="914400"/>
          </a:xfrm>
          <a:prstGeom prst="rect">
            <a:avLst/>
          </a:prstGeom>
          <a:solidFill>
            <a:srgbClr val="F8FAFC"/>
          </a:solidFill>
          <a:ln w="6350">
            <a:solidFill>
              <a:srgbClr val="E2E8F0"/>
            </a:solidFill>
            <a:prstDash val="solid"/>
          </a:ln>
        </p:spPr>
      </p:sp>
      <p:sp>
        <p:nvSpPr>
          <p:cNvPr id="30" name="Shape 28"/>
          <p:cNvSpPr/>
          <p:nvPr/>
        </p:nvSpPr>
        <p:spPr>
          <a:xfrm>
            <a:off x="548640" y="4343400"/>
            <a:ext cx="109728" cy="914400"/>
          </a:xfrm>
          <a:prstGeom prst="rect">
            <a:avLst/>
          </a:prstGeom>
          <a:solidFill>
            <a:srgbClr val="EBC528"/>
          </a:solidFill>
          <a:ln/>
        </p:spPr>
      </p:sp>
      <p:sp>
        <p:nvSpPr>
          <p:cNvPr id="31" name="Text 29"/>
          <p:cNvSpPr/>
          <p:nvPr/>
        </p:nvSpPr>
        <p:spPr>
          <a:xfrm>
            <a:off x="822960" y="4416552"/>
            <a:ext cx="10515600" cy="320040"/>
          </a:xfrm>
          <a:prstGeom prst="rect">
            <a:avLst/>
          </a:prstGeom>
          <a:noFill/>
          <a:ln/>
        </p:spPr>
        <p:txBody>
          <a:bodyPr wrap="square" lIns="0" tIns="0" rIns="0" bIns="0" rtlCol="0" anchor="ctr"/>
          <a:lstStyle/>
          <a:p>
            <a:pPr indent="0" marL="0">
              <a:buNone/>
            </a:pPr>
            <a:r>
              <a:rPr lang="en-US" sz="1300" b="1" dirty="0">
                <a:solidFill>
                  <a:srgbClr val="0F172A"/>
                </a:solidFill>
                <a:latin typeface="Yu Gothic" pitchFamily="34" charset="0"/>
                <a:ea typeface="Yu Gothic" pitchFamily="34" charset="-122"/>
                <a:cs typeface="Yu Gothic" pitchFamily="34" charset="-120"/>
              </a:rPr>
              <a:t>/api/upload-resume の追加強化（CSRF / メソッド / CORS）</a:t>
            </a:r>
            <a:endParaRPr lang="en-US" sz="1300" dirty="0"/>
          </a:p>
        </p:txBody>
      </p:sp>
      <p:sp>
        <p:nvSpPr>
          <p:cNvPr id="32" name="Shape 30"/>
          <p:cNvSpPr/>
          <p:nvPr/>
        </p:nvSpPr>
        <p:spPr>
          <a:xfrm>
            <a:off x="822960" y="4800600"/>
            <a:ext cx="2011680" cy="365760"/>
          </a:xfrm>
          <a:prstGeom prst="rect">
            <a:avLst/>
          </a:prstGeom>
          <a:solidFill>
            <a:srgbClr val="EF4444"/>
          </a:solidFill>
          <a:ln/>
        </p:spPr>
      </p:sp>
      <p:sp>
        <p:nvSpPr>
          <p:cNvPr id="33" name="Text 31"/>
          <p:cNvSpPr/>
          <p:nvPr/>
        </p:nvSpPr>
        <p:spPr>
          <a:xfrm>
            <a:off x="822960" y="4800600"/>
            <a:ext cx="201168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Yu Gothic" pitchFamily="34" charset="0"/>
                <a:ea typeface="Yu Gothic" pitchFamily="34" charset="-122"/>
                <a:cs typeface="Yu Gothic" pitchFamily="34" charset="-120"/>
              </a:rPr>
              <a:t>Origin/Referer 検証</a:t>
            </a:r>
            <a:endParaRPr lang="en-US" sz="1000" dirty="0"/>
          </a:p>
        </p:txBody>
      </p:sp>
      <p:sp>
        <p:nvSpPr>
          <p:cNvPr id="34" name="Shape 32"/>
          <p:cNvSpPr/>
          <p:nvPr/>
        </p:nvSpPr>
        <p:spPr>
          <a:xfrm>
            <a:off x="2980944" y="4800600"/>
            <a:ext cx="2011680" cy="365760"/>
          </a:xfrm>
          <a:prstGeom prst="rect">
            <a:avLst/>
          </a:prstGeom>
          <a:solidFill>
            <a:srgbClr val="F59E0B"/>
          </a:solidFill>
          <a:ln/>
        </p:spPr>
      </p:sp>
      <p:sp>
        <p:nvSpPr>
          <p:cNvPr id="35" name="Text 33"/>
          <p:cNvSpPr/>
          <p:nvPr/>
        </p:nvSpPr>
        <p:spPr>
          <a:xfrm>
            <a:off x="2980944" y="4800600"/>
            <a:ext cx="201168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Yu Gothic" pitchFamily="34" charset="0"/>
                <a:ea typeface="Yu Gothic" pitchFamily="34" charset="-122"/>
                <a:cs typeface="Yu Gothic" pitchFamily="34" charset="-120"/>
              </a:rPr>
              <a:t>POST 以外 405</a:t>
            </a:r>
            <a:endParaRPr lang="en-US" sz="1000" dirty="0"/>
          </a:p>
        </p:txBody>
      </p:sp>
      <p:sp>
        <p:nvSpPr>
          <p:cNvPr id="36" name="Shape 34"/>
          <p:cNvSpPr/>
          <p:nvPr/>
        </p:nvSpPr>
        <p:spPr>
          <a:xfrm>
            <a:off x="5138928" y="4800600"/>
            <a:ext cx="2011680" cy="365760"/>
          </a:xfrm>
          <a:prstGeom prst="rect">
            <a:avLst/>
          </a:prstGeom>
          <a:solidFill>
            <a:srgbClr val="2563EB"/>
          </a:solidFill>
          <a:ln/>
        </p:spPr>
      </p:sp>
      <p:sp>
        <p:nvSpPr>
          <p:cNvPr id="37" name="Text 35"/>
          <p:cNvSpPr/>
          <p:nvPr/>
        </p:nvSpPr>
        <p:spPr>
          <a:xfrm>
            <a:off x="5138928" y="4800600"/>
            <a:ext cx="201168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Yu Gothic" pitchFamily="34" charset="0"/>
                <a:ea typeface="Yu Gothic" pitchFamily="34" charset="-122"/>
                <a:cs typeface="Yu Gothic" pitchFamily="34" charset="-120"/>
              </a:rPr>
              <a:t>CORS ヘッダ非応答</a:t>
            </a:r>
            <a:endParaRPr lang="en-US" sz="1000" dirty="0"/>
          </a:p>
        </p:txBody>
      </p:sp>
      <p:sp>
        <p:nvSpPr>
          <p:cNvPr id="38" name="Shape 36"/>
          <p:cNvSpPr/>
          <p:nvPr/>
        </p:nvSpPr>
        <p:spPr>
          <a:xfrm>
            <a:off x="7296912" y="4800600"/>
            <a:ext cx="2011680" cy="365760"/>
          </a:xfrm>
          <a:prstGeom prst="rect">
            <a:avLst/>
          </a:prstGeom>
          <a:solidFill>
            <a:srgbClr val="10B981"/>
          </a:solidFill>
          <a:ln/>
        </p:spPr>
      </p:sp>
      <p:sp>
        <p:nvSpPr>
          <p:cNvPr id="39" name="Text 37"/>
          <p:cNvSpPr/>
          <p:nvPr/>
        </p:nvSpPr>
        <p:spPr>
          <a:xfrm>
            <a:off x="7296912" y="4800600"/>
            <a:ext cx="201168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Yu Gothic" pitchFamily="34" charset="0"/>
                <a:ea typeface="Yu Gothic" pitchFamily="34" charset="-122"/>
                <a:cs typeface="Yu Gothic" pitchFamily="34" charset="-120"/>
              </a:rPr>
              <a:t>Cache-Control: no-store</a:t>
            </a:r>
            <a:endParaRPr lang="en-US" sz="1000" dirty="0"/>
          </a:p>
        </p:txBody>
      </p:sp>
      <p:sp>
        <p:nvSpPr>
          <p:cNvPr id="40" name="Shape 38"/>
          <p:cNvSpPr/>
          <p:nvPr/>
        </p:nvSpPr>
        <p:spPr>
          <a:xfrm>
            <a:off x="9454896" y="4800600"/>
            <a:ext cx="2011680" cy="365760"/>
          </a:xfrm>
          <a:prstGeom prst="rect">
            <a:avLst/>
          </a:prstGeom>
          <a:solidFill>
            <a:srgbClr val="7C3AED"/>
          </a:solidFill>
          <a:ln/>
        </p:spPr>
      </p:sp>
      <p:sp>
        <p:nvSpPr>
          <p:cNvPr id="41" name="Text 39"/>
          <p:cNvSpPr/>
          <p:nvPr/>
        </p:nvSpPr>
        <p:spPr>
          <a:xfrm>
            <a:off x="9454896" y="4800600"/>
            <a:ext cx="201168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Yu Gothic" pitchFamily="34" charset="0"/>
                <a:ea typeface="Yu Gothic" pitchFamily="34" charset="-122"/>
                <a:cs typeface="Yu Gothic" pitchFamily="34" charset="-120"/>
              </a:rPr>
              <a:t>X-Robots-Tag: noindex</a:t>
            </a:r>
            <a:endParaRPr lang="en-US" sz="1000" dirty="0"/>
          </a:p>
        </p:txBody>
      </p:sp>
      <p:sp>
        <p:nvSpPr>
          <p:cNvPr id="42" name="Shape 40"/>
          <p:cNvSpPr/>
          <p:nvPr/>
        </p:nvSpPr>
        <p:spPr>
          <a:xfrm>
            <a:off x="548640" y="5440680"/>
            <a:ext cx="11064240" cy="777240"/>
          </a:xfrm>
          <a:prstGeom prst="rect">
            <a:avLst/>
          </a:prstGeom>
          <a:solidFill>
            <a:srgbClr val="0F172A"/>
          </a:solidFill>
          <a:ln/>
        </p:spPr>
      </p:sp>
      <p:sp>
        <p:nvSpPr>
          <p:cNvPr id="43" name="Text 41"/>
          <p:cNvSpPr/>
          <p:nvPr/>
        </p:nvSpPr>
        <p:spPr>
          <a:xfrm>
            <a:off x="822960" y="5486400"/>
            <a:ext cx="10515600" cy="365760"/>
          </a:xfrm>
          <a:prstGeom prst="rect">
            <a:avLst/>
          </a:prstGeom>
          <a:noFill/>
          <a:ln/>
        </p:spPr>
        <p:txBody>
          <a:bodyPr wrap="square" lIns="0" tIns="0" rIns="0" bIns="0" rtlCol="0" anchor="ctr"/>
          <a:lstStyle/>
          <a:p>
            <a:pPr indent="0" marL="0">
              <a:buNone/>
            </a:pPr>
            <a:r>
              <a:rPr lang="en-US" sz="1200" b="1" dirty="0">
                <a:solidFill>
                  <a:srgbClr val="EBC528"/>
                </a:solidFill>
                <a:latin typeface="Yu Gothic" pitchFamily="34" charset="0"/>
                <a:ea typeface="Yu Gothic" pitchFamily="34" charset="-122"/>
                <a:cs typeface="Yu Gothic" pitchFamily="34" charset="-120"/>
              </a:rPr>
              <a:t>不正ファイル → 400 BadRequest／他オリジン → 403 Forbidden／他メソッド → 405</a:t>
            </a:r>
            <a:endParaRPr lang="en-US" sz="1200" dirty="0"/>
          </a:p>
        </p:txBody>
      </p:sp>
      <p:sp>
        <p:nvSpPr>
          <p:cNvPr id="44" name="Text 42"/>
          <p:cNvSpPr/>
          <p:nvPr/>
        </p:nvSpPr>
        <p:spPr>
          <a:xfrm>
            <a:off x="822960" y="5852160"/>
            <a:ext cx="10515600" cy="365760"/>
          </a:xfrm>
          <a:prstGeom prst="rect">
            <a:avLst/>
          </a:prstGeom>
          <a:noFill/>
          <a:ln/>
        </p:spPr>
        <p:txBody>
          <a:bodyPr wrap="square" lIns="0" tIns="0" rIns="0" bIns="0" rtlCol="0" anchor="ctr"/>
          <a:lstStyle/>
          <a:p>
            <a:pPr indent="0" marL="0">
              <a:buNone/>
            </a:pPr>
            <a:r>
              <a:rPr lang="en-US" sz="1000" dirty="0">
                <a:solidFill>
                  <a:srgbClr val="FFFFFF"/>
                </a:solidFill>
                <a:latin typeface="Yu Gothic" pitchFamily="34" charset="0"/>
                <a:ea typeface="Yu Gothic" pitchFamily="34" charset="-122"/>
                <a:cs typeface="Yu Gothic" pitchFamily="34" charset="-120"/>
              </a:rPr>
              <a:t>クライアントの JS 検証は迂回されうるので、必ずサーバ側で同じ検証を強制。</a:t>
            </a:r>
            <a:endParaRPr lang="en-US" sz="1000" dirty="0"/>
          </a:p>
        </p:txBody>
      </p:sp>
      <p:sp>
        <p:nvSpPr>
          <p:cNvPr id="45" name="Text 43"/>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Yu Gothic" pitchFamily="34" charset="0"/>
                <a:ea typeface="Yu Gothic" pitchFamily="34" charset="-122"/>
                <a:cs typeface="Yu Gothic" pitchFamily="34" charset="-120"/>
              </a:rPr>
              <a:t>株式会社ライトパス サイト構築</a:t>
            </a:r>
            <a:endParaRPr lang="en-US" sz="900" dirty="0"/>
          </a:p>
        </p:txBody>
      </p:sp>
      <p:sp>
        <p:nvSpPr>
          <p:cNvPr id="46" name="Text 44"/>
          <p:cNvSpPr/>
          <p:nvPr/>
        </p:nvSpPr>
        <p:spPr>
          <a:xfrm>
            <a:off x="10820095" y="6446520"/>
            <a:ext cx="822960" cy="274320"/>
          </a:xfrm>
          <a:prstGeom prst="rect">
            <a:avLst/>
          </a:prstGeom>
          <a:noFill/>
          <a:ln/>
        </p:spPr>
        <p:txBody>
          <a:bodyPr wrap="square" lIns="0" tIns="0" rIns="0" bIns="0" rtlCol="0" anchor="ctr"/>
          <a:lstStyle/>
          <a:p>
            <a:pPr algn="r" indent="0" marL="0">
              <a:buNone/>
            </a:pPr>
            <a:r>
              <a:rPr lang="en-US" sz="900" dirty="0">
                <a:solidFill>
                  <a:srgbClr val="64748B"/>
                </a:solidFill>
                <a:latin typeface="Yu Gothic" pitchFamily="34" charset="0"/>
                <a:ea typeface="Yu Gothic" pitchFamily="34" charset="-122"/>
                <a:cs typeface="Yu Gothic" pitchFamily="34" charset="-120"/>
              </a:rPr>
              <a:t>7 / 12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164592" cy="164592"/>
          </a:xfrm>
          <a:prstGeom prst="rect">
            <a:avLst/>
          </a:prstGeom>
          <a:solidFill>
            <a:srgbClr val="EBC528"/>
          </a:solidFill>
          <a:ln/>
        </p:spPr>
      </p:sp>
      <p:sp>
        <p:nvSpPr>
          <p:cNvPr id="3" name="Text 1"/>
          <p:cNvSpPr/>
          <p:nvPr/>
        </p:nvSpPr>
        <p:spPr>
          <a:xfrm>
            <a:off x="777240" y="365760"/>
            <a:ext cx="7315200" cy="365760"/>
          </a:xfrm>
          <a:prstGeom prst="rect">
            <a:avLst/>
          </a:prstGeom>
          <a:noFill/>
          <a:ln/>
        </p:spPr>
        <p:txBody>
          <a:bodyPr wrap="square" lIns="0" tIns="0" rIns="0" bIns="0" rtlCol="0" anchor="ctr"/>
          <a:lstStyle/>
          <a:p>
            <a:pPr indent="0" marL="0">
              <a:buNone/>
            </a:pPr>
            <a:r>
              <a:rPr lang="en-US" sz="1100" b="1" spc="400" kern="0" dirty="0">
                <a:solidFill>
                  <a:srgbClr val="64748B"/>
                </a:solidFill>
                <a:latin typeface="Yu Gothic" pitchFamily="34" charset="0"/>
                <a:ea typeface="Yu Gothic" pitchFamily="34" charset="-122"/>
                <a:cs typeface="Yu Gothic" pitchFamily="34" charset="-120"/>
              </a:rPr>
              <a:t>07  KEY POINT</a:t>
            </a:r>
            <a:endParaRPr lang="en-US" sz="1100" dirty="0"/>
          </a:p>
        </p:txBody>
      </p:sp>
      <p:sp>
        <p:nvSpPr>
          <p:cNvPr id="4" name="Text 2"/>
          <p:cNvSpPr/>
          <p:nvPr/>
        </p:nvSpPr>
        <p:spPr>
          <a:xfrm>
            <a:off x="548640" y="713232"/>
            <a:ext cx="10972800" cy="594360"/>
          </a:xfrm>
          <a:prstGeom prst="rect">
            <a:avLst/>
          </a:prstGeom>
          <a:noFill/>
          <a:ln/>
        </p:spPr>
        <p:txBody>
          <a:bodyPr wrap="square" lIns="0" tIns="0" rIns="0" bIns="0" rtlCol="0" anchor="ctr"/>
          <a:lstStyle/>
          <a:p>
            <a:pPr indent="0" marL="0">
              <a:buNone/>
            </a:pPr>
            <a:r>
              <a:rPr lang="en-US" sz="2400" b="1" dirty="0">
                <a:solidFill>
                  <a:srgbClr val="0F172A"/>
                </a:solidFill>
                <a:latin typeface="Yu Gothic" pitchFamily="34" charset="0"/>
                <a:ea typeface="Yu Gothic" pitchFamily="34" charset="-122"/>
                <a:cs typeface="Yu Gothic" pitchFamily="34" charset="-120"/>
              </a:rPr>
              <a:t>セキュリティの工夫 ③｜88 項目チェックリスト対応</a:t>
            </a:r>
            <a:endParaRPr lang="en-US" sz="2400" dirty="0"/>
          </a:p>
        </p:txBody>
      </p:sp>
      <p:sp>
        <p:nvSpPr>
          <p:cNvPr id="5" name="Shape 3"/>
          <p:cNvSpPr/>
          <p:nvPr/>
        </p:nvSpPr>
        <p:spPr>
          <a:xfrm>
            <a:off x="548640" y="1417320"/>
            <a:ext cx="11064240" cy="868680"/>
          </a:xfrm>
          <a:prstGeom prst="rect">
            <a:avLst/>
          </a:prstGeom>
          <a:solidFill>
            <a:srgbClr val="F8FAFC"/>
          </a:solidFill>
          <a:ln w="6350">
            <a:solidFill>
              <a:srgbClr val="E2E8F0"/>
            </a:solidFill>
            <a:prstDash val="solid"/>
          </a:ln>
        </p:spPr>
      </p:sp>
      <p:sp>
        <p:nvSpPr>
          <p:cNvPr id="6" name="Shape 4"/>
          <p:cNvSpPr/>
          <p:nvPr/>
        </p:nvSpPr>
        <p:spPr>
          <a:xfrm>
            <a:off x="548640" y="1417320"/>
            <a:ext cx="109728" cy="868680"/>
          </a:xfrm>
          <a:prstGeom prst="rect">
            <a:avLst/>
          </a:prstGeom>
          <a:solidFill>
            <a:srgbClr val="EBC528"/>
          </a:solidFill>
          <a:ln/>
        </p:spPr>
      </p:sp>
      <p:sp>
        <p:nvSpPr>
          <p:cNvPr id="7" name="Text 5"/>
          <p:cNvSpPr/>
          <p:nvPr/>
        </p:nvSpPr>
        <p:spPr>
          <a:xfrm>
            <a:off x="822960" y="1508760"/>
            <a:ext cx="868680" cy="274320"/>
          </a:xfrm>
          <a:prstGeom prst="rect">
            <a:avLst/>
          </a:prstGeom>
          <a:noFill/>
          <a:ln/>
        </p:spPr>
        <p:txBody>
          <a:bodyPr wrap="square" lIns="0" tIns="0" rIns="0" bIns="0" rtlCol="0" anchor="ctr"/>
          <a:lstStyle/>
          <a:p>
            <a:pPr indent="0" marL="0">
              <a:buNone/>
            </a:pPr>
            <a:r>
              <a:rPr lang="en-US" sz="1000" b="1" spc="600" kern="0" dirty="0">
                <a:solidFill>
                  <a:srgbClr val="0F172A"/>
                </a:solidFill>
                <a:latin typeface="Yu Gothic" pitchFamily="34" charset="0"/>
                <a:ea typeface="Yu Gothic" pitchFamily="34" charset="-122"/>
                <a:cs typeface="Yu Gothic" pitchFamily="34" charset="-120"/>
              </a:rPr>
              <a:t>POINT</a:t>
            </a:r>
            <a:endParaRPr lang="en-US" sz="1000" dirty="0"/>
          </a:p>
        </p:txBody>
      </p:sp>
      <p:sp>
        <p:nvSpPr>
          <p:cNvPr id="8" name="Shape 6"/>
          <p:cNvSpPr/>
          <p:nvPr/>
        </p:nvSpPr>
        <p:spPr>
          <a:xfrm>
            <a:off x="1828800" y="1618488"/>
            <a:ext cx="164592" cy="164592"/>
          </a:xfrm>
          <a:prstGeom prst="ellipse">
            <a:avLst/>
          </a:prstGeom>
          <a:solidFill>
            <a:srgbClr val="EBC528"/>
          </a:solidFill>
          <a:ln/>
        </p:spPr>
      </p:sp>
      <p:sp>
        <p:nvSpPr>
          <p:cNvPr id="9" name="Text 7"/>
          <p:cNvSpPr/>
          <p:nvPr/>
        </p:nvSpPr>
        <p:spPr>
          <a:xfrm>
            <a:off x="2103120" y="1508760"/>
            <a:ext cx="9418320" cy="411480"/>
          </a:xfrm>
          <a:prstGeom prst="rect">
            <a:avLst/>
          </a:prstGeom>
          <a:noFill/>
          <a:ln/>
        </p:spPr>
        <p:txBody>
          <a:bodyPr wrap="square" lIns="0" tIns="0" rIns="0" bIns="0" rtlCol="0" anchor="ctr"/>
          <a:lstStyle/>
          <a:p>
            <a:pPr indent="0" marL="0">
              <a:buNone/>
            </a:pPr>
            <a:r>
              <a:rPr lang="en-US" sz="1400" b="1" dirty="0">
                <a:solidFill>
                  <a:srgbClr val="0F172A"/>
                </a:solidFill>
                <a:latin typeface="Yu Gothic" pitchFamily="34" charset="0"/>
                <a:ea typeface="Yu Gothic" pitchFamily="34" charset="-122"/>
                <a:cs typeface="Yu Gothic" pitchFamily="34" charset="-120"/>
              </a:rPr>
              <a:t>88 項目の脆弱性チェックリストを照合し、本サイトに該当する全項目に対応済み</a:t>
            </a:r>
            <a:endParaRPr lang="en-US" sz="1400" dirty="0"/>
          </a:p>
        </p:txBody>
      </p:sp>
      <p:sp>
        <p:nvSpPr>
          <p:cNvPr id="10" name="Shape 8"/>
          <p:cNvSpPr/>
          <p:nvPr/>
        </p:nvSpPr>
        <p:spPr>
          <a:xfrm>
            <a:off x="1828800" y="1961388"/>
            <a:ext cx="164592" cy="164592"/>
          </a:xfrm>
          <a:prstGeom prst="ellipse">
            <a:avLst/>
          </a:prstGeom>
          <a:solidFill>
            <a:srgbClr val="EBC528"/>
          </a:solidFill>
          <a:ln/>
        </p:spPr>
      </p:sp>
      <p:sp>
        <p:nvSpPr>
          <p:cNvPr id="11" name="Text 9"/>
          <p:cNvSpPr/>
          <p:nvPr/>
        </p:nvSpPr>
        <p:spPr>
          <a:xfrm>
            <a:off x="2103120" y="1851660"/>
            <a:ext cx="9418320" cy="411480"/>
          </a:xfrm>
          <a:prstGeom prst="rect">
            <a:avLst/>
          </a:prstGeom>
          <a:noFill/>
          <a:ln/>
        </p:spPr>
        <p:txBody>
          <a:bodyPr wrap="square" lIns="0" tIns="0" rIns="0" bIns="0" rtlCol="0" anchor="ctr"/>
          <a:lstStyle/>
          <a:p>
            <a:pPr indent="0" marL="0">
              <a:buNone/>
            </a:pPr>
            <a:r>
              <a:rPr lang="en-US" sz="1400" b="1" dirty="0">
                <a:solidFill>
                  <a:srgbClr val="0F172A"/>
                </a:solidFill>
                <a:latin typeface="Yu Gothic" pitchFamily="34" charset="0"/>
                <a:ea typeface="Yu Gothic" pitchFamily="34" charset="-122"/>
                <a:cs typeface="Yu Gothic" pitchFamily="34" charset="-120"/>
              </a:rPr>
              <a:t>静的中心の構成のため、認証・JWT・DB 関連の多数項目は構造的に発生不可</a:t>
            </a:r>
            <a:endParaRPr lang="en-US" sz="1400" dirty="0"/>
          </a:p>
        </p:txBody>
      </p:sp>
      <p:sp>
        <p:nvSpPr>
          <p:cNvPr id="12" name="Shape 10"/>
          <p:cNvSpPr/>
          <p:nvPr/>
        </p:nvSpPr>
        <p:spPr>
          <a:xfrm>
            <a:off x="548640" y="2697480"/>
            <a:ext cx="3200400" cy="3520440"/>
          </a:xfrm>
          <a:prstGeom prst="rect">
            <a:avLst/>
          </a:prstGeom>
          <a:solidFill>
            <a:srgbClr val="0F172A"/>
          </a:solidFill>
          <a:ln/>
        </p:spPr>
      </p:sp>
      <p:sp>
        <p:nvSpPr>
          <p:cNvPr id="13" name="Text 11"/>
          <p:cNvSpPr/>
          <p:nvPr/>
        </p:nvSpPr>
        <p:spPr>
          <a:xfrm>
            <a:off x="548640" y="2788920"/>
            <a:ext cx="3200400" cy="1645920"/>
          </a:xfrm>
          <a:prstGeom prst="rect">
            <a:avLst/>
          </a:prstGeom>
          <a:noFill/>
          <a:ln/>
        </p:spPr>
        <p:txBody>
          <a:bodyPr wrap="square" lIns="0" tIns="0" rIns="0" bIns="0" rtlCol="0" anchor="ctr"/>
          <a:lstStyle/>
          <a:p>
            <a:pPr algn="ctr" indent="0" marL="0">
              <a:buNone/>
            </a:pPr>
            <a:r>
              <a:rPr lang="en-US" sz="9600" b="1" dirty="0">
                <a:solidFill>
                  <a:srgbClr val="EBC528"/>
                </a:solidFill>
                <a:latin typeface="Yu Gothic" pitchFamily="34" charset="0"/>
                <a:ea typeface="Yu Gothic" pitchFamily="34" charset="-122"/>
                <a:cs typeface="Yu Gothic" pitchFamily="34" charset="-120"/>
              </a:rPr>
              <a:t>88</a:t>
            </a:r>
            <a:endParaRPr lang="en-US" sz="9600" dirty="0"/>
          </a:p>
        </p:txBody>
      </p:sp>
      <p:sp>
        <p:nvSpPr>
          <p:cNvPr id="14" name="Text 12"/>
          <p:cNvSpPr/>
          <p:nvPr/>
        </p:nvSpPr>
        <p:spPr>
          <a:xfrm>
            <a:off x="548640" y="4389120"/>
            <a:ext cx="3200400" cy="365760"/>
          </a:xfrm>
          <a:prstGeom prst="rect">
            <a:avLst/>
          </a:prstGeom>
          <a:noFill/>
          <a:ln/>
        </p:spPr>
        <p:txBody>
          <a:bodyPr wrap="square" lIns="0" tIns="0" rIns="0" bIns="0" rtlCol="0" anchor="ctr"/>
          <a:lstStyle/>
          <a:p>
            <a:pPr algn="ctr" indent="0" marL="0">
              <a:buNone/>
            </a:pPr>
            <a:r>
              <a:rPr lang="en-US" sz="1200" b="1" spc="600" kern="0" dirty="0">
                <a:solidFill>
                  <a:srgbClr val="EBC528"/>
                </a:solidFill>
                <a:latin typeface="Yu Gothic" pitchFamily="34" charset="0"/>
                <a:ea typeface="Yu Gothic" pitchFamily="34" charset="-122"/>
                <a:cs typeface="Yu Gothic" pitchFamily="34" charset="-120"/>
              </a:rPr>
              <a:t>ITEMS AUDITED</a:t>
            </a:r>
            <a:endParaRPr lang="en-US" sz="1200" dirty="0"/>
          </a:p>
        </p:txBody>
      </p:sp>
      <p:sp>
        <p:nvSpPr>
          <p:cNvPr id="15" name="Text 13"/>
          <p:cNvSpPr/>
          <p:nvPr/>
        </p:nvSpPr>
        <p:spPr>
          <a:xfrm>
            <a:off x="548640" y="4754880"/>
            <a:ext cx="3200400" cy="365760"/>
          </a:xfrm>
          <a:prstGeom prst="rect">
            <a:avLst/>
          </a:prstGeom>
          <a:noFill/>
          <a:ln/>
        </p:spPr>
        <p:txBody>
          <a:bodyPr wrap="square" lIns="0" tIns="0" rIns="0" bIns="0" rtlCol="0" anchor="ctr"/>
          <a:lstStyle/>
          <a:p>
            <a:pPr algn="ctr" indent="0" marL="0">
              <a:buNone/>
            </a:pPr>
            <a:r>
              <a:rPr lang="en-US" sz="1000" dirty="0">
                <a:solidFill>
                  <a:srgbClr val="FFFFFF"/>
                </a:solidFill>
                <a:latin typeface="Yu Gothic" pitchFamily="34" charset="0"/>
                <a:ea typeface="Yu Gothic" pitchFamily="34" charset="-122"/>
                <a:cs typeface="Yu Gothic" pitchFamily="34" charset="-120"/>
              </a:rPr>
              <a:t>OWASP 系の脆弱性チェックリスト</a:t>
            </a:r>
            <a:endParaRPr lang="en-US" sz="1000" dirty="0"/>
          </a:p>
        </p:txBody>
      </p:sp>
      <p:sp>
        <p:nvSpPr>
          <p:cNvPr id="16" name="Text 14"/>
          <p:cNvSpPr/>
          <p:nvPr/>
        </p:nvSpPr>
        <p:spPr>
          <a:xfrm>
            <a:off x="548640" y="5074920"/>
            <a:ext cx="3200400" cy="365760"/>
          </a:xfrm>
          <a:prstGeom prst="rect">
            <a:avLst/>
          </a:prstGeom>
          <a:noFill/>
          <a:ln/>
        </p:spPr>
        <p:txBody>
          <a:bodyPr wrap="square" lIns="0" tIns="0" rIns="0" bIns="0" rtlCol="0" anchor="ctr"/>
          <a:lstStyle/>
          <a:p>
            <a:pPr algn="ctr" indent="0" marL="0">
              <a:buNone/>
            </a:pPr>
            <a:r>
              <a:rPr lang="en-US" sz="900" dirty="0">
                <a:solidFill>
                  <a:srgbClr val="94A3B8"/>
                </a:solidFill>
                <a:latin typeface="Yu Gothic" pitchFamily="34" charset="0"/>
                <a:ea typeface="Yu Gothic" pitchFamily="34" charset="-122"/>
                <a:cs typeface="Yu Gothic" pitchFamily="34" charset="-120"/>
              </a:rPr>
              <a:t>Critical / High / Medium / Low / Info</a:t>
            </a:r>
            <a:endParaRPr lang="en-US" sz="900" dirty="0"/>
          </a:p>
        </p:txBody>
      </p:sp>
      <p:sp>
        <p:nvSpPr>
          <p:cNvPr id="17" name="Text 15"/>
          <p:cNvSpPr/>
          <p:nvPr/>
        </p:nvSpPr>
        <p:spPr>
          <a:xfrm>
            <a:off x="548640" y="5623560"/>
            <a:ext cx="3200400" cy="365760"/>
          </a:xfrm>
          <a:prstGeom prst="rect">
            <a:avLst/>
          </a:prstGeom>
          <a:noFill/>
          <a:ln/>
        </p:spPr>
        <p:txBody>
          <a:bodyPr wrap="square" lIns="0" tIns="0" rIns="0" bIns="0" rtlCol="0" anchor="ctr"/>
          <a:lstStyle/>
          <a:p>
            <a:pPr algn="ctr" indent="0" marL="0">
              <a:buNone/>
            </a:pPr>
            <a:r>
              <a:rPr lang="en-US" sz="1100" b="1" dirty="0">
                <a:solidFill>
                  <a:srgbClr val="EBC528"/>
                </a:solidFill>
                <a:latin typeface="Yu Gothic" pitchFamily="34" charset="0"/>
                <a:ea typeface="Yu Gothic" pitchFamily="34" charset="-122"/>
                <a:cs typeface="Yu Gothic" pitchFamily="34" charset="-120"/>
              </a:rPr>
              <a:t>→ 全 88 項目を照合</a:t>
            </a:r>
            <a:endParaRPr lang="en-US" sz="1100" dirty="0"/>
          </a:p>
        </p:txBody>
      </p:sp>
      <p:sp>
        <p:nvSpPr>
          <p:cNvPr id="18" name="Shape 16"/>
          <p:cNvSpPr/>
          <p:nvPr/>
        </p:nvSpPr>
        <p:spPr>
          <a:xfrm>
            <a:off x="3977640" y="2697480"/>
            <a:ext cx="7635240" cy="1097280"/>
          </a:xfrm>
          <a:prstGeom prst="rect">
            <a:avLst/>
          </a:prstGeom>
          <a:solidFill>
            <a:srgbClr val="F8FAFC"/>
          </a:solidFill>
          <a:ln w="6350">
            <a:solidFill>
              <a:srgbClr val="E2E8F0"/>
            </a:solidFill>
            <a:prstDash val="solid"/>
          </a:ln>
        </p:spPr>
      </p:sp>
      <p:sp>
        <p:nvSpPr>
          <p:cNvPr id="19" name="Shape 17"/>
          <p:cNvSpPr/>
          <p:nvPr/>
        </p:nvSpPr>
        <p:spPr>
          <a:xfrm>
            <a:off x="3977640" y="2697480"/>
            <a:ext cx="109728" cy="1097280"/>
          </a:xfrm>
          <a:prstGeom prst="rect">
            <a:avLst/>
          </a:prstGeom>
          <a:solidFill>
            <a:srgbClr val="10B981"/>
          </a:solidFill>
          <a:ln/>
        </p:spPr>
      </p:sp>
      <p:sp>
        <p:nvSpPr>
          <p:cNvPr id="20" name="Text 18"/>
          <p:cNvSpPr/>
          <p:nvPr/>
        </p:nvSpPr>
        <p:spPr>
          <a:xfrm>
            <a:off x="4206240" y="2834640"/>
            <a:ext cx="3200400" cy="365760"/>
          </a:xfrm>
          <a:prstGeom prst="rect">
            <a:avLst/>
          </a:prstGeom>
          <a:noFill/>
          <a:ln/>
        </p:spPr>
        <p:txBody>
          <a:bodyPr wrap="square" lIns="0" tIns="0" rIns="0" bIns="0" rtlCol="0" anchor="ctr"/>
          <a:lstStyle/>
          <a:p>
            <a:pPr indent="0" marL="0">
              <a:buNone/>
            </a:pPr>
            <a:r>
              <a:rPr lang="en-US" sz="1800" b="1" dirty="0">
                <a:solidFill>
                  <a:srgbClr val="0F172A"/>
                </a:solidFill>
                <a:latin typeface="Yu Gothic" pitchFamily="34" charset="0"/>
                <a:ea typeface="Yu Gothic" pitchFamily="34" charset="-122"/>
                <a:cs typeface="Yu Gothic" pitchFamily="34" charset="-120"/>
              </a:rPr>
              <a:t>対応済</a:t>
            </a:r>
            <a:endParaRPr lang="en-US" sz="1800" dirty="0"/>
          </a:p>
        </p:txBody>
      </p:sp>
      <p:sp>
        <p:nvSpPr>
          <p:cNvPr id="21" name="Shape 19"/>
          <p:cNvSpPr/>
          <p:nvPr/>
        </p:nvSpPr>
        <p:spPr>
          <a:xfrm>
            <a:off x="9418320" y="2862072"/>
            <a:ext cx="2011680" cy="365760"/>
          </a:xfrm>
          <a:prstGeom prst="rect">
            <a:avLst/>
          </a:prstGeom>
          <a:solidFill>
            <a:srgbClr val="10B981"/>
          </a:solidFill>
          <a:ln/>
        </p:spPr>
      </p:sp>
      <p:sp>
        <p:nvSpPr>
          <p:cNvPr id="22" name="Text 20"/>
          <p:cNvSpPr/>
          <p:nvPr/>
        </p:nvSpPr>
        <p:spPr>
          <a:xfrm>
            <a:off x="9418320" y="2862072"/>
            <a:ext cx="2011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約 26 項目</a:t>
            </a:r>
            <a:endParaRPr lang="en-US" sz="1200" dirty="0"/>
          </a:p>
        </p:txBody>
      </p:sp>
      <p:sp>
        <p:nvSpPr>
          <p:cNvPr id="23" name="Text 21"/>
          <p:cNvSpPr/>
          <p:nvPr/>
        </p:nvSpPr>
        <p:spPr>
          <a:xfrm>
            <a:off x="4206240" y="3246120"/>
            <a:ext cx="7223760" cy="502920"/>
          </a:xfrm>
          <a:prstGeom prst="rect">
            <a:avLst/>
          </a:prstGeom>
          <a:noFill/>
          <a:ln/>
        </p:spPr>
        <p:txBody>
          <a:bodyPr wrap="square" lIns="0" tIns="0" rIns="0" bIns="0" rtlCol="0" anchor="ctr"/>
          <a:lstStyle/>
          <a:p>
            <a:pPr indent="0" marL="0">
              <a:buNone/>
            </a:pPr>
            <a:r>
              <a:rPr lang="en-US" sz="1100" dirty="0">
                <a:solidFill>
                  <a:srgbClr val="1E293B"/>
                </a:solidFill>
                <a:latin typeface="Yu Gothic" pitchFamily="34" charset="0"/>
                <a:ea typeface="Yu Gothic" pitchFamily="34" charset="-122"/>
                <a:cs typeface="Yu Gothic" pitchFamily="34" charset="-120"/>
              </a:rPr>
              <a:t>CSP・HSTS・XFO・PDF 3 層・CSRF・SSRF・ディレクトリトラバーサル防御・エラー保護 等</a:t>
            </a:r>
            <a:endParaRPr lang="en-US" sz="1100" dirty="0"/>
          </a:p>
        </p:txBody>
      </p:sp>
      <p:sp>
        <p:nvSpPr>
          <p:cNvPr id="24" name="Shape 22"/>
          <p:cNvSpPr/>
          <p:nvPr/>
        </p:nvSpPr>
        <p:spPr>
          <a:xfrm>
            <a:off x="3977640" y="3886200"/>
            <a:ext cx="7635240" cy="1097280"/>
          </a:xfrm>
          <a:prstGeom prst="rect">
            <a:avLst/>
          </a:prstGeom>
          <a:solidFill>
            <a:srgbClr val="F8FAFC"/>
          </a:solidFill>
          <a:ln w="6350">
            <a:solidFill>
              <a:srgbClr val="E2E8F0"/>
            </a:solidFill>
            <a:prstDash val="solid"/>
          </a:ln>
        </p:spPr>
      </p:sp>
      <p:sp>
        <p:nvSpPr>
          <p:cNvPr id="25" name="Shape 23"/>
          <p:cNvSpPr/>
          <p:nvPr/>
        </p:nvSpPr>
        <p:spPr>
          <a:xfrm>
            <a:off x="3977640" y="3886200"/>
            <a:ext cx="109728" cy="1097280"/>
          </a:xfrm>
          <a:prstGeom prst="rect">
            <a:avLst/>
          </a:prstGeom>
          <a:solidFill>
            <a:srgbClr val="334155"/>
          </a:solidFill>
          <a:ln/>
        </p:spPr>
      </p:sp>
      <p:sp>
        <p:nvSpPr>
          <p:cNvPr id="26" name="Text 24"/>
          <p:cNvSpPr/>
          <p:nvPr/>
        </p:nvSpPr>
        <p:spPr>
          <a:xfrm>
            <a:off x="4206240" y="4023360"/>
            <a:ext cx="3200400" cy="365760"/>
          </a:xfrm>
          <a:prstGeom prst="rect">
            <a:avLst/>
          </a:prstGeom>
          <a:noFill/>
          <a:ln/>
        </p:spPr>
        <p:txBody>
          <a:bodyPr wrap="square" lIns="0" tIns="0" rIns="0" bIns="0" rtlCol="0" anchor="ctr"/>
          <a:lstStyle/>
          <a:p>
            <a:pPr indent="0" marL="0">
              <a:buNone/>
            </a:pPr>
            <a:r>
              <a:rPr lang="en-US" sz="1800" b="1" dirty="0">
                <a:solidFill>
                  <a:srgbClr val="0F172A"/>
                </a:solidFill>
                <a:latin typeface="Yu Gothic" pitchFamily="34" charset="0"/>
                <a:ea typeface="Yu Gothic" pitchFamily="34" charset="-122"/>
                <a:cs typeface="Yu Gothic" pitchFamily="34" charset="-120"/>
              </a:rPr>
              <a:t>非該当</a:t>
            </a:r>
            <a:endParaRPr lang="en-US" sz="1800" dirty="0"/>
          </a:p>
        </p:txBody>
      </p:sp>
      <p:sp>
        <p:nvSpPr>
          <p:cNvPr id="27" name="Shape 25"/>
          <p:cNvSpPr/>
          <p:nvPr/>
        </p:nvSpPr>
        <p:spPr>
          <a:xfrm>
            <a:off x="9418320" y="4050792"/>
            <a:ext cx="2011680" cy="365760"/>
          </a:xfrm>
          <a:prstGeom prst="rect">
            <a:avLst/>
          </a:prstGeom>
          <a:solidFill>
            <a:srgbClr val="334155"/>
          </a:solidFill>
          <a:ln/>
        </p:spPr>
      </p:sp>
      <p:sp>
        <p:nvSpPr>
          <p:cNvPr id="28" name="Text 26"/>
          <p:cNvSpPr/>
          <p:nvPr/>
        </p:nvSpPr>
        <p:spPr>
          <a:xfrm>
            <a:off x="9418320" y="4050792"/>
            <a:ext cx="2011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約 56 項目</a:t>
            </a:r>
            <a:endParaRPr lang="en-US" sz="1200" dirty="0"/>
          </a:p>
        </p:txBody>
      </p:sp>
      <p:sp>
        <p:nvSpPr>
          <p:cNvPr id="29" name="Text 27"/>
          <p:cNvSpPr/>
          <p:nvPr/>
        </p:nvSpPr>
        <p:spPr>
          <a:xfrm>
            <a:off x="4206240" y="4434840"/>
            <a:ext cx="7223760" cy="502920"/>
          </a:xfrm>
          <a:prstGeom prst="rect">
            <a:avLst/>
          </a:prstGeom>
          <a:noFill/>
          <a:ln/>
        </p:spPr>
        <p:txBody>
          <a:bodyPr wrap="square" lIns="0" tIns="0" rIns="0" bIns="0" rtlCol="0" anchor="ctr"/>
          <a:lstStyle/>
          <a:p>
            <a:pPr indent="0" marL="0">
              <a:buNone/>
            </a:pPr>
            <a:r>
              <a:rPr lang="en-US" sz="1100" dirty="0">
                <a:solidFill>
                  <a:srgbClr val="1E293B"/>
                </a:solidFill>
                <a:latin typeface="Yu Gothic" pitchFamily="34" charset="0"/>
                <a:ea typeface="Yu Gothic" pitchFamily="34" charset="-122"/>
                <a:cs typeface="Yu Gothic" pitchFamily="34" charset="-120"/>
              </a:rPr>
              <a:t>認証・JWT・DB クエリ・Cookie セッション・管理画面・ファイル参照系 など（機能を持たないため構造的に発生不可）</a:t>
            </a:r>
            <a:endParaRPr lang="en-US" sz="1100" dirty="0"/>
          </a:p>
        </p:txBody>
      </p:sp>
      <p:sp>
        <p:nvSpPr>
          <p:cNvPr id="30" name="Shape 28"/>
          <p:cNvSpPr/>
          <p:nvPr/>
        </p:nvSpPr>
        <p:spPr>
          <a:xfrm>
            <a:off x="3977640" y="5074920"/>
            <a:ext cx="7635240" cy="1097280"/>
          </a:xfrm>
          <a:prstGeom prst="rect">
            <a:avLst/>
          </a:prstGeom>
          <a:solidFill>
            <a:srgbClr val="F8FAFC"/>
          </a:solidFill>
          <a:ln w="6350">
            <a:solidFill>
              <a:srgbClr val="E2E8F0"/>
            </a:solidFill>
            <a:prstDash val="solid"/>
          </a:ln>
        </p:spPr>
      </p:sp>
      <p:sp>
        <p:nvSpPr>
          <p:cNvPr id="31" name="Shape 29"/>
          <p:cNvSpPr/>
          <p:nvPr/>
        </p:nvSpPr>
        <p:spPr>
          <a:xfrm>
            <a:off x="3977640" y="5074920"/>
            <a:ext cx="109728" cy="1097280"/>
          </a:xfrm>
          <a:prstGeom prst="rect">
            <a:avLst/>
          </a:prstGeom>
          <a:solidFill>
            <a:srgbClr val="F59E0B"/>
          </a:solidFill>
          <a:ln/>
        </p:spPr>
      </p:sp>
      <p:sp>
        <p:nvSpPr>
          <p:cNvPr id="32" name="Text 30"/>
          <p:cNvSpPr/>
          <p:nvPr/>
        </p:nvSpPr>
        <p:spPr>
          <a:xfrm>
            <a:off x="4206240" y="5212080"/>
            <a:ext cx="3200400" cy="365760"/>
          </a:xfrm>
          <a:prstGeom prst="rect">
            <a:avLst/>
          </a:prstGeom>
          <a:noFill/>
          <a:ln/>
        </p:spPr>
        <p:txBody>
          <a:bodyPr wrap="square" lIns="0" tIns="0" rIns="0" bIns="0" rtlCol="0" anchor="ctr"/>
          <a:lstStyle/>
          <a:p>
            <a:pPr indent="0" marL="0">
              <a:buNone/>
            </a:pPr>
            <a:r>
              <a:rPr lang="en-US" sz="1800" b="1" dirty="0">
                <a:solidFill>
                  <a:srgbClr val="0F172A"/>
                </a:solidFill>
                <a:latin typeface="Yu Gothic" pitchFamily="34" charset="0"/>
                <a:ea typeface="Yu Gothic" pitchFamily="34" charset="-122"/>
                <a:cs typeface="Yu Gothic" pitchFamily="34" charset="-120"/>
              </a:rPr>
              <a:t>運用補完</a:t>
            </a:r>
            <a:endParaRPr lang="en-US" sz="1800" dirty="0"/>
          </a:p>
        </p:txBody>
      </p:sp>
      <p:sp>
        <p:nvSpPr>
          <p:cNvPr id="33" name="Shape 31"/>
          <p:cNvSpPr/>
          <p:nvPr/>
        </p:nvSpPr>
        <p:spPr>
          <a:xfrm>
            <a:off x="9418320" y="5239512"/>
            <a:ext cx="2011680" cy="365760"/>
          </a:xfrm>
          <a:prstGeom prst="rect">
            <a:avLst/>
          </a:prstGeom>
          <a:solidFill>
            <a:srgbClr val="F59E0B"/>
          </a:solidFill>
          <a:ln/>
        </p:spPr>
      </p:sp>
      <p:sp>
        <p:nvSpPr>
          <p:cNvPr id="34" name="Text 32"/>
          <p:cNvSpPr/>
          <p:nvPr/>
        </p:nvSpPr>
        <p:spPr>
          <a:xfrm>
            <a:off x="9418320" y="5239512"/>
            <a:ext cx="2011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約 6 項目</a:t>
            </a:r>
            <a:endParaRPr lang="en-US" sz="1200" dirty="0"/>
          </a:p>
        </p:txBody>
      </p:sp>
      <p:sp>
        <p:nvSpPr>
          <p:cNvPr id="35" name="Text 33"/>
          <p:cNvSpPr/>
          <p:nvPr/>
        </p:nvSpPr>
        <p:spPr>
          <a:xfrm>
            <a:off x="4206240" y="5623560"/>
            <a:ext cx="7223760" cy="502920"/>
          </a:xfrm>
          <a:prstGeom prst="rect">
            <a:avLst/>
          </a:prstGeom>
          <a:noFill/>
          <a:ln/>
        </p:spPr>
        <p:txBody>
          <a:bodyPr wrap="square" lIns="0" tIns="0" rIns="0" bIns="0" rtlCol="0" anchor="ctr"/>
          <a:lstStyle/>
          <a:p>
            <a:pPr indent="0" marL="0">
              <a:buNone/>
            </a:pPr>
            <a:r>
              <a:rPr lang="en-US" sz="1100" dirty="0">
                <a:solidFill>
                  <a:srgbClr val="1E293B"/>
                </a:solidFill>
                <a:latin typeface="Yu Gothic" pitchFamily="34" charset="0"/>
                <a:ea typeface="Yu Gothic" pitchFamily="34" charset="-122"/>
                <a:cs typeface="Yu Gothic" pitchFamily="34" charset="-120"/>
              </a:rPr>
              <a:t>WAF・npm audit CI 統合・AV スキャン・レート制限・監査ログ・ペネトレ（インフラ／運用層で実施）</a:t>
            </a:r>
            <a:endParaRPr lang="en-US" sz="1100" dirty="0"/>
          </a:p>
        </p:txBody>
      </p:sp>
      <p:sp>
        <p:nvSpPr>
          <p:cNvPr id="36" name="Text 34"/>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Yu Gothic" pitchFamily="34" charset="0"/>
                <a:ea typeface="Yu Gothic" pitchFamily="34" charset="-122"/>
                <a:cs typeface="Yu Gothic" pitchFamily="34" charset="-120"/>
              </a:rPr>
              <a:t>株式会社ライトパス サイト構築</a:t>
            </a:r>
            <a:endParaRPr lang="en-US" sz="900" dirty="0"/>
          </a:p>
        </p:txBody>
      </p:sp>
      <p:sp>
        <p:nvSpPr>
          <p:cNvPr id="37" name="Text 35"/>
          <p:cNvSpPr/>
          <p:nvPr/>
        </p:nvSpPr>
        <p:spPr>
          <a:xfrm>
            <a:off x="10820095" y="6446520"/>
            <a:ext cx="822960" cy="274320"/>
          </a:xfrm>
          <a:prstGeom prst="rect">
            <a:avLst/>
          </a:prstGeom>
          <a:noFill/>
          <a:ln/>
        </p:spPr>
        <p:txBody>
          <a:bodyPr wrap="square" lIns="0" tIns="0" rIns="0" bIns="0" rtlCol="0" anchor="ctr"/>
          <a:lstStyle/>
          <a:p>
            <a:pPr algn="r" indent="0" marL="0">
              <a:buNone/>
            </a:pPr>
            <a:r>
              <a:rPr lang="en-US" sz="900" dirty="0">
                <a:solidFill>
                  <a:srgbClr val="64748B"/>
                </a:solidFill>
                <a:latin typeface="Yu Gothic" pitchFamily="34" charset="0"/>
                <a:ea typeface="Yu Gothic" pitchFamily="34" charset="-122"/>
                <a:cs typeface="Yu Gothic" pitchFamily="34" charset="-120"/>
              </a:rPr>
              <a:t>8 / 12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164592" cy="164592"/>
          </a:xfrm>
          <a:prstGeom prst="rect">
            <a:avLst/>
          </a:prstGeom>
          <a:solidFill>
            <a:srgbClr val="EBC528"/>
          </a:solidFill>
          <a:ln/>
        </p:spPr>
      </p:sp>
      <p:sp>
        <p:nvSpPr>
          <p:cNvPr id="3" name="Text 1"/>
          <p:cNvSpPr/>
          <p:nvPr/>
        </p:nvSpPr>
        <p:spPr>
          <a:xfrm>
            <a:off x="777240" y="365760"/>
            <a:ext cx="7315200" cy="365760"/>
          </a:xfrm>
          <a:prstGeom prst="rect">
            <a:avLst/>
          </a:prstGeom>
          <a:noFill/>
          <a:ln/>
        </p:spPr>
        <p:txBody>
          <a:bodyPr wrap="square" lIns="0" tIns="0" rIns="0" bIns="0" rtlCol="0" anchor="ctr"/>
          <a:lstStyle/>
          <a:p>
            <a:pPr indent="0" marL="0">
              <a:buNone/>
            </a:pPr>
            <a:r>
              <a:rPr lang="en-US" sz="1100" b="1" spc="400" kern="0" dirty="0">
                <a:solidFill>
                  <a:srgbClr val="64748B"/>
                </a:solidFill>
                <a:latin typeface="Yu Gothic" pitchFamily="34" charset="0"/>
                <a:ea typeface="Yu Gothic" pitchFamily="34" charset="-122"/>
                <a:cs typeface="Yu Gothic" pitchFamily="34" charset="-120"/>
              </a:rPr>
              <a:t>08  CODE</a:t>
            </a:r>
            <a:endParaRPr lang="en-US" sz="1100" dirty="0"/>
          </a:p>
        </p:txBody>
      </p:sp>
      <p:sp>
        <p:nvSpPr>
          <p:cNvPr id="4" name="Text 2"/>
          <p:cNvSpPr/>
          <p:nvPr/>
        </p:nvSpPr>
        <p:spPr>
          <a:xfrm>
            <a:off x="548640" y="713232"/>
            <a:ext cx="10972800" cy="594360"/>
          </a:xfrm>
          <a:prstGeom prst="rect">
            <a:avLst/>
          </a:prstGeom>
          <a:noFill/>
          <a:ln/>
        </p:spPr>
        <p:txBody>
          <a:bodyPr wrap="square" lIns="0" tIns="0" rIns="0" bIns="0" rtlCol="0" anchor="ctr"/>
          <a:lstStyle/>
          <a:p>
            <a:pPr indent="0" marL="0">
              <a:buNone/>
            </a:pPr>
            <a:r>
              <a:rPr lang="en-US" sz="2400" b="1" dirty="0">
                <a:solidFill>
                  <a:srgbClr val="0F172A"/>
                </a:solidFill>
                <a:latin typeface="Yu Gothic" pitchFamily="34" charset="0"/>
                <a:ea typeface="Yu Gothic" pitchFamily="34" charset="-122"/>
                <a:cs typeface="Yu Gothic" pitchFamily="34" charset="-120"/>
              </a:rPr>
              <a:t>コードの工夫 ①｜CSS変数 × Tailwind</a:t>
            </a:r>
            <a:endParaRPr lang="en-US" sz="2400" dirty="0"/>
          </a:p>
        </p:txBody>
      </p:sp>
      <p:sp>
        <p:nvSpPr>
          <p:cNvPr id="5" name="Shape 3"/>
          <p:cNvSpPr/>
          <p:nvPr/>
        </p:nvSpPr>
        <p:spPr>
          <a:xfrm>
            <a:off x="548640" y="1417320"/>
            <a:ext cx="11064240" cy="868680"/>
          </a:xfrm>
          <a:prstGeom prst="rect">
            <a:avLst/>
          </a:prstGeom>
          <a:solidFill>
            <a:srgbClr val="F8FAFC"/>
          </a:solidFill>
          <a:ln w="6350">
            <a:solidFill>
              <a:srgbClr val="E2E8F0"/>
            </a:solidFill>
            <a:prstDash val="solid"/>
          </a:ln>
        </p:spPr>
      </p:sp>
      <p:sp>
        <p:nvSpPr>
          <p:cNvPr id="6" name="Shape 4"/>
          <p:cNvSpPr/>
          <p:nvPr/>
        </p:nvSpPr>
        <p:spPr>
          <a:xfrm>
            <a:off x="548640" y="1417320"/>
            <a:ext cx="109728" cy="868680"/>
          </a:xfrm>
          <a:prstGeom prst="rect">
            <a:avLst/>
          </a:prstGeom>
          <a:solidFill>
            <a:srgbClr val="EBC528"/>
          </a:solidFill>
          <a:ln/>
        </p:spPr>
      </p:sp>
      <p:sp>
        <p:nvSpPr>
          <p:cNvPr id="7" name="Text 5"/>
          <p:cNvSpPr/>
          <p:nvPr/>
        </p:nvSpPr>
        <p:spPr>
          <a:xfrm>
            <a:off x="822960" y="1508760"/>
            <a:ext cx="868680" cy="274320"/>
          </a:xfrm>
          <a:prstGeom prst="rect">
            <a:avLst/>
          </a:prstGeom>
          <a:noFill/>
          <a:ln/>
        </p:spPr>
        <p:txBody>
          <a:bodyPr wrap="square" lIns="0" tIns="0" rIns="0" bIns="0" rtlCol="0" anchor="ctr"/>
          <a:lstStyle/>
          <a:p>
            <a:pPr indent="0" marL="0">
              <a:buNone/>
            </a:pPr>
            <a:r>
              <a:rPr lang="en-US" sz="1000" b="1" spc="600" kern="0" dirty="0">
                <a:solidFill>
                  <a:srgbClr val="0F172A"/>
                </a:solidFill>
                <a:latin typeface="Yu Gothic" pitchFamily="34" charset="0"/>
                <a:ea typeface="Yu Gothic" pitchFamily="34" charset="-122"/>
                <a:cs typeface="Yu Gothic" pitchFamily="34" charset="-120"/>
              </a:rPr>
              <a:t>POINT</a:t>
            </a:r>
            <a:endParaRPr lang="en-US" sz="1000" dirty="0"/>
          </a:p>
        </p:txBody>
      </p:sp>
      <p:sp>
        <p:nvSpPr>
          <p:cNvPr id="8" name="Shape 6"/>
          <p:cNvSpPr/>
          <p:nvPr/>
        </p:nvSpPr>
        <p:spPr>
          <a:xfrm>
            <a:off x="1828800" y="1618488"/>
            <a:ext cx="164592" cy="164592"/>
          </a:xfrm>
          <a:prstGeom prst="ellipse">
            <a:avLst/>
          </a:prstGeom>
          <a:solidFill>
            <a:srgbClr val="EBC528"/>
          </a:solidFill>
          <a:ln/>
        </p:spPr>
      </p:sp>
      <p:sp>
        <p:nvSpPr>
          <p:cNvPr id="9" name="Text 7"/>
          <p:cNvSpPr/>
          <p:nvPr/>
        </p:nvSpPr>
        <p:spPr>
          <a:xfrm>
            <a:off x="2103120" y="1508760"/>
            <a:ext cx="9418320" cy="411480"/>
          </a:xfrm>
          <a:prstGeom prst="rect">
            <a:avLst/>
          </a:prstGeom>
          <a:noFill/>
          <a:ln/>
        </p:spPr>
        <p:txBody>
          <a:bodyPr wrap="square" lIns="0" tIns="0" rIns="0" bIns="0" rtlCol="0" anchor="ctr"/>
          <a:lstStyle/>
          <a:p>
            <a:pPr indent="0" marL="0">
              <a:buNone/>
            </a:pPr>
            <a:r>
              <a:rPr lang="en-US" sz="1400" b="1" dirty="0">
                <a:solidFill>
                  <a:srgbClr val="0F172A"/>
                </a:solidFill>
                <a:latin typeface="Yu Gothic" pitchFamily="34" charset="0"/>
                <a:ea typeface="Yu Gothic" pitchFamily="34" charset="-122"/>
                <a:cs typeface="Yu Gothic" pitchFamily="34" charset="-120"/>
              </a:rPr>
              <a:t>globals.css の CSS 変数を Tailwind から参照し、テーマを 1 箇所で管理</a:t>
            </a:r>
            <a:endParaRPr lang="en-US" sz="1400" dirty="0"/>
          </a:p>
        </p:txBody>
      </p:sp>
      <p:sp>
        <p:nvSpPr>
          <p:cNvPr id="10" name="Shape 8"/>
          <p:cNvSpPr/>
          <p:nvPr/>
        </p:nvSpPr>
        <p:spPr>
          <a:xfrm>
            <a:off x="1828800" y="1961388"/>
            <a:ext cx="164592" cy="164592"/>
          </a:xfrm>
          <a:prstGeom prst="ellipse">
            <a:avLst/>
          </a:prstGeom>
          <a:solidFill>
            <a:srgbClr val="EBC528"/>
          </a:solidFill>
          <a:ln/>
        </p:spPr>
      </p:sp>
      <p:sp>
        <p:nvSpPr>
          <p:cNvPr id="11" name="Text 9"/>
          <p:cNvSpPr/>
          <p:nvPr/>
        </p:nvSpPr>
        <p:spPr>
          <a:xfrm>
            <a:off x="2103120" y="1851660"/>
            <a:ext cx="9418320" cy="411480"/>
          </a:xfrm>
          <a:prstGeom prst="rect">
            <a:avLst/>
          </a:prstGeom>
          <a:noFill/>
          <a:ln/>
        </p:spPr>
        <p:txBody>
          <a:bodyPr wrap="square" lIns="0" tIns="0" rIns="0" bIns="0" rtlCol="0" anchor="ctr"/>
          <a:lstStyle/>
          <a:p>
            <a:pPr indent="0" marL="0">
              <a:buNone/>
            </a:pPr>
            <a:r>
              <a:rPr lang="en-US" sz="1400" b="1" dirty="0">
                <a:solidFill>
                  <a:srgbClr val="0F172A"/>
                </a:solidFill>
                <a:latin typeface="Yu Gothic" pitchFamily="34" charset="0"/>
                <a:ea typeface="Yu Gothic" pitchFamily="34" charset="-122"/>
                <a:cs typeface="Yu Gothic" pitchFamily="34" charset="-120"/>
              </a:rPr>
              <a:t>ダークモード化や色変更がファイル 1 つの編集で完結する設計</a:t>
            </a:r>
            <a:endParaRPr lang="en-US" sz="1400" dirty="0"/>
          </a:p>
        </p:txBody>
      </p:sp>
      <p:sp>
        <p:nvSpPr>
          <p:cNvPr id="12" name="Shape 10"/>
          <p:cNvSpPr/>
          <p:nvPr/>
        </p:nvSpPr>
        <p:spPr>
          <a:xfrm>
            <a:off x="548640" y="2606040"/>
            <a:ext cx="5486400" cy="3611880"/>
          </a:xfrm>
          <a:prstGeom prst="rect">
            <a:avLst/>
          </a:prstGeom>
          <a:solidFill>
            <a:srgbClr val="0F172A"/>
          </a:solidFill>
          <a:ln/>
        </p:spPr>
      </p:sp>
      <p:sp>
        <p:nvSpPr>
          <p:cNvPr id="13" name="Text 11"/>
          <p:cNvSpPr/>
          <p:nvPr/>
        </p:nvSpPr>
        <p:spPr>
          <a:xfrm>
            <a:off x="777240" y="2743200"/>
            <a:ext cx="5029200" cy="292608"/>
          </a:xfrm>
          <a:prstGeom prst="rect">
            <a:avLst/>
          </a:prstGeom>
          <a:noFill/>
          <a:ln/>
        </p:spPr>
        <p:txBody>
          <a:bodyPr wrap="square" lIns="0" tIns="0" rIns="0" bIns="0" rtlCol="0" anchor="ctr"/>
          <a:lstStyle/>
          <a:p>
            <a:pPr indent="0" marL="0">
              <a:buNone/>
            </a:pPr>
            <a:r>
              <a:rPr lang="en-US" sz="1000" dirty="0">
                <a:solidFill>
                  <a:srgbClr val="94A3B8"/>
                </a:solidFill>
                <a:latin typeface="Yu Gothic" pitchFamily="34" charset="0"/>
                <a:ea typeface="Yu Gothic" pitchFamily="34" charset="-122"/>
                <a:cs typeface="Yu Gothic" pitchFamily="34" charset="-120"/>
              </a:rPr>
              <a:t>/* globals.css */</a:t>
            </a:r>
            <a:endParaRPr lang="en-US" sz="1000" dirty="0"/>
          </a:p>
        </p:txBody>
      </p:sp>
      <p:sp>
        <p:nvSpPr>
          <p:cNvPr id="14" name="Text 12"/>
          <p:cNvSpPr/>
          <p:nvPr/>
        </p:nvSpPr>
        <p:spPr>
          <a:xfrm>
            <a:off x="777240" y="3026664"/>
            <a:ext cx="5029200" cy="292608"/>
          </a:xfrm>
          <a:prstGeom prst="rect">
            <a:avLst/>
          </a:prstGeom>
          <a:noFill/>
          <a:ln/>
        </p:spPr>
        <p:txBody>
          <a:bodyPr wrap="square" lIns="0" tIns="0" rIns="0" bIns="0" rtlCol="0" anchor="ctr"/>
          <a:lstStyle/>
          <a:p>
            <a:pPr indent="0" marL="0">
              <a:buNone/>
            </a:pPr>
            <a:r>
              <a:rPr lang="en-US" sz="1200" dirty="0">
                <a:solidFill>
                  <a:srgbClr val="FFFFFF"/>
                </a:solidFill>
                <a:latin typeface="Yu Gothic" pitchFamily="34" charset="0"/>
                <a:ea typeface="Yu Gothic" pitchFamily="34" charset="-122"/>
                <a:cs typeface="Yu Gothic" pitchFamily="34" charset="-120"/>
              </a:rPr>
              <a:t>:root {</a:t>
            </a:r>
            <a:endParaRPr lang="en-US" sz="1200" dirty="0"/>
          </a:p>
        </p:txBody>
      </p:sp>
      <p:sp>
        <p:nvSpPr>
          <p:cNvPr id="15" name="Text 13"/>
          <p:cNvSpPr/>
          <p:nvPr/>
        </p:nvSpPr>
        <p:spPr>
          <a:xfrm>
            <a:off x="777240" y="3310128"/>
            <a:ext cx="5029200" cy="292608"/>
          </a:xfrm>
          <a:prstGeom prst="rect">
            <a:avLst/>
          </a:prstGeom>
          <a:noFill/>
          <a:ln/>
        </p:spPr>
        <p:txBody>
          <a:bodyPr wrap="square" lIns="0" tIns="0" rIns="0" bIns="0" rtlCol="0" anchor="ctr"/>
          <a:lstStyle/>
          <a:p>
            <a:pPr indent="0" marL="0">
              <a:buNone/>
            </a:pPr>
            <a:r>
              <a:rPr lang="en-US" sz="1200" b="1" dirty="0">
                <a:solidFill>
                  <a:srgbClr val="EBC528"/>
                </a:solidFill>
                <a:latin typeface="Yu Gothic" pitchFamily="34" charset="0"/>
                <a:ea typeface="Yu Gothic" pitchFamily="34" charset="-122"/>
                <a:cs typeface="Yu Gothic" pitchFamily="34" charset="-120"/>
              </a:rPr>
              <a:t>  --color-primary: #ebc528;</a:t>
            </a:r>
            <a:endParaRPr lang="en-US" sz="1200" dirty="0"/>
          </a:p>
        </p:txBody>
      </p:sp>
      <p:sp>
        <p:nvSpPr>
          <p:cNvPr id="16" name="Text 14"/>
          <p:cNvSpPr/>
          <p:nvPr/>
        </p:nvSpPr>
        <p:spPr>
          <a:xfrm>
            <a:off x="777240" y="3593592"/>
            <a:ext cx="5029200" cy="292608"/>
          </a:xfrm>
          <a:prstGeom prst="rect">
            <a:avLst/>
          </a:prstGeom>
          <a:noFill/>
          <a:ln/>
        </p:spPr>
        <p:txBody>
          <a:bodyPr wrap="square" lIns="0" tIns="0" rIns="0" bIns="0" rtlCol="0" anchor="ctr"/>
          <a:lstStyle/>
          <a:p>
            <a:pPr indent="0" marL="0">
              <a:buNone/>
            </a:pPr>
            <a:r>
              <a:rPr lang="en-US" sz="1200" dirty="0">
                <a:solidFill>
                  <a:srgbClr val="FFFFFF"/>
                </a:solidFill>
                <a:latin typeface="Yu Gothic" pitchFamily="34" charset="0"/>
                <a:ea typeface="Yu Gothic" pitchFamily="34" charset="-122"/>
                <a:cs typeface="Yu Gothic" pitchFamily="34" charset="-120"/>
              </a:rPr>
              <a:t>  --color-background: #f8fafc;</a:t>
            </a:r>
            <a:endParaRPr lang="en-US" sz="1200" dirty="0"/>
          </a:p>
        </p:txBody>
      </p:sp>
      <p:sp>
        <p:nvSpPr>
          <p:cNvPr id="17" name="Text 15"/>
          <p:cNvSpPr/>
          <p:nvPr/>
        </p:nvSpPr>
        <p:spPr>
          <a:xfrm>
            <a:off x="777240" y="3877056"/>
            <a:ext cx="5029200" cy="292608"/>
          </a:xfrm>
          <a:prstGeom prst="rect">
            <a:avLst/>
          </a:prstGeom>
          <a:noFill/>
          <a:ln/>
        </p:spPr>
        <p:txBody>
          <a:bodyPr wrap="square" lIns="0" tIns="0" rIns="0" bIns="0" rtlCol="0" anchor="ctr"/>
          <a:lstStyle/>
          <a:p>
            <a:pPr indent="0" marL="0">
              <a:buNone/>
            </a:pPr>
            <a:r>
              <a:rPr lang="en-US" sz="1200" dirty="0">
                <a:solidFill>
                  <a:srgbClr val="FFFFFF"/>
                </a:solidFill>
                <a:latin typeface="Yu Gothic" pitchFamily="34" charset="0"/>
                <a:ea typeface="Yu Gothic" pitchFamily="34" charset="-122"/>
                <a:cs typeface="Yu Gothic" pitchFamily="34" charset="-120"/>
              </a:rPr>
              <a:t>  --color-accent: #0f172a;</a:t>
            </a:r>
            <a:endParaRPr lang="en-US" sz="1200" dirty="0"/>
          </a:p>
        </p:txBody>
      </p:sp>
      <p:sp>
        <p:nvSpPr>
          <p:cNvPr id="18" name="Text 16"/>
          <p:cNvSpPr/>
          <p:nvPr/>
        </p:nvSpPr>
        <p:spPr>
          <a:xfrm>
            <a:off x="777240" y="4160520"/>
            <a:ext cx="5029200" cy="292608"/>
          </a:xfrm>
          <a:prstGeom prst="rect">
            <a:avLst/>
          </a:prstGeom>
          <a:noFill/>
          <a:ln/>
        </p:spPr>
        <p:txBody>
          <a:bodyPr wrap="square" lIns="0" tIns="0" rIns="0" bIns="0" rtlCol="0" anchor="ctr"/>
          <a:lstStyle/>
          <a:p>
            <a:pPr indent="0" marL="0">
              <a:buNone/>
            </a:pPr>
            <a:r>
              <a:rPr lang="en-US" sz="1200" dirty="0">
                <a:solidFill>
                  <a:srgbClr val="FFFFFF"/>
                </a:solidFill>
                <a:latin typeface="Yu Gothic" pitchFamily="34" charset="0"/>
                <a:ea typeface="Yu Gothic" pitchFamily="34" charset="-122"/>
                <a:cs typeface="Yu Gothic" pitchFamily="34" charset="-120"/>
              </a:rPr>
              <a:t>}</a:t>
            </a:r>
            <a:endParaRPr lang="en-US" sz="1200" dirty="0"/>
          </a:p>
        </p:txBody>
      </p:sp>
      <p:sp>
        <p:nvSpPr>
          <p:cNvPr id="19" name="Text 17"/>
          <p:cNvSpPr/>
          <p:nvPr/>
        </p:nvSpPr>
        <p:spPr>
          <a:xfrm>
            <a:off x="777240" y="4443984"/>
            <a:ext cx="5029200" cy="292608"/>
          </a:xfrm>
          <a:prstGeom prst="rect">
            <a:avLst/>
          </a:prstGeom>
          <a:noFill/>
          <a:ln/>
        </p:spPr>
        <p:txBody>
          <a:bodyPr wrap="square" lIns="0" tIns="0" rIns="0" bIns="0" rtlCol="0" anchor="ctr"/>
          <a:lstStyle/>
          <a:p>
            <a:pPr indent="0" marL="0">
              <a:buNone/>
            </a:pPr>
            <a:endParaRPr lang="en-US" sz="1200" dirty="0"/>
          </a:p>
        </p:txBody>
      </p:sp>
      <p:sp>
        <p:nvSpPr>
          <p:cNvPr id="20" name="Text 18"/>
          <p:cNvSpPr/>
          <p:nvPr/>
        </p:nvSpPr>
        <p:spPr>
          <a:xfrm>
            <a:off x="777240" y="4727448"/>
            <a:ext cx="5029200" cy="292608"/>
          </a:xfrm>
          <a:prstGeom prst="rect">
            <a:avLst/>
          </a:prstGeom>
          <a:noFill/>
          <a:ln/>
        </p:spPr>
        <p:txBody>
          <a:bodyPr wrap="square" lIns="0" tIns="0" rIns="0" bIns="0" rtlCol="0" anchor="ctr"/>
          <a:lstStyle/>
          <a:p>
            <a:pPr indent="0" marL="0">
              <a:buNone/>
            </a:pPr>
            <a:r>
              <a:rPr lang="en-US" sz="1000" dirty="0">
                <a:solidFill>
                  <a:srgbClr val="94A3B8"/>
                </a:solidFill>
                <a:latin typeface="Yu Gothic" pitchFamily="34" charset="0"/>
                <a:ea typeface="Yu Gothic" pitchFamily="34" charset="-122"/>
                <a:cs typeface="Yu Gothic" pitchFamily="34" charset="-120"/>
              </a:rPr>
              <a:t>/* tailwind.config.ts */</a:t>
            </a:r>
            <a:endParaRPr lang="en-US" sz="1000" dirty="0"/>
          </a:p>
        </p:txBody>
      </p:sp>
      <p:sp>
        <p:nvSpPr>
          <p:cNvPr id="21" name="Text 19"/>
          <p:cNvSpPr/>
          <p:nvPr/>
        </p:nvSpPr>
        <p:spPr>
          <a:xfrm>
            <a:off x="777240" y="5010912"/>
            <a:ext cx="5029200" cy="292608"/>
          </a:xfrm>
          <a:prstGeom prst="rect">
            <a:avLst/>
          </a:prstGeom>
          <a:noFill/>
          <a:ln/>
        </p:spPr>
        <p:txBody>
          <a:bodyPr wrap="square" lIns="0" tIns="0" rIns="0" bIns="0" rtlCol="0" anchor="ctr"/>
          <a:lstStyle/>
          <a:p>
            <a:pPr indent="0" marL="0">
              <a:buNone/>
            </a:pPr>
            <a:r>
              <a:rPr lang="en-US" sz="1200" dirty="0">
                <a:solidFill>
                  <a:srgbClr val="FFFFFF"/>
                </a:solidFill>
                <a:latin typeface="Yu Gothic" pitchFamily="34" charset="0"/>
                <a:ea typeface="Yu Gothic" pitchFamily="34" charset="-122"/>
                <a:cs typeface="Yu Gothic" pitchFamily="34" charset="-120"/>
              </a:rPr>
              <a:t>colors: {</a:t>
            </a:r>
            <a:endParaRPr lang="en-US" sz="1200" dirty="0"/>
          </a:p>
        </p:txBody>
      </p:sp>
      <p:sp>
        <p:nvSpPr>
          <p:cNvPr id="22" name="Text 20"/>
          <p:cNvSpPr/>
          <p:nvPr/>
        </p:nvSpPr>
        <p:spPr>
          <a:xfrm>
            <a:off x="777240" y="5294376"/>
            <a:ext cx="5029200" cy="292608"/>
          </a:xfrm>
          <a:prstGeom prst="rect">
            <a:avLst/>
          </a:prstGeom>
          <a:noFill/>
          <a:ln/>
        </p:spPr>
        <p:txBody>
          <a:bodyPr wrap="square" lIns="0" tIns="0" rIns="0" bIns="0" rtlCol="0" anchor="ctr"/>
          <a:lstStyle/>
          <a:p>
            <a:pPr indent="0" marL="0">
              <a:buNone/>
            </a:pPr>
            <a:r>
              <a:rPr lang="en-US" sz="1200" b="1" dirty="0">
                <a:solidFill>
                  <a:srgbClr val="EBC528"/>
                </a:solidFill>
                <a:latin typeface="Yu Gothic" pitchFamily="34" charset="0"/>
                <a:ea typeface="Yu Gothic" pitchFamily="34" charset="-122"/>
                <a:cs typeface="Yu Gothic" pitchFamily="34" charset="-120"/>
              </a:rPr>
              <a:t>  primary: 'var(--color-primary)',</a:t>
            </a:r>
            <a:endParaRPr lang="en-US" sz="1200" dirty="0"/>
          </a:p>
        </p:txBody>
      </p:sp>
      <p:sp>
        <p:nvSpPr>
          <p:cNvPr id="23" name="Text 21"/>
          <p:cNvSpPr/>
          <p:nvPr/>
        </p:nvSpPr>
        <p:spPr>
          <a:xfrm>
            <a:off x="777240" y="5577840"/>
            <a:ext cx="5029200" cy="292608"/>
          </a:xfrm>
          <a:prstGeom prst="rect">
            <a:avLst/>
          </a:prstGeom>
          <a:noFill/>
          <a:ln/>
        </p:spPr>
        <p:txBody>
          <a:bodyPr wrap="square" lIns="0" tIns="0" rIns="0" bIns="0" rtlCol="0" anchor="ctr"/>
          <a:lstStyle/>
          <a:p>
            <a:pPr indent="0" marL="0">
              <a:buNone/>
            </a:pPr>
            <a:r>
              <a:rPr lang="en-US" sz="1200" dirty="0">
                <a:solidFill>
                  <a:srgbClr val="FFFFFF"/>
                </a:solidFill>
                <a:latin typeface="Yu Gothic" pitchFamily="34" charset="0"/>
                <a:ea typeface="Yu Gothic" pitchFamily="34" charset="-122"/>
                <a:cs typeface="Yu Gothic" pitchFamily="34" charset="-120"/>
              </a:rPr>
              <a:t>  background: 'var(--color-background)',</a:t>
            </a:r>
            <a:endParaRPr lang="en-US" sz="1200" dirty="0"/>
          </a:p>
        </p:txBody>
      </p:sp>
      <p:sp>
        <p:nvSpPr>
          <p:cNvPr id="24" name="Text 22"/>
          <p:cNvSpPr/>
          <p:nvPr/>
        </p:nvSpPr>
        <p:spPr>
          <a:xfrm>
            <a:off x="777240" y="5861304"/>
            <a:ext cx="5029200" cy="292608"/>
          </a:xfrm>
          <a:prstGeom prst="rect">
            <a:avLst/>
          </a:prstGeom>
          <a:noFill/>
          <a:ln/>
        </p:spPr>
        <p:txBody>
          <a:bodyPr wrap="square" lIns="0" tIns="0" rIns="0" bIns="0" rtlCol="0" anchor="ctr"/>
          <a:lstStyle/>
          <a:p>
            <a:pPr indent="0" marL="0">
              <a:buNone/>
            </a:pPr>
            <a:r>
              <a:rPr lang="en-US" sz="1200" dirty="0">
                <a:solidFill>
                  <a:srgbClr val="FFFFFF"/>
                </a:solidFill>
                <a:latin typeface="Yu Gothic" pitchFamily="34" charset="0"/>
                <a:ea typeface="Yu Gothic" pitchFamily="34" charset="-122"/>
                <a:cs typeface="Yu Gothic" pitchFamily="34" charset="-120"/>
              </a:rPr>
              <a:t>}</a:t>
            </a:r>
            <a:endParaRPr lang="en-US" sz="1200" dirty="0"/>
          </a:p>
        </p:txBody>
      </p:sp>
      <p:sp>
        <p:nvSpPr>
          <p:cNvPr id="25" name="Shape 23"/>
          <p:cNvSpPr/>
          <p:nvPr/>
        </p:nvSpPr>
        <p:spPr>
          <a:xfrm>
            <a:off x="6400800" y="2606040"/>
            <a:ext cx="5212080" cy="1097280"/>
          </a:xfrm>
          <a:prstGeom prst="rect">
            <a:avLst/>
          </a:prstGeom>
          <a:solidFill>
            <a:srgbClr val="F8FAFC"/>
          </a:solidFill>
          <a:ln w="6350">
            <a:solidFill>
              <a:srgbClr val="E2E8F0"/>
            </a:solidFill>
            <a:prstDash val="solid"/>
          </a:ln>
        </p:spPr>
      </p:sp>
      <p:sp>
        <p:nvSpPr>
          <p:cNvPr id="26" name="Shape 24"/>
          <p:cNvSpPr/>
          <p:nvPr/>
        </p:nvSpPr>
        <p:spPr>
          <a:xfrm>
            <a:off x="6400800" y="2606040"/>
            <a:ext cx="73152" cy="1097280"/>
          </a:xfrm>
          <a:prstGeom prst="rect">
            <a:avLst/>
          </a:prstGeom>
          <a:solidFill>
            <a:srgbClr val="EBC528"/>
          </a:solidFill>
          <a:ln/>
        </p:spPr>
      </p:sp>
      <p:sp>
        <p:nvSpPr>
          <p:cNvPr id="27" name="Text 25"/>
          <p:cNvSpPr/>
          <p:nvPr/>
        </p:nvSpPr>
        <p:spPr>
          <a:xfrm>
            <a:off x="6629400" y="2743200"/>
            <a:ext cx="4937760" cy="365760"/>
          </a:xfrm>
          <a:prstGeom prst="rect">
            <a:avLst/>
          </a:prstGeom>
          <a:noFill/>
          <a:ln/>
        </p:spPr>
        <p:txBody>
          <a:bodyPr wrap="square" lIns="0" tIns="0" rIns="0" bIns="0" rtlCol="0" anchor="ctr"/>
          <a:lstStyle/>
          <a:p>
            <a:pPr indent="0" marL="0">
              <a:buNone/>
            </a:pPr>
            <a:r>
              <a:rPr lang="en-US" sz="1400" b="1" dirty="0">
                <a:solidFill>
                  <a:srgbClr val="0F172A"/>
                </a:solidFill>
                <a:latin typeface="Yu Gothic" pitchFamily="34" charset="0"/>
                <a:ea typeface="Yu Gothic" pitchFamily="34" charset="-122"/>
                <a:cs typeface="Yu Gothic" pitchFamily="34" charset="-120"/>
              </a:rPr>
              <a:t>1 箇所変えれば全部変わる</a:t>
            </a:r>
            <a:endParaRPr lang="en-US" sz="1400" dirty="0"/>
          </a:p>
        </p:txBody>
      </p:sp>
      <p:sp>
        <p:nvSpPr>
          <p:cNvPr id="28" name="Text 26"/>
          <p:cNvSpPr/>
          <p:nvPr/>
        </p:nvSpPr>
        <p:spPr>
          <a:xfrm>
            <a:off x="6629400" y="3108960"/>
            <a:ext cx="4937760" cy="548640"/>
          </a:xfrm>
          <a:prstGeom prst="rect">
            <a:avLst/>
          </a:prstGeom>
          <a:noFill/>
          <a:ln/>
        </p:spPr>
        <p:txBody>
          <a:bodyPr wrap="square" lIns="0" tIns="0" rIns="0" bIns="0" rtlCol="0" anchor="ctr"/>
          <a:lstStyle/>
          <a:p>
            <a:pPr indent="0" marL="0">
              <a:buNone/>
            </a:pPr>
            <a:r>
              <a:rPr lang="en-US" sz="1100" dirty="0">
                <a:solidFill>
                  <a:srgbClr val="64748B"/>
                </a:solidFill>
                <a:latin typeface="Yu Gothic" pitchFamily="34" charset="0"/>
                <a:ea typeface="Yu Gothic" pitchFamily="34" charset="-122"/>
                <a:cs typeface="Yu Gothic" pitchFamily="34" charset="-120"/>
              </a:rPr>
              <a:t>CSS 変数 1 行を編集するだけで、ボタン・下線・ホバー枠線がすべて切替</a:t>
            </a:r>
            <a:endParaRPr lang="en-US" sz="1100" dirty="0"/>
          </a:p>
        </p:txBody>
      </p:sp>
      <p:sp>
        <p:nvSpPr>
          <p:cNvPr id="29" name="Shape 27"/>
          <p:cNvSpPr/>
          <p:nvPr/>
        </p:nvSpPr>
        <p:spPr>
          <a:xfrm>
            <a:off x="6400800" y="3840480"/>
            <a:ext cx="5212080" cy="1097280"/>
          </a:xfrm>
          <a:prstGeom prst="rect">
            <a:avLst/>
          </a:prstGeom>
          <a:solidFill>
            <a:srgbClr val="F8FAFC"/>
          </a:solidFill>
          <a:ln w="6350">
            <a:solidFill>
              <a:srgbClr val="E2E8F0"/>
            </a:solidFill>
            <a:prstDash val="solid"/>
          </a:ln>
        </p:spPr>
      </p:sp>
      <p:sp>
        <p:nvSpPr>
          <p:cNvPr id="30" name="Shape 28"/>
          <p:cNvSpPr/>
          <p:nvPr/>
        </p:nvSpPr>
        <p:spPr>
          <a:xfrm>
            <a:off x="6400800" y="3840480"/>
            <a:ext cx="73152" cy="1097280"/>
          </a:xfrm>
          <a:prstGeom prst="rect">
            <a:avLst/>
          </a:prstGeom>
          <a:solidFill>
            <a:srgbClr val="EBC528"/>
          </a:solidFill>
          <a:ln/>
        </p:spPr>
      </p:sp>
      <p:sp>
        <p:nvSpPr>
          <p:cNvPr id="31" name="Text 29"/>
          <p:cNvSpPr/>
          <p:nvPr/>
        </p:nvSpPr>
        <p:spPr>
          <a:xfrm>
            <a:off x="6629400" y="3977640"/>
            <a:ext cx="4937760" cy="365760"/>
          </a:xfrm>
          <a:prstGeom prst="rect">
            <a:avLst/>
          </a:prstGeom>
          <a:noFill/>
          <a:ln/>
        </p:spPr>
        <p:txBody>
          <a:bodyPr wrap="square" lIns="0" tIns="0" rIns="0" bIns="0" rtlCol="0" anchor="ctr"/>
          <a:lstStyle/>
          <a:p>
            <a:pPr indent="0" marL="0">
              <a:buNone/>
            </a:pPr>
            <a:r>
              <a:rPr lang="en-US" sz="1400" b="1" dirty="0">
                <a:solidFill>
                  <a:srgbClr val="0F172A"/>
                </a:solidFill>
                <a:latin typeface="Yu Gothic" pitchFamily="34" charset="0"/>
                <a:ea typeface="Yu Gothic" pitchFamily="34" charset="-122"/>
                <a:cs typeface="Yu Gothic" pitchFamily="34" charset="-120"/>
              </a:rPr>
              <a:t>Tailwind との橋渡し</a:t>
            </a:r>
            <a:endParaRPr lang="en-US" sz="1400" dirty="0"/>
          </a:p>
        </p:txBody>
      </p:sp>
      <p:sp>
        <p:nvSpPr>
          <p:cNvPr id="32" name="Text 30"/>
          <p:cNvSpPr/>
          <p:nvPr/>
        </p:nvSpPr>
        <p:spPr>
          <a:xfrm>
            <a:off x="6629400" y="4343400"/>
            <a:ext cx="4937760" cy="548640"/>
          </a:xfrm>
          <a:prstGeom prst="rect">
            <a:avLst/>
          </a:prstGeom>
          <a:noFill/>
          <a:ln/>
        </p:spPr>
        <p:txBody>
          <a:bodyPr wrap="square" lIns="0" tIns="0" rIns="0" bIns="0" rtlCol="0" anchor="ctr"/>
          <a:lstStyle/>
          <a:p>
            <a:pPr indent="0" marL="0">
              <a:buNone/>
            </a:pPr>
            <a:r>
              <a:rPr lang="en-US" sz="1100" dirty="0">
                <a:solidFill>
                  <a:srgbClr val="64748B"/>
                </a:solidFill>
                <a:latin typeface="Yu Gothic" pitchFamily="34" charset="0"/>
                <a:ea typeface="Yu Gothic" pitchFamily="34" charset="-122"/>
                <a:cs typeface="Yu Gothic" pitchFamily="34" charset="-120"/>
              </a:rPr>
              <a:t>bg-primary / text-accent などのユーティリティクラスが CSS 変数を参照</a:t>
            </a:r>
            <a:endParaRPr lang="en-US" sz="1100" dirty="0"/>
          </a:p>
        </p:txBody>
      </p:sp>
      <p:sp>
        <p:nvSpPr>
          <p:cNvPr id="33" name="Shape 31"/>
          <p:cNvSpPr/>
          <p:nvPr/>
        </p:nvSpPr>
        <p:spPr>
          <a:xfrm>
            <a:off x="6400800" y="5074920"/>
            <a:ext cx="5212080" cy="1097280"/>
          </a:xfrm>
          <a:prstGeom prst="rect">
            <a:avLst/>
          </a:prstGeom>
          <a:solidFill>
            <a:srgbClr val="F8FAFC"/>
          </a:solidFill>
          <a:ln w="6350">
            <a:solidFill>
              <a:srgbClr val="E2E8F0"/>
            </a:solidFill>
            <a:prstDash val="solid"/>
          </a:ln>
        </p:spPr>
      </p:sp>
      <p:sp>
        <p:nvSpPr>
          <p:cNvPr id="34" name="Shape 32"/>
          <p:cNvSpPr/>
          <p:nvPr/>
        </p:nvSpPr>
        <p:spPr>
          <a:xfrm>
            <a:off x="6400800" y="5074920"/>
            <a:ext cx="73152" cy="1097280"/>
          </a:xfrm>
          <a:prstGeom prst="rect">
            <a:avLst/>
          </a:prstGeom>
          <a:solidFill>
            <a:srgbClr val="EBC528"/>
          </a:solidFill>
          <a:ln/>
        </p:spPr>
      </p:sp>
      <p:sp>
        <p:nvSpPr>
          <p:cNvPr id="35" name="Text 33"/>
          <p:cNvSpPr/>
          <p:nvPr/>
        </p:nvSpPr>
        <p:spPr>
          <a:xfrm>
            <a:off x="6629400" y="5212080"/>
            <a:ext cx="4937760" cy="365760"/>
          </a:xfrm>
          <a:prstGeom prst="rect">
            <a:avLst/>
          </a:prstGeom>
          <a:noFill/>
          <a:ln/>
        </p:spPr>
        <p:txBody>
          <a:bodyPr wrap="square" lIns="0" tIns="0" rIns="0" bIns="0" rtlCol="0" anchor="ctr"/>
          <a:lstStyle/>
          <a:p>
            <a:pPr indent="0" marL="0">
              <a:buNone/>
            </a:pPr>
            <a:r>
              <a:rPr lang="en-US" sz="1400" b="1" dirty="0">
                <a:solidFill>
                  <a:srgbClr val="0F172A"/>
                </a:solidFill>
                <a:latin typeface="Yu Gothic" pitchFamily="34" charset="0"/>
                <a:ea typeface="Yu Gothic" pitchFamily="34" charset="-122"/>
                <a:cs typeface="Yu Gothic" pitchFamily="34" charset="-120"/>
              </a:rPr>
              <a:t>ダークモード化が容易</a:t>
            </a:r>
            <a:endParaRPr lang="en-US" sz="1400" dirty="0"/>
          </a:p>
        </p:txBody>
      </p:sp>
      <p:sp>
        <p:nvSpPr>
          <p:cNvPr id="36" name="Text 34"/>
          <p:cNvSpPr/>
          <p:nvPr/>
        </p:nvSpPr>
        <p:spPr>
          <a:xfrm>
            <a:off x="6629400" y="5577840"/>
            <a:ext cx="4937760" cy="548640"/>
          </a:xfrm>
          <a:prstGeom prst="rect">
            <a:avLst/>
          </a:prstGeom>
          <a:noFill/>
          <a:ln/>
        </p:spPr>
        <p:txBody>
          <a:bodyPr wrap="square" lIns="0" tIns="0" rIns="0" bIns="0" rtlCol="0" anchor="ctr"/>
          <a:lstStyle/>
          <a:p>
            <a:pPr indent="0" marL="0">
              <a:buNone/>
            </a:pPr>
            <a:r>
              <a:rPr lang="en-US" sz="1100" dirty="0">
                <a:solidFill>
                  <a:srgbClr val="64748B"/>
                </a:solidFill>
                <a:latin typeface="Yu Gothic" pitchFamily="34" charset="0"/>
                <a:ea typeface="Yu Gothic" pitchFamily="34" charset="-122"/>
                <a:cs typeface="Yu Gothic" pitchFamily="34" charset="-120"/>
              </a:rPr>
              <a:t>.dark セレクタで CSS 変数を上書きすれば、全要素が連動して切替</a:t>
            </a:r>
            <a:endParaRPr lang="en-US" sz="1100" dirty="0"/>
          </a:p>
        </p:txBody>
      </p:sp>
      <p:sp>
        <p:nvSpPr>
          <p:cNvPr id="37" name="Text 35"/>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Yu Gothic" pitchFamily="34" charset="0"/>
                <a:ea typeface="Yu Gothic" pitchFamily="34" charset="-122"/>
                <a:cs typeface="Yu Gothic" pitchFamily="34" charset="-120"/>
              </a:rPr>
              <a:t>株式会社ライトパス サイト構築</a:t>
            </a:r>
            <a:endParaRPr lang="en-US" sz="900" dirty="0"/>
          </a:p>
        </p:txBody>
      </p:sp>
      <p:sp>
        <p:nvSpPr>
          <p:cNvPr id="38" name="Text 36"/>
          <p:cNvSpPr/>
          <p:nvPr/>
        </p:nvSpPr>
        <p:spPr>
          <a:xfrm>
            <a:off x="10820095" y="6446520"/>
            <a:ext cx="822960" cy="274320"/>
          </a:xfrm>
          <a:prstGeom prst="rect">
            <a:avLst/>
          </a:prstGeom>
          <a:noFill/>
          <a:ln/>
        </p:spPr>
        <p:txBody>
          <a:bodyPr wrap="square" lIns="0" tIns="0" rIns="0" bIns="0" rtlCol="0" anchor="ctr"/>
          <a:lstStyle/>
          <a:p>
            <a:pPr algn="r" indent="0" marL="0">
              <a:buNone/>
            </a:pPr>
            <a:r>
              <a:rPr lang="en-US" sz="900" dirty="0">
                <a:solidFill>
                  <a:srgbClr val="64748B"/>
                </a:solidFill>
                <a:latin typeface="Yu Gothic" pitchFamily="34" charset="0"/>
                <a:ea typeface="Yu Gothic" pitchFamily="34" charset="-122"/>
                <a:cs typeface="Yu Gothic" pitchFamily="34" charset="-120"/>
              </a:rPr>
              <a:t>9 / 12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164592" cy="164592"/>
          </a:xfrm>
          <a:prstGeom prst="rect">
            <a:avLst/>
          </a:prstGeom>
          <a:solidFill>
            <a:srgbClr val="EBC528"/>
          </a:solidFill>
          <a:ln/>
        </p:spPr>
      </p:sp>
      <p:sp>
        <p:nvSpPr>
          <p:cNvPr id="3" name="Text 1"/>
          <p:cNvSpPr/>
          <p:nvPr/>
        </p:nvSpPr>
        <p:spPr>
          <a:xfrm>
            <a:off x="777240" y="365760"/>
            <a:ext cx="7315200" cy="365760"/>
          </a:xfrm>
          <a:prstGeom prst="rect">
            <a:avLst/>
          </a:prstGeom>
          <a:noFill/>
          <a:ln/>
        </p:spPr>
        <p:txBody>
          <a:bodyPr wrap="square" lIns="0" tIns="0" rIns="0" bIns="0" rtlCol="0" anchor="ctr"/>
          <a:lstStyle/>
          <a:p>
            <a:pPr indent="0" marL="0">
              <a:buNone/>
            </a:pPr>
            <a:r>
              <a:rPr lang="en-US" sz="1100" b="1" spc="400" kern="0" dirty="0">
                <a:solidFill>
                  <a:srgbClr val="64748B"/>
                </a:solidFill>
                <a:latin typeface="Yu Gothic" pitchFamily="34" charset="0"/>
                <a:ea typeface="Yu Gothic" pitchFamily="34" charset="-122"/>
                <a:cs typeface="Yu Gothic" pitchFamily="34" charset="-120"/>
              </a:rPr>
              <a:t>09  CODE</a:t>
            </a:r>
            <a:endParaRPr lang="en-US" sz="1100" dirty="0"/>
          </a:p>
        </p:txBody>
      </p:sp>
      <p:sp>
        <p:nvSpPr>
          <p:cNvPr id="4" name="Text 2"/>
          <p:cNvSpPr/>
          <p:nvPr/>
        </p:nvSpPr>
        <p:spPr>
          <a:xfrm>
            <a:off x="548640" y="713232"/>
            <a:ext cx="10972800" cy="594360"/>
          </a:xfrm>
          <a:prstGeom prst="rect">
            <a:avLst/>
          </a:prstGeom>
          <a:noFill/>
          <a:ln/>
        </p:spPr>
        <p:txBody>
          <a:bodyPr wrap="square" lIns="0" tIns="0" rIns="0" bIns="0" rtlCol="0" anchor="ctr"/>
          <a:lstStyle/>
          <a:p>
            <a:pPr indent="0" marL="0">
              <a:buNone/>
            </a:pPr>
            <a:r>
              <a:rPr lang="en-US" sz="2400" b="1" dirty="0">
                <a:solidFill>
                  <a:srgbClr val="0F172A"/>
                </a:solidFill>
                <a:latin typeface="Yu Gothic" pitchFamily="34" charset="0"/>
                <a:ea typeface="Yu Gothic" pitchFamily="34" charset="-122"/>
                <a:cs typeface="Yu Gothic" pitchFamily="34" charset="-120"/>
              </a:rPr>
              <a:t>コードの工夫 ②｜日英切替（i18n）</a:t>
            </a:r>
            <a:endParaRPr lang="en-US" sz="2400" dirty="0"/>
          </a:p>
        </p:txBody>
      </p:sp>
      <p:sp>
        <p:nvSpPr>
          <p:cNvPr id="5" name="Shape 3"/>
          <p:cNvSpPr/>
          <p:nvPr/>
        </p:nvSpPr>
        <p:spPr>
          <a:xfrm>
            <a:off x="548640" y="1417320"/>
            <a:ext cx="11064240" cy="1097280"/>
          </a:xfrm>
          <a:prstGeom prst="rect">
            <a:avLst/>
          </a:prstGeom>
          <a:solidFill>
            <a:srgbClr val="F8FAFC"/>
          </a:solidFill>
          <a:ln w="6350">
            <a:solidFill>
              <a:srgbClr val="E2E8F0"/>
            </a:solidFill>
            <a:prstDash val="solid"/>
          </a:ln>
        </p:spPr>
      </p:sp>
      <p:sp>
        <p:nvSpPr>
          <p:cNvPr id="6" name="Shape 4"/>
          <p:cNvSpPr/>
          <p:nvPr/>
        </p:nvSpPr>
        <p:spPr>
          <a:xfrm>
            <a:off x="548640" y="1417320"/>
            <a:ext cx="109728" cy="1097280"/>
          </a:xfrm>
          <a:prstGeom prst="rect">
            <a:avLst/>
          </a:prstGeom>
          <a:solidFill>
            <a:srgbClr val="EBC528"/>
          </a:solidFill>
          <a:ln/>
        </p:spPr>
      </p:sp>
      <p:sp>
        <p:nvSpPr>
          <p:cNvPr id="7" name="Text 5"/>
          <p:cNvSpPr/>
          <p:nvPr/>
        </p:nvSpPr>
        <p:spPr>
          <a:xfrm>
            <a:off x="822960" y="1508760"/>
            <a:ext cx="868680" cy="274320"/>
          </a:xfrm>
          <a:prstGeom prst="rect">
            <a:avLst/>
          </a:prstGeom>
          <a:noFill/>
          <a:ln/>
        </p:spPr>
        <p:txBody>
          <a:bodyPr wrap="square" lIns="0" tIns="0" rIns="0" bIns="0" rtlCol="0" anchor="ctr"/>
          <a:lstStyle/>
          <a:p>
            <a:pPr indent="0" marL="0">
              <a:buNone/>
            </a:pPr>
            <a:r>
              <a:rPr lang="en-US" sz="1000" b="1" spc="600" kern="0" dirty="0">
                <a:solidFill>
                  <a:srgbClr val="0F172A"/>
                </a:solidFill>
                <a:latin typeface="Yu Gothic" pitchFamily="34" charset="0"/>
                <a:ea typeface="Yu Gothic" pitchFamily="34" charset="-122"/>
                <a:cs typeface="Yu Gothic" pitchFamily="34" charset="-120"/>
              </a:rPr>
              <a:t>POINT</a:t>
            </a:r>
            <a:endParaRPr lang="en-US" sz="1000" dirty="0"/>
          </a:p>
        </p:txBody>
      </p:sp>
      <p:sp>
        <p:nvSpPr>
          <p:cNvPr id="8" name="Shape 6"/>
          <p:cNvSpPr/>
          <p:nvPr/>
        </p:nvSpPr>
        <p:spPr>
          <a:xfrm>
            <a:off x="1828800" y="1618488"/>
            <a:ext cx="164592" cy="164592"/>
          </a:xfrm>
          <a:prstGeom prst="ellipse">
            <a:avLst/>
          </a:prstGeom>
          <a:solidFill>
            <a:srgbClr val="EBC528"/>
          </a:solidFill>
          <a:ln/>
        </p:spPr>
      </p:sp>
      <p:sp>
        <p:nvSpPr>
          <p:cNvPr id="9" name="Text 7"/>
          <p:cNvSpPr/>
          <p:nvPr/>
        </p:nvSpPr>
        <p:spPr>
          <a:xfrm>
            <a:off x="2103120" y="1508760"/>
            <a:ext cx="9418320" cy="411480"/>
          </a:xfrm>
          <a:prstGeom prst="rect">
            <a:avLst/>
          </a:prstGeom>
          <a:noFill/>
          <a:ln/>
        </p:spPr>
        <p:txBody>
          <a:bodyPr wrap="square" lIns="0" tIns="0" rIns="0" bIns="0" rtlCol="0" anchor="ctr"/>
          <a:lstStyle/>
          <a:p>
            <a:pPr indent="0" marL="0">
              <a:buNone/>
            </a:pPr>
            <a:r>
              <a:rPr lang="en-US" sz="1400" b="1" dirty="0">
                <a:solidFill>
                  <a:srgbClr val="0F172A"/>
                </a:solidFill>
                <a:latin typeface="Yu Gothic" pitchFamily="34" charset="0"/>
                <a:ea typeface="Yu Gothic" pitchFamily="34" charset="-122"/>
                <a:cs typeface="Yu Gothic" pitchFamily="34" charset="-120"/>
              </a:rPr>
              <a:t>React Context + localStorage で 1 ボタン → サイト全体に即時反映</a:t>
            </a:r>
            <a:endParaRPr lang="en-US" sz="1400" dirty="0"/>
          </a:p>
        </p:txBody>
      </p:sp>
      <p:sp>
        <p:nvSpPr>
          <p:cNvPr id="10" name="Shape 8"/>
          <p:cNvSpPr/>
          <p:nvPr/>
        </p:nvSpPr>
        <p:spPr>
          <a:xfrm>
            <a:off x="1828800" y="1923288"/>
            <a:ext cx="164592" cy="164592"/>
          </a:xfrm>
          <a:prstGeom prst="ellipse">
            <a:avLst/>
          </a:prstGeom>
          <a:solidFill>
            <a:srgbClr val="EBC528"/>
          </a:solidFill>
          <a:ln/>
        </p:spPr>
      </p:sp>
      <p:sp>
        <p:nvSpPr>
          <p:cNvPr id="11" name="Text 9"/>
          <p:cNvSpPr/>
          <p:nvPr/>
        </p:nvSpPr>
        <p:spPr>
          <a:xfrm>
            <a:off x="2103120" y="1813560"/>
            <a:ext cx="9418320" cy="411480"/>
          </a:xfrm>
          <a:prstGeom prst="rect">
            <a:avLst/>
          </a:prstGeom>
          <a:noFill/>
          <a:ln/>
        </p:spPr>
        <p:txBody>
          <a:bodyPr wrap="square" lIns="0" tIns="0" rIns="0" bIns="0" rtlCol="0" anchor="ctr"/>
          <a:lstStyle/>
          <a:p>
            <a:pPr indent="0" marL="0">
              <a:buNone/>
            </a:pPr>
            <a:r>
              <a:rPr lang="en-US" sz="1400" b="1" dirty="0">
                <a:solidFill>
                  <a:srgbClr val="0F172A"/>
                </a:solidFill>
                <a:latin typeface="Yu Gothic" pitchFamily="34" charset="0"/>
                <a:ea typeface="Yu Gothic" pitchFamily="34" charset="-122"/>
                <a:cs typeface="Yu Gothic" pitchFamily="34" charset="-120"/>
              </a:rPr>
              <a:t>Localized&lt;T&gt; 型で UI 文言もデータも同じ仕組みで多言語化</a:t>
            </a:r>
            <a:endParaRPr lang="en-US" sz="1400" dirty="0"/>
          </a:p>
        </p:txBody>
      </p:sp>
      <p:sp>
        <p:nvSpPr>
          <p:cNvPr id="12" name="Shape 10"/>
          <p:cNvSpPr/>
          <p:nvPr/>
        </p:nvSpPr>
        <p:spPr>
          <a:xfrm>
            <a:off x="1828800" y="2228088"/>
            <a:ext cx="164592" cy="164592"/>
          </a:xfrm>
          <a:prstGeom prst="ellipse">
            <a:avLst/>
          </a:prstGeom>
          <a:solidFill>
            <a:srgbClr val="EBC528"/>
          </a:solidFill>
          <a:ln/>
        </p:spPr>
      </p:sp>
      <p:sp>
        <p:nvSpPr>
          <p:cNvPr id="13" name="Text 11"/>
          <p:cNvSpPr/>
          <p:nvPr/>
        </p:nvSpPr>
        <p:spPr>
          <a:xfrm>
            <a:off x="2103120" y="2118360"/>
            <a:ext cx="9418320" cy="411480"/>
          </a:xfrm>
          <a:prstGeom prst="rect">
            <a:avLst/>
          </a:prstGeom>
          <a:noFill/>
          <a:ln/>
        </p:spPr>
        <p:txBody>
          <a:bodyPr wrap="square" lIns="0" tIns="0" rIns="0" bIns="0" rtlCol="0" anchor="ctr"/>
          <a:lstStyle/>
          <a:p>
            <a:pPr indent="0" marL="0">
              <a:buNone/>
            </a:pPr>
            <a:r>
              <a:rPr lang="en-US" sz="1400" b="1" dirty="0">
                <a:solidFill>
                  <a:srgbClr val="0F172A"/>
                </a:solidFill>
                <a:latin typeface="Yu Gothic" pitchFamily="34" charset="0"/>
                <a:ea typeface="Yu Gothic" pitchFamily="34" charset="-122"/>
                <a:cs typeface="Yu Gothic" pitchFamily="34" charset="-120"/>
              </a:rPr>
              <a:t>ブラウザの言語設定を判定して初期表示を自動で切替</a:t>
            </a:r>
            <a:endParaRPr lang="en-US" sz="1400" dirty="0"/>
          </a:p>
        </p:txBody>
      </p:sp>
      <p:sp>
        <p:nvSpPr>
          <p:cNvPr id="14" name="Shape 12"/>
          <p:cNvSpPr/>
          <p:nvPr/>
        </p:nvSpPr>
        <p:spPr>
          <a:xfrm>
            <a:off x="548640" y="2697480"/>
            <a:ext cx="2651760" cy="1188720"/>
          </a:xfrm>
          <a:prstGeom prst="rect">
            <a:avLst/>
          </a:prstGeom>
          <a:solidFill>
            <a:srgbClr val="EBC528"/>
          </a:solidFill>
          <a:ln/>
        </p:spPr>
      </p:sp>
      <p:sp>
        <p:nvSpPr>
          <p:cNvPr id="15" name="Text 13"/>
          <p:cNvSpPr/>
          <p:nvPr/>
        </p:nvSpPr>
        <p:spPr>
          <a:xfrm>
            <a:off x="640080" y="2697480"/>
            <a:ext cx="2468880" cy="1188720"/>
          </a:xfrm>
          <a:prstGeom prst="rect">
            <a:avLst/>
          </a:prstGeom>
          <a:noFill/>
          <a:ln/>
        </p:spPr>
        <p:txBody>
          <a:bodyPr wrap="square" lIns="0" tIns="0" rIns="0" bIns="0" rtlCol="0" anchor="ctr"/>
          <a:lstStyle/>
          <a:p>
            <a:pPr algn="ctr" indent="0" marL="0">
              <a:buNone/>
            </a:pPr>
            <a:r>
              <a:rPr lang="en-US" sz="1300" b="1" dirty="0">
                <a:solidFill>
                  <a:srgbClr val="0F172A"/>
                </a:solidFill>
                <a:latin typeface="Yu Gothic" pitchFamily="34" charset="0"/>
                <a:ea typeface="Yu Gothic" pitchFamily="34" charset="-122"/>
                <a:cs typeface="Yu Gothic" pitchFamily="34" charset="-120"/>
              </a:rPr>
              <a:t>[JP|EN] ボタン</a:t>
            </a:r>
            <a:endParaRPr lang="en-US" sz="1300" dirty="0"/>
          </a:p>
        </p:txBody>
      </p:sp>
      <p:sp>
        <p:nvSpPr>
          <p:cNvPr id="16" name="Text 14"/>
          <p:cNvSpPr/>
          <p:nvPr/>
        </p:nvSpPr>
        <p:spPr>
          <a:xfrm>
            <a:off x="3200400" y="2926080"/>
            <a:ext cx="228600" cy="731520"/>
          </a:xfrm>
          <a:prstGeom prst="rect">
            <a:avLst/>
          </a:prstGeom>
          <a:noFill/>
          <a:ln/>
        </p:spPr>
        <p:txBody>
          <a:bodyPr wrap="square" lIns="0" tIns="0" rIns="0" bIns="0" rtlCol="0" anchor="ctr"/>
          <a:lstStyle/>
          <a:p>
            <a:pPr algn="ctr" indent="0" marL="0">
              <a:buNone/>
            </a:pPr>
            <a:r>
              <a:rPr lang="en-US" sz="2400" b="1" dirty="0">
                <a:solidFill>
                  <a:srgbClr val="0F172A"/>
                </a:solidFill>
                <a:latin typeface="Yu Gothic" pitchFamily="34" charset="0"/>
                <a:ea typeface="Yu Gothic" pitchFamily="34" charset="-122"/>
                <a:cs typeface="Yu Gothic" pitchFamily="34" charset="-120"/>
              </a:rPr>
              <a:t>&gt;</a:t>
            </a:r>
            <a:endParaRPr lang="en-US" sz="2400" dirty="0"/>
          </a:p>
        </p:txBody>
      </p:sp>
      <p:sp>
        <p:nvSpPr>
          <p:cNvPr id="17" name="Shape 15"/>
          <p:cNvSpPr/>
          <p:nvPr/>
        </p:nvSpPr>
        <p:spPr>
          <a:xfrm>
            <a:off x="3429000" y="2697480"/>
            <a:ext cx="2651760" cy="1188720"/>
          </a:xfrm>
          <a:prstGeom prst="rect">
            <a:avLst/>
          </a:prstGeom>
          <a:solidFill>
            <a:srgbClr val="F59E0B"/>
          </a:solidFill>
          <a:ln/>
        </p:spPr>
      </p:sp>
      <p:sp>
        <p:nvSpPr>
          <p:cNvPr id="18" name="Text 16"/>
          <p:cNvSpPr/>
          <p:nvPr/>
        </p:nvSpPr>
        <p:spPr>
          <a:xfrm>
            <a:off x="3520440" y="2697480"/>
            <a:ext cx="2468880" cy="1188720"/>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Provider 状態更新</a:t>
            </a:r>
            <a:endParaRPr lang="en-US" sz="1300" dirty="0"/>
          </a:p>
        </p:txBody>
      </p:sp>
      <p:sp>
        <p:nvSpPr>
          <p:cNvPr id="19" name="Text 17"/>
          <p:cNvSpPr/>
          <p:nvPr/>
        </p:nvSpPr>
        <p:spPr>
          <a:xfrm>
            <a:off x="6080760" y="2926080"/>
            <a:ext cx="228600" cy="731520"/>
          </a:xfrm>
          <a:prstGeom prst="rect">
            <a:avLst/>
          </a:prstGeom>
          <a:noFill/>
          <a:ln/>
        </p:spPr>
        <p:txBody>
          <a:bodyPr wrap="square" lIns="0" tIns="0" rIns="0" bIns="0" rtlCol="0" anchor="ctr"/>
          <a:lstStyle/>
          <a:p>
            <a:pPr algn="ctr" indent="0" marL="0">
              <a:buNone/>
            </a:pPr>
            <a:r>
              <a:rPr lang="en-US" sz="2400" b="1" dirty="0">
                <a:solidFill>
                  <a:srgbClr val="0F172A"/>
                </a:solidFill>
                <a:latin typeface="Yu Gothic" pitchFamily="34" charset="0"/>
                <a:ea typeface="Yu Gothic" pitchFamily="34" charset="-122"/>
                <a:cs typeface="Yu Gothic" pitchFamily="34" charset="-120"/>
              </a:rPr>
              <a:t>&gt;</a:t>
            </a:r>
            <a:endParaRPr lang="en-US" sz="2400" dirty="0"/>
          </a:p>
        </p:txBody>
      </p:sp>
      <p:sp>
        <p:nvSpPr>
          <p:cNvPr id="20" name="Shape 18"/>
          <p:cNvSpPr/>
          <p:nvPr/>
        </p:nvSpPr>
        <p:spPr>
          <a:xfrm>
            <a:off x="6309360" y="2697480"/>
            <a:ext cx="2651760" cy="1188720"/>
          </a:xfrm>
          <a:prstGeom prst="rect">
            <a:avLst/>
          </a:prstGeom>
          <a:solidFill>
            <a:srgbClr val="10B981"/>
          </a:solidFill>
          <a:ln/>
        </p:spPr>
      </p:sp>
      <p:sp>
        <p:nvSpPr>
          <p:cNvPr id="21" name="Text 19"/>
          <p:cNvSpPr/>
          <p:nvPr/>
        </p:nvSpPr>
        <p:spPr>
          <a:xfrm>
            <a:off x="6400800" y="2697480"/>
            <a:ext cx="2468880" cy="1188720"/>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useLanguage() が反応</a:t>
            </a:r>
            <a:endParaRPr lang="en-US" sz="1300" dirty="0"/>
          </a:p>
        </p:txBody>
      </p:sp>
      <p:sp>
        <p:nvSpPr>
          <p:cNvPr id="22" name="Text 20"/>
          <p:cNvSpPr/>
          <p:nvPr/>
        </p:nvSpPr>
        <p:spPr>
          <a:xfrm>
            <a:off x="8961120" y="2926080"/>
            <a:ext cx="228600" cy="731520"/>
          </a:xfrm>
          <a:prstGeom prst="rect">
            <a:avLst/>
          </a:prstGeom>
          <a:noFill/>
          <a:ln/>
        </p:spPr>
        <p:txBody>
          <a:bodyPr wrap="square" lIns="0" tIns="0" rIns="0" bIns="0" rtlCol="0" anchor="ctr"/>
          <a:lstStyle/>
          <a:p>
            <a:pPr algn="ctr" indent="0" marL="0">
              <a:buNone/>
            </a:pPr>
            <a:r>
              <a:rPr lang="en-US" sz="2400" b="1" dirty="0">
                <a:solidFill>
                  <a:srgbClr val="0F172A"/>
                </a:solidFill>
                <a:latin typeface="Yu Gothic" pitchFamily="34" charset="0"/>
                <a:ea typeface="Yu Gothic" pitchFamily="34" charset="-122"/>
                <a:cs typeface="Yu Gothic" pitchFamily="34" charset="-120"/>
              </a:rPr>
              <a:t>&gt;</a:t>
            </a:r>
            <a:endParaRPr lang="en-US" sz="2400" dirty="0"/>
          </a:p>
        </p:txBody>
      </p:sp>
      <p:sp>
        <p:nvSpPr>
          <p:cNvPr id="23" name="Shape 21"/>
          <p:cNvSpPr/>
          <p:nvPr/>
        </p:nvSpPr>
        <p:spPr>
          <a:xfrm>
            <a:off x="9189720" y="2697480"/>
            <a:ext cx="2651760" cy="1188720"/>
          </a:xfrm>
          <a:prstGeom prst="rect">
            <a:avLst/>
          </a:prstGeom>
          <a:solidFill>
            <a:srgbClr val="2563EB"/>
          </a:solidFill>
          <a:ln/>
        </p:spPr>
      </p:sp>
      <p:sp>
        <p:nvSpPr>
          <p:cNvPr id="24" name="Text 22"/>
          <p:cNvSpPr/>
          <p:nvPr/>
        </p:nvSpPr>
        <p:spPr>
          <a:xfrm>
            <a:off x="9281160" y="2697480"/>
            <a:ext cx="2468880" cy="1188720"/>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ラベル/文/alt 切替</a:t>
            </a:r>
            <a:endParaRPr lang="en-US" sz="1300" dirty="0"/>
          </a:p>
        </p:txBody>
      </p:sp>
      <p:sp>
        <p:nvSpPr>
          <p:cNvPr id="25" name="Shape 23"/>
          <p:cNvSpPr/>
          <p:nvPr/>
        </p:nvSpPr>
        <p:spPr>
          <a:xfrm>
            <a:off x="548640" y="4069080"/>
            <a:ext cx="5486400" cy="960120"/>
          </a:xfrm>
          <a:prstGeom prst="rect">
            <a:avLst/>
          </a:prstGeom>
          <a:solidFill>
            <a:srgbClr val="F8FAFC"/>
          </a:solidFill>
          <a:ln w="6350">
            <a:solidFill>
              <a:srgbClr val="E2E8F0"/>
            </a:solidFill>
            <a:prstDash val="solid"/>
          </a:ln>
        </p:spPr>
      </p:sp>
      <p:sp>
        <p:nvSpPr>
          <p:cNvPr id="26" name="Shape 24"/>
          <p:cNvSpPr/>
          <p:nvPr/>
        </p:nvSpPr>
        <p:spPr>
          <a:xfrm>
            <a:off x="548640" y="4069080"/>
            <a:ext cx="73152" cy="960120"/>
          </a:xfrm>
          <a:prstGeom prst="rect">
            <a:avLst/>
          </a:prstGeom>
          <a:solidFill>
            <a:srgbClr val="EBC528"/>
          </a:solidFill>
          <a:ln/>
        </p:spPr>
      </p:sp>
      <p:sp>
        <p:nvSpPr>
          <p:cNvPr id="27" name="Text 25"/>
          <p:cNvSpPr/>
          <p:nvPr/>
        </p:nvSpPr>
        <p:spPr>
          <a:xfrm>
            <a:off x="777240" y="4160520"/>
            <a:ext cx="5120640" cy="365760"/>
          </a:xfrm>
          <a:prstGeom prst="rect">
            <a:avLst/>
          </a:prstGeom>
          <a:noFill/>
          <a:ln/>
        </p:spPr>
        <p:txBody>
          <a:bodyPr wrap="square" lIns="0" tIns="0" rIns="0" bIns="0" rtlCol="0" anchor="ctr"/>
          <a:lstStyle/>
          <a:p>
            <a:pPr indent="0" marL="0">
              <a:buNone/>
            </a:pPr>
            <a:r>
              <a:rPr lang="en-US" sz="1300" b="1" dirty="0">
                <a:solidFill>
                  <a:srgbClr val="0F172A"/>
                </a:solidFill>
                <a:latin typeface="Yu Gothic" pitchFamily="34" charset="0"/>
                <a:ea typeface="Yu Gothic" pitchFamily="34" charset="-122"/>
                <a:cs typeface="Yu Gothic" pitchFamily="34" charset="-120"/>
              </a:rPr>
              <a:t>Localized&lt;T&gt; 型</a:t>
            </a:r>
            <a:endParaRPr lang="en-US" sz="1300" dirty="0"/>
          </a:p>
        </p:txBody>
      </p:sp>
      <p:sp>
        <p:nvSpPr>
          <p:cNvPr id="28" name="Text 26"/>
          <p:cNvSpPr/>
          <p:nvPr/>
        </p:nvSpPr>
        <p:spPr>
          <a:xfrm>
            <a:off x="777240" y="4526280"/>
            <a:ext cx="5120640" cy="457200"/>
          </a:xfrm>
          <a:prstGeom prst="rect">
            <a:avLst/>
          </a:prstGeom>
          <a:noFill/>
          <a:ln/>
        </p:spPr>
        <p:txBody>
          <a:bodyPr wrap="square" lIns="0" tIns="0" rIns="0" bIns="0" rtlCol="0" anchor="ctr"/>
          <a:lstStyle/>
          <a:p>
            <a:pPr indent="0" marL="0">
              <a:buNone/>
            </a:pPr>
            <a:r>
              <a:rPr lang="en-US" sz="1100" dirty="0">
                <a:solidFill>
                  <a:srgbClr val="64748B"/>
                </a:solidFill>
                <a:latin typeface="Yu Gothic" pitchFamily="34" charset="0"/>
                <a:ea typeface="Yu Gothic" pitchFamily="34" charset="-122"/>
                <a:cs typeface="Yu Gothic" pitchFamily="34" charset="-120"/>
              </a:rPr>
              <a:t>{ ja: T, en: T } を全データに適用。pick() で言語に応じて取り出し</a:t>
            </a:r>
            <a:endParaRPr lang="en-US" sz="1100" dirty="0"/>
          </a:p>
        </p:txBody>
      </p:sp>
      <p:sp>
        <p:nvSpPr>
          <p:cNvPr id="29" name="Shape 27"/>
          <p:cNvSpPr/>
          <p:nvPr/>
        </p:nvSpPr>
        <p:spPr>
          <a:xfrm>
            <a:off x="6172200" y="4069080"/>
            <a:ext cx="5486400" cy="960120"/>
          </a:xfrm>
          <a:prstGeom prst="rect">
            <a:avLst/>
          </a:prstGeom>
          <a:solidFill>
            <a:srgbClr val="F8FAFC"/>
          </a:solidFill>
          <a:ln w="6350">
            <a:solidFill>
              <a:srgbClr val="E2E8F0"/>
            </a:solidFill>
            <a:prstDash val="solid"/>
          </a:ln>
        </p:spPr>
      </p:sp>
      <p:sp>
        <p:nvSpPr>
          <p:cNvPr id="30" name="Shape 28"/>
          <p:cNvSpPr/>
          <p:nvPr/>
        </p:nvSpPr>
        <p:spPr>
          <a:xfrm>
            <a:off x="6172200" y="4069080"/>
            <a:ext cx="73152" cy="960120"/>
          </a:xfrm>
          <a:prstGeom prst="rect">
            <a:avLst/>
          </a:prstGeom>
          <a:solidFill>
            <a:srgbClr val="EBC528"/>
          </a:solidFill>
          <a:ln/>
        </p:spPr>
      </p:sp>
      <p:sp>
        <p:nvSpPr>
          <p:cNvPr id="31" name="Text 29"/>
          <p:cNvSpPr/>
          <p:nvPr/>
        </p:nvSpPr>
        <p:spPr>
          <a:xfrm>
            <a:off x="6400800" y="4160520"/>
            <a:ext cx="5120640" cy="365760"/>
          </a:xfrm>
          <a:prstGeom prst="rect">
            <a:avLst/>
          </a:prstGeom>
          <a:noFill/>
          <a:ln/>
        </p:spPr>
        <p:txBody>
          <a:bodyPr wrap="square" lIns="0" tIns="0" rIns="0" bIns="0" rtlCol="0" anchor="ctr"/>
          <a:lstStyle/>
          <a:p>
            <a:pPr indent="0" marL="0">
              <a:buNone/>
            </a:pPr>
            <a:r>
              <a:rPr lang="en-US" sz="1300" b="1" dirty="0">
                <a:solidFill>
                  <a:srgbClr val="0F172A"/>
                </a:solidFill>
                <a:latin typeface="Yu Gothic" pitchFamily="34" charset="0"/>
                <a:ea typeface="Yu Gothic" pitchFamily="34" charset="-122"/>
                <a:cs typeface="Yu Gothic" pitchFamily="34" charset="-120"/>
              </a:rPr>
              <a:t>ふりがな自動非表示</a:t>
            </a:r>
            <a:endParaRPr lang="en-US" sz="1300" dirty="0"/>
          </a:p>
        </p:txBody>
      </p:sp>
      <p:sp>
        <p:nvSpPr>
          <p:cNvPr id="32" name="Text 30"/>
          <p:cNvSpPr/>
          <p:nvPr/>
        </p:nvSpPr>
        <p:spPr>
          <a:xfrm>
            <a:off x="6400800" y="4526280"/>
            <a:ext cx="5120640" cy="457200"/>
          </a:xfrm>
          <a:prstGeom prst="rect">
            <a:avLst/>
          </a:prstGeom>
          <a:noFill/>
          <a:ln/>
        </p:spPr>
        <p:txBody>
          <a:bodyPr wrap="square" lIns="0" tIns="0" rIns="0" bIns="0" rtlCol="0" anchor="ctr"/>
          <a:lstStyle/>
          <a:p>
            <a:pPr indent="0" marL="0">
              <a:buNone/>
            </a:pPr>
            <a:r>
              <a:rPr lang="en-US" sz="1100" dirty="0">
                <a:solidFill>
                  <a:srgbClr val="64748B"/>
                </a:solidFill>
                <a:latin typeface="Yu Gothic" pitchFamily="34" charset="0"/>
                <a:ea typeface="Yu Gothic" pitchFamily="34" charset="-122"/>
                <a:cs typeface="Yu Gothic" pitchFamily="34" charset="-120"/>
              </a:rPr>
              <a:t>英語表示時はふりがな欄を自動的に非表示（英語圏には不要）</a:t>
            </a:r>
            <a:endParaRPr lang="en-US" sz="1100" dirty="0"/>
          </a:p>
        </p:txBody>
      </p:sp>
      <p:sp>
        <p:nvSpPr>
          <p:cNvPr id="33" name="Shape 31"/>
          <p:cNvSpPr/>
          <p:nvPr/>
        </p:nvSpPr>
        <p:spPr>
          <a:xfrm>
            <a:off x="548640" y="5166360"/>
            <a:ext cx="5486400" cy="960120"/>
          </a:xfrm>
          <a:prstGeom prst="rect">
            <a:avLst/>
          </a:prstGeom>
          <a:solidFill>
            <a:srgbClr val="F8FAFC"/>
          </a:solidFill>
          <a:ln w="6350">
            <a:solidFill>
              <a:srgbClr val="E2E8F0"/>
            </a:solidFill>
            <a:prstDash val="solid"/>
          </a:ln>
        </p:spPr>
      </p:sp>
      <p:sp>
        <p:nvSpPr>
          <p:cNvPr id="34" name="Shape 32"/>
          <p:cNvSpPr/>
          <p:nvPr/>
        </p:nvSpPr>
        <p:spPr>
          <a:xfrm>
            <a:off x="548640" y="5166360"/>
            <a:ext cx="73152" cy="960120"/>
          </a:xfrm>
          <a:prstGeom prst="rect">
            <a:avLst/>
          </a:prstGeom>
          <a:solidFill>
            <a:srgbClr val="EBC528"/>
          </a:solidFill>
          <a:ln/>
        </p:spPr>
      </p:sp>
      <p:sp>
        <p:nvSpPr>
          <p:cNvPr id="35" name="Text 33"/>
          <p:cNvSpPr/>
          <p:nvPr/>
        </p:nvSpPr>
        <p:spPr>
          <a:xfrm>
            <a:off x="777240" y="5257800"/>
            <a:ext cx="5120640" cy="365760"/>
          </a:xfrm>
          <a:prstGeom prst="rect">
            <a:avLst/>
          </a:prstGeom>
          <a:noFill/>
          <a:ln/>
        </p:spPr>
        <p:txBody>
          <a:bodyPr wrap="square" lIns="0" tIns="0" rIns="0" bIns="0" rtlCol="0" anchor="ctr"/>
          <a:lstStyle/>
          <a:p>
            <a:pPr indent="0" marL="0">
              <a:buNone/>
            </a:pPr>
            <a:r>
              <a:rPr lang="en-US" sz="1300" b="1" dirty="0">
                <a:solidFill>
                  <a:srgbClr val="0F172A"/>
                </a:solidFill>
                <a:latin typeface="Yu Gothic" pitchFamily="34" charset="0"/>
                <a:ea typeface="Yu Gothic" pitchFamily="34" charset="-122"/>
                <a:cs typeface="Yu Gothic" pitchFamily="34" charset="-120"/>
              </a:rPr>
              <a:t>ブラウザ自動判定</a:t>
            </a:r>
            <a:endParaRPr lang="en-US" sz="1300" dirty="0"/>
          </a:p>
        </p:txBody>
      </p:sp>
      <p:sp>
        <p:nvSpPr>
          <p:cNvPr id="36" name="Text 34"/>
          <p:cNvSpPr/>
          <p:nvPr/>
        </p:nvSpPr>
        <p:spPr>
          <a:xfrm>
            <a:off x="777240" y="5623560"/>
            <a:ext cx="5120640" cy="457200"/>
          </a:xfrm>
          <a:prstGeom prst="rect">
            <a:avLst/>
          </a:prstGeom>
          <a:noFill/>
          <a:ln/>
        </p:spPr>
        <p:txBody>
          <a:bodyPr wrap="square" lIns="0" tIns="0" rIns="0" bIns="0" rtlCol="0" anchor="ctr"/>
          <a:lstStyle/>
          <a:p>
            <a:pPr indent="0" marL="0">
              <a:buNone/>
            </a:pPr>
            <a:r>
              <a:rPr lang="en-US" sz="1100" dirty="0">
                <a:solidFill>
                  <a:srgbClr val="64748B"/>
                </a:solidFill>
                <a:latin typeface="Yu Gothic" pitchFamily="34" charset="0"/>
                <a:ea typeface="Yu Gothic" pitchFamily="34" charset="-122"/>
                <a:cs typeface="Yu Gothic" pitchFamily="34" charset="-120"/>
              </a:rPr>
              <a:t>navigator.language が en で始まれば初期表示を英語に</a:t>
            </a:r>
            <a:endParaRPr lang="en-US" sz="1100" dirty="0"/>
          </a:p>
        </p:txBody>
      </p:sp>
      <p:sp>
        <p:nvSpPr>
          <p:cNvPr id="37" name="Shape 35"/>
          <p:cNvSpPr/>
          <p:nvPr/>
        </p:nvSpPr>
        <p:spPr>
          <a:xfrm>
            <a:off x="6172200" y="5166360"/>
            <a:ext cx="5486400" cy="960120"/>
          </a:xfrm>
          <a:prstGeom prst="rect">
            <a:avLst/>
          </a:prstGeom>
          <a:solidFill>
            <a:srgbClr val="F8FAFC"/>
          </a:solidFill>
          <a:ln w="6350">
            <a:solidFill>
              <a:srgbClr val="E2E8F0"/>
            </a:solidFill>
            <a:prstDash val="solid"/>
          </a:ln>
        </p:spPr>
      </p:sp>
      <p:sp>
        <p:nvSpPr>
          <p:cNvPr id="38" name="Shape 36"/>
          <p:cNvSpPr/>
          <p:nvPr/>
        </p:nvSpPr>
        <p:spPr>
          <a:xfrm>
            <a:off x="6172200" y="5166360"/>
            <a:ext cx="73152" cy="960120"/>
          </a:xfrm>
          <a:prstGeom prst="rect">
            <a:avLst/>
          </a:prstGeom>
          <a:solidFill>
            <a:srgbClr val="EBC528"/>
          </a:solidFill>
          <a:ln/>
        </p:spPr>
      </p:sp>
      <p:sp>
        <p:nvSpPr>
          <p:cNvPr id="39" name="Text 37"/>
          <p:cNvSpPr/>
          <p:nvPr/>
        </p:nvSpPr>
        <p:spPr>
          <a:xfrm>
            <a:off x="6400800" y="5257800"/>
            <a:ext cx="5120640" cy="365760"/>
          </a:xfrm>
          <a:prstGeom prst="rect">
            <a:avLst/>
          </a:prstGeom>
          <a:noFill/>
          <a:ln/>
        </p:spPr>
        <p:txBody>
          <a:bodyPr wrap="square" lIns="0" tIns="0" rIns="0" bIns="0" rtlCol="0" anchor="ctr"/>
          <a:lstStyle/>
          <a:p>
            <a:pPr indent="0" marL="0">
              <a:buNone/>
            </a:pPr>
            <a:r>
              <a:rPr lang="en-US" sz="1300" b="1" dirty="0">
                <a:solidFill>
                  <a:srgbClr val="0F172A"/>
                </a:solidFill>
                <a:latin typeface="Yu Gothic" pitchFamily="34" charset="0"/>
                <a:ea typeface="Yu Gothic" pitchFamily="34" charset="-122"/>
                <a:cs typeface="Yu Gothic" pitchFamily="34" charset="-120"/>
              </a:rPr>
              <a:t>状態保持</a:t>
            </a:r>
            <a:endParaRPr lang="en-US" sz="1300" dirty="0"/>
          </a:p>
        </p:txBody>
      </p:sp>
      <p:sp>
        <p:nvSpPr>
          <p:cNvPr id="40" name="Text 38"/>
          <p:cNvSpPr/>
          <p:nvPr/>
        </p:nvSpPr>
        <p:spPr>
          <a:xfrm>
            <a:off x="6400800" y="5623560"/>
            <a:ext cx="5120640" cy="457200"/>
          </a:xfrm>
          <a:prstGeom prst="rect">
            <a:avLst/>
          </a:prstGeom>
          <a:noFill/>
          <a:ln/>
        </p:spPr>
        <p:txBody>
          <a:bodyPr wrap="square" lIns="0" tIns="0" rIns="0" bIns="0" rtlCol="0" anchor="ctr"/>
          <a:lstStyle/>
          <a:p>
            <a:pPr indent="0" marL="0">
              <a:buNone/>
            </a:pPr>
            <a:r>
              <a:rPr lang="en-US" sz="1100" dirty="0">
                <a:solidFill>
                  <a:srgbClr val="64748B"/>
                </a:solidFill>
                <a:latin typeface="Yu Gothic" pitchFamily="34" charset="0"/>
                <a:ea typeface="Yu Gothic" pitchFamily="34" charset="-122"/>
                <a:cs typeface="Yu Gothic" pitchFamily="34" charset="-120"/>
              </a:rPr>
              <a:t>localStorage に保存。次回訪問時も選択した言語を維持</a:t>
            </a:r>
            <a:endParaRPr lang="en-US" sz="1100" dirty="0"/>
          </a:p>
        </p:txBody>
      </p:sp>
      <p:sp>
        <p:nvSpPr>
          <p:cNvPr id="41" name="Text 39"/>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Yu Gothic" pitchFamily="34" charset="0"/>
                <a:ea typeface="Yu Gothic" pitchFamily="34" charset="-122"/>
                <a:cs typeface="Yu Gothic" pitchFamily="34" charset="-120"/>
              </a:rPr>
              <a:t>株式会社ライトパス サイト構築</a:t>
            </a:r>
            <a:endParaRPr lang="en-US" sz="900" dirty="0"/>
          </a:p>
        </p:txBody>
      </p:sp>
      <p:sp>
        <p:nvSpPr>
          <p:cNvPr id="42" name="Text 40"/>
          <p:cNvSpPr/>
          <p:nvPr/>
        </p:nvSpPr>
        <p:spPr>
          <a:xfrm>
            <a:off x="10820095" y="6446520"/>
            <a:ext cx="822960" cy="274320"/>
          </a:xfrm>
          <a:prstGeom prst="rect">
            <a:avLst/>
          </a:prstGeom>
          <a:noFill/>
          <a:ln/>
        </p:spPr>
        <p:txBody>
          <a:bodyPr wrap="square" lIns="0" tIns="0" rIns="0" bIns="0" rtlCol="0" anchor="ctr"/>
          <a:lstStyle/>
          <a:p>
            <a:pPr algn="r" indent="0" marL="0">
              <a:buNone/>
            </a:pPr>
            <a:r>
              <a:rPr lang="en-US" sz="900" dirty="0">
                <a:solidFill>
                  <a:srgbClr val="64748B"/>
                </a:solidFill>
                <a:latin typeface="Yu Gothic" pitchFamily="34" charset="0"/>
                <a:ea typeface="Yu Gothic" pitchFamily="34" charset="-122"/>
                <a:cs typeface="Yu Gothic" pitchFamily="34" charset="-120"/>
              </a:rPr>
              <a:t>10 / 12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164592" cy="164592"/>
          </a:xfrm>
          <a:prstGeom prst="rect">
            <a:avLst/>
          </a:prstGeom>
          <a:solidFill>
            <a:srgbClr val="EBC528"/>
          </a:solidFill>
          <a:ln/>
        </p:spPr>
      </p:sp>
      <p:sp>
        <p:nvSpPr>
          <p:cNvPr id="3" name="Text 1"/>
          <p:cNvSpPr/>
          <p:nvPr/>
        </p:nvSpPr>
        <p:spPr>
          <a:xfrm>
            <a:off x="777240" y="365760"/>
            <a:ext cx="7315200" cy="365760"/>
          </a:xfrm>
          <a:prstGeom prst="rect">
            <a:avLst/>
          </a:prstGeom>
          <a:noFill/>
          <a:ln/>
        </p:spPr>
        <p:txBody>
          <a:bodyPr wrap="square" lIns="0" tIns="0" rIns="0" bIns="0" rtlCol="0" anchor="ctr"/>
          <a:lstStyle/>
          <a:p>
            <a:pPr indent="0" marL="0">
              <a:buNone/>
            </a:pPr>
            <a:r>
              <a:rPr lang="en-US" sz="1100" b="1" spc="400" kern="0" dirty="0">
                <a:solidFill>
                  <a:srgbClr val="64748B"/>
                </a:solidFill>
                <a:latin typeface="Yu Gothic" pitchFamily="34" charset="0"/>
                <a:ea typeface="Yu Gothic" pitchFamily="34" charset="-122"/>
                <a:cs typeface="Yu Gothic" pitchFamily="34" charset="-120"/>
              </a:rPr>
              <a:t>10  CODE</a:t>
            </a:r>
            <a:endParaRPr lang="en-US" sz="1100" dirty="0"/>
          </a:p>
        </p:txBody>
      </p:sp>
      <p:sp>
        <p:nvSpPr>
          <p:cNvPr id="4" name="Text 2"/>
          <p:cNvSpPr/>
          <p:nvPr/>
        </p:nvSpPr>
        <p:spPr>
          <a:xfrm>
            <a:off x="548640" y="713232"/>
            <a:ext cx="10972800" cy="594360"/>
          </a:xfrm>
          <a:prstGeom prst="rect">
            <a:avLst/>
          </a:prstGeom>
          <a:noFill/>
          <a:ln/>
        </p:spPr>
        <p:txBody>
          <a:bodyPr wrap="square" lIns="0" tIns="0" rIns="0" bIns="0" rtlCol="0" anchor="ctr"/>
          <a:lstStyle/>
          <a:p>
            <a:pPr indent="0" marL="0">
              <a:buNone/>
            </a:pPr>
            <a:r>
              <a:rPr lang="en-US" sz="2400" b="1" dirty="0">
                <a:solidFill>
                  <a:srgbClr val="0F172A"/>
                </a:solidFill>
                <a:latin typeface="Yu Gothic" pitchFamily="34" charset="0"/>
                <a:ea typeface="Yu Gothic" pitchFamily="34" charset="-122"/>
                <a:cs typeface="Yu Gothic" pitchFamily="34" charset="-120"/>
              </a:rPr>
              <a:t>コードの工夫 ③｜パフォーマンス</a:t>
            </a:r>
            <a:endParaRPr lang="en-US" sz="2400" dirty="0"/>
          </a:p>
        </p:txBody>
      </p:sp>
      <p:sp>
        <p:nvSpPr>
          <p:cNvPr id="5" name="Shape 3"/>
          <p:cNvSpPr/>
          <p:nvPr/>
        </p:nvSpPr>
        <p:spPr>
          <a:xfrm>
            <a:off x="548640" y="1417320"/>
            <a:ext cx="11064240" cy="868680"/>
          </a:xfrm>
          <a:prstGeom prst="rect">
            <a:avLst/>
          </a:prstGeom>
          <a:solidFill>
            <a:srgbClr val="F8FAFC"/>
          </a:solidFill>
          <a:ln w="6350">
            <a:solidFill>
              <a:srgbClr val="E2E8F0"/>
            </a:solidFill>
            <a:prstDash val="solid"/>
          </a:ln>
        </p:spPr>
      </p:sp>
      <p:sp>
        <p:nvSpPr>
          <p:cNvPr id="6" name="Shape 4"/>
          <p:cNvSpPr/>
          <p:nvPr/>
        </p:nvSpPr>
        <p:spPr>
          <a:xfrm>
            <a:off x="548640" y="1417320"/>
            <a:ext cx="109728" cy="868680"/>
          </a:xfrm>
          <a:prstGeom prst="rect">
            <a:avLst/>
          </a:prstGeom>
          <a:solidFill>
            <a:srgbClr val="EBC528"/>
          </a:solidFill>
          <a:ln/>
        </p:spPr>
      </p:sp>
      <p:sp>
        <p:nvSpPr>
          <p:cNvPr id="7" name="Text 5"/>
          <p:cNvSpPr/>
          <p:nvPr/>
        </p:nvSpPr>
        <p:spPr>
          <a:xfrm>
            <a:off x="822960" y="1508760"/>
            <a:ext cx="868680" cy="274320"/>
          </a:xfrm>
          <a:prstGeom prst="rect">
            <a:avLst/>
          </a:prstGeom>
          <a:noFill/>
          <a:ln/>
        </p:spPr>
        <p:txBody>
          <a:bodyPr wrap="square" lIns="0" tIns="0" rIns="0" bIns="0" rtlCol="0" anchor="ctr"/>
          <a:lstStyle/>
          <a:p>
            <a:pPr indent="0" marL="0">
              <a:buNone/>
            </a:pPr>
            <a:r>
              <a:rPr lang="en-US" sz="1000" b="1" spc="600" kern="0" dirty="0">
                <a:solidFill>
                  <a:srgbClr val="0F172A"/>
                </a:solidFill>
                <a:latin typeface="Yu Gothic" pitchFamily="34" charset="0"/>
                <a:ea typeface="Yu Gothic" pitchFamily="34" charset="-122"/>
                <a:cs typeface="Yu Gothic" pitchFamily="34" charset="-120"/>
              </a:rPr>
              <a:t>POINT</a:t>
            </a:r>
            <a:endParaRPr lang="en-US" sz="1000" dirty="0"/>
          </a:p>
        </p:txBody>
      </p:sp>
      <p:sp>
        <p:nvSpPr>
          <p:cNvPr id="8" name="Shape 6"/>
          <p:cNvSpPr/>
          <p:nvPr/>
        </p:nvSpPr>
        <p:spPr>
          <a:xfrm>
            <a:off x="1828800" y="1618488"/>
            <a:ext cx="164592" cy="164592"/>
          </a:xfrm>
          <a:prstGeom prst="ellipse">
            <a:avLst/>
          </a:prstGeom>
          <a:solidFill>
            <a:srgbClr val="EBC528"/>
          </a:solidFill>
          <a:ln/>
        </p:spPr>
      </p:sp>
      <p:sp>
        <p:nvSpPr>
          <p:cNvPr id="9" name="Text 7"/>
          <p:cNvSpPr/>
          <p:nvPr/>
        </p:nvSpPr>
        <p:spPr>
          <a:xfrm>
            <a:off x="2103120" y="1508760"/>
            <a:ext cx="9418320" cy="411480"/>
          </a:xfrm>
          <a:prstGeom prst="rect">
            <a:avLst/>
          </a:prstGeom>
          <a:noFill/>
          <a:ln/>
        </p:spPr>
        <p:txBody>
          <a:bodyPr wrap="square" lIns="0" tIns="0" rIns="0" bIns="0" rtlCol="0" anchor="ctr"/>
          <a:lstStyle/>
          <a:p>
            <a:pPr indent="0" marL="0">
              <a:buNone/>
            </a:pPr>
            <a:r>
              <a:rPr lang="en-US" sz="1400" b="1" dirty="0">
                <a:solidFill>
                  <a:srgbClr val="0F172A"/>
                </a:solidFill>
                <a:latin typeface="Yu Gothic" pitchFamily="34" charset="0"/>
                <a:ea typeface="Yu Gothic" pitchFamily="34" charset="-122"/>
                <a:cs typeface="Yu Gothic" pitchFamily="34" charset="-120"/>
              </a:rPr>
              <a:t>next/image・共有 Observer・useMemo・定数化で複合的に最適化</a:t>
            </a:r>
            <a:endParaRPr lang="en-US" sz="1400" dirty="0"/>
          </a:p>
        </p:txBody>
      </p:sp>
      <p:sp>
        <p:nvSpPr>
          <p:cNvPr id="10" name="Shape 8"/>
          <p:cNvSpPr/>
          <p:nvPr/>
        </p:nvSpPr>
        <p:spPr>
          <a:xfrm>
            <a:off x="1828800" y="1961388"/>
            <a:ext cx="164592" cy="164592"/>
          </a:xfrm>
          <a:prstGeom prst="ellipse">
            <a:avLst/>
          </a:prstGeom>
          <a:solidFill>
            <a:srgbClr val="EBC528"/>
          </a:solidFill>
          <a:ln/>
        </p:spPr>
      </p:sp>
      <p:sp>
        <p:nvSpPr>
          <p:cNvPr id="11" name="Text 9"/>
          <p:cNvSpPr/>
          <p:nvPr/>
        </p:nvSpPr>
        <p:spPr>
          <a:xfrm>
            <a:off x="2103120" y="1851660"/>
            <a:ext cx="9418320" cy="411480"/>
          </a:xfrm>
          <a:prstGeom prst="rect">
            <a:avLst/>
          </a:prstGeom>
          <a:noFill/>
          <a:ln/>
        </p:spPr>
        <p:txBody>
          <a:bodyPr wrap="square" lIns="0" tIns="0" rIns="0" bIns="0" rtlCol="0" anchor="ctr"/>
          <a:lstStyle/>
          <a:p>
            <a:pPr indent="0" marL="0">
              <a:buNone/>
            </a:pPr>
            <a:r>
              <a:rPr lang="en-US" sz="1400" b="1" dirty="0">
                <a:solidFill>
                  <a:srgbClr val="0F172A"/>
                </a:solidFill>
                <a:latin typeface="Yu Gothic" pitchFamily="34" charset="0"/>
                <a:ea typeface="Yu Gothic" pitchFamily="34" charset="-122"/>
                <a:cs typeface="Yu Gothic" pitchFamily="34" charset="-120"/>
              </a:rPr>
              <a:t>体感速度（LCP）と CPU 消費の両面を改善</a:t>
            </a:r>
            <a:endParaRPr lang="en-US" sz="1400" dirty="0"/>
          </a:p>
        </p:txBody>
      </p:sp>
      <p:sp>
        <p:nvSpPr>
          <p:cNvPr id="12" name="Shape 10"/>
          <p:cNvSpPr/>
          <p:nvPr/>
        </p:nvSpPr>
        <p:spPr>
          <a:xfrm>
            <a:off x="548640" y="2697480"/>
            <a:ext cx="5486400" cy="1097280"/>
          </a:xfrm>
          <a:prstGeom prst="rect">
            <a:avLst/>
          </a:prstGeom>
          <a:solidFill>
            <a:srgbClr val="F8FAFC"/>
          </a:solidFill>
          <a:ln w="6350">
            <a:solidFill>
              <a:srgbClr val="E2E8F0"/>
            </a:solidFill>
            <a:prstDash val="solid"/>
          </a:ln>
        </p:spPr>
      </p:sp>
      <p:sp>
        <p:nvSpPr>
          <p:cNvPr id="13" name="Shape 11"/>
          <p:cNvSpPr/>
          <p:nvPr/>
        </p:nvSpPr>
        <p:spPr>
          <a:xfrm>
            <a:off x="685800" y="2862072"/>
            <a:ext cx="1005840" cy="365760"/>
          </a:xfrm>
          <a:prstGeom prst="rect">
            <a:avLst/>
          </a:prstGeom>
          <a:solidFill>
            <a:srgbClr val="0F172A"/>
          </a:solidFill>
          <a:ln/>
        </p:spPr>
      </p:sp>
      <p:sp>
        <p:nvSpPr>
          <p:cNvPr id="14" name="Text 12"/>
          <p:cNvSpPr/>
          <p:nvPr/>
        </p:nvSpPr>
        <p:spPr>
          <a:xfrm>
            <a:off x="685800" y="2862072"/>
            <a:ext cx="1005840" cy="365760"/>
          </a:xfrm>
          <a:prstGeom prst="rect">
            <a:avLst/>
          </a:prstGeom>
          <a:noFill/>
          <a:ln/>
        </p:spPr>
        <p:txBody>
          <a:bodyPr wrap="square" lIns="0" tIns="0" rIns="0" bIns="0" rtlCol="0" anchor="ctr"/>
          <a:lstStyle/>
          <a:p>
            <a:pPr algn="ctr" indent="0" marL="0">
              <a:buNone/>
            </a:pPr>
            <a:r>
              <a:rPr lang="en-US" sz="1000" b="1" dirty="0">
                <a:solidFill>
                  <a:srgbClr val="EBC528"/>
                </a:solidFill>
                <a:latin typeface="Yu Gothic" pitchFamily="34" charset="0"/>
                <a:ea typeface="Yu Gothic" pitchFamily="34" charset="-122"/>
                <a:cs typeface="Yu Gothic" pitchFamily="34" charset="-120"/>
              </a:rPr>
              <a:t>画像</a:t>
            </a:r>
            <a:endParaRPr lang="en-US" sz="1000" dirty="0"/>
          </a:p>
        </p:txBody>
      </p:sp>
      <p:sp>
        <p:nvSpPr>
          <p:cNvPr id="15" name="Text 13"/>
          <p:cNvSpPr/>
          <p:nvPr/>
        </p:nvSpPr>
        <p:spPr>
          <a:xfrm>
            <a:off x="1828800" y="2816352"/>
            <a:ext cx="3200400" cy="411480"/>
          </a:xfrm>
          <a:prstGeom prst="rect">
            <a:avLst/>
          </a:prstGeom>
          <a:noFill/>
          <a:ln/>
        </p:spPr>
        <p:txBody>
          <a:bodyPr wrap="square" lIns="0" tIns="0" rIns="0" bIns="0" rtlCol="0" anchor="ctr"/>
          <a:lstStyle/>
          <a:p>
            <a:pPr indent="0" marL="0">
              <a:buNone/>
            </a:pPr>
            <a:r>
              <a:rPr lang="en-US" sz="1300" b="1" dirty="0">
                <a:solidFill>
                  <a:srgbClr val="0F172A"/>
                </a:solidFill>
                <a:latin typeface="Yu Gothic" pitchFamily="34" charset="0"/>
                <a:ea typeface="Yu Gothic" pitchFamily="34" charset="-122"/>
                <a:cs typeface="Yu Gothic" pitchFamily="34" charset="-120"/>
              </a:rPr>
              <a:t>next/image で AVIF→WebP</a:t>
            </a:r>
            <a:endParaRPr lang="en-US" sz="1300" dirty="0"/>
          </a:p>
        </p:txBody>
      </p:sp>
      <p:sp>
        <p:nvSpPr>
          <p:cNvPr id="16" name="Shape 14"/>
          <p:cNvSpPr/>
          <p:nvPr/>
        </p:nvSpPr>
        <p:spPr>
          <a:xfrm>
            <a:off x="5029200" y="2862072"/>
            <a:ext cx="868680" cy="365760"/>
          </a:xfrm>
          <a:prstGeom prst="rect">
            <a:avLst/>
          </a:prstGeom>
          <a:solidFill>
            <a:srgbClr val="10B981"/>
          </a:solidFill>
          <a:ln/>
        </p:spPr>
      </p:sp>
      <p:sp>
        <p:nvSpPr>
          <p:cNvPr id="17" name="Text 15"/>
          <p:cNvSpPr/>
          <p:nvPr/>
        </p:nvSpPr>
        <p:spPr>
          <a:xfrm>
            <a:off x="5029200" y="2862072"/>
            <a:ext cx="86868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Yu Gothic" pitchFamily="34" charset="0"/>
                <a:ea typeface="Yu Gothic" pitchFamily="34" charset="-122"/>
                <a:cs typeface="Yu Gothic" pitchFamily="34" charset="-120"/>
              </a:rPr>
              <a:t>LCP 改善</a:t>
            </a:r>
            <a:endParaRPr lang="en-US" sz="900" dirty="0"/>
          </a:p>
        </p:txBody>
      </p:sp>
      <p:sp>
        <p:nvSpPr>
          <p:cNvPr id="18" name="Text 16"/>
          <p:cNvSpPr/>
          <p:nvPr/>
        </p:nvSpPr>
        <p:spPr>
          <a:xfrm>
            <a:off x="777240" y="3291840"/>
            <a:ext cx="5120640" cy="457200"/>
          </a:xfrm>
          <a:prstGeom prst="rect">
            <a:avLst/>
          </a:prstGeom>
          <a:noFill/>
          <a:ln/>
        </p:spPr>
        <p:txBody>
          <a:bodyPr wrap="square" lIns="0" tIns="0" rIns="0" bIns="0" rtlCol="0" anchor="ctr"/>
          <a:lstStyle/>
          <a:p>
            <a:pPr indent="0" marL="0">
              <a:buNone/>
            </a:pPr>
            <a:r>
              <a:rPr lang="en-US" sz="1100" dirty="0">
                <a:solidFill>
                  <a:srgbClr val="64748B"/>
                </a:solidFill>
                <a:latin typeface="Yu Gothic" pitchFamily="34" charset="0"/>
                <a:ea typeface="Yu Gothic" pitchFamily="34" charset="-122"/>
                <a:cs typeface="Yu Gothic" pitchFamily="34" charset="-120"/>
              </a:rPr>
              <a:t>30日キャッシュ、レスポンシブサイズ自動生成</a:t>
            </a:r>
            <a:endParaRPr lang="en-US" sz="1100" dirty="0"/>
          </a:p>
        </p:txBody>
      </p:sp>
      <p:sp>
        <p:nvSpPr>
          <p:cNvPr id="19" name="Shape 17"/>
          <p:cNvSpPr/>
          <p:nvPr/>
        </p:nvSpPr>
        <p:spPr>
          <a:xfrm>
            <a:off x="6172200" y="2697480"/>
            <a:ext cx="5486400" cy="1097280"/>
          </a:xfrm>
          <a:prstGeom prst="rect">
            <a:avLst/>
          </a:prstGeom>
          <a:solidFill>
            <a:srgbClr val="F8FAFC"/>
          </a:solidFill>
          <a:ln w="6350">
            <a:solidFill>
              <a:srgbClr val="E2E8F0"/>
            </a:solidFill>
            <a:prstDash val="solid"/>
          </a:ln>
        </p:spPr>
      </p:sp>
      <p:sp>
        <p:nvSpPr>
          <p:cNvPr id="20" name="Shape 18"/>
          <p:cNvSpPr/>
          <p:nvPr/>
        </p:nvSpPr>
        <p:spPr>
          <a:xfrm>
            <a:off x="6309360" y="2862072"/>
            <a:ext cx="1005840" cy="365760"/>
          </a:xfrm>
          <a:prstGeom prst="rect">
            <a:avLst/>
          </a:prstGeom>
          <a:solidFill>
            <a:srgbClr val="0F172A"/>
          </a:solidFill>
          <a:ln/>
        </p:spPr>
      </p:sp>
      <p:sp>
        <p:nvSpPr>
          <p:cNvPr id="21" name="Text 19"/>
          <p:cNvSpPr/>
          <p:nvPr/>
        </p:nvSpPr>
        <p:spPr>
          <a:xfrm>
            <a:off x="6309360" y="2862072"/>
            <a:ext cx="1005840" cy="365760"/>
          </a:xfrm>
          <a:prstGeom prst="rect">
            <a:avLst/>
          </a:prstGeom>
          <a:noFill/>
          <a:ln/>
        </p:spPr>
        <p:txBody>
          <a:bodyPr wrap="square" lIns="0" tIns="0" rIns="0" bIns="0" rtlCol="0" anchor="ctr"/>
          <a:lstStyle/>
          <a:p>
            <a:pPr algn="ctr" indent="0" marL="0">
              <a:buNone/>
            </a:pPr>
            <a:r>
              <a:rPr lang="en-US" sz="1000" b="1" dirty="0">
                <a:solidFill>
                  <a:srgbClr val="EBC528"/>
                </a:solidFill>
                <a:latin typeface="Yu Gothic" pitchFamily="34" charset="0"/>
                <a:ea typeface="Yu Gothic" pitchFamily="34" charset="-122"/>
                <a:cs typeface="Yu Gothic" pitchFamily="34" charset="-120"/>
              </a:rPr>
              <a:t>Observer</a:t>
            </a:r>
            <a:endParaRPr lang="en-US" sz="1000" dirty="0"/>
          </a:p>
        </p:txBody>
      </p:sp>
      <p:sp>
        <p:nvSpPr>
          <p:cNvPr id="22" name="Text 20"/>
          <p:cNvSpPr/>
          <p:nvPr/>
        </p:nvSpPr>
        <p:spPr>
          <a:xfrm>
            <a:off x="7452360" y="2816352"/>
            <a:ext cx="3200400" cy="411480"/>
          </a:xfrm>
          <a:prstGeom prst="rect">
            <a:avLst/>
          </a:prstGeom>
          <a:noFill/>
          <a:ln/>
        </p:spPr>
        <p:txBody>
          <a:bodyPr wrap="square" lIns="0" tIns="0" rIns="0" bIns="0" rtlCol="0" anchor="ctr"/>
          <a:lstStyle/>
          <a:p>
            <a:pPr indent="0" marL="0">
              <a:buNone/>
            </a:pPr>
            <a:r>
              <a:rPr lang="en-US" sz="1300" b="1" dirty="0">
                <a:solidFill>
                  <a:srgbClr val="0F172A"/>
                </a:solidFill>
                <a:latin typeface="Yu Gothic" pitchFamily="34" charset="0"/>
                <a:ea typeface="Yu Gothic" pitchFamily="34" charset="-122"/>
                <a:cs typeface="Yu Gothic" pitchFamily="34" charset="-120"/>
              </a:rPr>
              <a:t>Reveal の共有 Observer 化</a:t>
            </a:r>
            <a:endParaRPr lang="en-US" sz="1300" dirty="0"/>
          </a:p>
        </p:txBody>
      </p:sp>
      <p:sp>
        <p:nvSpPr>
          <p:cNvPr id="23" name="Shape 21"/>
          <p:cNvSpPr/>
          <p:nvPr/>
        </p:nvSpPr>
        <p:spPr>
          <a:xfrm>
            <a:off x="10652760" y="2862072"/>
            <a:ext cx="868680" cy="365760"/>
          </a:xfrm>
          <a:prstGeom prst="rect">
            <a:avLst/>
          </a:prstGeom>
          <a:solidFill>
            <a:srgbClr val="10B981"/>
          </a:solidFill>
          <a:ln/>
        </p:spPr>
      </p:sp>
      <p:sp>
        <p:nvSpPr>
          <p:cNvPr id="24" name="Text 22"/>
          <p:cNvSpPr/>
          <p:nvPr/>
        </p:nvSpPr>
        <p:spPr>
          <a:xfrm>
            <a:off x="10652760" y="2862072"/>
            <a:ext cx="86868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Yu Gothic" pitchFamily="34" charset="0"/>
                <a:ea typeface="Yu Gothic" pitchFamily="34" charset="-122"/>
                <a:cs typeface="Yu Gothic" pitchFamily="34" charset="-120"/>
              </a:rPr>
              <a:t>JS 軽量化</a:t>
            </a:r>
            <a:endParaRPr lang="en-US" sz="900" dirty="0"/>
          </a:p>
        </p:txBody>
      </p:sp>
      <p:sp>
        <p:nvSpPr>
          <p:cNvPr id="25" name="Text 23"/>
          <p:cNvSpPr/>
          <p:nvPr/>
        </p:nvSpPr>
        <p:spPr>
          <a:xfrm>
            <a:off x="6400800" y="3291840"/>
            <a:ext cx="5120640" cy="457200"/>
          </a:xfrm>
          <a:prstGeom prst="rect">
            <a:avLst/>
          </a:prstGeom>
          <a:noFill/>
          <a:ln/>
        </p:spPr>
        <p:txBody>
          <a:bodyPr wrap="square" lIns="0" tIns="0" rIns="0" bIns="0" rtlCol="0" anchor="ctr"/>
          <a:lstStyle/>
          <a:p>
            <a:pPr indent="0" marL="0">
              <a:buNone/>
            </a:pPr>
            <a:r>
              <a:rPr lang="en-US" sz="1100" dirty="0">
                <a:solidFill>
                  <a:srgbClr val="64748B"/>
                </a:solidFill>
                <a:latin typeface="Yu Gothic" pitchFamily="34" charset="0"/>
                <a:ea typeface="Yu Gothic" pitchFamily="34" charset="-122"/>
                <a:cs typeface="Yu Gothic" pitchFamily="34" charset="-120"/>
              </a:rPr>
              <a:t>20個 → 1個に集約してメモリ/CPU 削減</a:t>
            </a:r>
            <a:endParaRPr lang="en-US" sz="1100" dirty="0"/>
          </a:p>
        </p:txBody>
      </p:sp>
      <p:sp>
        <p:nvSpPr>
          <p:cNvPr id="26" name="Shape 24"/>
          <p:cNvSpPr/>
          <p:nvPr/>
        </p:nvSpPr>
        <p:spPr>
          <a:xfrm>
            <a:off x="548640" y="3886200"/>
            <a:ext cx="5486400" cy="1097280"/>
          </a:xfrm>
          <a:prstGeom prst="rect">
            <a:avLst/>
          </a:prstGeom>
          <a:solidFill>
            <a:srgbClr val="F8FAFC"/>
          </a:solidFill>
          <a:ln w="6350">
            <a:solidFill>
              <a:srgbClr val="E2E8F0"/>
            </a:solidFill>
            <a:prstDash val="solid"/>
          </a:ln>
        </p:spPr>
      </p:sp>
      <p:sp>
        <p:nvSpPr>
          <p:cNvPr id="27" name="Shape 25"/>
          <p:cNvSpPr/>
          <p:nvPr/>
        </p:nvSpPr>
        <p:spPr>
          <a:xfrm>
            <a:off x="685800" y="4050792"/>
            <a:ext cx="1005840" cy="365760"/>
          </a:xfrm>
          <a:prstGeom prst="rect">
            <a:avLst/>
          </a:prstGeom>
          <a:solidFill>
            <a:srgbClr val="0F172A"/>
          </a:solidFill>
          <a:ln/>
        </p:spPr>
      </p:sp>
      <p:sp>
        <p:nvSpPr>
          <p:cNvPr id="28" name="Text 26"/>
          <p:cNvSpPr/>
          <p:nvPr/>
        </p:nvSpPr>
        <p:spPr>
          <a:xfrm>
            <a:off x="685800" y="4050792"/>
            <a:ext cx="1005840" cy="365760"/>
          </a:xfrm>
          <a:prstGeom prst="rect">
            <a:avLst/>
          </a:prstGeom>
          <a:noFill/>
          <a:ln/>
        </p:spPr>
        <p:txBody>
          <a:bodyPr wrap="square" lIns="0" tIns="0" rIns="0" bIns="0" rtlCol="0" anchor="ctr"/>
          <a:lstStyle/>
          <a:p>
            <a:pPr algn="ctr" indent="0" marL="0">
              <a:buNone/>
            </a:pPr>
            <a:r>
              <a:rPr lang="en-US" sz="1000" b="1" dirty="0">
                <a:solidFill>
                  <a:srgbClr val="EBC528"/>
                </a:solidFill>
                <a:latin typeface="Yu Gothic" pitchFamily="34" charset="0"/>
                <a:ea typeface="Yu Gothic" pitchFamily="34" charset="-122"/>
                <a:cs typeface="Yu Gothic" pitchFamily="34" charset="-120"/>
              </a:rPr>
              <a:t>Reveal</a:t>
            </a:r>
            <a:endParaRPr lang="en-US" sz="1000" dirty="0"/>
          </a:p>
        </p:txBody>
      </p:sp>
      <p:sp>
        <p:nvSpPr>
          <p:cNvPr id="29" name="Text 27"/>
          <p:cNvSpPr/>
          <p:nvPr/>
        </p:nvSpPr>
        <p:spPr>
          <a:xfrm>
            <a:off x="1828800" y="4005072"/>
            <a:ext cx="3200400" cy="411480"/>
          </a:xfrm>
          <a:prstGeom prst="rect">
            <a:avLst/>
          </a:prstGeom>
          <a:noFill/>
          <a:ln/>
        </p:spPr>
        <p:txBody>
          <a:bodyPr wrap="square" lIns="0" tIns="0" rIns="0" bIns="0" rtlCol="0" anchor="ctr"/>
          <a:lstStyle/>
          <a:p>
            <a:pPr indent="0" marL="0">
              <a:buNone/>
            </a:pPr>
            <a:r>
              <a:rPr lang="en-US" sz="1300" b="1" dirty="0">
                <a:solidFill>
                  <a:srgbClr val="0F172A"/>
                </a:solidFill>
                <a:latin typeface="Yu Gothic" pitchFamily="34" charset="0"/>
                <a:ea typeface="Yu Gothic" pitchFamily="34" charset="-122"/>
                <a:cs typeface="Yu Gothic" pitchFamily="34" charset="-120"/>
              </a:rPr>
              <a:t>安全網タイマー 3秒→1.5秒</a:t>
            </a:r>
            <a:endParaRPr lang="en-US" sz="1300" dirty="0"/>
          </a:p>
        </p:txBody>
      </p:sp>
      <p:sp>
        <p:nvSpPr>
          <p:cNvPr id="30" name="Shape 28"/>
          <p:cNvSpPr/>
          <p:nvPr/>
        </p:nvSpPr>
        <p:spPr>
          <a:xfrm>
            <a:off x="5029200" y="4050792"/>
            <a:ext cx="868680" cy="365760"/>
          </a:xfrm>
          <a:prstGeom prst="rect">
            <a:avLst/>
          </a:prstGeom>
          <a:solidFill>
            <a:srgbClr val="10B981"/>
          </a:solidFill>
          <a:ln/>
        </p:spPr>
      </p:sp>
      <p:sp>
        <p:nvSpPr>
          <p:cNvPr id="31" name="Text 29"/>
          <p:cNvSpPr/>
          <p:nvPr/>
        </p:nvSpPr>
        <p:spPr>
          <a:xfrm>
            <a:off x="5029200" y="4050792"/>
            <a:ext cx="86868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Yu Gothic" pitchFamily="34" charset="0"/>
                <a:ea typeface="Yu Gothic" pitchFamily="34" charset="-122"/>
                <a:cs typeface="Yu Gothic" pitchFamily="34" charset="-120"/>
              </a:rPr>
              <a:t>UX 改善</a:t>
            </a:r>
            <a:endParaRPr lang="en-US" sz="900" dirty="0"/>
          </a:p>
        </p:txBody>
      </p:sp>
      <p:sp>
        <p:nvSpPr>
          <p:cNvPr id="32" name="Text 30"/>
          <p:cNvSpPr/>
          <p:nvPr/>
        </p:nvSpPr>
        <p:spPr>
          <a:xfrm>
            <a:off x="777240" y="4480560"/>
            <a:ext cx="5120640" cy="457200"/>
          </a:xfrm>
          <a:prstGeom prst="rect">
            <a:avLst/>
          </a:prstGeom>
          <a:noFill/>
          <a:ln/>
        </p:spPr>
        <p:txBody>
          <a:bodyPr wrap="square" lIns="0" tIns="0" rIns="0" bIns="0" rtlCol="0" anchor="ctr"/>
          <a:lstStyle/>
          <a:p>
            <a:pPr indent="0" marL="0">
              <a:buNone/>
            </a:pPr>
            <a:r>
              <a:rPr lang="en-US" sz="1100" dirty="0">
                <a:solidFill>
                  <a:srgbClr val="64748B"/>
                </a:solidFill>
                <a:latin typeface="Yu Gothic" pitchFamily="34" charset="0"/>
                <a:ea typeface="Yu Gothic" pitchFamily="34" charset="-122"/>
                <a:cs typeface="Yu Gothic" pitchFamily="34" charset="-120"/>
              </a:rPr>
              <a:t>表示遅延の最大時間を半減</a:t>
            </a:r>
            <a:endParaRPr lang="en-US" sz="1100" dirty="0"/>
          </a:p>
        </p:txBody>
      </p:sp>
      <p:sp>
        <p:nvSpPr>
          <p:cNvPr id="33" name="Shape 31"/>
          <p:cNvSpPr/>
          <p:nvPr/>
        </p:nvSpPr>
        <p:spPr>
          <a:xfrm>
            <a:off x="6172200" y="3886200"/>
            <a:ext cx="5486400" cy="1097280"/>
          </a:xfrm>
          <a:prstGeom prst="rect">
            <a:avLst/>
          </a:prstGeom>
          <a:solidFill>
            <a:srgbClr val="F8FAFC"/>
          </a:solidFill>
          <a:ln w="6350">
            <a:solidFill>
              <a:srgbClr val="E2E8F0"/>
            </a:solidFill>
            <a:prstDash val="solid"/>
          </a:ln>
        </p:spPr>
      </p:sp>
      <p:sp>
        <p:nvSpPr>
          <p:cNvPr id="34" name="Shape 32"/>
          <p:cNvSpPr/>
          <p:nvPr/>
        </p:nvSpPr>
        <p:spPr>
          <a:xfrm>
            <a:off x="6309360" y="4050792"/>
            <a:ext cx="1005840" cy="365760"/>
          </a:xfrm>
          <a:prstGeom prst="rect">
            <a:avLst/>
          </a:prstGeom>
          <a:solidFill>
            <a:srgbClr val="0F172A"/>
          </a:solidFill>
          <a:ln/>
        </p:spPr>
      </p:sp>
      <p:sp>
        <p:nvSpPr>
          <p:cNvPr id="35" name="Text 33"/>
          <p:cNvSpPr/>
          <p:nvPr/>
        </p:nvSpPr>
        <p:spPr>
          <a:xfrm>
            <a:off x="6309360" y="4050792"/>
            <a:ext cx="1005840" cy="365760"/>
          </a:xfrm>
          <a:prstGeom prst="rect">
            <a:avLst/>
          </a:prstGeom>
          <a:noFill/>
          <a:ln/>
        </p:spPr>
        <p:txBody>
          <a:bodyPr wrap="square" lIns="0" tIns="0" rIns="0" bIns="0" rtlCol="0" anchor="ctr"/>
          <a:lstStyle/>
          <a:p>
            <a:pPr algn="ctr" indent="0" marL="0">
              <a:buNone/>
            </a:pPr>
            <a:r>
              <a:rPr lang="en-US" sz="1000" b="1" dirty="0">
                <a:solidFill>
                  <a:srgbClr val="EBC528"/>
                </a:solidFill>
                <a:latin typeface="Yu Gothic" pitchFamily="34" charset="0"/>
                <a:ea typeface="Yu Gothic" pitchFamily="34" charset="-122"/>
                <a:cs typeface="Yu Gothic" pitchFamily="34" charset="-120"/>
              </a:rPr>
              <a:t>再描画</a:t>
            </a:r>
            <a:endParaRPr lang="en-US" sz="1000" dirty="0"/>
          </a:p>
        </p:txBody>
      </p:sp>
      <p:sp>
        <p:nvSpPr>
          <p:cNvPr id="36" name="Text 34"/>
          <p:cNvSpPr/>
          <p:nvPr/>
        </p:nvSpPr>
        <p:spPr>
          <a:xfrm>
            <a:off x="7452360" y="4005072"/>
            <a:ext cx="3200400" cy="411480"/>
          </a:xfrm>
          <a:prstGeom prst="rect">
            <a:avLst/>
          </a:prstGeom>
          <a:noFill/>
          <a:ln/>
        </p:spPr>
        <p:txBody>
          <a:bodyPr wrap="square" lIns="0" tIns="0" rIns="0" bIns="0" rtlCol="0" anchor="ctr"/>
          <a:lstStyle/>
          <a:p>
            <a:pPr indent="0" marL="0">
              <a:buNone/>
            </a:pPr>
            <a:r>
              <a:rPr lang="en-US" sz="1300" b="1" dirty="0">
                <a:solidFill>
                  <a:srgbClr val="0F172A"/>
                </a:solidFill>
                <a:latin typeface="Yu Gothic" pitchFamily="34" charset="0"/>
                <a:ea typeface="Yu Gothic" pitchFamily="34" charset="-122"/>
                <a:cs typeface="Yu Gothic" pitchFamily="34" charset="-120"/>
              </a:rPr>
              <a:t>navItems 等を定数化</a:t>
            </a:r>
            <a:endParaRPr lang="en-US" sz="1300" dirty="0"/>
          </a:p>
        </p:txBody>
      </p:sp>
      <p:sp>
        <p:nvSpPr>
          <p:cNvPr id="37" name="Shape 35"/>
          <p:cNvSpPr/>
          <p:nvPr/>
        </p:nvSpPr>
        <p:spPr>
          <a:xfrm>
            <a:off x="10652760" y="4050792"/>
            <a:ext cx="868680" cy="365760"/>
          </a:xfrm>
          <a:prstGeom prst="rect">
            <a:avLst/>
          </a:prstGeom>
          <a:solidFill>
            <a:srgbClr val="10B981"/>
          </a:solidFill>
          <a:ln/>
        </p:spPr>
      </p:sp>
      <p:sp>
        <p:nvSpPr>
          <p:cNvPr id="38" name="Text 36"/>
          <p:cNvSpPr/>
          <p:nvPr/>
        </p:nvSpPr>
        <p:spPr>
          <a:xfrm>
            <a:off x="10652760" y="4050792"/>
            <a:ext cx="86868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Yu Gothic" pitchFamily="34" charset="0"/>
                <a:ea typeface="Yu Gothic" pitchFamily="34" charset="-122"/>
                <a:cs typeface="Yu Gothic" pitchFamily="34" charset="-120"/>
              </a:rPr>
              <a:t>再レンダ抑止</a:t>
            </a:r>
            <a:endParaRPr lang="en-US" sz="900" dirty="0"/>
          </a:p>
        </p:txBody>
      </p:sp>
      <p:sp>
        <p:nvSpPr>
          <p:cNvPr id="39" name="Text 37"/>
          <p:cNvSpPr/>
          <p:nvPr/>
        </p:nvSpPr>
        <p:spPr>
          <a:xfrm>
            <a:off x="6400800" y="4480560"/>
            <a:ext cx="5120640" cy="457200"/>
          </a:xfrm>
          <a:prstGeom prst="rect">
            <a:avLst/>
          </a:prstGeom>
          <a:noFill/>
          <a:ln/>
        </p:spPr>
        <p:txBody>
          <a:bodyPr wrap="square" lIns="0" tIns="0" rIns="0" bIns="0" rtlCol="0" anchor="ctr"/>
          <a:lstStyle/>
          <a:p>
            <a:pPr indent="0" marL="0">
              <a:buNone/>
            </a:pPr>
            <a:r>
              <a:rPr lang="en-US" sz="1100" dirty="0">
                <a:solidFill>
                  <a:srgbClr val="64748B"/>
                </a:solidFill>
                <a:latin typeface="Yu Gothic" pitchFamily="34" charset="0"/>
                <a:ea typeface="Yu Gothic" pitchFamily="34" charset="-122"/>
                <a:cs typeface="Yu Gothic" pitchFamily="34" charset="-120"/>
              </a:rPr>
              <a:t>毎レンダーで配列を再生成しない</a:t>
            </a:r>
            <a:endParaRPr lang="en-US" sz="1100" dirty="0"/>
          </a:p>
        </p:txBody>
      </p:sp>
      <p:sp>
        <p:nvSpPr>
          <p:cNvPr id="40" name="Shape 38"/>
          <p:cNvSpPr/>
          <p:nvPr/>
        </p:nvSpPr>
        <p:spPr>
          <a:xfrm>
            <a:off x="548640" y="5074920"/>
            <a:ext cx="5486400" cy="1097280"/>
          </a:xfrm>
          <a:prstGeom prst="rect">
            <a:avLst/>
          </a:prstGeom>
          <a:solidFill>
            <a:srgbClr val="F8FAFC"/>
          </a:solidFill>
          <a:ln w="6350">
            <a:solidFill>
              <a:srgbClr val="E2E8F0"/>
            </a:solidFill>
            <a:prstDash val="solid"/>
          </a:ln>
        </p:spPr>
      </p:sp>
      <p:sp>
        <p:nvSpPr>
          <p:cNvPr id="41" name="Shape 39"/>
          <p:cNvSpPr/>
          <p:nvPr/>
        </p:nvSpPr>
        <p:spPr>
          <a:xfrm>
            <a:off x="685800" y="5239512"/>
            <a:ext cx="1005840" cy="365760"/>
          </a:xfrm>
          <a:prstGeom prst="rect">
            <a:avLst/>
          </a:prstGeom>
          <a:solidFill>
            <a:srgbClr val="0F172A"/>
          </a:solidFill>
          <a:ln/>
        </p:spPr>
      </p:sp>
      <p:sp>
        <p:nvSpPr>
          <p:cNvPr id="42" name="Text 40"/>
          <p:cNvSpPr/>
          <p:nvPr/>
        </p:nvSpPr>
        <p:spPr>
          <a:xfrm>
            <a:off x="685800" y="5239512"/>
            <a:ext cx="1005840" cy="365760"/>
          </a:xfrm>
          <a:prstGeom prst="rect">
            <a:avLst/>
          </a:prstGeom>
          <a:noFill/>
          <a:ln/>
        </p:spPr>
        <p:txBody>
          <a:bodyPr wrap="square" lIns="0" tIns="0" rIns="0" bIns="0" rtlCol="0" anchor="ctr"/>
          <a:lstStyle/>
          <a:p>
            <a:pPr algn="ctr" indent="0" marL="0">
              <a:buNone/>
            </a:pPr>
            <a:r>
              <a:rPr lang="en-US" sz="1000" b="1" dirty="0">
                <a:solidFill>
                  <a:srgbClr val="EBC528"/>
                </a:solidFill>
                <a:latin typeface="Yu Gothic" pitchFamily="34" charset="0"/>
                <a:ea typeface="Yu Gothic" pitchFamily="34" charset="-122"/>
                <a:cs typeface="Yu Gothic" pitchFamily="34" charset="-120"/>
              </a:rPr>
              <a:t>API</a:t>
            </a:r>
            <a:endParaRPr lang="en-US" sz="1000" dirty="0"/>
          </a:p>
        </p:txBody>
      </p:sp>
      <p:sp>
        <p:nvSpPr>
          <p:cNvPr id="43" name="Text 41"/>
          <p:cNvSpPr/>
          <p:nvPr/>
        </p:nvSpPr>
        <p:spPr>
          <a:xfrm>
            <a:off x="1828800" y="5193792"/>
            <a:ext cx="3200400" cy="411480"/>
          </a:xfrm>
          <a:prstGeom prst="rect">
            <a:avLst/>
          </a:prstGeom>
          <a:noFill/>
          <a:ln/>
        </p:spPr>
        <p:txBody>
          <a:bodyPr wrap="square" lIns="0" tIns="0" rIns="0" bIns="0" rtlCol="0" anchor="ctr"/>
          <a:lstStyle/>
          <a:p>
            <a:pPr indent="0" marL="0">
              <a:buNone/>
            </a:pPr>
            <a:r>
              <a:rPr lang="en-US" sz="1300" b="1" dirty="0">
                <a:solidFill>
                  <a:srgbClr val="0F172A"/>
                </a:solidFill>
                <a:latin typeface="Yu Gothic" pitchFamily="34" charset="0"/>
                <a:ea typeface="Yu Gothic" pitchFamily="34" charset="-122"/>
                <a:cs typeface="Yu Gothic" pitchFamily="34" charset="-120"/>
              </a:rPr>
              <a:t>DNS prefetch + preconnect</a:t>
            </a:r>
            <a:endParaRPr lang="en-US" sz="1300" dirty="0"/>
          </a:p>
        </p:txBody>
      </p:sp>
      <p:sp>
        <p:nvSpPr>
          <p:cNvPr id="44" name="Shape 42"/>
          <p:cNvSpPr/>
          <p:nvPr/>
        </p:nvSpPr>
        <p:spPr>
          <a:xfrm>
            <a:off x="5029200" y="5239512"/>
            <a:ext cx="868680" cy="365760"/>
          </a:xfrm>
          <a:prstGeom prst="rect">
            <a:avLst/>
          </a:prstGeom>
          <a:solidFill>
            <a:srgbClr val="10B981"/>
          </a:solidFill>
          <a:ln/>
        </p:spPr>
      </p:sp>
      <p:sp>
        <p:nvSpPr>
          <p:cNvPr id="45" name="Text 43"/>
          <p:cNvSpPr/>
          <p:nvPr/>
        </p:nvSpPr>
        <p:spPr>
          <a:xfrm>
            <a:off x="5029200" y="5239512"/>
            <a:ext cx="86868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Yu Gothic" pitchFamily="34" charset="0"/>
                <a:ea typeface="Yu Gothic" pitchFamily="34" charset="-122"/>
                <a:cs typeface="Yu Gothic" pitchFamily="34" charset="-120"/>
              </a:rPr>
              <a:t>通信短縮</a:t>
            </a:r>
            <a:endParaRPr lang="en-US" sz="900" dirty="0"/>
          </a:p>
        </p:txBody>
      </p:sp>
      <p:sp>
        <p:nvSpPr>
          <p:cNvPr id="46" name="Text 44"/>
          <p:cNvSpPr/>
          <p:nvPr/>
        </p:nvSpPr>
        <p:spPr>
          <a:xfrm>
            <a:off x="777240" y="5669280"/>
            <a:ext cx="5120640" cy="457200"/>
          </a:xfrm>
          <a:prstGeom prst="rect">
            <a:avLst/>
          </a:prstGeom>
          <a:noFill/>
          <a:ln/>
        </p:spPr>
        <p:txBody>
          <a:bodyPr wrap="square" lIns="0" tIns="0" rIns="0" bIns="0" rtlCol="0" anchor="ctr"/>
          <a:lstStyle/>
          <a:p>
            <a:pPr indent="0" marL="0">
              <a:buNone/>
            </a:pPr>
            <a:r>
              <a:rPr lang="en-US" sz="1100" dirty="0">
                <a:solidFill>
                  <a:srgbClr val="64748B"/>
                </a:solidFill>
                <a:latin typeface="Yu Gothic" pitchFamily="34" charset="0"/>
                <a:ea typeface="Yu Gothic" pitchFamily="34" charset="-122"/>
                <a:cs typeface="Yu Gothic" pitchFamily="34" charset="-120"/>
              </a:rPr>
              <a:t>zipcloud / Maps への接続を早期化</a:t>
            </a:r>
            <a:endParaRPr lang="en-US" sz="1100" dirty="0"/>
          </a:p>
        </p:txBody>
      </p:sp>
      <p:sp>
        <p:nvSpPr>
          <p:cNvPr id="47" name="Shape 45"/>
          <p:cNvSpPr/>
          <p:nvPr/>
        </p:nvSpPr>
        <p:spPr>
          <a:xfrm>
            <a:off x="6172200" y="5074920"/>
            <a:ext cx="5486400" cy="1097280"/>
          </a:xfrm>
          <a:prstGeom prst="rect">
            <a:avLst/>
          </a:prstGeom>
          <a:solidFill>
            <a:srgbClr val="F8FAFC"/>
          </a:solidFill>
          <a:ln w="6350">
            <a:solidFill>
              <a:srgbClr val="E2E8F0"/>
            </a:solidFill>
            <a:prstDash val="solid"/>
          </a:ln>
        </p:spPr>
      </p:sp>
      <p:sp>
        <p:nvSpPr>
          <p:cNvPr id="48" name="Shape 46"/>
          <p:cNvSpPr/>
          <p:nvPr/>
        </p:nvSpPr>
        <p:spPr>
          <a:xfrm>
            <a:off x="6309360" y="5239512"/>
            <a:ext cx="1005840" cy="365760"/>
          </a:xfrm>
          <a:prstGeom prst="rect">
            <a:avLst/>
          </a:prstGeom>
          <a:solidFill>
            <a:srgbClr val="0F172A"/>
          </a:solidFill>
          <a:ln/>
        </p:spPr>
      </p:sp>
      <p:sp>
        <p:nvSpPr>
          <p:cNvPr id="49" name="Text 47"/>
          <p:cNvSpPr/>
          <p:nvPr/>
        </p:nvSpPr>
        <p:spPr>
          <a:xfrm>
            <a:off x="6309360" y="5239512"/>
            <a:ext cx="1005840" cy="365760"/>
          </a:xfrm>
          <a:prstGeom prst="rect">
            <a:avLst/>
          </a:prstGeom>
          <a:noFill/>
          <a:ln/>
        </p:spPr>
        <p:txBody>
          <a:bodyPr wrap="square" lIns="0" tIns="0" rIns="0" bIns="0" rtlCol="0" anchor="ctr"/>
          <a:lstStyle/>
          <a:p>
            <a:pPr algn="ctr" indent="0" marL="0">
              <a:buNone/>
            </a:pPr>
            <a:r>
              <a:rPr lang="en-US" sz="1000" b="1" dirty="0">
                <a:solidFill>
                  <a:srgbClr val="EBC528"/>
                </a:solidFill>
                <a:latin typeface="Yu Gothic" pitchFamily="34" charset="0"/>
                <a:ea typeface="Yu Gothic" pitchFamily="34" charset="-122"/>
                <a:cs typeface="Yu Gothic" pitchFamily="34" charset="-120"/>
              </a:rPr>
              <a:t>i18n</a:t>
            </a:r>
            <a:endParaRPr lang="en-US" sz="1000" dirty="0"/>
          </a:p>
        </p:txBody>
      </p:sp>
      <p:sp>
        <p:nvSpPr>
          <p:cNvPr id="50" name="Text 48"/>
          <p:cNvSpPr/>
          <p:nvPr/>
        </p:nvSpPr>
        <p:spPr>
          <a:xfrm>
            <a:off x="7452360" y="5193792"/>
            <a:ext cx="3200400" cy="411480"/>
          </a:xfrm>
          <a:prstGeom prst="rect">
            <a:avLst/>
          </a:prstGeom>
          <a:noFill/>
          <a:ln/>
        </p:spPr>
        <p:txBody>
          <a:bodyPr wrap="square" lIns="0" tIns="0" rIns="0" bIns="0" rtlCol="0" anchor="ctr"/>
          <a:lstStyle/>
          <a:p>
            <a:pPr indent="0" marL="0">
              <a:buNone/>
            </a:pPr>
            <a:r>
              <a:rPr lang="en-US" sz="1300" b="1" dirty="0">
                <a:solidFill>
                  <a:srgbClr val="0F172A"/>
                </a:solidFill>
                <a:latin typeface="Yu Gothic" pitchFamily="34" charset="0"/>
                <a:ea typeface="Yu Gothic" pitchFamily="34" charset="-122"/>
                <a:cs typeface="Yu Gothic" pitchFamily="34" charset="-120"/>
              </a:rPr>
              <a:t>getTexts を useMemo 化</a:t>
            </a:r>
            <a:endParaRPr lang="en-US" sz="1300" dirty="0"/>
          </a:p>
        </p:txBody>
      </p:sp>
      <p:sp>
        <p:nvSpPr>
          <p:cNvPr id="51" name="Shape 49"/>
          <p:cNvSpPr/>
          <p:nvPr/>
        </p:nvSpPr>
        <p:spPr>
          <a:xfrm>
            <a:off x="10652760" y="5239512"/>
            <a:ext cx="868680" cy="365760"/>
          </a:xfrm>
          <a:prstGeom prst="rect">
            <a:avLst/>
          </a:prstGeom>
          <a:solidFill>
            <a:srgbClr val="10B981"/>
          </a:solidFill>
          <a:ln/>
        </p:spPr>
      </p:sp>
      <p:sp>
        <p:nvSpPr>
          <p:cNvPr id="52" name="Text 50"/>
          <p:cNvSpPr/>
          <p:nvPr/>
        </p:nvSpPr>
        <p:spPr>
          <a:xfrm>
            <a:off x="10652760" y="5239512"/>
            <a:ext cx="86868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Yu Gothic" pitchFamily="34" charset="0"/>
                <a:ea typeface="Yu Gothic" pitchFamily="34" charset="-122"/>
                <a:cs typeface="Yu Gothic" pitchFamily="34" charset="-120"/>
              </a:rPr>
              <a:t>計算節約</a:t>
            </a:r>
            <a:endParaRPr lang="en-US" sz="900" dirty="0"/>
          </a:p>
        </p:txBody>
      </p:sp>
      <p:sp>
        <p:nvSpPr>
          <p:cNvPr id="53" name="Text 51"/>
          <p:cNvSpPr/>
          <p:nvPr/>
        </p:nvSpPr>
        <p:spPr>
          <a:xfrm>
            <a:off x="6400800" y="5669280"/>
            <a:ext cx="5120640" cy="457200"/>
          </a:xfrm>
          <a:prstGeom prst="rect">
            <a:avLst/>
          </a:prstGeom>
          <a:noFill/>
          <a:ln/>
        </p:spPr>
        <p:txBody>
          <a:bodyPr wrap="square" lIns="0" tIns="0" rIns="0" bIns="0" rtlCol="0" anchor="ctr"/>
          <a:lstStyle/>
          <a:p>
            <a:pPr indent="0" marL="0">
              <a:buNone/>
            </a:pPr>
            <a:r>
              <a:rPr lang="en-US" sz="1100" dirty="0">
                <a:solidFill>
                  <a:srgbClr val="64748B"/>
                </a:solidFill>
                <a:latin typeface="Yu Gothic" pitchFamily="34" charset="0"/>
                <a:ea typeface="Yu Gothic" pitchFamily="34" charset="-122"/>
                <a:cs typeface="Yu Gothic" pitchFamily="34" charset="-120"/>
              </a:rPr>
              <a:t>言語が変わった時だけ再生成</a:t>
            </a:r>
            <a:endParaRPr lang="en-US" sz="1100" dirty="0"/>
          </a:p>
        </p:txBody>
      </p:sp>
      <p:sp>
        <p:nvSpPr>
          <p:cNvPr id="54" name="Text 52"/>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Yu Gothic" pitchFamily="34" charset="0"/>
                <a:ea typeface="Yu Gothic" pitchFamily="34" charset="-122"/>
                <a:cs typeface="Yu Gothic" pitchFamily="34" charset="-120"/>
              </a:rPr>
              <a:t>株式会社ライトパス サイト構築</a:t>
            </a:r>
            <a:endParaRPr lang="en-US" sz="900" dirty="0"/>
          </a:p>
        </p:txBody>
      </p:sp>
      <p:sp>
        <p:nvSpPr>
          <p:cNvPr id="55" name="Text 53"/>
          <p:cNvSpPr/>
          <p:nvPr/>
        </p:nvSpPr>
        <p:spPr>
          <a:xfrm>
            <a:off x="10820095" y="6446520"/>
            <a:ext cx="822960" cy="274320"/>
          </a:xfrm>
          <a:prstGeom prst="rect">
            <a:avLst/>
          </a:prstGeom>
          <a:noFill/>
          <a:ln/>
        </p:spPr>
        <p:txBody>
          <a:bodyPr wrap="square" lIns="0" tIns="0" rIns="0" bIns="0" rtlCol="0" anchor="ctr"/>
          <a:lstStyle/>
          <a:p>
            <a:pPr algn="r" indent="0" marL="0">
              <a:buNone/>
            </a:pPr>
            <a:r>
              <a:rPr lang="en-US" sz="900" dirty="0">
                <a:solidFill>
                  <a:srgbClr val="64748B"/>
                </a:solidFill>
                <a:latin typeface="Yu Gothic" pitchFamily="34" charset="0"/>
                <a:ea typeface="Yu Gothic" pitchFamily="34" charset="-122"/>
                <a:cs typeface="Yu Gothic" pitchFamily="34" charset="-120"/>
              </a:rPr>
              <a:t>11 / 12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274320"/>
          </a:xfrm>
          <a:prstGeom prst="rect">
            <a:avLst/>
          </a:prstGeom>
          <a:solidFill>
            <a:srgbClr val="EBC528"/>
          </a:solidFill>
          <a:ln/>
        </p:spPr>
      </p:sp>
      <p:sp>
        <p:nvSpPr>
          <p:cNvPr id="3" name="Text 1"/>
          <p:cNvSpPr/>
          <p:nvPr/>
        </p:nvSpPr>
        <p:spPr>
          <a:xfrm>
            <a:off x="1097280" y="914400"/>
            <a:ext cx="10058400" cy="457200"/>
          </a:xfrm>
          <a:prstGeom prst="rect">
            <a:avLst/>
          </a:prstGeom>
          <a:noFill/>
          <a:ln/>
        </p:spPr>
        <p:txBody>
          <a:bodyPr wrap="square" lIns="0" tIns="0" rIns="0" bIns="0" rtlCol="0" anchor="ctr"/>
          <a:lstStyle/>
          <a:p>
            <a:pPr indent="0" marL="0">
              <a:buNone/>
            </a:pPr>
            <a:r>
              <a:rPr lang="en-US" sz="1400" b="1" spc="600" kern="0" dirty="0">
                <a:solidFill>
                  <a:srgbClr val="EBC528"/>
                </a:solidFill>
                <a:latin typeface="Yu Gothic" pitchFamily="34" charset="0"/>
                <a:ea typeface="Yu Gothic" pitchFamily="34" charset="-122"/>
                <a:cs typeface="Yu Gothic" pitchFamily="34" charset="-120"/>
              </a:rPr>
              <a:t>SUMMARY</a:t>
            </a:r>
            <a:endParaRPr lang="en-US" sz="1400" dirty="0"/>
          </a:p>
        </p:txBody>
      </p:sp>
      <p:sp>
        <p:nvSpPr>
          <p:cNvPr id="4" name="Text 2"/>
          <p:cNvSpPr/>
          <p:nvPr/>
        </p:nvSpPr>
        <p:spPr>
          <a:xfrm>
            <a:off x="1097280" y="1463040"/>
            <a:ext cx="10058400" cy="822960"/>
          </a:xfrm>
          <a:prstGeom prst="rect">
            <a:avLst/>
          </a:prstGeom>
          <a:noFill/>
          <a:ln/>
        </p:spPr>
        <p:txBody>
          <a:bodyPr wrap="square" lIns="0" tIns="0" rIns="0" bIns="0" rtlCol="0" anchor="ctr"/>
          <a:lstStyle/>
          <a:p>
            <a:pPr indent="0" marL="0">
              <a:buNone/>
            </a:pPr>
            <a:r>
              <a:rPr lang="en-US" sz="3600" b="1" dirty="0">
                <a:solidFill>
                  <a:srgbClr val="FFFFFF"/>
                </a:solidFill>
                <a:latin typeface="Yu Gothic" pitchFamily="34" charset="0"/>
                <a:ea typeface="Yu Gothic" pitchFamily="34" charset="-122"/>
                <a:cs typeface="Yu Gothic" pitchFamily="34" charset="-120"/>
              </a:rPr>
              <a:t>5 つの軸で作りました。</a:t>
            </a:r>
            <a:endParaRPr lang="en-US" sz="3600" dirty="0"/>
          </a:p>
        </p:txBody>
      </p:sp>
      <p:sp>
        <p:nvSpPr>
          <p:cNvPr id="5" name="Shape 3"/>
          <p:cNvSpPr/>
          <p:nvPr/>
        </p:nvSpPr>
        <p:spPr>
          <a:xfrm>
            <a:off x="1097280" y="2697480"/>
            <a:ext cx="2286000" cy="457200"/>
          </a:xfrm>
          <a:prstGeom prst="rect">
            <a:avLst/>
          </a:prstGeom>
          <a:solidFill>
            <a:srgbClr val="EBC528"/>
          </a:solidFill>
          <a:ln/>
        </p:spPr>
      </p:sp>
      <p:sp>
        <p:nvSpPr>
          <p:cNvPr id="6" name="Text 4"/>
          <p:cNvSpPr/>
          <p:nvPr/>
        </p:nvSpPr>
        <p:spPr>
          <a:xfrm>
            <a:off x="1097280" y="2697480"/>
            <a:ext cx="2286000" cy="457200"/>
          </a:xfrm>
          <a:prstGeom prst="rect">
            <a:avLst/>
          </a:prstGeom>
          <a:noFill/>
          <a:ln/>
        </p:spPr>
        <p:txBody>
          <a:bodyPr wrap="square" lIns="0" tIns="0" rIns="0" bIns="0" rtlCol="0" anchor="ctr"/>
          <a:lstStyle/>
          <a:p>
            <a:pPr algn="ctr" indent="0" marL="0">
              <a:buNone/>
            </a:pPr>
            <a:r>
              <a:rPr lang="en-US" sz="1200" b="1" dirty="0">
                <a:solidFill>
                  <a:srgbClr val="0F172A"/>
                </a:solidFill>
                <a:latin typeface="Yu Gothic" pitchFamily="34" charset="0"/>
                <a:ea typeface="Yu Gothic" pitchFamily="34" charset="-122"/>
                <a:cs typeface="Yu Gothic" pitchFamily="34" charset="-120"/>
              </a:rPr>
              <a:t>セキュリティ</a:t>
            </a:r>
            <a:endParaRPr lang="en-US" sz="1200" dirty="0"/>
          </a:p>
        </p:txBody>
      </p:sp>
      <p:sp>
        <p:nvSpPr>
          <p:cNvPr id="7" name="Text 5"/>
          <p:cNvSpPr/>
          <p:nvPr/>
        </p:nvSpPr>
        <p:spPr>
          <a:xfrm>
            <a:off x="3520440" y="2697480"/>
            <a:ext cx="8229600" cy="457200"/>
          </a:xfrm>
          <a:prstGeom prst="rect">
            <a:avLst/>
          </a:prstGeom>
          <a:noFill/>
          <a:ln/>
        </p:spPr>
        <p:txBody>
          <a:bodyPr wrap="square" lIns="0" tIns="0" rIns="0" bIns="0" rtlCol="0" anchor="ctr"/>
          <a:lstStyle/>
          <a:p>
            <a:pPr indent="0" marL="0">
              <a:buNone/>
            </a:pPr>
            <a:r>
              <a:rPr lang="en-US" sz="1300" dirty="0">
                <a:solidFill>
                  <a:srgbClr val="FFFFFF"/>
                </a:solidFill>
                <a:latin typeface="Yu Gothic" pitchFamily="34" charset="0"/>
                <a:ea typeface="Yu Gothic" pitchFamily="34" charset="-122"/>
                <a:cs typeface="Yu Gothic" pitchFamily="34" charset="-120"/>
              </a:rPr>
              <a:t>88項目 監査 / CSP / PDF 3層検証 / CSRF / SSRF</a:t>
            </a:r>
            <a:endParaRPr lang="en-US" sz="1300" dirty="0"/>
          </a:p>
        </p:txBody>
      </p:sp>
      <p:sp>
        <p:nvSpPr>
          <p:cNvPr id="8" name="Shape 6"/>
          <p:cNvSpPr/>
          <p:nvPr/>
        </p:nvSpPr>
        <p:spPr>
          <a:xfrm>
            <a:off x="1097280" y="3291840"/>
            <a:ext cx="2286000" cy="457200"/>
          </a:xfrm>
          <a:prstGeom prst="rect">
            <a:avLst/>
          </a:prstGeom>
          <a:solidFill>
            <a:srgbClr val="EBC528"/>
          </a:solidFill>
          <a:ln/>
        </p:spPr>
      </p:sp>
      <p:sp>
        <p:nvSpPr>
          <p:cNvPr id="9" name="Text 7"/>
          <p:cNvSpPr/>
          <p:nvPr/>
        </p:nvSpPr>
        <p:spPr>
          <a:xfrm>
            <a:off x="1097280" y="3291840"/>
            <a:ext cx="2286000" cy="457200"/>
          </a:xfrm>
          <a:prstGeom prst="rect">
            <a:avLst/>
          </a:prstGeom>
          <a:noFill/>
          <a:ln/>
        </p:spPr>
        <p:txBody>
          <a:bodyPr wrap="square" lIns="0" tIns="0" rIns="0" bIns="0" rtlCol="0" anchor="ctr"/>
          <a:lstStyle/>
          <a:p>
            <a:pPr algn="ctr" indent="0" marL="0">
              <a:buNone/>
            </a:pPr>
            <a:r>
              <a:rPr lang="en-US" sz="1200" b="1" dirty="0">
                <a:solidFill>
                  <a:srgbClr val="0F172A"/>
                </a:solidFill>
                <a:latin typeface="Yu Gothic" pitchFamily="34" charset="0"/>
                <a:ea typeface="Yu Gothic" pitchFamily="34" charset="-122"/>
                <a:cs typeface="Yu Gothic" pitchFamily="34" charset="-120"/>
              </a:rPr>
              <a:t>モバイル UX</a:t>
            </a:r>
            <a:endParaRPr lang="en-US" sz="1200" dirty="0"/>
          </a:p>
        </p:txBody>
      </p:sp>
      <p:sp>
        <p:nvSpPr>
          <p:cNvPr id="10" name="Text 8"/>
          <p:cNvSpPr/>
          <p:nvPr/>
        </p:nvSpPr>
        <p:spPr>
          <a:xfrm>
            <a:off x="3520440" y="3291840"/>
            <a:ext cx="8229600" cy="457200"/>
          </a:xfrm>
          <a:prstGeom prst="rect">
            <a:avLst/>
          </a:prstGeom>
          <a:noFill/>
          <a:ln/>
        </p:spPr>
        <p:txBody>
          <a:bodyPr wrap="square" lIns="0" tIns="0" rIns="0" bIns="0" rtlCol="0" anchor="ctr"/>
          <a:lstStyle/>
          <a:p>
            <a:pPr indent="0" marL="0">
              <a:buNone/>
            </a:pPr>
            <a:r>
              <a:rPr lang="en-US" sz="1300" dirty="0">
                <a:solidFill>
                  <a:srgbClr val="FFFFFF"/>
                </a:solidFill>
                <a:latin typeface="Yu Gothic" pitchFamily="34" charset="0"/>
                <a:ea typeface="Yu Gothic" pitchFamily="34" charset="-122"/>
                <a:cs typeface="Yu Gothic" pitchFamily="34" charset="-120"/>
              </a:rPr>
              <a:t>ドロワー・ボディロック・拡大</a:t>
            </a:r>
            <a:endParaRPr lang="en-US" sz="1300" dirty="0"/>
          </a:p>
        </p:txBody>
      </p:sp>
      <p:sp>
        <p:nvSpPr>
          <p:cNvPr id="11" name="Shape 9"/>
          <p:cNvSpPr/>
          <p:nvPr/>
        </p:nvSpPr>
        <p:spPr>
          <a:xfrm>
            <a:off x="1097280" y="3886200"/>
            <a:ext cx="2286000" cy="457200"/>
          </a:xfrm>
          <a:prstGeom prst="rect">
            <a:avLst/>
          </a:prstGeom>
          <a:solidFill>
            <a:srgbClr val="EBC528"/>
          </a:solidFill>
          <a:ln/>
        </p:spPr>
      </p:sp>
      <p:sp>
        <p:nvSpPr>
          <p:cNvPr id="12" name="Text 10"/>
          <p:cNvSpPr/>
          <p:nvPr/>
        </p:nvSpPr>
        <p:spPr>
          <a:xfrm>
            <a:off x="1097280" y="3886200"/>
            <a:ext cx="2286000" cy="457200"/>
          </a:xfrm>
          <a:prstGeom prst="rect">
            <a:avLst/>
          </a:prstGeom>
          <a:noFill/>
          <a:ln/>
        </p:spPr>
        <p:txBody>
          <a:bodyPr wrap="square" lIns="0" tIns="0" rIns="0" bIns="0" rtlCol="0" anchor="ctr"/>
          <a:lstStyle/>
          <a:p>
            <a:pPr algn="ctr" indent="0" marL="0">
              <a:buNone/>
            </a:pPr>
            <a:r>
              <a:rPr lang="en-US" sz="1200" b="1" dirty="0">
                <a:solidFill>
                  <a:srgbClr val="0F172A"/>
                </a:solidFill>
                <a:latin typeface="Yu Gothic" pitchFamily="34" charset="0"/>
                <a:ea typeface="Yu Gothic" pitchFamily="34" charset="-122"/>
                <a:cs typeface="Yu Gothic" pitchFamily="34" charset="-120"/>
              </a:rPr>
              <a:t>アニメーション</a:t>
            </a:r>
            <a:endParaRPr lang="en-US" sz="1200" dirty="0"/>
          </a:p>
        </p:txBody>
      </p:sp>
      <p:sp>
        <p:nvSpPr>
          <p:cNvPr id="13" name="Text 11"/>
          <p:cNvSpPr/>
          <p:nvPr/>
        </p:nvSpPr>
        <p:spPr>
          <a:xfrm>
            <a:off x="3520440" y="3886200"/>
            <a:ext cx="8229600" cy="457200"/>
          </a:xfrm>
          <a:prstGeom prst="rect">
            <a:avLst/>
          </a:prstGeom>
          <a:noFill/>
          <a:ln/>
        </p:spPr>
        <p:txBody>
          <a:bodyPr wrap="square" lIns="0" tIns="0" rIns="0" bIns="0" rtlCol="0" anchor="ctr"/>
          <a:lstStyle/>
          <a:p>
            <a:pPr indent="0" marL="0">
              <a:buNone/>
            </a:pPr>
            <a:r>
              <a:rPr lang="en-US" sz="1300" dirty="0">
                <a:solidFill>
                  <a:srgbClr val="FFFFFF"/>
                </a:solidFill>
                <a:latin typeface="Yu Gothic" pitchFamily="34" charset="0"/>
                <a:ea typeface="Yu Gothic" pitchFamily="34" charset="-122"/>
                <a:cs typeface="Yu Gothic" pitchFamily="34" charset="-120"/>
              </a:rPr>
              <a:t>Reveal × 6 バリアント・マーキー</a:t>
            </a:r>
            <a:endParaRPr lang="en-US" sz="1300" dirty="0"/>
          </a:p>
        </p:txBody>
      </p:sp>
      <p:sp>
        <p:nvSpPr>
          <p:cNvPr id="14" name="Shape 12"/>
          <p:cNvSpPr/>
          <p:nvPr/>
        </p:nvSpPr>
        <p:spPr>
          <a:xfrm>
            <a:off x="1097280" y="4480560"/>
            <a:ext cx="2286000" cy="457200"/>
          </a:xfrm>
          <a:prstGeom prst="rect">
            <a:avLst/>
          </a:prstGeom>
          <a:solidFill>
            <a:srgbClr val="EBC528"/>
          </a:solidFill>
          <a:ln/>
        </p:spPr>
      </p:sp>
      <p:sp>
        <p:nvSpPr>
          <p:cNvPr id="15" name="Text 13"/>
          <p:cNvSpPr/>
          <p:nvPr/>
        </p:nvSpPr>
        <p:spPr>
          <a:xfrm>
            <a:off x="1097280" y="4480560"/>
            <a:ext cx="2286000" cy="457200"/>
          </a:xfrm>
          <a:prstGeom prst="rect">
            <a:avLst/>
          </a:prstGeom>
          <a:noFill/>
          <a:ln/>
        </p:spPr>
        <p:txBody>
          <a:bodyPr wrap="square" lIns="0" tIns="0" rIns="0" bIns="0" rtlCol="0" anchor="ctr"/>
          <a:lstStyle/>
          <a:p>
            <a:pPr algn="ctr" indent="0" marL="0">
              <a:buNone/>
            </a:pPr>
            <a:r>
              <a:rPr lang="en-US" sz="1200" b="1" dirty="0">
                <a:solidFill>
                  <a:srgbClr val="0F172A"/>
                </a:solidFill>
                <a:latin typeface="Yu Gothic" pitchFamily="34" charset="0"/>
                <a:ea typeface="Yu Gothic" pitchFamily="34" charset="-122"/>
                <a:cs typeface="Yu Gothic" pitchFamily="34" charset="-120"/>
              </a:rPr>
              <a:t>国際化</a:t>
            </a:r>
            <a:endParaRPr lang="en-US" sz="1200" dirty="0"/>
          </a:p>
        </p:txBody>
      </p:sp>
      <p:sp>
        <p:nvSpPr>
          <p:cNvPr id="16" name="Text 14"/>
          <p:cNvSpPr/>
          <p:nvPr/>
        </p:nvSpPr>
        <p:spPr>
          <a:xfrm>
            <a:off x="3520440" y="4480560"/>
            <a:ext cx="8229600" cy="457200"/>
          </a:xfrm>
          <a:prstGeom prst="rect">
            <a:avLst/>
          </a:prstGeom>
          <a:noFill/>
          <a:ln/>
        </p:spPr>
        <p:txBody>
          <a:bodyPr wrap="square" lIns="0" tIns="0" rIns="0" bIns="0" rtlCol="0" anchor="ctr"/>
          <a:lstStyle/>
          <a:p>
            <a:pPr indent="0" marL="0">
              <a:buNone/>
            </a:pPr>
            <a:r>
              <a:rPr lang="en-US" sz="1300" dirty="0">
                <a:solidFill>
                  <a:srgbClr val="FFFFFF"/>
                </a:solidFill>
                <a:latin typeface="Yu Gothic" pitchFamily="34" charset="0"/>
                <a:ea typeface="Yu Gothic" pitchFamily="34" charset="-122"/>
                <a:cs typeface="Yu Gothic" pitchFamily="34" charset="-120"/>
              </a:rPr>
              <a:t>JP/EN ボタン 1 つでサイト全切替</a:t>
            </a:r>
            <a:endParaRPr lang="en-US" sz="1300" dirty="0"/>
          </a:p>
        </p:txBody>
      </p:sp>
      <p:sp>
        <p:nvSpPr>
          <p:cNvPr id="17" name="Shape 15"/>
          <p:cNvSpPr/>
          <p:nvPr/>
        </p:nvSpPr>
        <p:spPr>
          <a:xfrm>
            <a:off x="1097280" y="5074920"/>
            <a:ext cx="2286000" cy="457200"/>
          </a:xfrm>
          <a:prstGeom prst="rect">
            <a:avLst/>
          </a:prstGeom>
          <a:solidFill>
            <a:srgbClr val="EBC528"/>
          </a:solidFill>
          <a:ln/>
        </p:spPr>
      </p:sp>
      <p:sp>
        <p:nvSpPr>
          <p:cNvPr id="18" name="Text 16"/>
          <p:cNvSpPr/>
          <p:nvPr/>
        </p:nvSpPr>
        <p:spPr>
          <a:xfrm>
            <a:off x="1097280" y="5074920"/>
            <a:ext cx="2286000" cy="457200"/>
          </a:xfrm>
          <a:prstGeom prst="rect">
            <a:avLst/>
          </a:prstGeom>
          <a:noFill/>
          <a:ln/>
        </p:spPr>
        <p:txBody>
          <a:bodyPr wrap="square" lIns="0" tIns="0" rIns="0" bIns="0" rtlCol="0" anchor="ctr"/>
          <a:lstStyle/>
          <a:p>
            <a:pPr algn="ctr" indent="0" marL="0">
              <a:buNone/>
            </a:pPr>
            <a:r>
              <a:rPr lang="en-US" sz="1200" b="1" dirty="0">
                <a:solidFill>
                  <a:srgbClr val="0F172A"/>
                </a:solidFill>
                <a:latin typeface="Yu Gothic" pitchFamily="34" charset="0"/>
                <a:ea typeface="Yu Gothic" pitchFamily="34" charset="-122"/>
                <a:cs typeface="Yu Gothic" pitchFamily="34" charset="-120"/>
              </a:rPr>
              <a:t>性能</a:t>
            </a:r>
            <a:endParaRPr lang="en-US" sz="1200" dirty="0"/>
          </a:p>
        </p:txBody>
      </p:sp>
      <p:sp>
        <p:nvSpPr>
          <p:cNvPr id="19" name="Text 17"/>
          <p:cNvSpPr/>
          <p:nvPr/>
        </p:nvSpPr>
        <p:spPr>
          <a:xfrm>
            <a:off x="3520440" y="5074920"/>
            <a:ext cx="8229600" cy="457200"/>
          </a:xfrm>
          <a:prstGeom prst="rect">
            <a:avLst/>
          </a:prstGeom>
          <a:noFill/>
          <a:ln/>
        </p:spPr>
        <p:txBody>
          <a:bodyPr wrap="square" lIns="0" tIns="0" rIns="0" bIns="0" rtlCol="0" anchor="ctr"/>
          <a:lstStyle/>
          <a:p>
            <a:pPr indent="0" marL="0">
              <a:buNone/>
            </a:pPr>
            <a:r>
              <a:rPr lang="en-US" sz="1300" dirty="0">
                <a:solidFill>
                  <a:srgbClr val="FFFFFF"/>
                </a:solidFill>
                <a:latin typeface="Yu Gothic" pitchFamily="34" charset="0"/>
                <a:ea typeface="Yu Gothic" pitchFamily="34" charset="-122"/>
                <a:cs typeface="Yu Gothic" pitchFamily="34" charset="-120"/>
              </a:rPr>
              <a:t>共有 Observer / next/image / preconnect</a:t>
            </a:r>
            <a:endParaRPr lang="en-US" sz="1300" dirty="0"/>
          </a:p>
        </p:txBody>
      </p:sp>
      <p:sp>
        <p:nvSpPr>
          <p:cNvPr id="20" name="Text 18"/>
          <p:cNvSpPr/>
          <p:nvPr/>
        </p:nvSpPr>
        <p:spPr>
          <a:xfrm>
            <a:off x="1097280" y="5760720"/>
            <a:ext cx="10058400" cy="457200"/>
          </a:xfrm>
          <a:prstGeom prst="rect">
            <a:avLst/>
          </a:prstGeom>
          <a:noFill/>
          <a:ln/>
        </p:spPr>
        <p:txBody>
          <a:bodyPr wrap="square" lIns="0" tIns="0" rIns="0" bIns="0" rtlCol="0" anchor="ctr"/>
          <a:lstStyle/>
          <a:p>
            <a:pPr indent="0" marL="0">
              <a:buNone/>
            </a:pPr>
            <a:r>
              <a:rPr lang="en-US" sz="1600" dirty="0">
                <a:solidFill>
                  <a:srgbClr val="CBD5E1"/>
                </a:solidFill>
                <a:latin typeface="Yu Gothic" pitchFamily="34" charset="0"/>
                <a:ea typeface="Yu Gothic" pitchFamily="34" charset="-122"/>
                <a:cs typeface="Yu Gothic" pitchFamily="34" charset="-120"/>
              </a:rPr>
              <a:t>ご清聴ありがとうございました。</a:t>
            </a:r>
            <a:endParaRPr lang="en-US" sz="1600" dirty="0"/>
          </a:p>
        </p:txBody>
      </p:sp>
      <p:sp>
        <p:nvSpPr>
          <p:cNvPr id="21" name="Text 19"/>
          <p:cNvSpPr/>
          <p:nvPr/>
        </p:nvSpPr>
        <p:spPr>
          <a:xfrm>
            <a:off x="1097280" y="6217920"/>
            <a:ext cx="10058400" cy="365760"/>
          </a:xfrm>
          <a:prstGeom prst="rect">
            <a:avLst/>
          </a:prstGeom>
          <a:noFill/>
          <a:ln/>
        </p:spPr>
        <p:txBody>
          <a:bodyPr wrap="square" lIns="0" tIns="0" rIns="0" bIns="0" rtlCol="0" anchor="ctr"/>
          <a:lstStyle/>
          <a:p>
            <a:pPr indent="0" marL="0">
              <a:buNone/>
            </a:pPr>
            <a:r>
              <a:rPr lang="en-US" sz="1000" dirty="0">
                <a:solidFill>
                  <a:srgbClr val="94A3B8"/>
                </a:solidFill>
                <a:latin typeface="Yu Gothic" pitchFamily="34" charset="0"/>
                <a:ea typeface="Yu Gothic" pitchFamily="34" charset="-122"/>
                <a:cs typeface="Yu Gothic" pitchFamily="34" charset="-120"/>
              </a:rPr>
              <a:t>株式会社ライトパス｜サイト構築ピッチ</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サイト構築ピッチ v3</dc:title>
  <dc:subject>PptxGenJS Presentation</dc:subject>
  <dc:creator>株式会社ライトパス</dc:creator>
  <cp:lastModifiedBy>株式会社ライトパス</cp:lastModifiedBy>
  <cp:revision>1</cp:revision>
  <dcterms:created xsi:type="dcterms:W3CDTF">2026-06-24T03:24:59Z</dcterms:created>
  <dcterms:modified xsi:type="dcterms:W3CDTF">2026-06-24T03:24:59Z</dcterms:modified>
</cp:coreProperties>
</file>