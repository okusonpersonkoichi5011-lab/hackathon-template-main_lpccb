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131" autoAdjust="0"/>
  </p:normalViewPr>
  <p:slideViewPr>
    <p:cSldViewPr snapToGrid="0" snapToObjects="1">
      <p:cViewPr varScale="1">
        <p:scale>
          <a:sx n="62" d="100"/>
          <a:sy n="62" d="100"/>
        </p:scale>
        <p:origin x="145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376291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皆さん、こんにちは。</a:t>
            </a:r>
          </a:p>
          <a:p>
            <a:r>
              <a:rPr sz="1100">
                <a:latin typeface="Meiryo UI"/>
              </a:rPr>
              <a:t>本日は、株式会社ライトパスさんのコーポレートサイトを制作しましたので、6 分ほどでご紹介させていただきます。</a:t>
            </a:r>
          </a:p>
          <a:p>
            <a:r>
              <a:rPr sz="1100">
                <a:latin typeface="Meiryo UI"/>
              </a:rPr>
              <a:t>専門用語はできるだけ避け、要点を「要は！」の一言でまとめながらお話しします。</a:t>
            </a:r>
          </a:p>
          <a:p>
            <a:r>
              <a:rPr sz="1100">
                <a:latin typeface="Meiryo UI"/>
              </a:rPr>
              <a:t>それでは、よろしくお願いします。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全体像を、3 つの軸でご紹介します。</a:t>
            </a:r>
          </a:p>
          <a:p>
            <a:r>
              <a:rPr sz="1100">
                <a:latin typeface="Meiryo UI"/>
              </a:rPr>
              <a:t>まず左、「使用ソフトウェア」は骨組みです。最新の道具を組み合わせ、丈夫で編集しやすい作りにしました。</a:t>
            </a:r>
          </a:p>
          <a:p>
            <a:r>
              <a:rPr sz="1100">
                <a:latin typeface="Meiryo UI"/>
              </a:rPr>
              <a:t>真ん中は「実装ページ」。ホーム、会社案内、採用情報、お問い合わせ、プライバシーの 5 ページですね。</a:t>
            </a:r>
          </a:p>
          <a:p>
            <a:r>
              <a:rPr sz="1100">
                <a:latin typeface="Meiryo UI"/>
              </a:rPr>
              <a:t>右は「重点アピール」。セキュリティ、スマホ対応、動きの見せ方、そして日英切替。この 4 つに特に力を入れています。</a:t>
            </a:r>
          </a:p>
          <a:p>
            <a:r>
              <a:rPr sz="1100">
                <a:latin typeface="Meiryo UI"/>
              </a:rPr>
              <a:t>要は、「本格的な会社サイトの全部入り」を、一式作りました。</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デザインで一番こだわったのは、「1 か所直せば全部変わる」仕組みです。</a:t>
            </a:r>
          </a:p>
          <a:p>
            <a:r>
              <a:rPr sz="1100">
                <a:latin typeface="Meiryo UI"/>
              </a:rPr>
              <a:t>左側をご覧ください。サイトの色は、1 つのファイルに 1 行だけ書いてあります。ボタン、下線、マウスを乗せたときの枠。全ての黄色が、この 1 行を見にきています。</a:t>
            </a:r>
          </a:p>
          <a:p>
            <a:r>
              <a:rPr sz="1100">
                <a:latin typeface="Meiryo UI"/>
              </a:rPr>
              <a:t>将来「青にしたい」と言われても、1 行の書き換えだけで済みます。</a:t>
            </a:r>
          </a:p>
          <a:p>
            <a:r>
              <a:rPr sz="1100">
                <a:latin typeface="Meiryo UI"/>
              </a:rPr>
              <a:t>右上、見出しの下の黄色い下線を、左横の縦棒スタイルに変更しました。ビフォー・アフターの通り、全ページの見出しに統一感が出ています。</a:t>
            </a:r>
          </a:p>
          <a:p>
            <a:r>
              <a:rPr sz="1100">
                <a:latin typeface="Meiryo UI"/>
              </a:rPr>
              <a:t>右下は 3 つの原則。全ページの流れを揃えたこと、カードやバナーの高さを合わせたこと、そして文字を少し大きくして読みやすくしたこと。この 3 つですね。</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err="1">
                <a:latin typeface="Meiryo UI"/>
              </a:rPr>
              <a:t>スマホ対応の工夫を</a:t>
            </a:r>
            <a:r>
              <a:rPr sz="1100" dirty="0">
                <a:latin typeface="Meiryo UI"/>
              </a:rPr>
              <a:t> 4 つ。</a:t>
            </a:r>
          </a:p>
          <a:p>
            <a:r>
              <a:rPr sz="1100" dirty="0" err="1">
                <a:latin typeface="Meiryo UI"/>
              </a:rPr>
              <a:t>左上</a:t>
            </a:r>
            <a:r>
              <a:rPr sz="1100" dirty="0">
                <a:latin typeface="Meiryo UI"/>
              </a:rPr>
              <a:t>、「</a:t>
            </a:r>
            <a:r>
              <a:rPr sz="1100" dirty="0" err="1">
                <a:latin typeface="Meiryo UI"/>
              </a:rPr>
              <a:t>モバイルファースト設計</a:t>
            </a:r>
            <a:r>
              <a:rPr sz="1100" dirty="0">
                <a:latin typeface="Meiryo UI"/>
              </a:rPr>
              <a:t>」。</a:t>
            </a:r>
            <a:r>
              <a:rPr sz="1100" dirty="0" err="1">
                <a:latin typeface="Meiryo UI"/>
              </a:rPr>
              <a:t>先にスマホ用を作って、大画面で上書きします。この順番だと、どちらでも崩れません</a:t>
            </a:r>
            <a:r>
              <a:rPr sz="1100" dirty="0">
                <a:latin typeface="Meiryo UI"/>
              </a:rPr>
              <a:t>。</a:t>
            </a:r>
          </a:p>
          <a:p>
            <a:r>
              <a:rPr sz="1100" dirty="0" err="1">
                <a:latin typeface="Meiryo UI"/>
              </a:rPr>
              <a:t>右上</a:t>
            </a:r>
            <a:r>
              <a:rPr sz="1100" dirty="0">
                <a:latin typeface="Meiryo UI"/>
              </a:rPr>
              <a:t>、「</a:t>
            </a:r>
            <a:r>
              <a:rPr sz="1100" dirty="0" err="1">
                <a:latin typeface="Meiryo UI"/>
              </a:rPr>
              <a:t>スライドメニュ</a:t>
            </a:r>
            <a:r>
              <a:rPr sz="1100" dirty="0">
                <a:latin typeface="Meiryo UI"/>
              </a:rPr>
              <a:t>ー」。</a:t>
            </a:r>
            <a:r>
              <a:rPr lang="ja-JP" altLang="en-US" sz="1100" dirty="0">
                <a:latin typeface="Meiryo UI"/>
              </a:rPr>
              <a:t>サイト内の</a:t>
            </a:r>
            <a:r>
              <a:rPr sz="1100" dirty="0" err="1">
                <a:latin typeface="Meiryo UI"/>
              </a:rPr>
              <a:t>右上の三本線を押すと、右からすっと出てきます。Escape・外側タップ・遷移で自動で閉じる、気の利いた作りです</a:t>
            </a:r>
            <a:r>
              <a:rPr sz="1100" dirty="0">
                <a:latin typeface="Meiryo UI"/>
              </a:rPr>
              <a:t>。</a:t>
            </a:r>
          </a:p>
          <a:p>
            <a:r>
              <a:rPr sz="1100" dirty="0" err="1">
                <a:latin typeface="Meiryo UI"/>
              </a:rPr>
              <a:t>左下、メニュー中は背景ページをロック。地味ですが、無いとイライラする細かな</a:t>
            </a:r>
            <a:r>
              <a:rPr sz="1100" dirty="0">
                <a:latin typeface="Meiryo UI"/>
              </a:rPr>
              <a:t> UX </a:t>
            </a:r>
            <a:r>
              <a:rPr sz="1100" dirty="0" err="1">
                <a:latin typeface="Meiryo UI"/>
              </a:rPr>
              <a:t>です</a:t>
            </a:r>
            <a:r>
              <a:rPr sz="1100" dirty="0">
                <a:latin typeface="Meiryo UI"/>
              </a:rPr>
              <a:t>。</a:t>
            </a:r>
          </a:p>
          <a:p>
            <a:r>
              <a:rPr sz="1100" dirty="0" err="1">
                <a:latin typeface="Meiryo UI"/>
              </a:rPr>
              <a:t>右下</a:t>
            </a:r>
            <a:r>
              <a:rPr sz="1100" dirty="0">
                <a:latin typeface="Meiryo UI"/>
              </a:rPr>
              <a:t>、「</a:t>
            </a:r>
            <a:r>
              <a:rPr sz="1100" dirty="0" err="1">
                <a:latin typeface="Meiryo UI"/>
              </a:rPr>
              <a:t>タップで画像拡大</a:t>
            </a:r>
            <a:r>
              <a:rPr sz="1100" dirty="0">
                <a:latin typeface="Meiryo UI"/>
              </a:rPr>
              <a:t>」。</a:t>
            </a:r>
            <a:r>
              <a:rPr sz="1100" dirty="0" err="1">
                <a:latin typeface="Meiryo UI"/>
              </a:rPr>
              <a:t>写真をタップすると大きく表示。再利用可能な部品にしてあります</a:t>
            </a:r>
            <a:r>
              <a:rPr sz="1100" dirty="0">
                <a:latin typeface="Meiryo UI"/>
              </a:rPr>
              <a:t>。</a:t>
            </a:r>
          </a:p>
          <a:p>
            <a:r>
              <a:rPr sz="1100" dirty="0" err="1">
                <a:latin typeface="Meiryo UI"/>
              </a:rPr>
              <a:t>要は、指でもマウスでも、ストレスなく使える、ということですね</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動きの部分を、動画とアニメーション、合わせてご紹介します。</a:t>
            </a:r>
          </a:p>
          <a:p>
            <a:r>
              <a:rPr sz="1100">
                <a:latin typeface="Meiryo UI"/>
              </a:rPr>
              <a:t>まず左側、TOP の歯車動画です。ページを開くと、1 秒ちょっとかけて、ふわーっと浮かび上がってきます。そのまま 1 回だけ再生され、最後の状態でぴたっと止まります。</a:t>
            </a:r>
          </a:p>
          <a:p>
            <a:r>
              <a:rPr sz="1100">
                <a:latin typeface="Meiryo UI"/>
              </a:rPr>
              <a:t>サイズも元の 6 メガから、およそ 10 分の 1 まで軽くしました。文字が読みやすいよう、左側は白めのフィルターを濃く、右側は薄くしています。</a:t>
            </a:r>
          </a:p>
          <a:p>
            <a:r>
              <a:rPr sz="1100">
                <a:latin typeface="Meiryo UI"/>
              </a:rPr>
              <a:t>右側はスクロールで要素が現れる仕掛けと、6 枚の写真スライドショーです。</a:t>
            </a:r>
          </a:p>
          <a:p>
            <a:r>
              <a:rPr sz="1100">
                <a:latin typeface="Meiryo UI"/>
              </a:rPr>
              <a:t>そして、このスライドで一番お伝えしたいのが「必ず表示される仕組み」。開いた時に見えている場所は即座に、下は近づいたら表示、万一動きが止まっても 10 秒後には必ず出る。この 3 段構えで、「読み込みで消えたまま」を根絶しました。</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err="1">
                <a:latin typeface="Meiryo UI"/>
              </a:rPr>
              <a:t>このスライドは</a:t>
            </a:r>
            <a:r>
              <a:rPr sz="1100" dirty="0">
                <a:latin typeface="Meiryo UI"/>
              </a:rPr>
              <a:t>、</a:t>
            </a:r>
            <a:r>
              <a:rPr lang="ja-JP" altLang="en-US" sz="1100" dirty="0">
                <a:latin typeface="Meiryo UI"/>
              </a:rPr>
              <a:t>サイト作成</a:t>
            </a:r>
            <a:r>
              <a:rPr sz="1100" dirty="0" err="1">
                <a:latin typeface="Meiryo UI"/>
              </a:rPr>
              <a:t>中に受けた</a:t>
            </a:r>
            <a:r>
              <a:rPr sz="1100" dirty="0">
                <a:latin typeface="Meiryo UI"/>
              </a:rPr>
              <a:t> 13 件のフィードバックを、3 </a:t>
            </a:r>
            <a:r>
              <a:rPr sz="1100" dirty="0" err="1">
                <a:latin typeface="Meiryo UI"/>
              </a:rPr>
              <a:t>カテゴリでまとめました</a:t>
            </a:r>
            <a:r>
              <a:rPr sz="1100" dirty="0">
                <a:latin typeface="Meiryo UI"/>
              </a:rPr>
              <a:t>。</a:t>
            </a:r>
          </a:p>
          <a:p>
            <a:r>
              <a:rPr sz="1100" dirty="0" err="1">
                <a:latin typeface="Meiryo UI"/>
              </a:rPr>
              <a:t>左「見た目・体裁」は、縦棒見出しへの統一、カード高さの統一、任意バッジを緑から灰色に、会社名の改行位置調整、など</a:t>
            </a:r>
            <a:r>
              <a:rPr sz="1100" dirty="0">
                <a:latin typeface="Meiryo UI"/>
              </a:rPr>
              <a:t> 5 </a:t>
            </a:r>
            <a:r>
              <a:rPr sz="1100" dirty="0" err="1">
                <a:latin typeface="Meiryo UI"/>
              </a:rPr>
              <a:t>点です</a:t>
            </a:r>
            <a:r>
              <a:rPr sz="1100" dirty="0">
                <a:latin typeface="Meiryo UI"/>
              </a:rPr>
              <a:t>。</a:t>
            </a:r>
          </a:p>
          <a:p>
            <a:r>
              <a:rPr sz="1100" dirty="0" err="1">
                <a:latin typeface="Meiryo UI"/>
              </a:rPr>
              <a:t>真ん中「文言・データ」は、事業内容の読点、代表挨拶の英字削除、案件実績に大手</a:t>
            </a:r>
            <a:r>
              <a:rPr sz="1100" dirty="0">
                <a:latin typeface="Meiryo UI"/>
              </a:rPr>
              <a:t> 5 </a:t>
            </a:r>
            <a:r>
              <a:rPr sz="1100" dirty="0" err="1">
                <a:latin typeface="Meiryo UI"/>
              </a:rPr>
              <a:t>社追記、説明文の差し替えなどですね</a:t>
            </a:r>
            <a:r>
              <a:rPr sz="1100" dirty="0">
                <a:latin typeface="Meiryo UI"/>
              </a:rPr>
              <a:t>。</a:t>
            </a:r>
          </a:p>
          <a:p>
            <a:r>
              <a:rPr sz="1100" dirty="0" err="1">
                <a:latin typeface="Meiryo UI"/>
              </a:rPr>
              <a:t>右「コンテンツ機能」は、TOP</a:t>
            </a:r>
            <a:r>
              <a:rPr sz="1100" dirty="0">
                <a:latin typeface="Meiryo UI"/>
              </a:rPr>
              <a:t> </a:t>
            </a:r>
            <a:r>
              <a:rPr sz="1100" dirty="0" err="1">
                <a:latin typeface="Meiryo UI"/>
              </a:rPr>
              <a:t>のスライドショーを</a:t>
            </a:r>
            <a:r>
              <a:rPr sz="1100" dirty="0">
                <a:latin typeface="Meiryo UI"/>
              </a:rPr>
              <a:t> 3 </a:t>
            </a:r>
            <a:r>
              <a:rPr sz="1100" dirty="0" err="1">
                <a:latin typeface="Meiryo UI"/>
              </a:rPr>
              <a:t>枚から</a:t>
            </a:r>
            <a:r>
              <a:rPr sz="1100" dirty="0">
                <a:latin typeface="Meiryo UI"/>
              </a:rPr>
              <a:t> 6 </a:t>
            </a:r>
            <a:r>
              <a:rPr sz="1100" dirty="0" err="1">
                <a:latin typeface="Meiryo UI"/>
              </a:rPr>
              <a:t>枚に、採用のスライドを</a:t>
            </a:r>
            <a:r>
              <a:rPr sz="1100" dirty="0">
                <a:latin typeface="Meiryo UI"/>
              </a:rPr>
              <a:t> 5 </a:t>
            </a:r>
            <a:r>
              <a:rPr sz="1100" dirty="0" err="1">
                <a:latin typeface="Meiryo UI"/>
              </a:rPr>
              <a:t>枚から</a:t>
            </a:r>
            <a:r>
              <a:rPr sz="1100" dirty="0">
                <a:latin typeface="Meiryo UI"/>
              </a:rPr>
              <a:t> 4 </a:t>
            </a:r>
            <a:r>
              <a:rPr sz="1100" dirty="0" err="1">
                <a:latin typeface="Meiryo UI"/>
              </a:rPr>
              <a:t>枚に、動画をループから</a:t>
            </a:r>
            <a:r>
              <a:rPr sz="1100" dirty="0">
                <a:latin typeface="Meiryo UI"/>
              </a:rPr>
              <a:t> 1 </a:t>
            </a:r>
            <a:r>
              <a:rPr sz="1100" dirty="0" err="1">
                <a:latin typeface="Meiryo UI"/>
              </a:rPr>
              <a:t>回再生に、といった変更です</a:t>
            </a:r>
            <a:r>
              <a:rPr sz="1100" dirty="0">
                <a:latin typeface="Meiryo UI"/>
              </a:rPr>
              <a:t>。</a:t>
            </a:r>
          </a:p>
          <a:p>
            <a:r>
              <a:rPr sz="1100" dirty="0" err="1">
                <a:latin typeface="Meiryo UI"/>
              </a:rPr>
              <a:t>要は、細かい</a:t>
            </a:r>
            <a:r>
              <a:rPr sz="1100" dirty="0">
                <a:latin typeface="Meiryo UI"/>
              </a:rPr>
              <a:t> 1 点 1 </a:t>
            </a:r>
            <a:r>
              <a:rPr sz="1100" dirty="0" err="1">
                <a:latin typeface="Meiryo UI"/>
              </a:rPr>
              <a:t>点まで、丁寧に仕上げました</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latin typeface="Meiryo UI"/>
              </a:rPr>
              <a:t>ここからはセキュリティです。2 枚に分けます。1 </a:t>
            </a:r>
            <a:r>
              <a:rPr sz="1100" dirty="0" err="1">
                <a:latin typeface="Meiryo UI"/>
              </a:rPr>
              <a:t>枚目は防御の考え方と、履歴書</a:t>
            </a:r>
            <a:r>
              <a:rPr sz="1100" dirty="0">
                <a:latin typeface="Meiryo UI"/>
              </a:rPr>
              <a:t> PDF </a:t>
            </a:r>
            <a:r>
              <a:rPr sz="1100" dirty="0" err="1">
                <a:latin typeface="Meiryo UI"/>
              </a:rPr>
              <a:t>の検証まわりです</a:t>
            </a:r>
            <a:r>
              <a:rPr sz="1100" dirty="0">
                <a:latin typeface="Meiryo UI"/>
              </a:rPr>
              <a:t>。</a:t>
            </a:r>
          </a:p>
          <a:p>
            <a:r>
              <a:rPr sz="1100" dirty="0">
                <a:latin typeface="Meiryo UI"/>
              </a:rPr>
              <a:t>上段、3 </a:t>
            </a:r>
            <a:r>
              <a:rPr sz="1100" dirty="0" err="1">
                <a:latin typeface="Meiryo UI"/>
              </a:rPr>
              <a:t>段階の防御壁を作っています</a:t>
            </a:r>
            <a:r>
              <a:rPr sz="1100" dirty="0">
                <a:latin typeface="Meiryo UI"/>
              </a:rPr>
              <a:t>。</a:t>
            </a:r>
          </a:p>
          <a:p>
            <a:r>
              <a:rPr sz="1100" dirty="0">
                <a:latin typeface="Meiryo UI"/>
              </a:rPr>
              <a:t>1 </a:t>
            </a:r>
            <a:r>
              <a:rPr sz="1100" dirty="0" err="1">
                <a:latin typeface="Meiryo UI"/>
              </a:rPr>
              <a:t>つ目「入り口で防ぐ」は、ブラウザに動作範囲を宣言する仕組みや、他サイトへの埋め込みを禁止する仕組みです</a:t>
            </a:r>
            <a:r>
              <a:rPr sz="1100" dirty="0">
                <a:latin typeface="Meiryo UI"/>
              </a:rPr>
              <a:t>。</a:t>
            </a:r>
          </a:p>
          <a:p>
            <a:r>
              <a:rPr sz="1100" dirty="0">
                <a:latin typeface="Meiryo UI"/>
              </a:rPr>
              <a:t>2 </a:t>
            </a:r>
            <a:r>
              <a:rPr sz="1100" dirty="0" err="1">
                <a:latin typeface="Meiryo UI"/>
              </a:rPr>
              <a:t>つ目「中身を確認する」は、PDF</a:t>
            </a:r>
            <a:r>
              <a:rPr sz="1100" dirty="0">
                <a:latin typeface="Meiryo UI"/>
              </a:rPr>
              <a:t> の 3 </a:t>
            </a:r>
            <a:r>
              <a:rPr sz="1100" dirty="0" err="1">
                <a:latin typeface="Meiryo UI"/>
              </a:rPr>
              <a:t>段階チェックと、フォーム送信元の確認。想定外の使い方を弾きます</a:t>
            </a:r>
            <a:r>
              <a:rPr sz="1100" dirty="0">
                <a:latin typeface="Meiryo UI"/>
              </a:rPr>
              <a:t>。</a:t>
            </a:r>
          </a:p>
          <a:p>
            <a:r>
              <a:rPr sz="1100" dirty="0">
                <a:latin typeface="Meiryo UI"/>
              </a:rPr>
              <a:t>3 </a:t>
            </a:r>
            <a:r>
              <a:rPr sz="1100" dirty="0" err="1">
                <a:latin typeface="Meiryo UI"/>
              </a:rPr>
              <a:t>つ目「露出を減らす」は、攻撃者にヒントを与えないよう、サーバ情報を隠す工夫ですね</a:t>
            </a:r>
            <a:r>
              <a:rPr sz="1100" dirty="0">
                <a:latin typeface="Meiryo UI"/>
              </a:rPr>
              <a:t>。</a:t>
            </a:r>
          </a:p>
          <a:p>
            <a:r>
              <a:rPr sz="1100" dirty="0" err="1">
                <a:latin typeface="Meiryo UI"/>
              </a:rPr>
              <a:t>下段の</a:t>
            </a:r>
            <a:r>
              <a:rPr sz="1100" dirty="0">
                <a:latin typeface="Meiryo UI"/>
              </a:rPr>
              <a:t> PDF 3 </a:t>
            </a:r>
            <a:r>
              <a:rPr sz="1100" dirty="0" err="1">
                <a:latin typeface="Meiryo UI"/>
              </a:rPr>
              <a:t>層検証は、まず拡張子、次に種類の申告、そして決定的な</a:t>
            </a:r>
            <a:r>
              <a:rPr sz="1100" dirty="0">
                <a:latin typeface="Meiryo UI"/>
              </a:rPr>
              <a:t> 3 </a:t>
            </a:r>
            <a:r>
              <a:rPr sz="1100" dirty="0" err="1">
                <a:latin typeface="Meiryo UI"/>
              </a:rPr>
              <a:t>つ目、ファイル中身の先頭バイトが</a:t>
            </a:r>
            <a:r>
              <a:rPr sz="1100" dirty="0">
                <a:latin typeface="Meiryo UI"/>
              </a:rPr>
              <a:t>「%PDF-」</a:t>
            </a:r>
            <a:r>
              <a:rPr sz="1100" dirty="0" err="1">
                <a:latin typeface="Meiryo UI"/>
              </a:rPr>
              <a:t>で始まっているか。ここまで通ればまず偽装できません</a:t>
            </a:r>
            <a:r>
              <a:rPr sz="1100" dirty="0">
                <a:latin typeface="Meiryo UI"/>
              </a:rPr>
              <a:t>。</a:t>
            </a:r>
          </a:p>
          <a:p>
            <a:r>
              <a:rPr sz="1100" dirty="0" err="1">
                <a:latin typeface="Meiryo UI"/>
              </a:rPr>
              <a:t>要は</a:t>
            </a:r>
            <a:r>
              <a:rPr sz="1100" dirty="0">
                <a:latin typeface="Meiryo UI"/>
              </a:rPr>
              <a:t>、</a:t>
            </a:r>
            <a:r>
              <a:rPr lang="ja-JP" altLang="en-US" sz="1100" dirty="0">
                <a:latin typeface="Meiryo UI"/>
              </a:rPr>
              <a:t>多角的にサイトを</a:t>
            </a:r>
            <a:r>
              <a:rPr sz="1100" dirty="0" err="1">
                <a:latin typeface="Meiryo UI"/>
              </a:rPr>
              <a:t>守っている、ということです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セキュリティ 2 枚目。「結局どこまでやったの？」を数字でお示しします。</a:t>
            </a:r>
          </a:p>
          <a:p>
            <a:r>
              <a:rPr sz="1100">
                <a:latin typeface="Meiryo UI"/>
              </a:rPr>
              <a:t>業界標準のチェックリスト 88 項目を、1 つずつ全部確認しました。</a:t>
            </a:r>
          </a:p>
          <a:p>
            <a:r>
              <a:rPr sz="1100">
                <a:latin typeface="Meiryo UI"/>
              </a:rPr>
              <a:t>まず「対応済み」が、およそ 26 項目。CSP、HSTS、PDF 3 層検証、CSRF 対策など、関係する項目は全て対応済みです。</a:t>
            </a:r>
          </a:p>
          <a:p>
            <a:r>
              <a:rPr sz="1100">
                <a:latin typeface="Meiryo UI"/>
              </a:rPr>
              <a:t>次に「非該当」が、およそ 56 項目。ログイン機能や管理画面など、そもそもこのサイトに無い機能なので、評価対象外という意味です。</a:t>
            </a:r>
          </a:p>
          <a:p>
            <a:r>
              <a:rPr sz="1100">
                <a:latin typeface="Meiryo UI"/>
              </a:rPr>
              <a:t>最後に「運用補完」が、およそ 6 項目。ネットワーク側の防御や定期チェックなど、本番運用時にインフラで補う領域です。</a:t>
            </a:r>
          </a:p>
          <a:p>
            <a:r>
              <a:rPr sz="1100">
                <a:latin typeface="Meiryo UI"/>
              </a:rPr>
              <a:t>要は、該当する項目はすべて対応済み、というのが結論です。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コードの工夫とパフォーマンスをまとめて。</a:t>
            </a:r>
          </a:p>
          <a:p>
            <a:r>
              <a:rPr sz="1100">
                <a:latin typeface="Meiryo UI"/>
              </a:rPr>
              <a:t>左側は日英切替です。右上の JP／EN ボタンを押すと、サイトの文字全部が瞬時に切り替わります。</a:t>
            </a:r>
          </a:p>
          <a:p>
            <a:r>
              <a:rPr sz="1100">
                <a:latin typeface="Meiryo UI"/>
              </a:rPr>
              <a:t>日本語と英語をセットで保存、英語表示ではふりがなを自動非表示、初回はブラウザ言語で自動判定、選んだ言語はブラウザに保存して次回も維持。地味に気の利いた作りです。</a:t>
            </a:r>
          </a:p>
          <a:p>
            <a:r>
              <a:rPr sz="1100">
                <a:latin typeface="Meiryo UI"/>
              </a:rPr>
              <a:t>右側はパフォーマンス 6 項目。画像は 50 メガから 4 メガへ、10 分の 1 に圧縮。ブラウザに合わせた軽い画像形式を自動配信。監視役は 20 人分を 1 人に集約。動画も 10 分の 1。今回追加の PNG 写真も JPG 化で 10 分の 1。通信も先回りしています。</a:t>
            </a:r>
          </a:p>
          <a:p>
            <a:r>
              <a:rPr sz="1100">
                <a:latin typeface="Meiryo UI"/>
              </a:rPr>
              <a:t>要は、「サクサク動く」を多角的に作り込んだ、ということです。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それでは、改めてまとめます。5 つの軸で作りました。</a:t>
            </a:r>
          </a:p>
          <a:p>
            <a:r>
              <a:rPr sz="1100">
                <a:latin typeface="Meiryo UI"/>
              </a:rPr>
              <a:t>1 つ目、セキュリティ。88 項目監査、CSP、PDF 3 層検証、CSRF まで多重防御。</a:t>
            </a:r>
          </a:p>
          <a:p>
            <a:r>
              <a:rPr sz="1100">
                <a:latin typeface="Meiryo UI"/>
              </a:rPr>
              <a:t>2 つ目、スマホでの使いやすさ。スライドメニュー、背景ロック、タップ拡大。</a:t>
            </a:r>
          </a:p>
          <a:p>
            <a:r>
              <a:rPr sz="1100">
                <a:latin typeface="Meiryo UI"/>
              </a:rPr>
              <a:t>3 つ目、ビジュアル。歯車動画の 1 回再生、6 枚のスライドショー、縦棒見出し。</a:t>
            </a:r>
          </a:p>
          <a:p>
            <a:r>
              <a:rPr sz="1100">
                <a:latin typeface="Meiryo UI"/>
              </a:rPr>
              <a:t>4 つ目、国際化。ボタン 1 つで日英切替。</a:t>
            </a:r>
          </a:p>
          <a:p>
            <a:r>
              <a:rPr sz="1100">
                <a:latin typeface="Meiryo UI"/>
              </a:rPr>
              <a:t>そして 5 つ目、性能と表示保証。画像 10 分の 1 圧縮、監視役の集約、そして「消えない設計」ですね。</a:t>
            </a:r>
          </a:p>
          <a:p>
            <a:r>
              <a:rPr sz="1100">
                <a:latin typeface="Meiryo UI"/>
              </a:rPr>
              <a:t>ご清聴ありがとうございました。ご質問があればお願いいたします。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1097280" y="1554480"/>
            <a:ext cx="10058400" cy="502920"/>
          </a:xfrm>
          <a:prstGeom prst="rect">
            <a:avLst/>
          </a:prstGeom>
          <a:noFill/>
          <a:ln/>
        </p:spPr>
        <p:txBody>
          <a:bodyPr wrap="square" lIns="0" tIns="0" rIns="0" bIns="0" rtlCol="0" anchor="ctr"/>
          <a:lstStyle/>
          <a:p>
            <a:pPr marL="0" indent="0">
              <a:buNone/>
            </a:pPr>
            <a:r>
              <a:rPr lang="en-US" sz="1600" b="1" kern="0" spc="800" dirty="0">
                <a:solidFill>
                  <a:srgbClr val="EBC528"/>
                </a:solidFill>
                <a:latin typeface="Meiryo UI" pitchFamily="34" charset="0"/>
                <a:ea typeface="Meiryo UI" pitchFamily="34" charset="-122"/>
                <a:cs typeface="Meiryo UI" pitchFamily="34" charset="-120"/>
              </a:rPr>
              <a:t>CORPORATE WEBSITE PITCH</a:t>
            </a:r>
            <a:endParaRPr lang="en-US" sz="1600" dirty="0">
              <a:latin typeface="Meiryo UI"/>
              <a:ea typeface="Meiryo UI"/>
            </a:endParaRPr>
          </a:p>
        </p:txBody>
      </p:sp>
      <p:sp>
        <p:nvSpPr>
          <p:cNvPr id="4" name="Text 2"/>
          <p:cNvSpPr/>
          <p:nvPr/>
        </p:nvSpPr>
        <p:spPr>
          <a:xfrm>
            <a:off x="1097280" y="2194560"/>
            <a:ext cx="10058400" cy="1097280"/>
          </a:xfrm>
          <a:prstGeom prst="rect">
            <a:avLst/>
          </a:prstGeom>
          <a:noFill/>
          <a:ln/>
        </p:spPr>
        <p:txBody>
          <a:bodyPr wrap="square" lIns="0" tIns="0" rIns="0" bIns="0" rtlCol="0" anchor="ctr"/>
          <a:lstStyle/>
          <a:p>
            <a:pPr marL="0" indent="0">
              <a:buNone/>
            </a:pPr>
            <a:r>
              <a:rPr lang="en-US" altLang="ja-JP" sz="5400" b="1" dirty="0">
                <a:solidFill>
                  <a:srgbClr val="FFFFFF"/>
                </a:solidFill>
                <a:latin typeface="Meiryo UI" pitchFamily="34" charset="0"/>
                <a:ea typeface="Meiryo UI" pitchFamily="34" charset="-122"/>
                <a:cs typeface="Meiryo UI" pitchFamily="34" charset="-120"/>
              </a:rPr>
              <a:t>LPCC</a:t>
            </a:r>
            <a:r>
              <a:rPr lang="ja-JP" altLang="en-US" sz="5400" b="1" dirty="0">
                <a:solidFill>
                  <a:srgbClr val="FFFFFF"/>
                </a:solidFill>
                <a:latin typeface="Meiryo UI" pitchFamily="34" charset="0"/>
                <a:ea typeface="Meiryo UI" pitchFamily="34" charset="-122"/>
                <a:cs typeface="Meiryo UI" pitchFamily="34" charset="-120"/>
              </a:rPr>
              <a:t>　サイト作成</a:t>
            </a:r>
            <a:r>
              <a:rPr lang="en-US" altLang="ja-JP" sz="5400" b="1">
                <a:solidFill>
                  <a:srgbClr val="FFFFFF"/>
                </a:solidFill>
                <a:latin typeface="Meiryo UI" pitchFamily="34" charset="0"/>
                <a:ea typeface="Meiryo UI" pitchFamily="34" charset="-122"/>
                <a:cs typeface="Meiryo UI" pitchFamily="34" charset="-120"/>
              </a:rPr>
              <a:t>PJ-</a:t>
            </a:r>
            <a:r>
              <a:rPr lang="ja-JP" altLang="en-US" sz="5400" b="1" dirty="0">
                <a:solidFill>
                  <a:srgbClr val="FFFFFF"/>
                </a:solidFill>
                <a:latin typeface="Meiryo UI" pitchFamily="34" charset="0"/>
                <a:ea typeface="Meiryo UI" pitchFamily="34" charset="-122"/>
                <a:cs typeface="Meiryo UI" pitchFamily="34" charset="-120"/>
              </a:rPr>
              <a:t>とっておき</a:t>
            </a:r>
            <a:r>
              <a:rPr lang="en-US" altLang="ja-JP" sz="5400" b="1" dirty="0">
                <a:solidFill>
                  <a:srgbClr val="FFFFFF"/>
                </a:solidFill>
                <a:latin typeface="Meiryo UI" pitchFamily="34" charset="0"/>
                <a:ea typeface="Meiryo UI" pitchFamily="34" charset="-122"/>
                <a:cs typeface="Meiryo UI" pitchFamily="34" charset="-120"/>
              </a:rPr>
              <a:t>-</a:t>
            </a:r>
            <a:endParaRPr lang="en-US" sz="5400" dirty="0">
              <a:latin typeface="Meiryo UI"/>
              <a:ea typeface="Meiryo UI"/>
            </a:endParaRPr>
          </a:p>
        </p:txBody>
      </p:sp>
      <p:sp>
        <p:nvSpPr>
          <p:cNvPr id="5" name="Text 3"/>
          <p:cNvSpPr/>
          <p:nvPr/>
        </p:nvSpPr>
        <p:spPr>
          <a:xfrm>
            <a:off x="1097280" y="3383280"/>
            <a:ext cx="10058400" cy="640080"/>
          </a:xfrm>
          <a:prstGeom prst="rect">
            <a:avLst/>
          </a:prstGeom>
          <a:noFill/>
          <a:ln/>
        </p:spPr>
        <p:txBody>
          <a:bodyPr wrap="square" lIns="0" tIns="0" rIns="0" bIns="0" rtlCol="0" anchor="ctr"/>
          <a:lstStyle/>
          <a:p>
            <a:pPr marL="0" indent="0">
              <a:buNone/>
            </a:pPr>
            <a:r>
              <a:rPr lang="en-US" sz="2400" dirty="0">
                <a:solidFill>
                  <a:srgbClr val="FFFFFF"/>
                </a:solidFill>
                <a:latin typeface="Meiryo UI" pitchFamily="34" charset="0"/>
                <a:ea typeface="Meiryo UI" pitchFamily="34" charset="-122"/>
                <a:cs typeface="Meiryo UI" pitchFamily="34" charset="-120"/>
              </a:rPr>
              <a:t>セキュリティ・モバイル・アニメーションを軸にした実装</a:t>
            </a:r>
            <a:endParaRPr lang="en-US" sz="2400" dirty="0">
              <a:latin typeface="Meiryo UI"/>
              <a:ea typeface="Meiryo UI"/>
            </a:endParaRPr>
          </a:p>
        </p:txBody>
      </p:sp>
      <p:sp>
        <p:nvSpPr>
          <p:cNvPr id="6" name="Shape 4"/>
          <p:cNvSpPr/>
          <p:nvPr/>
        </p:nvSpPr>
        <p:spPr>
          <a:xfrm>
            <a:off x="1097280" y="4251960"/>
            <a:ext cx="1463040" cy="54864"/>
          </a:xfrm>
          <a:prstGeom prst="rect">
            <a:avLst/>
          </a:prstGeom>
          <a:solidFill>
            <a:srgbClr val="EBC528"/>
          </a:solidFill>
          <a:ln/>
        </p:spPr>
        <p:txBody>
          <a:bodyPr/>
          <a:lstStyle/>
          <a:p>
            <a:endParaRPr lang="ja-JP" altLang="en-US">
              <a:latin typeface="Meiryo UI"/>
              <a:ea typeface="Meiryo UI"/>
            </a:endParaRPr>
          </a:p>
        </p:txBody>
      </p:sp>
      <p:sp>
        <p:nvSpPr>
          <p:cNvPr id="7" name="Text 5"/>
          <p:cNvSpPr/>
          <p:nvPr/>
        </p:nvSpPr>
        <p:spPr>
          <a:xfrm>
            <a:off x="1097280" y="4434840"/>
            <a:ext cx="10058400" cy="411480"/>
          </a:xfrm>
          <a:prstGeom prst="rect">
            <a:avLst/>
          </a:prstGeom>
          <a:noFill/>
          <a:ln/>
        </p:spPr>
        <p:txBody>
          <a:bodyPr wrap="square" lIns="0" tIns="0" rIns="0" bIns="0" rtlCol="0" anchor="ctr"/>
          <a:lstStyle/>
          <a:p>
            <a:pPr marL="0" indent="0">
              <a:buNone/>
            </a:pPr>
            <a:r>
              <a:rPr lang="en-US" sz="1600" dirty="0">
                <a:solidFill>
                  <a:srgbClr val="CBD5E1"/>
                </a:solidFill>
                <a:latin typeface="Meiryo UI" pitchFamily="34" charset="0"/>
                <a:ea typeface="Meiryo UI" pitchFamily="34" charset="-122"/>
                <a:cs typeface="Meiryo UI" pitchFamily="34" charset="-120"/>
              </a:rPr>
              <a:t>Next.js 15 + React 19 + TypeScript + Tailwind CSS</a:t>
            </a:r>
            <a:endParaRPr lang="en-US" sz="1600" dirty="0">
              <a:latin typeface="Meiryo UI"/>
              <a:ea typeface="Meiryo UI"/>
            </a:endParaRPr>
          </a:p>
        </p:txBody>
      </p:sp>
      <p:sp>
        <p:nvSpPr>
          <p:cNvPr id="8" name="Text 6"/>
          <p:cNvSpPr/>
          <p:nvPr/>
        </p:nvSpPr>
        <p:spPr>
          <a:xfrm>
            <a:off x="1097280" y="4983480"/>
            <a:ext cx="10058400" cy="411480"/>
          </a:xfrm>
          <a:prstGeom prst="rect">
            <a:avLst/>
          </a:prstGeom>
          <a:noFill/>
          <a:ln/>
        </p:spPr>
        <p:txBody>
          <a:bodyPr wrap="square" lIns="0" tIns="0" rIns="0" bIns="0" rtlCol="0" anchor="ctr"/>
          <a:lstStyle/>
          <a:p>
            <a:pPr marL="0" indent="0">
              <a:buNone/>
            </a:pPr>
            <a:r>
              <a:rPr lang="en-US" sz="1600" dirty="0">
                <a:solidFill>
                  <a:srgbClr val="CBD5E1"/>
                </a:solidFill>
                <a:latin typeface="Meiryo UI" pitchFamily="34" charset="0"/>
                <a:ea typeface="Meiryo UI" pitchFamily="34" charset="-122"/>
                <a:cs typeface="Meiryo UI" pitchFamily="34" charset="-120"/>
              </a:rPr>
              <a:t>6-8 分のプレゼンテーション（初心者向け・v6 最新版）</a:t>
            </a:r>
            <a:endParaRPr lang="en-US" sz="1600" dirty="0">
              <a:latin typeface="Meiryo UI"/>
              <a:ea typeface="Meiryo UI"/>
            </a:endParaRPr>
          </a:p>
        </p:txBody>
      </p:sp>
      <p:sp>
        <p:nvSpPr>
          <p:cNvPr id="9" name="Text 7"/>
          <p:cNvSpPr/>
          <p:nvPr/>
        </p:nvSpPr>
        <p:spPr>
          <a:xfrm>
            <a:off x="1097280" y="5943600"/>
            <a:ext cx="5486400" cy="365760"/>
          </a:xfrm>
          <a:prstGeom prst="rect">
            <a:avLst/>
          </a:prstGeom>
          <a:noFill/>
          <a:ln/>
        </p:spPr>
        <p:txBody>
          <a:bodyPr wrap="square" lIns="0" tIns="0" rIns="0" bIns="0" rtlCol="0" anchor="ctr"/>
          <a:lstStyle/>
          <a:p>
            <a:pPr marL="0" indent="0">
              <a:buNone/>
            </a:pPr>
            <a:r>
              <a:rPr lang="en-US" sz="1400" dirty="0">
                <a:solidFill>
                  <a:srgbClr val="94A3B8"/>
                </a:solidFill>
                <a:latin typeface="Meiryo UI" pitchFamily="34" charset="0"/>
                <a:ea typeface="Meiryo UI" pitchFamily="34" charset="-122"/>
                <a:cs typeface="Meiryo UI" pitchFamily="34" charset="-120"/>
              </a:rPr>
              <a:t>株式会社ライトパス</a:t>
            </a:r>
            <a:endParaRPr lang="en-US" sz="1400" dirty="0">
              <a:latin typeface="Meiryo UI"/>
              <a:ea typeface="Meiryo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01  OVERVIEW</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プロジェクト概要</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最新のレシピで「ちゃんと動く本格的な会社サイト」を一式作りました。</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安全・スマホ対応・気持ちいい動き・日英対応 ぜんぶ入りです。</a:t>
            </a:r>
            <a:endParaRPr lang="en-US" sz="1800" dirty="0">
              <a:latin typeface="Meiryo UI"/>
              <a:ea typeface="Meiryo UI"/>
            </a:endParaRPr>
          </a:p>
        </p:txBody>
      </p:sp>
      <p:sp>
        <p:nvSpPr>
          <p:cNvPr id="10" name="Shape 8"/>
          <p:cNvSpPr/>
          <p:nvPr/>
        </p:nvSpPr>
        <p:spPr>
          <a:xfrm>
            <a:off x="548640" y="2971800"/>
            <a:ext cx="356616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1" name="Shape 9"/>
          <p:cNvSpPr/>
          <p:nvPr/>
        </p:nvSpPr>
        <p:spPr>
          <a:xfrm>
            <a:off x="548640" y="2971800"/>
            <a:ext cx="3566160" cy="548640"/>
          </a:xfrm>
          <a:prstGeom prst="rect">
            <a:avLst/>
          </a:prstGeom>
          <a:solidFill>
            <a:srgbClr val="EBC528"/>
          </a:solidFill>
          <a:ln/>
        </p:spPr>
        <p:txBody>
          <a:bodyPr/>
          <a:lstStyle/>
          <a:p>
            <a:endParaRPr lang="ja-JP" altLang="en-US">
              <a:latin typeface="Meiryo UI"/>
              <a:ea typeface="Meiryo UI"/>
            </a:endParaRPr>
          </a:p>
        </p:txBody>
      </p:sp>
      <p:sp>
        <p:nvSpPr>
          <p:cNvPr id="12" name="Text 10"/>
          <p:cNvSpPr/>
          <p:nvPr/>
        </p:nvSpPr>
        <p:spPr>
          <a:xfrm>
            <a:off x="777240" y="2971800"/>
            <a:ext cx="3200400" cy="548640"/>
          </a:xfrm>
          <a:prstGeom prst="rect">
            <a:avLst/>
          </a:prstGeom>
          <a:noFill/>
          <a:ln/>
        </p:spPr>
        <p:txBody>
          <a:bodyPr wrap="square" lIns="0" tIns="0" rIns="0" bIns="0" rtlCol="0" anchor="ctr"/>
          <a:lstStyle/>
          <a:p>
            <a:pPr marL="0" indent="0">
              <a:buNone/>
            </a:pPr>
            <a:r>
              <a:rPr lang="ja-JP" altLang="en-US" sz="1700" b="1" dirty="0">
                <a:solidFill>
                  <a:srgbClr val="0F172A"/>
                </a:solidFill>
                <a:latin typeface="Meiryo UI" pitchFamily="34" charset="0"/>
                <a:ea typeface="Meiryo UI" pitchFamily="34" charset="-122"/>
              </a:rPr>
              <a:t>使用ソフトウェア</a:t>
            </a:r>
            <a:endParaRPr lang="en-US" sz="1700" dirty="0">
              <a:latin typeface="Meiryo UI"/>
              <a:ea typeface="Meiryo UI"/>
            </a:endParaRPr>
          </a:p>
        </p:txBody>
      </p:sp>
      <p:sp>
        <p:nvSpPr>
          <p:cNvPr id="13" name="Text 11"/>
          <p:cNvSpPr/>
          <p:nvPr/>
        </p:nvSpPr>
        <p:spPr>
          <a:xfrm>
            <a:off x="77724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Next.js 15 (App Router)</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React 19 / TypeScript</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Tailwind CSS 3.4</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CSS Variables でテーマ管理</a:t>
            </a:r>
            <a:endParaRPr lang="en-US" sz="1400" dirty="0">
              <a:latin typeface="Meiryo UI"/>
              <a:ea typeface="Meiryo UI"/>
            </a:endParaRPr>
          </a:p>
        </p:txBody>
      </p:sp>
      <p:sp>
        <p:nvSpPr>
          <p:cNvPr id="14" name="Shape 12"/>
          <p:cNvSpPr/>
          <p:nvPr/>
        </p:nvSpPr>
        <p:spPr>
          <a:xfrm>
            <a:off x="4343400" y="2971800"/>
            <a:ext cx="356616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5" name="Shape 13"/>
          <p:cNvSpPr/>
          <p:nvPr/>
        </p:nvSpPr>
        <p:spPr>
          <a:xfrm>
            <a:off x="4343400" y="2971800"/>
            <a:ext cx="3566160" cy="548640"/>
          </a:xfrm>
          <a:prstGeom prst="rect">
            <a:avLst/>
          </a:prstGeom>
          <a:solidFill>
            <a:srgbClr val="10B981"/>
          </a:solidFill>
          <a:ln/>
        </p:spPr>
        <p:txBody>
          <a:bodyPr/>
          <a:lstStyle/>
          <a:p>
            <a:endParaRPr lang="ja-JP" altLang="en-US">
              <a:latin typeface="Meiryo UI"/>
              <a:ea typeface="Meiryo UI"/>
            </a:endParaRPr>
          </a:p>
        </p:txBody>
      </p:sp>
      <p:sp>
        <p:nvSpPr>
          <p:cNvPr id="16" name="Text 14"/>
          <p:cNvSpPr/>
          <p:nvPr/>
        </p:nvSpPr>
        <p:spPr>
          <a:xfrm>
            <a:off x="4572000" y="2971800"/>
            <a:ext cx="3200400" cy="548640"/>
          </a:xfrm>
          <a:prstGeom prst="rect">
            <a:avLst/>
          </a:prstGeom>
          <a:noFill/>
          <a:ln/>
        </p:spPr>
        <p:txBody>
          <a:bodyPr wrap="square" lIns="0" tIns="0" rIns="0" bIns="0" rtlCol="0" anchor="ctr"/>
          <a:lstStyle/>
          <a:p>
            <a:pPr marL="0" indent="0">
              <a:buNone/>
            </a:pPr>
            <a:r>
              <a:rPr lang="en-US" sz="1700" b="1" dirty="0">
                <a:solidFill>
                  <a:srgbClr val="FFFFFF"/>
                </a:solidFill>
                <a:latin typeface="Meiryo UI" pitchFamily="34" charset="0"/>
                <a:ea typeface="Meiryo UI" pitchFamily="34" charset="-122"/>
                <a:cs typeface="Meiryo UI" pitchFamily="34" charset="-120"/>
              </a:rPr>
              <a:t>実装ページ</a:t>
            </a:r>
            <a:endParaRPr lang="en-US" sz="1700" dirty="0">
              <a:latin typeface="Meiryo UI"/>
              <a:ea typeface="Meiryo UI"/>
            </a:endParaRPr>
          </a:p>
        </p:txBody>
      </p:sp>
      <p:sp>
        <p:nvSpPr>
          <p:cNvPr id="17" name="Text 15"/>
          <p:cNvSpPr/>
          <p:nvPr/>
        </p:nvSpPr>
        <p:spPr>
          <a:xfrm>
            <a:off x="457200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ホーム（動画背景）</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会社案内</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採用（カルーセル 4 枚）</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お問い合わせ / プライバシー</a:t>
            </a:r>
            <a:endParaRPr lang="en-US" sz="1400" dirty="0">
              <a:latin typeface="Meiryo UI"/>
              <a:ea typeface="Meiryo UI"/>
            </a:endParaRPr>
          </a:p>
        </p:txBody>
      </p:sp>
      <p:sp>
        <p:nvSpPr>
          <p:cNvPr id="18" name="Shape 16"/>
          <p:cNvSpPr/>
          <p:nvPr/>
        </p:nvSpPr>
        <p:spPr>
          <a:xfrm>
            <a:off x="8138160" y="2971800"/>
            <a:ext cx="356616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9" name="Shape 17"/>
          <p:cNvSpPr/>
          <p:nvPr/>
        </p:nvSpPr>
        <p:spPr>
          <a:xfrm>
            <a:off x="8138160" y="2971800"/>
            <a:ext cx="3566160" cy="548640"/>
          </a:xfrm>
          <a:prstGeom prst="rect">
            <a:avLst/>
          </a:prstGeom>
          <a:solidFill>
            <a:srgbClr val="EF4444"/>
          </a:solidFill>
          <a:ln/>
        </p:spPr>
        <p:txBody>
          <a:bodyPr/>
          <a:lstStyle/>
          <a:p>
            <a:endParaRPr lang="ja-JP" altLang="en-US">
              <a:latin typeface="Meiryo UI"/>
              <a:ea typeface="Meiryo UI"/>
            </a:endParaRPr>
          </a:p>
        </p:txBody>
      </p:sp>
      <p:sp>
        <p:nvSpPr>
          <p:cNvPr id="20" name="Text 18"/>
          <p:cNvSpPr/>
          <p:nvPr/>
        </p:nvSpPr>
        <p:spPr>
          <a:xfrm>
            <a:off x="8366760" y="2971800"/>
            <a:ext cx="3200400" cy="548640"/>
          </a:xfrm>
          <a:prstGeom prst="rect">
            <a:avLst/>
          </a:prstGeom>
          <a:noFill/>
          <a:ln/>
        </p:spPr>
        <p:txBody>
          <a:bodyPr wrap="square" lIns="0" tIns="0" rIns="0" bIns="0" rtlCol="0" anchor="ctr"/>
          <a:lstStyle/>
          <a:p>
            <a:pPr marL="0" indent="0">
              <a:buNone/>
            </a:pPr>
            <a:r>
              <a:rPr lang="en-US" sz="1700" b="1" dirty="0">
                <a:solidFill>
                  <a:srgbClr val="FFFFFF"/>
                </a:solidFill>
                <a:latin typeface="Meiryo UI" pitchFamily="34" charset="0"/>
                <a:ea typeface="Meiryo UI" pitchFamily="34" charset="-122"/>
                <a:cs typeface="Meiryo UI" pitchFamily="34" charset="-120"/>
              </a:rPr>
              <a:t>重点アピール</a:t>
            </a:r>
            <a:endParaRPr lang="en-US" sz="1700" dirty="0">
              <a:latin typeface="Meiryo UI"/>
              <a:ea typeface="Meiryo UI"/>
            </a:endParaRPr>
          </a:p>
        </p:txBody>
      </p:sp>
      <p:sp>
        <p:nvSpPr>
          <p:cNvPr id="21" name="Text 19"/>
          <p:cNvSpPr/>
          <p:nvPr/>
        </p:nvSpPr>
        <p:spPr>
          <a:xfrm>
            <a:off x="836676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セキュリティ（多層防御）</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スマホ用 UX</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動画・カルーセル・マーキー</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日英切替（i18n）</a:t>
            </a:r>
            <a:endParaRPr lang="en-US" sz="1400" dirty="0">
              <a:latin typeface="Meiryo UI"/>
              <a:ea typeface="Meiryo UI"/>
            </a:endParaRPr>
          </a:p>
        </p:txBody>
      </p:sp>
      <p:sp>
        <p:nvSpPr>
          <p:cNvPr id="22" name="Text 20"/>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23" name="Text 21"/>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2 / 10</a:t>
            </a:r>
            <a:endParaRPr lang="en-US" sz="1000" dirty="0">
              <a:latin typeface="Meiryo UI"/>
              <a:ea typeface="Meiryo UI"/>
            </a:endParaRPr>
          </a:p>
        </p:txBody>
      </p:sp>
      <p:pic>
        <p:nvPicPr>
          <p:cNvPr id="24" name="Picture 23"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02  DESIGN</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デザインで工夫したところ</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色は 1 か所で管理し、見出しは「▎」風の黄色縦棒で統一。</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後から色変えも見た目調整も、少ない編集で全ページ一括反映できます。</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テーマカラーの集中管理</a:t>
            </a:r>
            <a:endParaRPr lang="en-US" sz="1600" dirty="0">
              <a:latin typeface="Meiryo UI"/>
              <a:ea typeface="Meiryo UI"/>
            </a:endParaRPr>
          </a:p>
        </p:txBody>
      </p:sp>
      <p:sp>
        <p:nvSpPr>
          <p:cNvPr id="12" name="Shape 10"/>
          <p:cNvSpPr/>
          <p:nvPr/>
        </p:nvSpPr>
        <p:spPr>
          <a:xfrm>
            <a:off x="822960" y="3566160"/>
            <a:ext cx="1371600" cy="822960"/>
          </a:xfrm>
          <a:prstGeom prst="rect">
            <a:avLst/>
          </a:prstGeom>
          <a:solidFill>
            <a:srgbClr val="EBC528"/>
          </a:solidFill>
          <a:ln/>
        </p:spPr>
        <p:txBody>
          <a:bodyPr/>
          <a:lstStyle/>
          <a:p>
            <a:endParaRPr lang="ja-JP" altLang="en-US">
              <a:latin typeface="Meiryo UI"/>
              <a:ea typeface="Meiryo UI"/>
            </a:endParaRPr>
          </a:p>
        </p:txBody>
      </p:sp>
      <p:sp>
        <p:nvSpPr>
          <p:cNvPr id="13" name="Text 11"/>
          <p:cNvSpPr/>
          <p:nvPr/>
        </p:nvSpPr>
        <p:spPr>
          <a:xfrm>
            <a:off x="822960" y="3566160"/>
            <a:ext cx="1371600" cy="365760"/>
          </a:xfrm>
          <a:prstGeom prst="rect">
            <a:avLst/>
          </a:prstGeom>
          <a:noFill/>
          <a:ln/>
        </p:spPr>
        <p:txBody>
          <a:bodyPr wrap="square" lIns="0" tIns="0" rIns="0" bIns="0" rtlCol="0" anchor="t"/>
          <a:lstStyle/>
          <a:p>
            <a:pPr marL="0" indent="0" algn="ctr">
              <a:buNone/>
            </a:pPr>
            <a:r>
              <a:rPr lang="en-US" sz="1000" b="1" dirty="0">
                <a:solidFill>
                  <a:srgbClr val="0F172A"/>
                </a:solidFill>
                <a:latin typeface="Meiryo UI" pitchFamily="34" charset="0"/>
                <a:ea typeface="Meiryo UI" pitchFamily="34" charset="-122"/>
                <a:cs typeface="Meiryo UI" pitchFamily="34" charset="-120"/>
              </a:rPr>
              <a:t>PRIMARY</a:t>
            </a:r>
            <a:endParaRPr lang="en-US" sz="1000" dirty="0">
              <a:latin typeface="Meiryo UI"/>
              <a:ea typeface="Meiryo UI"/>
            </a:endParaRPr>
          </a:p>
        </p:txBody>
      </p:sp>
      <p:sp>
        <p:nvSpPr>
          <p:cNvPr id="14" name="Text 12"/>
          <p:cNvSpPr/>
          <p:nvPr/>
        </p:nvSpPr>
        <p:spPr>
          <a:xfrm>
            <a:off x="822960" y="3886200"/>
            <a:ext cx="1371600" cy="457200"/>
          </a:xfrm>
          <a:prstGeom prst="rect">
            <a:avLst/>
          </a:prstGeom>
          <a:noFill/>
          <a:ln/>
        </p:spPr>
        <p:txBody>
          <a:bodyPr wrap="square" lIns="0" tIns="0" rIns="0" bIns="0" rtlCol="0" anchor="ctr"/>
          <a:lstStyle/>
          <a:p>
            <a:pPr marL="0" indent="0" algn="ctr">
              <a:buNone/>
            </a:pPr>
            <a:r>
              <a:rPr lang="en-US" sz="1200" b="1" dirty="0">
                <a:solidFill>
                  <a:srgbClr val="0F172A"/>
                </a:solidFill>
                <a:latin typeface="Meiryo UI" pitchFamily="34" charset="0"/>
                <a:ea typeface="Meiryo UI" pitchFamily="34" charset="-122"/>
                <a:cs typeface="Meiryo UI" pitchFamily="34" charset="-120"/>
              </a:rPr>
              <a:t>#EBC528</a:t>
            </a:r>
            <a:endParaRPr lang="en-US" sz="1200" dirty="0">
              <a:latin typeface="Meiryo UI"/>
              <a:ea typeface="Meiryo UI"/>
            </a:endParaRPr>
          </a:p>
        </p:txBody>
      </p:sp>
      <p:sp>
        <p:nvSpPr>
          <p:cNvPr id="15" name="Shape 13"/>
          <p:cNvSpPr/>
          <p:nvPr/>
        </p:nvSpPr>
        <p:spPr>
          <a:xfrm>
            <a:off x="2331720" y="3566160"/>
            <a:ext cx="1371600" cy="822960"/>
          </a:xfrm>
          <a:prstGeom prst="rect">
            <a:avLst/>
          </a:prstGeom>
          <a:solidFill>
            <a:srgbClr val="0F172A"/>
          </a:solidFill>
          <a:ln/>
        </p:spPr>
        <p:txBody>
          <a:bodyPr/>
          <a:lstStyle/>
          <a:p>
            <a:endParaRPr lang="ja-JP" altLang="en-US">
              <a:latin typeface="Meiryo UI"/>
              <a:ea typeface="Meiryo UI"/>
            </a:endParaRPr>
          </a:p>
        </p:txBody>
      </p:sp>
      <p:sp>
        <p:nvSpPr>
          <p:cNvPr id="16" name="Text 14"/>
          <p:cNvSpPr/>
          <p:nvPr/>
        </p:nvSpPr>
        <p:spPr>
          <a:xfrm>
            <a:off x="2331720" y="3566160"/>
            <a:ext cx="1371600" cy="365760"/>
          </a:xfrm>
          <a:prstGeom prst="rect">
            <a:avLst/>
          </a:prstGeom>
          <a:noFill/>
          <a:ln/>
        </p:spPr>
        <p:txBody>
          <a:bodyPr wrap="square" lIns="0" tIns="0" rIns="0" bIns="0" rtlCol="0" anchor="t"/>
          <a:lstStyle/>
          <a:p>
            <a:pPr marL="0" indent="0" algn="ctr">
              <a:buNone/>
            </a:pPr>
            <a:r>
              <a:rPr lang="en-US" sz="1000" b="1" dirty="0">
                <a:solidFill>
                  <a:srgbClr val="EBC528"/>
                </a:solidFill>
                <a:latin typeface="Meiryo UI" pitchFamily="34" charset="0"/>
                <a:ea typeface="Meiryo UI" pitchFamily="34" charset="-122"/>
                <a:cs typeface="Meiryo UI" pitchFamily="34" charset="-120"/>
              </a:rPr>
              <a:t>ACCENT</a:t>
            </a:r>
            <a:endParaRPr lang="en-US" sz="1000" dirty="0">
              <a:latin typeface="Meiryo UI"/>
              <a:ea typeface="Meiryo UI"/>
            </a:endParaRPr>
          </a:p>
        </p:txBody>
      </p:sp>
      <p:sp>
        <p:nvSpPr>
          <p:cNvPr id="17" name="Text 15"/>
          <p:cNvSpPr/>
          <p:nvPr/>
        </p:nvSpPr>
        <p:spPr>
          <a:xfrm>
            <a:off x="2331720" y="3886200"/>
            <a:ext cx="1371600" cy="457200"/>
          </a:xfrm>
          <a:prstGeom prst="rect">
            <a:avLst/>
          </a:prstGeom>
          <a:noFill/>
          <a:ln/>
        </p:spPr>
        <p:txBody>
          <a:bodyPr wrap="square" lIns="0" tIns="0" rIns="0" bIns="0" rtlCol="0" anchor="ctr"/>
          <a:lstStyle/>
          <a:p>
            <a:pPr marL="0" indent="0" algn="ctr">
              <a:buNone/>
            </a:pPr>
            <a:r>
              <a:rPr lang="en-US" sz="1200" b="1" dirty="0">
                <a:solidFill>
                  <a:srgbClr val="EBC528"/>
                </a:solidFill>
                <a:latin typeface="Meiryo UI" pitchFamily="34" charset="0"/>
                <a:ea typeface="Meiryo UI" pitchFamily="34" charset="-122"/>
                <a:cs typeface="Meiryo UI" pitchFamily="34" charset="-120"/>
              </a:rPr>
              <a:t>#0F172A</a:t>
            </a:r>
            <a:endParaRPr lang="en-US" sz="1200" dirty="0">
              <a:latin typeface="Meiryo UI"/>
              <a:ea typeface="Meiryo UI"/>
            </a:endParaRPr>
          </a:p>
        </p:txBody>
      </p:sp>
      <p:sp>
        <p:nvSpPr>
          <p:cNvPr id="18" name="Shape 16"/>
          <p:cNvSpPr/>
          <p:nvPr/>
        </p:nvSpPr>
        <p:spPr>
          <a:xfrm>
            <a:off x="3840480" y="3566160"/>
            <a:ext cx="1371600" cy="82296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9" name="Text 17"/>
          <p:cNvSpPr/>
          <p:nvPr/>
        </p:nvSpPr>
        <p:spPr>
          <a:xfrm>
            <a:off x="3840480" y="3566160"/>
            <a:ext cx="1371600" cy="365760"/>
          </a:xfrm>
          <a:prstGeom prst="rect">
            <a:avLst/>
          </a:prstGeom>
          <a:noFill/>
          <a:ln/>
        </p:spPr>
        <p:txBody>
          <a:bodyPr wrap="square" lIns="0" tIns="0" rIns="0" bIns="0" rtlCol="0" anchor="t"/>
          <a:lstStyle/>
          <a:p>
            <a:pPr marL="0" indent="0" algn="ctr">
              <a:buNone/>
            </a:pPr>
            <a:r>
              <a:rPr lang="en-US" sz="1000" b="1" dirty="0">
                <a:solidFill>
                  <a:srgbClr val="0F172A"/>
                </a:solidFill>
                <a:latin typeface="Meiryo UI" pitchFamily="34" charset="0"/>
                <a:ea typeface="Meiryo UI" pitchFamily="34" charset="-122"/>
                <a:cs typeface="Meiryo UI" pitchFamily="34" charset="-120"/>
              </a:rPr>
              <a:t>BG</a:t>
            </a:r>
            <a:endParaRPr lang="en-US" sz="1000" dirty="0">
              <a:latin typeface="Meiryo UI"/>
              <a:ea typeface="Meiryo UI"/>
            </a:endParaRPr>
          </a:p>
        </p:txBody>
      </p:sp>
      <p:sp>
        <p:nvSpPr>
          <p:cNvPr id="20" name="Text 18"/>
          <p:cNvSpPr/>
          <p:nvPr/>
        </p:nvSpPr>
        <p:spPr>
          <a:xfrm>
            <a:off x="3840480" y="3886200"/>
            <a:ext cx="1371600" cy="457200"/>
          </a:xfrm>
          <a:prstGeom prst="rect">
            <a:avLst/>
          </a:prstGeom>
          <a:noFill/>
          <a:ln/>
        </p:spPr>
        <p:txBody>
          <a:bodyPr wrap="square" lIns="0" tIns="0" rIns="0" bIns="0" rtlCol="0" anchor="ctr"/>
          <a:lstStyle/>
          <a:p>
            <a:pPr marL="0" indent="0" algn="ctr">
              <a:buNone/>
            </a:pPr>
            <a:r>
              <a:rPr lang="en-US" sz="1200" b="1" dirty="0">
                <a:solidFill>
                  <a:srgbClr val="0F172A"/>
                </a:solidFill>
                <a:latin typeface="Meiryo UI" pitchFamily="34" charset="0"/>
                <a:ea typeface="Meiryo UI" pitchFamily="34" charset="-122"/>
                <a:cs typeface="Meiryo UI" pitchFamily="34" charset="-120"/>
              </a:rPr>
              <a:t>#F8FAFC</a:t>
            </a:r>
            <a:endParaRPr lang="en-US" sz="1200" dirty="0">
              <a:latin typeface="Meiryo UI"/>
              <a:ea typeface="Meiryo UI"/>
            </a:endParaRPr>
          </a:p>
        </p:txBody>
      </p:sp>
      <p:sp>
        <p:nvSpPr>
          <p:cNvPr id="21" name="Text 19"/>
          <p:cNvSpPr/>
          <p:nvPr/>
        </p:nvSpPr>
        <p:spPr>
          <a:xfrm>
            <a:off x="822960" y="4572000"/>
            <a:ext cx="4937760" cy="457200"/>
          </a:xfrm>
          <a:prstGeom prst="rect">
            <a:avLst/>
          </a:prstGeom>
          <a:solidFill>
            <a:srgbClr val="0F172A"/>
          </a:solidFill>
          <a:ln/>
        </p:spPr>
        <p:txBody>
          <a:bodyPr wrap="square" lIns="101600" tIns="101600" rIns="101600" bIns="101600" rtlCol="0" anchor="ctr"/>
          <a:lstStyle/>
          <a:p>
            <a:pPr marL="0" indent="0">
              <a:buNone/>
            </a:pPr>
            <a:r>
              <a:rPr lang="en-US" sz="1400" b="1" dirty="0">
                <a:solidFill>
                  <a:srgbClr val="EBC528"/>
                </a:solidFill>
                <a:latin typeface="Meiryo UI" pitchFamily="34" charset="0"/>
                <a:ea typeface="Meiryo UI" pitchFamily="34" charset="-122"/>
                <a:cs typeface="Meiryo UI" pitchFamily="34" charset="-120"/>
              </a:rPr>
              <a:t>--color-primary: #ebc528;</a:t>
            </a:r>
            <a:endParaRPr lang="en-US" sz="1400" dirty="0">
              <a:latin typeface="Meiryo UI"/>
              <a:ea typeface="Meiryo UI"/>
            </a:endParaRPr>
          </a:p>
        </p:txBody>
      </p:sp>
      <p:sp>
        <p:nvSpPr>
          <p:cNvPr id="22" name="Text 20"/>
          <p:cNvSpPr/>
          <p:nvPr/>
        </p:nvSpPr>
        <p:spPr>
          <a:xfrm>
            <a:off x="822960" y="5120640"/>
            <a:ext cx="4937760" cy="457200"/>
          </a:xfrm>
          <a:prstGeom prst="rect">
            <a:avLst/>
          </a:prstGeom>
          <a:noFill/>
          <a:ln/>
        </p:spPr>
        <p:txBody>
          <a:bodyPr wrap="square" lIns="0" tIns="0" rIns="0" bIns="0" rtlCol="0" anchor="ctr"/>
          <a:lstStyle/>
          <a:p>
            <a:pPr marL="0" indent="0">
              <a:buNone/>
            </a:pPr>
            <a:r>
              <a:rPr lang="en-US" sz="1100" i="1" dirty="0">
                <a:solidFill>
                  <a:srgbClr val="64748B"/>
                </a:solidFill>
                <a:latin typeface="Meiryo UI" pitchFamily="34" charset="0"/>
                <a:ea typeface="Meiryo UI" pitchFamily="34" charset="-122"/>
                <a:cs typeface="Meiryo UI" pitchFamily="34" charset="-120"/>
              </a:rPr>
              <a:t>この 1 行を書き換えるだけで、ボタン・下線・ホバー枠の色が全ページ切替</a:t>
            </a:r>
            <a:endParaRPr lang="en-US" sz="1100" dirty="0">
              <a:latin typeface="Meiryo UI"/>
              <a:ea typeface="Meiryo UI"/>
            </a:endParaRPr>
          </a:p>
        </p:txBody>
      </p:sp>
      <p:sp>
        <p:nvSpPr>
          <p:cNvPr id="23" name="Text 21"/>
          <p:cNvSpPr/>
          <p:nvPr/>
        </p:nvSpPr>
        <p:spPr>
          <a:xfrm>
            <a:off x="6400800" y="2973283"/>
            <a:ext cx="5212080" cy="365760"/>
          </a:xfrm>
          <a:prstGeom prst="rect">
            <a:avLst/>
          </a:prstGeom>
          <a:noFill/>
          <a:ln/>
        </p:spPr>
        <p:txBody>
          <a:bodyPr wrap="square" lIns="0" tIns="0" rIns="0" bIns="0" rtlCol="0" anchor="ctr"/>
          <a:lstStyle/>
          <a:p>
            <a:pPr marL="0" indent="0">
              <a:buNone/>
            </a:pPr>
            <a:r>
              <a:rPr lang="en-US" sz="1600" b="1" dirty="0" err="1">
                <a:solidFill>
                  <a:srgbClr val="0F172A"/>
                </a:solidFill>
                <a:latin typeface="Meiryo UI" pitchFamily="34" charset="0"/>
                <a:ea typeface="Meiryo UI" pitchFamily="34" charset="-122"/>
                <a:cs typeface="Meiryo UI" pitchFamily="34" charset="-120"/>
              </a:rPr>
              <a:t>見出しスタイル：縦棒に統一</a:t>
            </a:r>
            <a:endParaRPr lang="en-US" sz="1600" dirty="0">
              <a:latin typeface="Meiryo UI"/>
              <a:ea typeface="Meiryo UI"/>
            </a:endParaRPr>
          </a:p>
        </p:txBody>
      </p:sp>
      <p:sp>
        <p:nvSpPr>
          <p:cNvPr id="24" name="Text 22"/>
          <p:cNvSpPr/>
          <p:nvPr/>
        </p:nvSpPr>
        <p:spPr>
          <a:xfrm>
            <a:off x="6400800" y="3384763"/>
            <a:ext cx="914400" cy="274320"/>
          </a:xfrm>
          <a:prstGeom prst="rect">
            <a:avLst/>
          </a:prstGeom>
          <a:noFill/>
          <a:ln/>
        </p:spPr>
        <p:txBody>
          <a:bodyPr wrap="square" lIns="0" tIns="0" rIns="0" bIns="0" rtlCol="0" anchor="ctr"/>
          <a:lstStyle/>
          <a:p>
            <a:pPr marL="0" indent="0">
              <a:buNone/>
            </a:pPr>
            <a:r>
              <a:rPr lang="en-US" sz="1000" b="1" dirty="0">
                <a:solidFill>
                  <a:srgbClr val="64748B"/>
                </a:solidFill>
                <a:latin typeface="Meiryo UI" pitchFamily="34" charset="0"/>
                <a:ea typeface="Meiryo UI" pitchFamily="34" charset="-122"/>
                <a:cs typeface="Meiryo UI" pitchFamily="34" charset="-120"/>
              </a:rPr>
              <a:t>BEFORE</a:t>
            </a:r>
            <a:endParaRPr lang="en-US" sz="1000" dirty="0">
              <a:latin typeface="Meiryo UI"/>
              <a:ea typeface="Meiryo UI"/>
            </a:endParaRPr>
          </a:p>
        </p:txBody>
      </p:sp>
      <p:sp>
        <p:nvSpPr>
          <p:cNvPr id="25" name="Text 23"/>
          <p:cNvSpPr/>
          <p:nvPr/>
        </p:nvSpPr>
        <p:spPr>
          <a:xfrm>
            <a:off x="7360920" y="3339043"/>
            <a:ext cx="4206240" cy="384048"/>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アクセスマップ</a:t>
            </a:r>
            <a:endParaRPr lang="en-US" sz="1800" dirty="0">
              <a:latin typeface="Meiryo UI"/>
              <a:ea typeface="Meiryo UI"/>
            </a:endParaRPr>
          </a:p>
        </p:txBody>
      </p:sp>
      <p:sp>
        <p:nvSpPr>
          <p:cNvPr id="26" name="Shape 24"/>
          <p:cNvSpPr/>
          <p:nvPr/>
        </p:nvSpPr>
        <p:spPr>
          <a:xfrm>
            <a:off x="7360920" y="3704803"/>
            <a:ext cx="2194560" cy="45720"/>
          </a:xfrm>
          <a:prstGeom prst="rect">
            <a:avLst/>
          </a:prstGeom>
          <a:solidFill>
            <a:srgbClr val="EBC528"/>
          </a:solidFill>
          <a:ln/>
        </p:spPr>
        <p:txBody>
          <a:bodyPr/>
          <a:lstStyle/>
          <a:p>
            <a:endParaRPr lang="ja-JP" altLang="en-US">
              <a:latin typeface="Meiryo UI"/>
              <a:ea typeface="Meiryo UI"/>
            </a:endParaRPr>
          </a:p>
        </p:txBody>
      </p:sp>
      <p:sp>
        <p:nvSpPr>
          <p:cNvPr id="27" name="Text 25"/>
          <p:cNvSpPr/>
          <p:nvPr/>
        </p:nvSpPr>
        <p:spPr>
          <a:xfrm>
            <a:off x="6400800" y="4024843"/>
            <a:ext cx="914400" cy="274320"/>
          </a:xfrm>
          <a:prstGeom prst="rect">
            <a:avLst/>
          </a:prstGeom>
          <a:noFill/>
          <a:ln/>
        </p:spPr>
        <p:txBody>
          <a:bodyPr wrap="square" lIns="0" tIns="0" rIns="0" bIns="0" rtlCol="0" anchor="ctr"/>
          <a:lstStyle/>
          <a:p>
            <a:pPr marL="0" indent="0">
              <a:buNone/>
            </a:pPr>
            <a:r>
              <a:rPr lang="en-US" sz="1000" b="1" dirty="0">
                <a:solidFill>
                  <a:srgbClr val="64748B"/>
                </a:solidFill>
                <a:latin typeface="Meiryo UI" pitchFamily="34" charset="0"/>
                <a:ea typeface="Meiryo UI" pitchFamily="34" charset="-122"/>
                <a:cs typeface="Meiryo UI" pitchFamily="34" charset="-120"/>
              </a:rPr>
              <a:t>AFTER</a:t>
            </a:r>
            <a:endParaRPr lang="en-US" sz="1000" dirty="0">
              <a:latin typeface="Meiryo UI"/>
              <a:ea typeface="Meiryo UI"/>
            </a:endParaRPr>
          </a:p>
        </p:txBody>
      </p:sp>
      <p:sp>
        <p:nvSpPr>
          <p:cNvPr id="28" name="Shape 26"/>
          <p:cNvSpPr/>
          <p:nvPr/>
        </p:nvSpPr>
        <p:spPr>
          <a:xfrm>
            <a:off x="7360920" y="3997411"/>
            <a:ext cx="91440" cy="384048"/>
          </a:xfrm>
          <a:prstGeom prst="rect">
            <a:avLst/>
          </a:prstGeom>
          <a:solidFill>
            <a:srgbClr val="EBC528"/>
          </a:solidFill>
          <a:ln/>
        </p:spPr>
        <p:txBody>
          <a:bodyPr/>
          <a:lstStyle/>
          <a:p>
            <a:endParaRPr lang="ja-JP" altLang="en-US">
              <a:latin typeface="Meiryo UI"/>
              <a:ea typeface="Meiryo UI"/>
            </a:endParaRPr>
          </a:p>
        </p:txBody>
      </p:sp>
      <p:sp>
        <p:nvSpPr>
          <p:cNvPr id="29" name="Text 27"/>
          <p:cNvSpPr/>
          <p:nvPr/>
        </p:nvSpPr>
        <p:spPr>
          <a:xfrm>
            <a:off x="7543800" y="3979123"/>
            <a:ext cx="4023360" cy="384048"/>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アクセスマップ</a:t>
            </a:r>
            <a:endParaRPr lang="en-US" sz="1800" dirty="0">
              <a:latin typeface="Meiryo UI"/>
              <a:ea typeface="Meiryo UI"/>
            </a:endParaRPr>
          </a:p>
        </p:txBody>
      </p:sp>
      <p:sp>
        <p:nvSpPr>
          <p:cNvPr id="30" name="Shape 28"/>
          <p:cNvSpPr/>
          <p:nvPr/>
        </p:nvSpPr>
        <p:spPr>
          <a:xfrm>
            <a:off x="6400800" y="4573483"/>
            <a:ext cx="521208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1" name="Shape 29"/>
          <p:cNvSpPr/>
          <p:nvPr/>
        </p:nvSpPr>
        <p:spPr>
          <a:xfrm>
            <a:off x="6400800" y="4573483"/>
            <a:ext cx="73152" cy="502920"/>
          </a:xfrm>
          <a:prstGeom prst="rect">
            <a:avLst/>
          </a:prstGeom>
          <a:solidFill>
            <a:srgbClr val="EBC528"/>
          </a:solidFill>
          <a:ln/>
        </p:spPr>
        <p:txBody>
          <a:bodyPr/>
          <a:lstStyle/>
          <a:p>
            <a:endParaRPr lang="ja-JP" altLang="en-US">
              <a:latin typeface="Meiryo UI"/>
              <a:ea typeface="Meiryo UI"/>
            </a:endParaRPr>
          </a:p>
        </p:txBody>
      </p:sp>
      <p:sp>
        <p:nvSpPr>
          <p:cNvPr id="32" name="Text 30"/>
          <p:cNvSpPr/>
          <p:nvPr/>
        </p:nvSpPr>
        <p:spPr>
          <a:xfrm>
            <a:off x="6583680" y="4610059"/>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01  見本ベースの統一感</a:t>
            </a:r>
            <a:endParaRPr lang="en-US" sz="1100" dirty="0">
              <a:latin typeface="Meiryo UI"/>
              <a:ea typeface="Meiryo UI"/>
            </a:endParaRPr>
          </a:p>
        </p:txBody>
      </p:sp>
      <p:sp>
        <p:nvSpPr>
          <p:cNvPr id="33" name="Text 31"/>
          <p:cNvSpPr/>
          <p:nvPr/>
        </p:nvSpPr>
        <p:spPr>
          <a:xfrm>
            <a:off x="6583680" y="4829515"/>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ヘッダー帯 → 各セクション の流れを全ページで共通化</a:t>
            </a:r>
            <a:endParaRPr lang="en-US" sz="1000" dirty="0">
              <a:latin typeface="Meiryo UI"/>
              <a:ea typeface="Meiryo UI"/>
            </a:endParaRPr>
          </a:p>
        </p:txBody>
      </p:sp>
      <p:sp>
        <p:nvSpPr>
          <p:cNvPr id="34" name="Shape 32"/>
          <p:cNvSpPr/>
          <p:nvPr/>
        </p:nvSpPr>
        <p:spPr>
          <a:xfrm>
            <a:off x="6400800" y="5140411"/>
            <a:ext cx="521208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5" name="Shape 33"/>
          <p:cNvSpPr/>
          <p:nvPr/>
        </p:nvSpPr>
        <p:spPr>
          <a:xfrm>
            <a:off x="6400800" y="5140411"/>
            <a:ext cx="73152" cy="502920"/>
          </a:xfrm>
          <a:prstGeom prst="rect">
            <a:avLst/>
          </a:prstGeom>
          <a:solidFill>
            <a:srgbClr val="EBC528"/>
          </a:solidFill>
          <a:ln/>
        </p:spPr>
        <p:txBody>
          <a:bodyPr/>
          <a:lstStyle/>
          <a:p>
            <a:endParaRPr lang="ja-JP" altLang="en-US">
              <a:latin typeface="Meiryo UI"/>
              <a:ea typeface="Meiryo UI"/>
            </a:endParaRPr>
          </a:p>
        </p:txBody>
      </p:sp>
      <p:sp>
        <p:nvSpPr>
          <p:cNvPr id="36" name="Text 34"/>
          <p:cNvSpPr/>
          <p:nvPr/>
        </p:nvSpPr>
        <p:spPr>
          <a:xfrm>
            <a:off x="6583680" y="5176987"/>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02  カード高さ・バナー統一</a:t>
            </a:r>
            <a:endParaRPr lang="en-US" sz="1100" dirty="0">
              <a:latin typeface="Meiryo UI"/>
              <a:ea typeface="Meiryo UI"/>
            </a:endParaRPr>
          </a:p>
        </p:txBody>
      </p:sp>
      <p:sp>
        <p:nvSpPr>
          <p:cNvPr id="37" name="Text 35"/>
          <p:cNvSpPr/>
          <p:nvPr/>
        </p:nvSpPr>
        <p:spPr>
          <a:xfrm>
            <a:off x="6583680" y="5396443"/>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特徴カード 3 枚は最大高に合わせ、バナーはアスペクト比固定</a:t>
            </a:r>
            <a:endParaRPr lang="en-US" sz="1000" dirty="0">
              <a:latin typeface="Meiryo UI"/>
              <a:ea typeface="Meiryo UI"/>
            </a:endParaRPr>
          </a:p>
        </p:txBody>
      </p:sp>
      <p:sp>
        <p:nvSpPr>
          <p:cNvPr id="38" name="Shape 36"/>
          <p:cNvSpPr/>
          <p:nvPr/>
        </p:nvSpPr>
        <p:spPr>
          <a:xfrm>
            <a:off x="6400800" y="5707339"/>
            <a:ext cx="521208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9" name="Shape 37"/>
          <p:cNvSpPr/>
          <p:nvPr/>
        </p:nvSpPr>
        <p:spPr>
          <a:xfrm>
            <a:off x="6400800" y="5707339"/>
            <a:ext cx="73152" cy="502920"/>
          </a:xfrm>
          <a:prstGeom prst="rect">
            <a:avLst/>
          </a:prstGeom>
          <a:solidFill>
            <a:srgbClr val="EBC528"/>
          </a:solidFill>
          <a:ln/>
        </p:spPr>
        <p:txBody>
          <a:bodyPr/>
          <a:lstStyle/>
          <a:p>
            <a:endParaRPr lang="ja-JP" altLang="en-US">
              <a:latin typeface="Meiryo UI"/>
              <a:ea typeface="Meiryo UI"/>
            </a:endParaRPr>
          </a:p>
        </p:txBody>
      </p:sp>
      <p:sp>
        <p:nvSpPr>
          <p:cNvPr id="40" name="Text 38"/>
          <p:cNvSpPr/>
          <p:nvPr/>
        </p:nvSpPr>
        <p:spPr>
          <a:xfrm>
            <a:off x="6583680" y="5743915"/>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03  読みやすさ 全体拡大</a:t>
            </a:r>
            <a:endParaRPr lang="en-US" sz="1100" dirty="0">
              <a:latin typeface="Meiryo UI"/>
              <a:ea typeface="Meiryo UI"/>
            </a:endParaRPr>
          </a:p>
        </p:txBody>
      </p:sp>
      <p:sp>
        <p:nvSpPr>
          <p:cNvPr id="41" name="Text 39"/>
          <p:cNvSpPr/>
          <p:nvPr/>
        </p:nvSpPr>
        <p:spPr>
          <a:xfrm>
            <a:off x="6583680" y="5963371"/>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全テキスト 1 段階拡大、説明文は max-w-4xl で 1 行収まり</a:t>
            </a:r>
            <a:endParaRPr lang="en-US" sz="1000" dirty="0">
              <a:latin typeface="Meiryo UI"/>
              <a:ea typeface="Meiryo UI"/>
            </a:endParaRPr>
          </a:p>
        </p:txBody>
      </p:sp>
      <p:sp>
        <p:nvSpPr>
          <p:cNvPr id="42" name="Text 40"/>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43" name="Text 41"/>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3 / 10</a:t>
            </a:r>
            <a:endParaRPr lang="en-US" sz="1000" dirty="0">
              <a:latin typeface="Meiryo UI"/>
              <a:ea typeface="Meiryo UI"/>
            </a:endParaRPr>
          </a:p>
        </p:txBody>
      </p:sp>
      <p:pic>
        <p:nvPicPr>
          <p:cNvPr id="44" name="Picture 43"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03  KEY POINT</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スマホ用サイトの工夫</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スマホでも PC でも見やすく崩れない設計。</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指で気持ちよく操作できる工夫を全ページに入れています。</a:t>
            </a:r>
            <a:endParaRPr lang="en-US" sz="1800" dirty="0">
              <a:latin typeface="Meiryo UI"/>
              <a:ea typeface="Meiryo UI"/>
            </a:endParaRPr>
          </a:p>
        </p:txBody>
      </p:sp>
      <p:sp>
        <p:nvSpPr>
          <p:cNvPr id="10" name="Shape 8"/>
          <p:cNvSpPr/>
          <p:nvPr/>
        </p:nvSpPr>
        <p:spPr>
          <a:xfrm>
            <a:off x="548640" y="2971800"/>
            <a:ext cx="5486400" cy="160020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1" name="Shape 9"/>
          <p:cNvSpPr/>
          <p:nvPr/>
        </p:nvSpPr>
        <p:spPr>
          <a:xfrm>
            <a:off x="777240" y="3246120"/>
            <a:ext cx="685800" cy="685800"/>
          </a:xfrm>
          <a:prstGeom prst="ellipse">
            <a:avLst/>
          </a:prstGeom>
          <a:solidFill>
            <a:srgbClr val="2563EB"/>
          </a:solidFill>
          <a:ln/>
        </p:spPr>
        <p:txBody>
          <a:bodyPr/>
          <a:lstStyle/>
          <a:p>
            <a:endParaRPr lang="ja-JP" altLang="en-US">
              <a:latin typeface="Meiryo UI"/>
              <a:ea typeface="Meiryo UI"/>
            </a:endParaRPr>
          </a:p>
        </p:txBody>
      </p:sp>
      <p:sp>
        <p:nvSpPr>
          <p:cNvPr id="12" name="Text 10"/>
          <p:cNvSpPr/>
          <p:nvPr/>
        </p:nvSpPr>
        <p:spPr>
          <a:xfrm>
            <a:off x="777240" y="324612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M</a:t>
            </a:r>
            <a:endParaRPr lang="en-US" sz="2400" dirty="0">
              <a:latin typeface="Meiryo UI"/>
              <a:ea typeface="Meiryo UI"/>
            </a:endParaRPr>
          </a:p>
        </p:txBody>
      </p:sp>
      <p:sp>
        <p:nvSpPr>
          <p:cNvPr id="13" name="Text 11"/>
          <p:cNvSpPr/>
          <p:nvPr/>
        </p:nvSpPr>
        <p:spPr>
          <a:xfrm>
            <a:off x="1600200" y="310896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モバイルファースト設計</a:t>
            </a:r>
            <a:endParaRPr lang="en-US" sz="1500" dirty="0">
              <a:latin typeface="Meiryo UI"/>
              <a:ea typeface="Meiryo UI"/>
            </a:endParaRPr>
          </a:p>
        </p:txBody>
      </p:sp>
      <p:sp>
        <p:nvSpPr>
          <p:cNvPr id="14" name="Text 12"/>
          <p:cNvSpPr/>
          <p:nvPr/>
        </p:nvSpPr>
        <p:spPr>
          <a:xfrm>
            <a:off x="1600200" y="347472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a:t>
            </a:r>
            <a:r>
              <a:rPr lang="en-US" sz="1200" dirty="0" err="1">
                <a:solidFill>
                  <a:srgbClr val="1E293B"/>
                </a:solidFill>
                <a:latin typeface="Meiryo UI" pitchFamily="34" charset="0"/>
                <a:ea typeface="Meiryo UI" pitchFamily="34" charset="-122"/>
                <a:cs typeface="Meiryo UI" pitchFamily="34" charset="-120"/>
              </a:rPr>
              <a:t>スマホ前提で作って大画面で上書き」する書き方。PC</a:t>
            </a:r>
            <a:r>
              <a:rPr lang="en-US" sz="1200" dirty="0">
                <a:solidFill>
                  <a:srgbClr val="1E293B"/>
                </a:solidFill>
                <a:latin typeface="Meiryo UI" pitchFamily="34" charset="0"/>
                <a:ea typeface="Meiryo UI" pitchFamily="34" charset="-122"/>
                <a:cs typeface="Meiryo UI" pitchFamily="34" charset="-120"/>
              </a:rPr>
              <a:t> </a:t>
            </a:r>
            <a:r>
              <a:rPr lang="en-US" sz="1200" dirty="0" err="1">
                <a:solidFill>
                  <a:srgbClr val="1E293B"/>
                </a:solidFill>
                <a:latin typeface="Meiryo UI" pitchFamily="34" charset="0"/>
                <a:ea typeface="Meiryo UI" pitchFamily="34" charset="-122"/>
                <a:cs typeface="Meiryo UI" pitchFamily="34" charset="-120"/>
              </a:rPr>
              <a:t>でも崩れない</a:t>
            </a:r>
            <a:endParaRPr lang="en-US" sz="1200" dirty="0">
              <a:latin typeface="Meiryo UI"/>
              <a:ea typeface="Meiryo UI"/>
            </a:endParaRPr>
          </a:p>
        </p:txBody>
      </p:sp>
      <p:sp>
        <p:nvSpPr>
          <p:cNvPr id="15" name="Shape 13"/>
          <p:cNvSpPr/>
          <p:nvPr/>
        </p:nvSpPr>
        <p:spPr>
          <a:xfrm>
            <a:off x="160020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6" name="Text 14"/>
          <p:cNvSpPr/>
          <p:nvPr/>
        </p:nvSpPr>
        <p:spPr>
          <a:xfrm>
            <a:off x="160020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sm: 640px</a:t>
            </a:r>
            <a:endParaRPr lang="en-US" sz="1000" dirty="0">
              <a:latin typeface="Meiryo UI"/>
              <a:ea typeface="Meiryo UI"/>
            </a:endParaRPr>
          </a:p>
        </p:txBody>
      </p:sp>
      <p:sp>
        <p:nvSpPr>
          <p:cNvPr id="17" name="Shape 15"/>
          <p:cNvSpPr/>
          <p:nvPr/>
        </p:nvSpPr>
        <p:spPr>
          <a:xfrm>
            <a:off x="306324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8" name="Text 16"/>
          <p:cNvSpPr/>
          <p:nvPr/>
        </p:nvSpPr>
        <p:spPr>
          <a:xfrm>
            <a:off x="306324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md: 768px</a:t>
            </a:r>
            <a:endParaRPr lang="en-US" sz="1000" dirty="0">
              <a:latin typeface="Meiryo UI"/>
              <a:ea typeface="Meiryo UI"/>
            </a:endParaRPr>
          </a:p>
        </p:txBody>
      </p:sp>
      <p:sp>
        <p:nvSpPr>
          <p:cNvPr id="19" name="Shape 17"/>
          <p:cNvSpPr/>
          <p:nvPr/>
        </p:nvSpPr>
        <p:spPr>
          <a:xfrm>
            <a:off x="452628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0" name="Text 18"/>
          <p:cNvSpPr/>
          <p:nvPr/>
        </p:nvSpPr>
        <p:spPr>
          <a:xfrm>
            <a:off x="452628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lg: 1024px</a:t>
            </a:r>
            <a:endParaRPr lang="en-US" sz="1000" dirty="0">
              <a:latin typeface="Meiryo UI"/>
              <a:ea typeface="Meiryo UI"/>
            </a:endParaRPr>
          </a:p>
        </p:txBody>
      </p:sp>
      <p:sp>
        <p:nvSpPr>
          <p:cNvPr id="21" name="Shape 19"/>
          <p:cNvSpPr/>
          <p:nvPr/>
        </p:nvSpPr>
        <p:spPr>
          <a:xfrm>
            <a:off x="6172200" y="2971800"/>
            <a:ext cx="5486400" cy="160020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22" name="Shape 20"/>
          <p:cNvSpPr/>
          <p:nvPr/>
        </p:nvSpPr>
        <p:spPr>
          <a:xfrm>
            <a:off x="6400800" y="3246120"/>
            <a:ext cx="685800" cy="685800"/>
          </a:xfrm>
          <a:prstGeom prst="ellipse">
            <a:avLst/>
          </a:prstGeom>
          <a:solidFill>
            <a:srgbClr val="EBC528"/>
          </a:solidFill>
          <a:ln/>
        </p:spPr>
        <p:txBody>
          <a:bodyPr/>
          <a:lstStyle/>
          <a:p>
            <a:endParaRPr lang="ja-JP" altLang="en-US">
              <a:latin typeface="Meiryo UI"/>
              <a:ea typeface="Meiryo UI"/>
            </a:endParaRPr>
          </a:p>
        </p:txBody>
      </p:sp>
      <p:sp>
        <p:nvSpPr>
          <p:cNvPr id="23" name="Text 21"/>
          <p:cNvSpPr/>
          <p:nvPr/>
        </p:nvSpPr>
        <p:spPr>
          <a:xfrm>
            <a:off x="6400800" y="3246120"/>
            <a:ext cx="685800" cy="685800"/>
          </a:xfrm>
          <a:prstGeom prst="rect">
            <a:avLst/>
          </a:prstGeom>
          <a:noFill/>
          <a:ln/>
        </p:spPr>
        <p:txBody>
          <a:bodyPr wrap="square" lIns="0" tIns="0" rIns="0" bIns="0" rtlCol="0" anchor="ctr"/>
          <a:lstStyle/>
          <a:p>
            <a:pPr marL="0" indent="0" algn="ctr">
              <a:buNone/>
            </a:pPr>
            <a:r>
              <a:rPr lang="en-US" sz="2400" b="1" dirty="0">
                <a:solidFill>
                  <a:srgbClr val="0F172A"/>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24" name="Text 22"/>
          <p:cNvSpPr/>
          <p:nvPr/>
        </p:nvSpPr>
        <p:spPr>
          <a:xfrm>
            <a:off x="7223760" y="310896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右からスライドメニュー</a:t>
            </a:r>
            <a:endParaRPr lang="en-US" sz="1500" dirty="0">
              <a:latin typeface="Meiryo UI"/>
              <a:ea typeface="Meiryo UI"/>
            </a:endParaRPr>
          </a:p>
        </p:txBody>
      </p:sp>
      <p:sp>
        <p:nvSpPr>
          <p:cNvPr id="25" name="Text 23"/>
          <p:cNvSpPr/>
          <p:nvPr/>
        </p:nvSpPr>
        <p:spPr>
          <a:xfrm>
            <a:off x="7223760" y="347472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ハンバーガーを押すと右からメニュー。</a:t>
            </a:r>
            <a:r>
              <a:rPr lang="en-US" sz="1200" dirty="0" err="1">
                <a:solidFill>
                  <a:srgbClr val="1E293B"/>
                </a:solidFill>
                <a:latin typeface="Meiryo UI" pitchFamily="34" charset="0"/>
                <a:ea typeface="Meiryo UI" pitchFamily="34" charset="-122"/>
                <a:cs typeface="Meiryo UI" pitchFamily="34" charset="-120"/>
              </a:rPr>
              <a:t>ESC・外側クリック・遷移で自動で閉じる</a:t>
            </a:r>
            <a:endParaRPr lang="en-US" sz="1200" dirty="0">
              <a:latin typeface="Meiryo UI"/>
              <a:ea typeface="Meiryo UI"/>
            </a:endParaRPr>
          </a:p>
        </p:txBody>
      </p:sp>
      <p:sp>
        <p:nvSpPr>
          <p:cNvPr id="26" name="Shape 24"/>
          <p:cNvSpPr/>
          <p:nvPr/>
        </p:nvSpPr>
        <p:spPr>
          <a:xfrm>
            <a:off x="722376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7" name="Text 25"/>
          <p:cNvSpPr/>
          <p:nvPr/>
        </p:nvSpPr>
        <p:spPr>
          <a:xfrm>
            <a:off x="722376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useState</a:t>
            </a:r>
            <a:endParaRPr lang="en-US" sz="1000" dirty="0">
              <a:latin typeface="Meiryo UI"/>
              <a:ea typeface="Meiryo UI"/>
            </a:endParaRPr>
          </a:p>
        </p:txBody>
      </p:sp>
      <p:sp>
        <p:nvSpPr>
          <p:cNvPr id="28" name="Shape 26"/>
          <p:cNvSpPr/>
          <p:nvPr/>
        </p:nvSpPr>
        <p:spPr>
          <a:xfrm>
            <a:off x="868680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9" name="Text 27"/>
          <p:cNvSpPr/>
          <p:nvPr/>
        </p:nvSpPr>
        <p:spPr>
          <a:xfrm>
            <a:off x="868680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ESC キー</a:t>
            </a:r>
            <a:endParaRPr lang="en-US" sz="1000" dirty="0">
              <a:latin typeface="Meiryo UI"/>
              <a:ea typeface="Meiryo UI"/>
            </a:endParaRPr>
          </a:p>
        </p:txBody>
      </p:sp>
      <p:sp>
        <p:nvSpPr>
          <p:cNvPr id="30" name="Shape 28"/>
          <p:cNvSpPr/>
          <p:nvPr/>
        </p:nvSpPr>
        <p:spPr>
          <a:xfrm>
            <a:off x="1014984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1" name="Text 29"/>
          <p:cNvSpPr/>
          <p:nvPr/>
        </p:nvSpPr>
        <p:spPr>
          <a:xfrm>
            <a:off x="1014984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遷移検知</a:t>
            </a:r>
            <a:endParaRPr lang="en-US" sz="1000" dirty="0">
              <a:latin typeface="Meiryo UI"/>
              <a:ea typeface="Meiryo UI"/>
            </a:endParaRPr>
          </a:p>
        </p:txBody>
      </p:sp>
      <p:sp>
        <p:nvSpPr>
          <p:cNvPr id="32" name="Shape 30"/>
          <p:cNvSpPr/>
          <p:nvPr/>
        </p:nvSpPr>
        <p:spPr>
          <a:xfrm>
            <a:off x="548640" y="4663440"/>
            <a:ext cx="5486400" cy="160020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33" name="Shape 31"/>
          <p:cNvSpPr/>
          <p:nvPr/>
        </p:nvSpPr>
        <p:spPr>
          <a:xfrm>
            <a:off x="777240" y="4937760"/>
            <a:ext cx="685800" cy="685800"/>
          </a:xfrm>
          <a:prstGeom prst="ellipse">
            <a:avLst/>
          </a:prstGeom>
          <a:solidFill>
            <a:srgbClr val="10B981"/>
          </a:solidFill>
          <a:ln/>
        </p:spPr>
        <p:txBody>
          <a:bodyPr/>
          <a:lstStyle/>
          <a:p>
            <a:endParaRPr lang="ja-JP" altLang="en-US">
              <a:latin typeface="Meiryo UI"/>
              <a:ea typeface="Meiryo UI"/>
            </a:endParaRPr>
          </a:p>
        </p:txBody>
      </p:sp>
      <p:sp>
        <p:nvSpPr>
          <p:cNvPr id="34" name="Text 32"/>
          <p:cNvSpPr/>
          <p:nvPr/>
        </p:nvSpPr>
        <p:spPr>
          <a:xfrm>
            <a:off x="777240" y="493776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35" name="Text 33"/>
          <p:cNvSpPr/>
          <p:nvPr/>
        </p:nvSpPr>
        <p:spPr>
          <a:xfrm>
            <a:off x="1600200" y="480060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メニュー中は背景固定</a:t>
            </a:r>
            <a:endParaRPr lang="en-US" sz="1500" dirty="0">
              <a:latin typeface="Meiryo UI"/>
              <a:ea typeface="Meiryo UI"/>
            </a:endParaRPr>
          </a:p>
        </p:txBody>
      </p:sp>
      <p:sp>
        <p:nvSpPr>
          <p:cNvPr id="36" name="Text 34"/>
          <p:cNvSpPr/>
          <p:nvPr/>
        </p:nvSpPr>
        <p:spPr>
          <a:xfrm>
            <a:off x="1600200" y="5166360"/>
            <a:ext cx="4297680" cy="640080"/>
          </a:xfrm>
          <a:prstGeom prst="rect">
            <a:avLst/>
          </a:prstGeom>
          <a:noFill/>
          <a:ln/>
        </p:spPr>
        <p:txBody>
          <a:bodyPr wrap="square" lIns="0" tIns="0" rIns="0" bIns="0" rtlCol="0" anchor="ctr"/>
          <a:lstStyle/>
          <a:p>
            <a:pPr marL="0" indent="0">
              <a:buNone/>
            </a:pPr>
            <a:r>
              <a:rPr lang="en-US" sz="1200" dirty="0" err="1">
                <a:solidFill>
                  <a:srgbClr val="1E293B"/>
                </a:solidFill>
                <a:latin typeface="Meiryo UI" pitchFamily="34" charset="0"/>
                <a:ea typeface="Meiryo UI" pitchFamily="34" charset="-122"/>
                <a:cs typeface="Meiryo UI" pitchFamily="34" charset="-120"/>
              </a:rPr>
              <a:t>メニューを開いている間、背景ページが一緒にスクロールしない工夫</a:t>
            </a:r>
            <a:endParaRPr lang="en-US" sz="1200" dirty="0">
              <a:latin typeface="Meiryo UI"/>
              <a:ea typeface="Meiryo UI"/>
            </a:endParaRPr>
          </a:p>
        </p:txBody>
      </p:sp>
      <p:sp>
        <p:nvSpPr>
          <p:cNvPr id="37" name="Shape 35"/>
          <p:cNvSpPr/>
          <p:nvPr/>
        </p:nvSpPr>
        <p:spPr>
          <a:xfrm>
            <a:off x="160020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8" name="Text 36"/>
          <p:cNvSpPr/>
          <p:nvPr/>
        </p:nvSpPr>
        <p:spPr>
          <a:xfrm>
            <a:off x="160020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body lock</a:t>
            </a:r>
            <a:endParaRPr lang="en-US" sz="1000" dirty="0">
              <a:latin typeface="Meiryo UI"/>
              <a:ea typeface="Meiryo UI"/>
            </a:endParaRPr>
          </a:p>
        </p:txBody>
      </p:sp>
      <p:sp>
        <p:nvSpPr>
          <p:cNvPr id="39" name="Shape 37"/>
          <p:cNvSpPr/>
          <p:nvPr/>
        </p:nvSpPr>
        <p:spPr>
          <a:xfrm>
            <a:off x="306324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40" name="Text 38"/>
          <p:cNvSpPr/>
          <p:nvPr/>
        </p:nvSpPr>
        <p:spPr>
          <a:xfrm>
            <a:off x="306324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状態復元</a:t>
            </a:r>
            <a:endParaRPr lang="en-US" sz="1000" dirty="0">
              <a:latin typeface="Meiryo UI"/>
              <a:ea typeface="Meiryo UI"/>
            </a:endParaRPr>
          </a:p>
        </p:txBody>
      </p:sp>
      <p:sp>
        <p:nvSpPr>
          <p:cNvPr id="41" name="Shape 39"/>
          <p:cNvSpPr/>
          <p:nvPr/>
        </p:nvSpPr>
        <p:spPr>
          <a:xfrm>
            <a:off x="452628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42" name="Text 40"/>
          <p:cNvSpPr/>
          <p:nvPr/>
        </p:nvSpPr>
        <p:spPr>
          <a:xfrm>
            <a:off x="452628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UX 安定</a:t>
            </a:r>
            <a:endParaRPr lang="en-US" sz="1000" dirty="0">
              <a:latin typeface="Meiryo UI"/>
              <a:ea typeface="Meiryo UI"/>
            </a:endParaRPr>
          </a:p>
        </p:txBody>
      </p:sp>
      <p:sp>
        <p:nvSpPr>
          <p:cNvPr id="43" name="Shape 41"/>
          <p:cNvSpPr/>
          <p:nvPr/>
        </p:nvSpPr>
        <p:spPr>
          <a:xfrm>
            <a:off x="6172200" y="4663440"/>
            <a:ext cx="5486400" cy="160020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44" name="Shape 42"/>
          <p:cNvSpPr/>
          <p:nvPr/>
        </p:nvSpPr>
        <p:spPr>
          <a:xfrm>
            <a:off x="6400800" y="4937760"/>
            <a:ext cx="685800" cy="685800"/>
          </a:xfrm>
          <a:prstGeom prst="ellipse">
            <a:avLst/>
          </a:prstGeom>
          <a:solidFill>
            <a:srgbClr val="7C3AED"/>
          </a:solidFill>
          <a:ln/>
        </p:spPr>
        <p:txBody>
          <a:bodyPr/>
          <a:lstStyle/>
          <a:p>
            <a:endParaRPr lang="ja-JP" altLang="en-US">
              <a:latin typeface="Meiryo UI"/>
              <a:ea typeface="Meiryo UI"/>
            </a:endParaRPr>
          </a:p>
        </p:txBody>
      </p:sp>
      <p:sp>
        <p:nvSpPr>
          <p:cNvPr id="45" name="Text 43"/>
          <p:cNvSpPr/>
          <p:nvPr/>
        </p:nvSpPr>
        <p:spPr>
          <a:xfrm>
            <a:off x="6400800" y="493776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46" name="Text 44"/>
          <p:cNvSpPr/>
          <p:nvPr/>
        </p:nvSpPr>
        <p:spPr>
          <a:xfrm>
            <a:off x="7223760" y="480060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タップで画像拡大</a:t>
            </a:r>
            <a:endParaRPr lang="en-US" sz="1500" dirty="0">
              <a:latin typeface="Meiryo UI"/>
              <a:ea typeface="Meiryo UI"/>
            </a:endParaRPr>
          </a:p>
        </p:txBody>
      </p:sp>
      <p:sp>
        <p:nvSpPr>
          <p:cNvPr id="47" name="Text 45"/>
          <p:cNvSpPr/>
          <p:nvPr/>
        </p:nvSpPr>
        <p:spPr>
          <a:xfrm>
            <a:off x="7223760" y="5166360"/>
            <a:ext cx="4297680" cy="640080"/>
          </a:xfrm>
          <a:prstGeom prst="rect">
            <a:avLst/>
          </a:prstGeom>
          <a:noFill/>
          <a:ln/>
        </p:spPr>
        <p:txBody>
          <a:bodyPr wrap="square" lIns="0" tIns="0" rIns="0" bIns="0" rtlCol="0" anchor="ctr"/>
          <a:lstStyle/>
          <a:p>
            <a:pPr marL="0" indent="0">
              <a:buNone/>
            </a:pPr>
            <a:r>
              <a:rPr lang="en-US" sz="1200" dirty="0" err="1">
                <a:solidFill>
                  <a:srgbClr val="1E293B"/>
                </a:solidFill>
                <a:latin typeface="Meiryo UI" pitchFamily="34" charset="0"/>
                <a:ea typeface="Meiryo UI" pitchFamily="34" charset="-122"/>
                <a:cs typeface="Meiryo UI" pitchFamily="34" charset="-120"/>
              </a:rPr>
              <a:t>アクセス情報の写真などをタップすると大きく見られる再利用可能な部品</a:t>
            </a:r>
            <a:endParaRPr lang="en-US" sz="1200" dirty="0">
              <a:latin typeface="Meiryo UI"/>
              <a:ea typeface="Meiryo UI"/>
            </a:endParaRPr>
          </a:p>
        </p:txBody>
      </p:sp>
      <p:sp>
        <p:nvSpPr>
          <p:cNvPr id="48" name="Shape 46"/>
          <p:cNvSpPr/>
          <p:nvPr/>
        </p:nvSpPr>
        <p:spPr>
          <a:xfrm>
            <a:off x="722376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49" name="Text 47"/>
          <p:cNvSpPr/>
          <p:nvPr/>
        </p:nvSpPr>
        <p:spPr>
          <a:xfrm>
            <a:off x="722376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タップ拡大</a:t>
            </a:r>
            <a:endParaRPr lang="en-US" sz="1000" dirty="0">
              <a:latin typeface="Meiryo UI"/>
              <a:ea typeface="Meiryo UI"/>
            </a:endParaRPr>
          </a:p>
        </p:txBody>
      </p:sp>
      <p:sp>
        <p:nvSpPr>
          <p:cNvPr id="50" name="Shape 48"/>
          <p:cNvSpPr/>
          <p:nvPr/>
        </p:nvSpPr>
        <p:spPr>
          <a:xfrm>
            <a:off x="868680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51" name="Text 49"/>
          <p:cNvSpPr/>
          <p:nvPr/>
        </p:nvSpPr>
        <p:spPr>
          <a:xfrm>
            <a:off x="868680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背景で閉じる</a:t>
            </a:r>
            <a:endParaRPr lang="en-US" sz="1000" dirty="0">
              <a:latin typeface="Meiryo UI"/>
              <a:ea typeface="Meiryo UI"/>
            </a:endParaRPr>
          </a:p>
        </p:txBody>
      </p:sp>
      <p:sp>
        <p:nvSpPr>
          <p:cNvPr id="52" name="Shape 50"/>
          <p:cNvSpPr/>
          <p:nvPr/>
        </p:nvSpPr>
        <p:spPr>
          <a:xfrm>
            <a:off x="1014984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53" name="Text 51"/>
          <p:cNvSpPr/>
          <p:nvPr/>
        </p:nvSpPr>
        <p:spPr>
          <a:xfrm>
            <a:off x="1014984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再利用可</a:t>
            </a:r>
            <a:endParaRPr lang="en-US" sz="1000" dirty="0">
              <a:latin typeface="Meiryo UI"/>
              <a:ea typeface="Meiryo UI"/>
            </a:endParaRPr>
          </a:p>
        </p:txBody>
      </p:sp>
      <p:sp>
        <p:nvSpPr>
          <p:cNvPr id="54" name="Text 5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5" name="Text 5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4 / 10</a:t>
            </a:r>
            <a:endParaRPr lang="en-US" sz="1000" dirty="0">
              <a:latin typeface="Meiryo UI"/>
              <a:ea typeface="Meiryo UI"/>
            </a:endParaRPr>
          </a:p>
        </p:txBody>
      </p:sp>
      <p:pic>
        <p:nvPicPr>
          <p:cNvPr id="56" name="Picture 55"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04  KEY POINT</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アニメーション ＋ ヒーロー動画</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TOP は歯車動画がふわっと出て 1 回だけ再生。以降はスクロールで各要素がフェードイン。</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「動きが苦手」設定にも配慮し、常に確実に見える表示保証も入れています。</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TOP ヒーロー：歯車動画</a:t>
            </a:r>
            <a:endParaRPr lang="en-US" sz="1600" dirty="0">
              <a:latin typeface="Meiryo UI"/>
              <a:ea typeface="Meiryo UI"/>
            </a:endParaRPr>
          </a:p>
        </p:txBody>
      </p:sp>
      <p:sp>
        <p:nvSpPr>
          <p:cNvPr id="12" name="Shape 10"/>
          <p:cNvSpPr/>
          <p:nvPr/>
        </p:nvSpPr>
        <p:spPr>
          <a:xfrm>
            <a:off x="822960" y="3474720"/>
            <a:ext cx="493776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3" name="Shape 11"/>
          <p:cNvSpPr/>
          <p:nvPr/>
        </p:nvSpPr>
        <p:spPr>
          <a:xfrm>
            <a:off x="822960" y="3474720"/>
            <a:ext cx="73152" cy="502920"/>
          </a:xfrm>
          <a:prstGeom prst="rect">
            <a:avLst/>
          </a:prstGeom>
          <a:solidFill>
            <a:srgbClr val="EBC528"/>
          </a:solidFill>
          <a:ln/>
        </p:spPr>
        <p:txBody>
          <a:bodyPr/>
          <a:lstStyle/>
          <a:p>
            <a:endParaRPr lang="ja-JP" altLang="en-US">
              <a:latin typeface="Meiryo UI"/>
              <a:ea typeface="Meiryo UI"/>
            </a:endParaRPr>
          </a:p>
        </p:txBody>
      </p:sp>
      <p:sp>
        <p:nvSpPr>
          <p:cNvPr id="14" name="Text 12"/>
          <p:cNvSpPr/>
          <p:nvPr/>
        </p:nvSpPr>
        <p:spPr>
          <a:xfrm>
            <a:off x="1005840" y="351129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ふわっとフェードイン</a:t>
            </a:r>
            <a:endParaRPr lang="en-US" sz="1100" dirty="0">
              <a:latin typeface="Meiryo UI"/>
              <a:ea typeface="Meiryo UI"/>
            </a:endParaRPr>
          </a:p>
        </p:txBody>
      </p:sp>
      <p:sp>
        <p:nvSpPr>
          <p:cNvPr id="15" name="Text 13"/>
          <p:cNvSpPr/>
          <p:nvPr/>
        </p:nvSpPr>
        <p:spPr>
          <a:xfrm>
            <a:off x="1005840" y="373075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opacity 0 → 0.6 に 1.2 秒。CSS animation で SSR/CSR 双方確実発火</a:t>
            </a:r>
            <a:endParaRPr lang="en-US" sz="1000" dirty="0">
              <a:latin typeface="Meiryo UI"/>
              <a:ea typeface="Meiryo UI"/>
            </a:endParaRPr>
          </a:p>
        </p:txBody>
      </p:sp>
      <p:sp>
        <p:nvSpPr>
          <p:cNvPr id="16" name="Shape 14"/>
          <p:cNvSpPr/>
          <p:nvPr/>
        </p:nvSpPr>
        <p:spPr>
          <a:xfrm>
            <a:off x="822960" y="4023360"/>
            <a:ext cx="493776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7" name="Shape 15"/>
          <p:cNvSpPr/>
          <p:nvPr/>
        </p:nvSpPr>
        <p:spPr>
          <a:xfrm>
            <a:off x="822960" y="4023360"/>
            <a:ext cx="73152" cy="502920"/>
          </a:xfrm>
          <a:prstGeom prst="rect">
            <a:avLst/>
          </a:prstGeom>
          <a:solidFill>
            <a:srgbClr val="EBC528"/>
          </a:solidFill>
          <a:ln/>
        </p:spPr>
        <p:txBody>
          <a:bodyPr/>
          <a:lstStyle/>
          <a:p>
            <a:endParaRPr lang="ja-JP" altLang="en-US">
              <a:latin typeface="Meiryo UI"/>
              <a:ea typeface="Meiryo UI"/>
            </a:endParaRPr>
          </a:p>
        </p:txBody>
      </p:sp>
      <p:sp>
        <p:nvSpPr>
          <p:cNvPr id="18" name="Text 16"/>
          <p:cNvSpPr/>
          <p:nvPr/>
        </p:nvSpPr>
        <p:spPr>
          <a:xfrm>
            <a:off x="1005840" y="405993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1 回だけ再生 → 終端停止</a:t>
            </a:r>
            <a:endParaRPr lang="en-US" sz="1100" dirty="0">
              <a:latin typeface="Meiryo UI"/>
              <a:ea typeface="Meiryo UI"/>
            </a:endParaRPr>
          </a:p>
        </p:txBody>
      </p:sp>
      <p:sp>
        <p:nvSpPr>
          <p:cNvPr id="19" name="Text 17"/>
          <p:cNvSpPr/>
          <p:nvPr/>
        </p:nvSpPr>
        <p:spPr>
          <a:xfrm>
            <a:off x="1005840" y="427939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loop 廃止。ended イベントで pause() し最終フレームで静止</a:t>
            </a:r>
            <a:endParaRPr lang="en-US" sz="1000" dirty="0">
              <a:latin typeface="Meiryo UI"/>
              <a:ea typeface="Meiryo UI"/>
            </a:endParaRPr>
          </a:p>
        </p:txBody>
      </p:sp>
      <p:sp>
        <p:nvSpPr>
          <p:cNvPr id="20" name="Shape 18"/>
          <p:cNvSpPr/>
          <p:nvPr/>
        </p:nvSpPr>
        <p:spPr>
          <a:xfrm>
            <a:off x="822960" y="4572000"/>
            <a:ext cx="493776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1" name="Shape 19"/>
          <p:cNvSpPr/>
          <p:nvPr/>
        </p:nvSpPr>
        <p:spPr>
          <a:xfrm>
            <a:off x="822960" y="4572000"/>
            <a:ext cx="73152" cy="502920"/>
          </a:xfrm>
          <a:prstGeom prst="rect">
            <a:avLst/>
          </a:prstGeom>
          <a:solidFill>
            <a:srgbClr val="EBC528"/>
          </a:solidFill>
          <a:ln/>
        </p:spPr>
        <p:txBody>
          <a:bodyPr/>
          <a:lstStyle/>
          <a:p>
            <a:endParaRPr lang="ja-JP" altLang="en-US">
              <a:latin typeface="Meiryo UI"/>
              <a:ea typeface="Meiryo UI"/>
            </a:endParaRPr>
          </a:p>
        </p:txBody>
      </p:sp>
      <p:sp>
        <p:nvSpPr>
          <p:cNvPr id="22" name="Text 20"/>
          <p:cNvSpPr/>
          <p:nvPr/>
        </p:nvSpPr>
        <p:spPr>
          <a:xfrm>
            <a:off x="1005840" y="460857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軽量化</a:t>
            </a:r>
            <a:endParaRPr lang="en-US" sz="1100" dirty="0">
              <a:latin typeface="Meiryo UI"/>
              <a:ea typeface="Meiryo UI"/>
            </a:endParaRPr>
          </a:p>
        </p:txBody>
      </p:sp>
      <p:sp>
        <p:nvSpPr>
          <p:cNvPr id="23" name="Text 21"/>
          <p:cNvSpPr/>
          <p:nvPr/>
        </p:nvSpPr>
        <p:spPr>
          <a:xfrm>
            <a:off x="1005840" y="482803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HEVC .mov 6.4MB → H.264 .mp4 676KB（約 1/10）</a:t>
            </a:r>
            <a:endParaRPr lang="en-US" sz="1000" dirty="0">
              <a:latin typeface="Meiryo UI"/>
              <a:ea typeface="Meiryo UI"/>
            </a:endParaRPr>
          </a:p>
        </p:txBody>
      </p:sp>
      <p:sp>
        <p:nvSpPr>
          <p:cNvPr id="24" name="Shape 22"/>
          <p:cNvSpPr/>
          <p:nvPr/>
        </p:nvSpPr>
        <p:spPr>
          <a:xfrm>
            <a:off x="822960" y="5120640"/>
            <a:ext cx="493776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5" name="Shape 23"/>
          <p:cNvSpPr/>
          <p:nvPr/>
        </p:nvSpPr>
        <p:spPr>
          <a:xfrm>
            <a:off x="822960" y="5120640"/>
            <a:ext cx="73152" cy="502920"/>
          </a:xfrm>
          <a:prstGeom prst="rect">
            <a:avLst/>
          </a:prstGeom>
          <a:solidFill>
            <a:srgbClr val="EBC528"/>
          </a:solidFill>
          <a:ln/>
        </p:spPr>
        <p:txBody>
          <a:bodyPr/>
          <a:lstStyle/>
          <a:p>
            <a:endParaRPr lang="ja-JP" altLang="en-US">
              <a:latin typeface="Meiryo UI"/>
              <a:ea typeface="Meiryo UI"/>
            </a:endParaRPr>
          </a:p>
        </p:txBody>
      </p:sp>
      <p:sp>
        <p:nvSpPr>
          <p:cNvPr id="26" name="Text 24"/>
          <p:cNvSpPr/>
          <p:nvPr/>
        </p:nvSpPr>
        <p:spPr>
          <a:xfrm>
            <a:off x="1005840" y="515721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白系グラデ左 80% → 右 40%</a:t>
            </a:r>
            <a:endParaRPr lang="en-US" sz="1100" dirty="0">
              <a:latin typeface="Meiryo UI"/>
              <a:ea typeface="Meiryo UI"/>
            </a:endParaRPr>
          </a:p>
        </p:txBody>
      </p:sp>
      <p:sp>
        <p:nvSpPr>
          <p:cNvPr id="27" name="Text 25"/>
          <p:cNvSpPr/>
          <p:nvPr/>
        </p:nvSpPr>
        <p:spPr>
          <a:xfrm>
            <a:off x="1005840" y="537667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キャッチコピーの可読性確保 ＋ 動画の躍動感両立</a:t>
            </a:r>
            <a:endParaRPr lang="en-US" sz="1000" dirty="0">
              <a:latin typeface="Meiryo UI"/>
              <a:ea typeface="Meiryo UI"/>
            </a:endParaRPr>
          </a:p>
        </p:txBody>
      </p:sp>
      <p:sp>
        <p:nvSpPr>
          <p:cNvPr id="28" name="Shape 26"/>
          <p:cNvSpPr/>
          <p:nvPr/>
        </p:nvSpPr>
        <p:spPr>
          <a:xfrm>
            <a:off x="822960" y="5669280"/>
            <a:ext cx="493776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9" name="Shape 27"/>
          <p:cNvSpPr/>
          <p:nvPr/>
        </p:nvSpPr>
        <p:spPr>
          <a:xfrm>
            <a:off x="822960" y="5669280"/>
            <a:ext cx="73152" cy="502920"/>
          </a:xfrm>
          <a:prstGeom prst="rect">
            <a:avLst/>
          </a:prstGeom>
          <a:solidFill>
            <a:srgbClr val="EBC528"/>
          </a:solidFill>
          <a:ln/>
        </p:spPr>
        <p:txBody>
          <a:bodyPr/>
          <a:lstStyle/>
          <a:p>
            <a:endParaRPr lang="ja-JP" altLang="en-US">
              <a:latin typeface="Meiryo UI"/>
              <a:ea typeface="Meiryo UI"/>
            </a:endParaRPr>
          </a:p>
        </p:txBody>
      </p:sp>
      <p:sp>
        <p:nvSpPr>
          <p:cNvPr id="30" name="Text 28"/>
          <p:cNvSpPr/>
          <p:nvPr/>
        </p:nvSpPr>
        <p:spPr>
          <a:xfrm>
            <a:off x="1005840" y="570585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reduced-motion 配慮</a:t>
            </a:r>
            <a:endParaRPr lang="en-US" sz="1100" dirty="0">
              <a:latin typeface="Meiryo UI"/>
              <a:ea typeface="Meiryo UI"/>
            </a:endParaRPr>
          </a:p>
        </p:txBody>
      </p:sp>
      <p:sp>
        <p:nvSpPr>
          <p:cNvPr id="31" name="Text 29"/>
          <p:cNvSpPr/>
          <p:nvPr/>
        </p:nvSpPr>
        <p:spPr>
          <a:xfrm>
            <a:off x="1005840" y="592531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動きが苦手な人には静止画（PageTop_bg.png）で即表示</a:t>
            </a:r>
            <a:endParaRPr lang="en-US" sz="1000" dirty="0">
              <a:latin typeface="Meiryo UI"/>
              <a:ea typeface="Meiryo UI"/>
            </a:endParaRPr>
          </a:p>
        </p:txBody>
      </p:sp>
      <p:sp>
        <p:nvSpPr>
          <p:cNvPr id="32" name="Shape 30"/>
          <p:cNvSpPr/>
          <p:nvPr/>
        </p:nvSpPr>
        <p:spPr>
          <a:xfrm>
            <a:off x="6400800" y="2971800"/>
            <a:ext cx="521208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33" name="Text 31"/>
          <p:cNvSpPr/>
          <p:nvPr/>
        </p:nvSpPr>
        <p:spPr>
          <a:xfrm>
            <a:off x="6675120" y="3063240"/>
            <a:ext cx="466344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スクロール Reveal ＋ 写真バンド（6 枚マーキー）</a:t>
            </a:r>
            <a:endParaRPr lang="en-US" sz="1600" dirty="0">
              <a:latin typeface="Meiryo UI"/>
              <a:ea typeface="Meiryo UI"/>
            </a:endParaRPr>
          </a:p>
        </p:txBody>
      </p:sp>
      <p:sp>
        <p:nvSpPr>
          <p:cNvPr id="34" name="Shape 32"/>
          <p:cNvSpPr/>
          <p:nvPr/>
        </p:nvSpPr>
        <p:spPr>
          <a:xfrm>
            <a:off x="6675120" y="3474720"/>
            <a:ext cx="466344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5" name="Shape 33"/>
          <p:cNvSpPr/>
          <p:nvPr/>
        </p:nvSpPr>
        <p:spPr>
          <a:xfrm>
            <a:off x="6675120" y="3474720"/>
            <a:ext cx="73152" cy="502920"/>
          </a:xfrm>
          <a:prstGeom prst="rect">
            <a:avLst/>
          </a:prstGeom>
          <a:solidFill>
            <a:srgbClr val="10B981"/>
          </a:solidFill>
          <a:ln/>
        </p:spPr>
        <p:txBody>
          <a:bodyPr/>
          <a:lstStyle/>
          <a:p>
            <a:endParaRPr lang="ja-JP" altLang="en-US">
              <a:latin typeface="Meiryo UI"/>
              <a:ea typeface="Meiryo UI"/>
            </a:endParaRPr>
          </a:p>
        </p:txBody>
      </p:sp>
      <p:sp>
        <p:nvSpPr>
          <p:cNvPr id="36" name="Text 34"/>
          <p:cNvSpPr/>
          <p:nvPr/>
        </p:nvSpPr>
        <p:spPr>
          <a:xfrm>
            <a:off x="6858000" y="351129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共有 Observer 1 個で 20 要素監視</a:t>
            </a:r>
            <a:endParaRPr lang="en-US" sz="1100" dirty="0">
              <a:latin typeface="Meiryo UI"/>
              <a:ea typeface="Meiryo UI"/>
            </a:endParaRPr>
          </a:p>
        </p:txBody>
      </p:sp>
      <p:sp>
        <p:nvSpPr>
          <p:cNvPr id="37" name="Text 35"/>
          <p:cNvSpPr/>
          <p:nvPr/>
        </p:nvSpPr>
        <p:spPr>
          <a:xfrm>
            <a:off x="6858000" y="373075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メモリ・CPU 節約。fade-up/scale/slide の 6 種を場所別に使い分け</a:t>
            </a:r>
            <a:endParaRPr lang="en-US" sz="1000" dirty="0">
              <a:latin typeface="Meiryo UI"/>
              <a:ea typeface="Meiryo UI"/>
            </a:endParaRPr>
          </a:p>
        </p:txBody>
      </p:sp>
      <p:sp>
        <p:nvSpPr>
          <p:cNvPr id="38" name="Shape 36"/>
          <p:cNvSpPr/>
          <p:nvPr/>
        </p:nvSpPr>
        <p:spPr>
          <a:xfrm>
            <a:off x="6675120" y="4023360"/>
            <a:ext cx="466344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9" name="Shape 37"/>
          <p:cNvSpPr/>
          <p:nvPr/>
        </p:nvSpPr>
        <p:spPr>
          <a:xfrm>
            <a:off x="6675120" y="4023360"/>
            <a:ext cx="73152" cy="502920"/>
          </a:xfrm>
          <a:prstGeom prst="rect">
            <a:avLst/>
          </a:prstGeom>
          <a:solidFill>
            <a:srgbClr val="10B981"/>
          </a:solidFill>
          <a:ln/>
        </p:spPr>
        <p:txBody>
          <a:bodyPr/>
          <a:lstStyle/>
          <a:p>
            <a:endParaRPr lang="ja-JP" altLang="en-US">
              <a:latin typeface="Meiryo UI"/>
              <a:ea typeface="Meiryo UI"/>
            </a:endParaRPr>
          </a:p>
        </p:txBody>
      </p:sp>
      <p:sp>
        <p:nvSpPr>
          <p:cNvPr id="40" name="Text 38"/>
          <p:cNvSpPr/>
          <p:nvPr/>
        </p:nvSpPr>
        <p:spPr>
          <a:xfrm>
            <a:off x="6858000" y="405993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6 枚の写真マーキー（52s ループ）</a:t>
            </a:r>
            <a:endParaRPr lang="en-US" sz="1100" dirty="0">
              <a:latin typeface="Meiryo UI"/>
              <a:ea typeface="Meiryo UI"/>
            </a:endParaRPr>
          </a:p>
        </p:txBody>
      </p:sp>
      <p:sp>
        <p:nvSpPr>
          <p:cNvPr id="41" name="Text 39"/>
          <p:cNvSpPr/>
          <p:nvPr/>
        </p:nvSpPr>
        <p:spPr>
          <a:xfrm>
            <a:off x="6858000" y="427939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採用に近い日常写真を 6 枚。ホバーで一時停止、指で操作しやすい</a:t>
            </a:r>
            <a:endParaRPr lang="en-US" sz="1000" dirty="0">
              <a:latin typeface="Meiryo UI"/>
              <a:ea typeface="Meiryo UI"/>
            </a:endParaRPr>
          </a:p>
        </p:txBody>
      </p:sp>
      <p:sp>
        <p:nvSpPr>
          <p:cNvPr id="42" name="Shape 40"/>
          <p:cNvSpPr/>
          <p:nvPr/>
        </p:nvSpPr>
        <p:spPr>
          <a:xfrm>
            <a:off x="6675120" y="4572000"/>
            <a:ext cx="466344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43" name="Shape 41"/>
          <p:cNvSpPr/>
          <p:nvPr/>
        </p:nvSpPr>
        <p:spPr>
          <a:xfrm>
            <a:off x="6675120" y="4572000"/>
            <a:ext cx="73152" cy="502920"/>
          </a:xfrm>
          <a:prstGeom prst="rect">
            <a:avLst/>
          </a:prstGeom>
          <a:solidFill>
            <a:srgbClr val="10B981"/>
          </a:solidFill>
          <a:ln/>
        </p:spPr>
        <p:txBody>
          <a:bodyPr/>
          <a:lstStyle/>
          <a:p>
            <a:endParaRPr lang="ja-JP" altLang="en-US">
              <a:latin typeface="Meiryo UI"/>
              <a:ea typeface="Meiryo UI"/>
            </a:endParaRPr>
          </a:p>
        </p:txBody>
      </p:sp>
      <p:sp>
        <p:nvSpPr>
          <p:cNvPr id="44" name="Text 42"/>
          <p:cNvSpPr/>
          <p:nvPr/>
        </p:nvSpPr>
        <p:spPr>
          <a:xfrm>
            <a:off x="6858000" y="460857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表示保証：同期可視判定</a:t>
            </a:r>
            <a:endParaRPr lang="en-US" sz="1100" dirty="0">
              <a:latin typeface="Meiryo UI"/>
              <a:ea typeface="Meiryo UI"/>
            </a:endParaRPr>
          </a:p>
        </p:txBody>
      </p:sp>
      <p:sp>
        <p:nvSpPr>
          <p:cNvPr id="45" name="Text 43"/>
          <p:cNvSpPr/>
          <p:nvPr/>
        </p:nvSpPr>
        <p:spPr>
          <a:xfrm>
            <a:off x="6858000" y="482803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マウント時にビューポート内なら即時表示（Observer 待ちを省略）</a:t>
            </a:r>
            <a:endParaRPr lang="en-US" sz="1000" dirty="0">
              <a:latin typeface="Meiryo UI"/>
              <a:ea typeface="Meiryo UI"/>
            </a:endParaRPr>
          </a:p>
        </p:txBody>
      </p:sp>
      <p:sp>
        <p:nvSpPr>
          <p:cNvPr id="46" name="Shape 44"/>
          <p:cNvSpPr/>
          <p:nvPr/>
        </p:nvSpPr>
        <p:spPr>
          <a:xfrm>
            <a:off x="6675120" y="5120640"/>
            <a:ext cx="466344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47" name="Shape 45"/>
          <p:cNvSpPr/>
          <p:nvPr/>
        </p:nvSpPr>
        <p:spPr>
          <a:xfrm>
            <a:off x="6675120" y="5120640"/>
            <a:ext cx="73152" cy="502920"/>
          </a:xfrm>
          <a:prstGeom prst="rect">
            <a:avLst/>
          </a:prstGeom>
          <a:solidFill>
            <a:srgbClr val="10B981"/>
          </a:solidFill>
          <a:ln/>
        </p:spPr>
        <p:txBody>
          <a:bodyPr/>
          <a:lstStyle/>
          <a:p>
            <a:endParaRPr lang="ja-JP" altLang="en-US">
              <a:latin typeface="Meiryo UI"/>
              <a:ea typeface="Meiryo UI"/>
            </a:endParaRPr>
          </a:p>
        </p:txBody>
      </p:sp>
      <p:sp>
        <p:nvSpPr>
          <p:cNvPr id="48" name="Text 46"/>
          <p:cNvSpPr/>
          <p:nvPr/>
        </p:nvSpPr>
        <p:spPr>
          <a:xfrm>
            <a:off x="6858000" y="515721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表示保証：CSS フォールバック</a:t>
            </a:r>
            <a:endParaRPr lang="en-US" sz="1100" dirty="0">
              <a:latin typeface="Meiryo UI"/>
              <a:ea typeface="Meiryo UI"/>
            </a:endParaRPr>
          </a:p>
        </p:txBody>
      </p:sp>
      <p:sp>
        <p:nvSpPr>
          <p:cNvPr id="49" name="Text 47"/>
          <p:cNvSpPr/>
          <p:nvPr/>
        </p:nvSpPr>
        <p:spPr>
          <a:xfrm>
            <a:off x="6858000" y="537667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万一 JS が死んでも 10 秒で必ず表示。「消えて見えない」を根絶</a:t>
            </a:r>
            <a:endParaRPr lang="en-US" sz="1000" dirty="0">
              <a:latin typeface="Meiryo UI"/>
              <a:ea typeface="Meiryo UI"/>
            </a:endParaRPr>
          </a:p>
        </p:txBody>
      </p:sp>
      <p:sp>
        <p:nvSpPr>
          <p:cNvPr id="50" name="Shape 48"/>
          <p:cNvSpPr/>
          <p:nvPr/>
        </p:nvSpPr>
        <p:spPr>
          <a:xfrm>
            <a:off x="6675120" y="5669280"/>
            <a:ext cx="466344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51" name="Shape 49"/>
          <p:cNvSpPr/>
          <p:nvPr/>
        </p:nvSpPr>
        <p:spPr>
          <a:xfrm>
            <a:off x="6675120" y="5669280"/>
            <a:ext cx="73152" cy="502920"/>
          </a:xfrm>
          <a:prstGeom prst="rect">
            <a:avLst/>
          </a:prstGeom>
          <a:solidFill>
            <a:srgbClr val="10B981"/>
          </a:solidFill>
          <a:ln/>
        </p:spPr>
        <p:txBody>
          <a:bodyPr/>
          <a:lstStyle/>
          <a:p>
            <a:endParaRPr lang="ja-JP" altLang="en-US">
              <a:latin typeface="Meiryo UI"/>
              <a:ea typeface="Meiryo UI"/>
            </a:endParaRPr>
          </a:p>
        </p:txBody>
      </p:sp>
      <p:sp>
        <p:nvSpPr>
          <p:cNvPr id="52" name="Text 50"/>
          <p:cNvSpPr/>
          <p:nvPr/>
        </p:nvSpPr>
        <p:spPr>
          <a:xfrm>
            <a:off x="6858000" y="570585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reduced-motion で全アニメ停止</a:t>
            </a:r>
            <a:endParaRPr lang="en-US" sz="1100" dirty="0">
              <a:latin typeface="Meiryo UI"/>
              <a:ea typeface="Meiryo UI"/>
            </a:endParaRPr>
          </a:p>
        </p:txBody>
      </p:sp>
      <p:sp>
        <p:nvSpPr>
          <p:cNvPr id="53" name="Text 51"/>
          <p:cNvSpPr/>
          <p:nvPr/>
        </p:nvSpPr>
        <p:spPr>
          <a:xfrm>
            <a:off x="6858000" y="592531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動きが苦手な人には即時表示。CSS の @media で一括制御</a:t>
            </a:r>
            <a:endParaRPr lang="en-US" sz="1000" dirty="0">
              <a:latin typeface="Meiryo UI"/>
              <a:ea typeface="Meiryo UI"/>
            </a:endParaRPr>
          </a:p>
        </p:txBody>
      </p:sp>
      <p:sp>
        <p:nvSpPr>
          <p:cNvPr id="54" name="Text 5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5" name="Text 5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5 / 10</a:t>
            </a:r>
            <a:endParaRPr lang="en-US" sz="1000" dirty="0">
              <a:latin typeface="Meiryo UI"/>
              <a:ea typeface="Meiryo UI"/>
            </a:endParaRPr>
          </a:p>
        </p:txBody>
      </p:sp>
      <p:pic>
        <p:nvPicPr>
          <p:cNvPr id="56" name="Picture 55"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05  LATEST UPDATES</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ハッカソン中の追加改修（一括反映）</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運用中のフィードバックを 13 件まとめて反映。</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細かい体裁修正から機能追加まで、全ページに手を入れて仕上げました。</a:t>
            </a:r>
            <a:endParaRPr lang="en-US" sz="1800" dirty="0">
              <a:latin typeface="Meiryo UI"/>
              <a:ea typeface="Meiryo UI"/>
            </a:endParaRPr>
          </a:p>
        </p:txBody>
      </p:sp>
      <p:sp>
        <p:nvSpPr>
          <p:cNvPr id="10" name="Shape 8"/>
          <p:cNvSpPr/>
          <p:nvPr/>
        </p:nvSpPr>
        <p:spPr>
          <a:xfrm>
            <a:off x="548640" y="2971800"/>
            <a:ext cx="3566160" cy="32461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1" name="Shape 9"/>
          <p:cNvSpPr/>
          <p:nvPr/>
        </p:nvSpPr>
        <p:spPr>
          <a:xfrm>
            <a:off x="548640" y="2971800"/>
            <a:ext cx="3566160" cy="640080"/>
          </a:xfrm>
          <a:prstGeom prst="rect">
            <a:avLst/>
          </a:prstGeom>
          <a:solidFill>
            <a:srgbClr val="2563EB"/>
          </a:solidFill>
          <a:ln/>
        </p:spPr>
        <p:txBody>
          <a:bodyPr/>
          <a:lstStyle/>
          <a:p>
            <a:endParaRPr lang="ja-JP" altLang="en-US">
              <a:latin typeface="Meiryo UI"/>
              <a:ea typeface="Meiryo UI"/>
            </a:endParaRPr>
          </a:p>
        </p:txBody>
      </p:sp>
      <p:sp>
        <p:nvSpPr>
          <p:cNvPr id="12" name="Text 10"/>
          <p:cNvSpPr/>
          <p:nvPr/>
        </p:nvSpPr>
        <p:spPr>
          <a:xfrm>
            <a:off x="731520" y="2971800"/>
            <a:ext cx="3200400" cy="640080"/>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見た目・体裁</a:t>
            </a:r>
            <a:endParaRPr lang="en-US" sz="1400" dirty="0">
              <a:latin typeface="Meiryo UI"/>
              <a:ea typeface="Meiryo UI"/>
            </a:endParaRPr>
          </a:p>
        </p:txBody>
      </p:sp>
      <p:sp>
        <p:nvSpPr>
          <p:cNvPr id="13" name="Text 11"/>
          <p:cNvSpPr/>
          <p:nvPr/>
        </p:nvSpPr>
        <p:spPr>
          <a:xfrm>
            <a:off x="731520" y="3749040"/>
            <a:ext cx="320040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見出しを黄色縦棒スタイルに統一</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特徴カード 3 枚を最大高に統一</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説明文の折返し改善（max-w-4xl）</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任意バッジ 緑 → 灰色に変更</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代表挨拶に word-break: keep-all</a:t>
            </a:r>
            <a:endParaRPr lang="en-US" sz="1200" dirty="0">
              <a:latin typeface="Meiryo UI"/>
              <a:ea typeface="Meiryo UI"/>
            </a:endParaRPr>
          </a:p>
        </p:txBody>
      </p:sp>
      <p:sp>
        <p:nvSpPr>
          <p:cNvPr id="14" name="Shape 12"/>
          <p:cNvSpPr/>
          <p:nvPr/>
        </p:nvSpPr>
        <p:spPr>
          <a:xfrm>
            <a:off x="4343400" y="2971800"/>
            <a:ext cx="3566160" cy="32461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5" name="Shape 13"/>
          <p:cNvSpPr/>
          <p:nvPr/>
        </p:nvSpPr>
        <p:spPr>
          <a:xfrm>
            <a:off x="4343400" y="2971800"/>
            <a:ext cx="3566160" cy="640080"/>
          </a:xfrm>
          <a:prstGeom prst="rect">
            <a:avLst/>
          </a:prstGeom>
          <a:solidFill>
            <a:srgbClr val="F59E0B"/>
          </a:solidFill>
          <a:ln/>
        </p:spPr>
        <p:txBody>
          <a:bodyPr/>
          <a:lstStyle/>
          <a:p>
            <a:endParaRPr lang="ja-JP" altLang="en-US">
              <a:latin typeface="Meiryo UI"/>
              <a:ea typeface="Meiryo UI"/>
            </a:endParaRPr>
          </a:p>
        </p:txBody>
      </p:sp>
      <p:sp>
        <p:nvSpPr>
          <p:cNvPr id="16" name="Text 14"/>
          <p:cNvSpPr/>
          <p:nvPr/>
        </p:nvSpPr>
        <p:spPr>
          <a:xfrm>
            <a:off x="4526280" y="2971800"/>
            <a:ext cx="3200400" cy="640080"/>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文言・データ</a:t>
            </a:r>
            <a:endParaRPr lang="en-US" sz="1400" dirty="0">
              <a:latin typeface="Meiryo UI"/>
              <a:ea typeface="Meiryo UI"/>
            </a:endParaRPr>
          </a:p>
        </p:txBody>
      </p:sp>
      <p:sp>
        <p:nvSpPr>
          <p:cNvPr id="17" name="Text 15"/>
          <p:cNvSpPr/>
          <p:nvPr/>
        </p:nvSpPr>
        <p:spPr>
          <a:xfrm>
            <a:off x="4526280" y="3749040"/>
            <a:ext cx="320040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事業内容の読点修正</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代表挨拶 冒頭の英字削除</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案件実績 5 社を追記</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アクセスマップ説明の簡潔化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職種説明文（インフラ／HD）改訂</a:t>
            </a:r>
            <a:endParaRPr lang="en-US" sz="1200" dirty="0">
              <a:latin typeface="Meiryo UI"/>
              <a:ea typeface="Meiryo UI"/>
            </a:endParaRPr>
          </a:p>
        </p:txBody>
      </p:sp>
      <p:sp>
        <p:nvSpPr>
          <p:cNvPr id="18" name="Shape 16"/>
          <p:cNvSpPr/>
          <p:nvPr/>
        </p:nvSpPr>
        <p:spPr>
          <a:xfrm>
            <a:off x="8138160" y="2971800"/>
            <a:ext cx="3566160" cy="32461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9" name="Shape 17"/>
          <p:cNvSpPr/>
          <p:nvPr/>
        </p:nvSpPr>
        <p:spPr>
          <a:xfrm>
            <a:off x="8138160" y="2971800"/>
            <a:ext cx="3566160" cy="640080"/>
          </a:xfrm>
          <a:prstGeom prst="rect">
            <a:avLst/>
          </a:prstGeom>
          <a:solidFill>
            <a:srgbClr val="10B981"/>
          </a:solidFill>
          <a:ln/>
        </p:spPr>
        <p:txBody>
          <a:bodyPr/>
          <a:lstStyle/>
          <a:p>
            <a:endParaRPr lang="ja-JP" altLang="en-US">
              <a:latin typeface="Meiryo UI"/>
              <a:ea typeface="Meiryo UI"/>
            </a:endParaRPr>
          </a:p>
        </p:txBody>
      </p:sp>
      <p:sp>
        <p:nvSpPr>
          <p:cNvPr id="20" name="Text 18"/>
          <p:cNvSpPr/>
          <p:nvPr/>
        </p:nvSpPr>
        <p:spPr>
          <a:xfrm>
            <a:off x="8321040" y="2971800"/>
            <a:ext cx="3200400" cy="640080"/>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コンテンツ機能</a:t>
            </a:r>
            <a:endParaRPr lang="en-US" sz="1400" dirty="0">
              <a:latin typeface="Meiryo UI"/>
              <a:ea typeface="Meiryo UI"/>
            </a:endParaRPr>
          </a:p>
        </p:txBody>
      </p:sp>
      <p:sp>
        <p:nvSpPr>
          <p:cNvPr id="21" name="Text 19"/>
          <p:cNvSpPr/>
          <p:nvPr/>
        </p:nvSpPr>
        <p:spPr>
          <a:xfrm>
            <a:off x="8321040" y="3749040"/>
            <a:ext cx="320040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TOP マーキー 3 → 6 枚化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採用カルーセル 5 → 4 枚化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現場デビュー文言 削除</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エントリー注記文の簡潔化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動画：ふわっと 1 回再生化</a:t>
            </a:r>
            <a:endParaRPr lang="en-US" sz="1200" dirty="0">
              <a:latin typeface="Meiryo UI"/>
              <a:ea typeface="Meiryo UI"/>
            </a:endParaRPr>
          </a:p>
        </p:txBody>
      </p:sp>
      <p:sp>
        <p:nvSpPr>
          <p:cNvPr id="22" name="Text 20"/>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23" name="Text 21"/>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6 / 10</a:t>
            </a:r>
            <a:endParaRPr lang="en-US" sz="1000" dirty="0">
              <a:latin typeface="Meiryo UI"/>
              <a:ea typeface="Meiryo UI"/>
            </a:endParaRPr>
          </a:p>
        </p:txBody>
      </p:sp>
      <p:pic>
        <p:nvPicPr>
          <p:cNvPr id="24" name="Picture 23"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06  SECURITY</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セキュリティ ①｜3 層防御 ＋ PDF 3 層検証</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「入り口で防ぐ」「中身を確認する」「露出を減らす」の 3 段構え。</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履歴書 PDF は 3 層で偽装を見破り、API は多角的に守っています。</a:t>
            </a:r>
            <a:endParaRPr lang="en-US" sz="1800" dirty="0">
              <a:latin typeface="Meiryo UI"/>
              <a:ea typeface="Meiryo UI"/>
            </a:endParaRPr>
          </a:p>
        </p:txBody>
      </p:sp>
      <p:sp>
        <p:nvSpPr>
          <p:cNvPr id="10" name="Shape 8"/>
          <p:cNvSpPr/>
          <p:nvPr/>
        </p:nvSpPr>
        <p:spPr>
          <a:xfrm>
            <a:off x="548640" y="2971800"/>
            <a:ext cx="3566160" cy="1645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1" name="Shape 9"/>
          <p:cNvSpPr/>
          <p:nvPr/>
        </p:nvSpPr>
        <p:spPr>
          <a:xfrm>
            <a:off x="548640" y="2971800"/>
            <a:ext cx="3566160" cy="502920"/>
          </a:xfrm>
          <a:prstGeom prst="rect">
            <a:avLst/>
          </a:prstGeom>
          <a:solidFill>
            <a:srgbClr val="EF4444"/>
          </a:solidFill>
          <a:ln/>
        </p:spPr>
        <p:txBody>
          <a:bodyPr/>
          <a:lstStyle/>
          <a:p>
            <a:endParaRPr lang="ja-JP" altLang="en-US">
              <a:latin typeface="Meiryo UI"/>
              <a:ea typeface="Meiryo UI"/>
            </a:endParaRPr>
          </a:p>
        </p:txBody>
      </p:sp>
      <p:sp>
        <p:nvSpPr>
          <p:cNvPr id="12" name="Text 10"/>
          <p:cNvSpPr/>
          <p:nvPr/>
        </p:nvSpPr>
        <p:spPr>
          <a:xfrm>
            <a:off x="68580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1. 入り口で防ぐ</a:t>
            </a:r>
            <a:endParaRPr lang="en-US" sz="1200" dirty="0">
              <a:latin typeface="Meiryo UI"/>
              <a:ea typeface="Meiryo UI"/>
            </a:endParaRPr>
          </a:p>
        </p:txBody>
      </p:sp>
      <p:sp>
        <p:nvSpPr>
          <p:cNvPr id="13" name="Text 11"/>
          <p:cNvSpPr/>
          <p:nvPr/>
        </p:nvSpPr>
        <p:spPr>
          <a:xfrm>
            <a:off x="68580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セキュリティヘッダ</a:t>
            </a:r>
            <a:endParaRPr lang="en-US" sz="1000" dirty="0">
              <a:latin typeface="Meiryo UI"/>
              <a:ea typeface="Meiryo UI"/>
            </a:endParaRPr>
          </a:p>
        </p:txBody>
      </p:sp>
      <p:sp>
        <p:nvSpPr>
          <p:cNvPr id="14" name="Text 12"/>
          <p:cNvSpPr/>
          <p:nvPr/>
        </p:nvSpPr>
        <p:spPr>
          <a:xfrm>
            <a:off x="73152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Content-Security-Policy</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XFO + frame-ancestors</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HSTS / COOP</a:t>
            </a:r>
            <a:endParaRPr lang="en-US" sz="1100" dirty="0">
              <a:latin typeface="Meiryo UI"/>
              <a:ea typeface="Meiryo UI"/>
            </a:endParaRPr>
          </a:p>
        </p:txBody>
      </p:sp>
      <p:sp>
        <p:nvSpPr>
          <p:cNvPr id="15" name="Shape 13"/>
          <p:cNvSpPr/>
          <p:nvPr/>
        </p:nvSpPr>
        <p:spPr>
          <a:xfrm>
            <a:off x="4343400" y="2971800"/>
            <a:ext cx="3566160" cy="1645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6" name="Shape 14"/>
          <p:cNvSpPr/>
          <p:nvPr/>
        </p:nvSpPr>
        <p:spPr>
          <a:xfrm>
            <a:off x="4343400" y="2971800"/>
            <a:ext cx="3566160" cy="502920"/>
          </a:xfrm>
          <a:prstGeom prst="rect">
            <a:avLst/>
          </a:prstGeom>
          <a:solidFill>
            <a:srgbClr val="F59E0B"/>
          </a:solidFill>
          <a:ln/>
        </p:spPr>
        <p:txBody>
          <a:bodyPr/>
          <a:lstStyle/>
          <a:p>
            <a:endParaRPr lang="ja-JP" altLang="en-US">
              <a:latin typeface="Meiryo UI"/>
              <a:ea typeface="Meiryo UI"/>
            </a:endParaRPr>
          </a:p>
        </p:txBody>
      </p:sp>
      <p:sp>
        <p:nvSpPr>
          <p:cNvPr id="17" name="Text 15"/>
          <p:cNvSpPr/>
          <p:nvPr/>
        </p:nvSpPr>
        <p:spPr>
          <a:xfrm>
            <a:off x="448056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2. 中身を確認する</a:t>
            </a:r>
            <a:endParaRPr lang="en-US" sz="1200" dirty="0">
              <a:latin typeface="Meiryo UI"/>
              <a:ea typeface="Meiryo UI"/>
            </a:endParaRPr>
          </a:p>
        </p:txBody>
      </p:sp>
      <p:sp>
        <p:nvSpPr>
          <p:cNvPr id="18" name="Text 16"/>
          <p:cNvSpPr/>
          <p:nvPr/>
        </p:nvSpPr>
        <p:spPr>
          <a:xfrm>
            <a:off x="448056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API / フォーム検証</a:t>
            </a:r>
            <a:endParaRPr lang="en-US" sz="1000" dirty="0">
              <a:latin typeface="Meiryo UI"/>
              <a:ea typeface="Meiryo UI"/>
            </a:endParaRPr>
          </a:p>
        </p:txBody>
      </p:sp>
      <p:sp>
        <p:nvSpPr>
          <p:cNvPr id="19" name="Text 17"/>
          <p:cNvSpPr/>
          <p:nvPr/>
        </p:nvSpPr>
        <p:spPr>
          <a:xfrm>
            <a:off x="452628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PDF 3 層検証</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Origin / Referer 検証（CSRF）</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POST 以外 405 拒否</a:t>
            </a:r>
            <a:endParaRPr lang="en-US" sz="1100" dirty="0">
              <a:latin typeface="Meiryo UI"/>
              <a:ea typeface="Meiryo UI"/>
            </a:endParaRPr>
          </a:p>
        </p:txBody>
      </p:sp>
      <p:sp>
        <p:nvSpPr>
          <p:cNvPr id="20" name="Shape 18"/>
          <p:cNvSpPr/>
          <p:nvPr/>
        </p:nvSpPr>
        <p:spPr>
          <a:xfrm>
            <a:off x="8138160" y="2971800"/>
            <a:ext cx="3566160" cy="1645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1" name="Shape 19"/>
          <p:cNvSpPr/>
          <p:nvPr/>
        </p:nvSpPr>
        <p:spPr>
          <a:xfrm>
            <a:off x="8138160" y="2971800"/>
            <a:ext cx="3566160" cy="502920"/>
          </a:xfrm>
          <a:prstGeom prst="rect">
            <a:avLst/>
          </a:prstGeom>
          <a:solidFill>
            <a:srgbClr val="10B981"/>
          </a:solidFill>
          <a:ln/>
        </p:spPr>
        <p:txBody>
          <a:bodyPr/>
          <a:lstStyle/>
          <a:p>
            <a:endParaRPr lang="ja-JP" altLang="en-US">
              <a:latin typeface="Meiryo UI"/>
              <a:ea typeface="Meiryo UI"/>
            </a:endParaRPr>
          </a:p>
        </p:txBody>
      </p:sp>
      <p:sp>
        <p:nvSpPr>
          <p:cNvPr id="22" name="Text 20"/>
          <p:cNvSpPr/>
          <p:nvPr/>
        </p:nvSpPr>
        <p:spPr>
          <a:xfrm>
            <a:off x="827532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3. 露出を減らす</a:t>
            </a:r>
            <a:endParaRPr lang="en-US" sz="1200" dirty="0">
              <a:latin typeface="Meiryo UI"/>
              <a:ea typeface="Meiryo UI"/>
            </a:endParaRPr>
          </a:p>
        </p:txBody>
      </p:sp>
      <p:sp>
        <p:nvSpPr>
          <p:cNvPr id="23" name="Text 21"/>
          <p:cNvSpPr/>
          <p:nvPr/>
        </p:nvSpPr>
        <p:spPr>
          <a:xfrm>
            <a:off x="827532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情報の秘匿</a:t>
            </a:r>
            <a:endParaRPr lang="en-US" sz="1000" dirty="0">
              <a:latin typeface="Meiryo UI"/>
              <a:ea typeface="Meiryo UI"/>
            </a:endParaRPr>
          </a:p>
        </p:txBody>
      </p:sp>
      <p:sp>
        <p:nvSpPr>
          <p:cNvPr id="24" name="Text 22"/>
          <p:cNvSpPr/>
          <p:nvPr/>
        </p:nvSpPr>
        <p:spPr>
          <a:xfrm>
            <a:off x="832104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X-Powered-By 無効化</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本番ソースマップ生成なし</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console.log を本番除去</a:t>
            </a:r>
            <a:endParaRPr lang="en-US" sz="1100" dirty="0">
              <a:latin typeface="Meiryo UI"/>
              <a:ea typeface="Meiryo UI"/>
            </a:endParaRPr>
          </a:p>
        </p:txBody>
      </p:sp>
      <p:sp>
        <p:nvSpPr>
          <p:cNvPr id="25" name="Text 23"/>
          <p:cNvSpPr/>
          <p:nvPr/>
        </p:nvSpPr>
        <p:spPr>
          <a:xfrm>
            <a:off x="548640" y="4754880"/>
            <a:ext cx="1106424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PDF 3 層検証 ＋ API 強化</a:t>
            </a:r>
            <a:endParaRPr lang="en-US" sz="1500" dirty="0">
              <a:latin typeface="Meiryo UI"/>
              <a:ea typeface="Meiryo UI"/>
            </a:endParaRPr>
          </a:p>
        </p:txBody>
      </p:sp>
      <p:sp>
        <p:nvSpPr>
          <p:cNvPr id="26" name="Shape 24"/>
          <p:cNvSpPr/>
          <p:nvPr/>
        </p:nvSpPr>
        <p:spPr>
          <a:xfrm>
            <a:off x="548640" y="5166360"/>
            <a:ext cx="2468880" cy="1005840"/>
          </a:xfrm>
          <a:prstGeom prst="rect">
            <a:avLst/>
          </a:prstGeom>
          <a:solidFill>
            <a:srgbClr val="EBC528"/>
          </a:solidFill>
          <a:ln/>
        </p:spPr>
        <p:txBody>
          <a:bodyPr/>
          <a:lstStyle/>
          <a:p>
            <a:endParaRPr lang="ja-JP" altLang="en-US">
              <a:latin typeface="Meiryo UI"/>
              <a:ea typeface="Meiryo UI"/>
            </a:endParaRPr>
          </a:p>
        </p:txBody>
      </p:sp>
      <p:sp>
        <p:nvSpPr>
          <p:cNvPr id="27" name="Text 25"/>
          <p:cNvSpPr/>
          <p:nvPr/>
        </p:nvSpPr>
        <p:spPr>
          <a:xfrm>
            <a:off x="685800" y="5184648"/>
            <a:ext cx="457200" cy="274320"/>
          </a:xfrm>
          <a:prstGeom prst="rect">
            <a:avLst/>
          </a:prstGeom>
          <a:noFill/>
          <a:ln/>
        </p:spPr>
        <p:txBody>
          <a:bodyPr wrap="square" lIns="0" tIns="0" rIns="0" bIns="0" rtlCol="0" anchor="ctr"/>
          <a:lstStyle/>
          <a:p>
            <a:pPr marL="0" indent="0">
              <a:buNone/>
            </a:pPr>
            <a:r>
              <a:rPr lang="en-US" sz="1200" b="1" dirty="0">
                <a:solidFill>
                  <a:srgbClr val="0F172A"/>
                </a:solidFill>
                <a:latin typeface="Meiryo UI" pitchFamily="34" charset="0"/>
                <a:ea typeface="Meiryo UI" pitchFamily="34" charset="-122"/>
                <a:cs typeface="Meiryo UI" pitchFamily="34" charset="-120"/>
              </a:rPr>
              <a:t>①</a:t>
            </a:r>
            <a:endParaRPr lang="en-US" sz="1200" dirty="0">
              <a:latin typeface="Meiryo UI"/>
              <a:ea typeface="Meiryo UI"/>
            </a:endParaRPr>
          </a:p>
        </p:txBody>
      </p:sp>
      <p:sp>
        <p:nvSpPr>
          <p:cNvPr id="28" name="Text 26"/>
          <p:cNvSpPr/>
          <p:nvPr/>
        </p:nvSpPr>
        <p:spPr>
          <a:xfrm>
            <a:off x="685800" y="5349240"/>
            <a:ext cx="2194560" cy="32004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拡張子</a:t>
            </a:r>
            <a:endParaRPr lang="en-US" sz="1500" dirty="0">
              <a:latin typeface="Meiryo UI"/>
              <a:ea typeface="Meiryo UI"/>
            </a:endParaRPr>
          </a:p>
        </p:txBody>
      </p:sp>
      <p:sp>
        <p:nvSpPr>
          <p:cNvPr id="29" name="Shape 27"/>
          <p:cNvSpPr/>
          <p:nvPr/>
        </p:nvSpPr>
        <p:spPr>
          <a:xfrm>
            <a:off x="685800" y="5696712"/>
            <a:ext cx="2194560" cy="365760"/>
          </a:xfrm>
          <a:prstGeom prst="rect">
            <a:avLst/>
          </a:prstGeom>
          <a:solidFill>
            <a:srgbClr val="FFFFFF"/>
          </a:solidFill>
          <a:ln/>
        </p:spPr>
        <p:txBody>
          <a:bodyPr/>
          <a:lstStyle/>
          <a:p>
            <a:endParaRPr lang="ja-JP" altLang="en-US">
              <a:latin typeface="Meiryo UI"/>
              <a:ea typeface="Meiryo UI"/>
            </a:endParaRPr>
          </a:p>
        </p:txBody>
      </p:sp>
      <p:sp>
        <p:nvSpPr>
          <p:cNvPr id="30" name="Text 28"/>
          <p:cNvSpPr/>
          <p:nvPr/>
        </p:nvSpPr>
        <p:spPr>
          <a:xfrm>
            <a:off x="685800" y="5696712"/>
            <a:ext cx="2194560" cy="365760"/>
          </a:xfrm>
          <a:prstGeom prst="rect">
            <a:avLst/>
          </a:prstGeom>
          <a:noFill/>
          <a:ln/>
        </p:spPr>
        <p:txBody>
          <a:bodyPr wrap="square" lIns="0" tIns="0" rIns="0" bIns="0" rtlCol="0" anchor="ctr"/>
          <a:lstStyle/>
          <a:p>
            <a:pPr marL="0" indent="0" algn="ctr">
              <a:buNone/>
            </a:pPr>
            <a:r>
              <a:rPr lang="en-US" sz="1000" b="1" dirty="0">
                <a:solidFill>
                  <a:srgbClr val="0F172A"/>
                </a:solidFill>
                <a:latin typeface="Meiryo UI" pitchFamily="34" charset="0"/>
                <a:ea typeface="Meiryo UI" pitchFamily="34" charset="-122"/>
                <a:cs typeface="Meiryo UI" pitchFamily="34" charset="-120"/>
              </a:rPr>
              <a:t>.pdf で終わるか</a:t>
            </a:r>
            <a:endParaRPr lang="en-US" sz="1000" dirty="0">
              <a:latin typeface="Meiryo UI"/>
              <a:ea typeface="Meiryo UI"/>
            </a:endParaRPr>
          </a:p>
        </p:txBody>
      </p:sp>
      <p:sp>
        <p:nvSpPr>
          <p:cNvPr id="31" name="Shape 29"/>
          <p:cNvSpPr/>
          <p:nvPr/>
        </p:nvSpPr>
        <p:spPr>
          <a:xfrm>
            <a:off x="3154680" y="5166360"/>
            <a:ext cx="2468880" cy="1005840"/>
          </a:xfrm>
          <a:prstGeom prst="rect">
            <a:avLst/>
          </a:prstGeom>
          <a:solidFill>
            <a:srgbClr val="F59E0B"/>
          </a:solidFill>
          <a:ln/>
        </p:spPr>
        <p:txBody>
          <a:bodyPr/>
          <a:lstStyle/>
          <a:p>
            <a:endParaRPr lang="ja-JP" altLang="en-US">
              <a:latin typeface="Meiryo UI"/>
              <a:ea typeface="Meiryo UI"/>
            </a:endParaRPr>
          </a:p>
        </p:txBody>
      </p:sp>
      <p:sp>
        <p:nvSpPr>
          <p:cNvPr id="32" name="Text 30"/>
          <p:cNvSpPr/>
          <p:nvPr/>
        </p:nvSpPr>
        <p:spPr>
          <a:xfrm>
            <a:off x="3291840" y="5184648"/>
            <a:ext cx="457200" cy="274320"/>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②</a:t>
            </a:r>
            <a:endParaRPr lang="en-US" sz="1200" dirty="0">
              <a:latin typeface="Meiryo UI"/>
              <a:ea typeface="Meiryo UI"/>
            </a:endParaRPr>
          </a:p>
        </p:txBody>
      </p:sp>
      <p:sp>
        <p:nvSpPr>
          <p:cNvPr id="33" name="Text 31"/>
          <p:cNvSpPr/>
          <p:nvPr/>
        </p:nvSpPr>
        <p:spPr>
          <a:xfrm>
            <a:off x="3291840" y="5349240"/>
            <a:ext cx="2194560" cy="320040"/>
          </a:xfrm>
          <a:prstGeom prst="rect">
            <a:avLst/>
          </a:prstGeom>
          <a:noFill/>
          <a:ln/>
        </p:spPr>
        <p:txBody>
          <a:bodyPr wrap="square" lIns="0" tIns="0" rIns="0" bIns="0" rtlCol="0" anchor="ctr"/>
          <a:lstStyle/>
          <a:p>
            <a:pPr marL="0" indent="0">
              <a:buNone/>
            </a:pPr>
            <a:r>
              <a:rPr lang="en-US" sz="1500" b="1" dirty="0">
                <a:solidFill>
                  <a:srgbClr val="FFFFFF"/>
                </a:solidFill>
                <a:latin typeface="Meiryo UI" pitchFamily="34" charset="0"/>
                <a:ea typeface="Meiryo UI" pitchFamily="34" charset="-122"/>
                <a:cs typeface="Meiryo UI" pitchFamily="34" charset="-120"/>
              </a:rPr>
              <a:t>MIME</a:t>
            </a:r>
            <a:endParaRPr lang="en-US" sz="1500" dirty="0">
              <a:latin typeface="Meiryo UI"/>
              <a:ea typeface="Meiryo UI"/>
            </a:endParaRPr>
          </a:p>
        </p:txBody>
      </p:sp>
      <p:sp>
        <p:nvSpPr>
          <p:cNvPr id="34" name="Shape 32"/>
          <p:cNvSpPr/>
          <p:nvPr/>
        </p:nvSpPr>
        <p:spPr>
          <a:xfrm>
            <a:off x="3291840" y="5696712"/>
            <a:ext cx="2194560" cy="365760"/>
          </a:xfrm>
          <a:prstGeom prst="rect">
            <a:avLst/>
          </a:prstGeom>
          <a:solidFill>
            <a:srgbClr val="FFFFFF"/>
          </a:solidFill>
          <a:ln/>
        </p:spPr>
        <p:txBody>
          <a:bodyPr/>
          <a:lstStyle/>
          <a:p>
            <a:endParaRPr lang="ja-JP" altLang="en-US">
              <a:latin typeface="Meiryo UI"/>
              <a:ea typeface="Meiryo UI"/>
            </a:endParaRPr>
          </a:p>
        </p:txBody>
      </p:sp>
      <p:sp>
        <p:nvSpPr>
          <p:cNvPr id="35" name="Text 33"/>
          <p:cNvSpPr/>
          <p:nvPr/>
        </p:nvSpPr>
        <p:spPr>
          <a:xfrm>
            <a:off x="3291840" y="5696712"/>
            <a:ext cx="2194560" cy="365760"/>
          </a:xfrm>
          <a:prstGeom prst="rect">
            <a:avLst/>
          </a:prstGeom>
          <a:noFill/>
          <a:ln/>
        </p:spPr>
        <p:txBody>
          <a:bodyPr wrap="square" lIns="0" tIns="0" rIns="0" bIns="0" rtlCol="0" anchor="ctr"/>
          <a:lstStyle/>
          <a:p>
            <a:pPr marL="0" indent="0" algn="ctr">
              <a:buNone/>
            </a:pPr>
            <a:r>
              <a:rPr lang="en-US" sz="1000" b="1" dirty="0">
                <a:solidFill>
                  <a:srgbClr val="F59E0B"/>
                </a:solidFill>
                <a:latin typeface="Meiryo UI" pitchFamily="34" charset="0"/>
                <a:ea typeface="Meiryo UI" pitchFamily="34" charset="-122"/>
                <a:cs typeface="Meiryo UI" pitchFamily="34" charset="-120"/>
              </a:rPr>
              <a:t>application/pdf</a:t>
            </a:r>
            <a:endParaRPr lang="en-US" sz="1000" dirty="0">
              <a:latin typeface="Meiryo UI"/>
              <a:ea typeface="Meiryo UI"/>
            </a:endParaRPr>
          </a:p>
        </p:txBody>
      </p:sp>
      <p:sp>
        <p:nvSpPr>
          <p:cNvPr id="36" name="Shape 34"/>
          <p:cNvSpPr/>
          <p:nvPr/>
        </p:nvSpPr>
        <p:spPr>
          <a:xfrm>
            <a:off x="5760720" y="5166360"/>
            <a:ext cx="2468880" cy="1005840"/>
          </a:xfrm>
          <a:prstGeom prst="rect">
            <a:avLst/>
          </a:prstGeom>
          <a:solidFill>
            <a:srgbClr val="EF4444"/>
          </a:solidFill>
          <a:ln/>
        </p:spPr>
        <p:txBody>
          <a:bodyPr/>
          <a:lstStyle/>
          <a:p>
            <a:endParaRPr lang="ja-JP" altLang="en-US">
              <a:latin typeface="Meiryo UI"/>
              <a:ea typeface="Meiryo UI"/>
            </a:endParaRPr>
          </a:p>
        </p:txBody>
      </p:sp>
      <p:sp>
        <p:nvSpPr>
          <p:cNvPr id="37" name="Text 35"/>
          <p:cNvSpPr/>
          <p:nvPr/>
        </p:nvSpPr>
        <p:spPr>
          <a:xfrm>
            <a:off x="5897880" y="5184648"/>
            <a:ext cx="457200" cy="274320"/>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③</a:t>
            </a:r>
            <a:endParaRPr lang="en-US" sz="1200" dirty="0">
              <a:latin typeface="Meiryo UI"/>
              <a:ea typeface="Meiryo UI"/>
            </a:endParaRPr>
          </a:p>
        </p:txBody>
      </p:sp>
      <p:sp>
        <p:nvSpPr>
          <p:cNvPr id="38" name="Text 36"/>
          <p:cNvSpPr/>
          <p:nvPr/>
        </p:nvSpPr>
        <p:spPr>
          <a:xfrm>
            <a:off x="5897880" y="5349240"/>
            <a:ext cx="2194560" cy="320040"/>
          </a:xfrm>
          <a:prstGeom prst="rect">
            <a:avLst/>
          </a:prstGeom>
          <a:noFill/>
          <a:ln/>
        </p:spPr>
        <p:txBody>
          <a:bodyPr wrap="square" lIns="0" tIns="0" rIns="0" bIns="0" rtlCol="0" anchor="ctr"/>
          <a:lstStyle/>
          <a:p>
            <a:pPr marL="0" indent="0">
              <a:buNone/>
            </a:pPr>
            <a:r>
              <a:rPr lang="en-US" sz="1500" b="1" dirty="0">
                <a:solidFill>
                  <a:srgbClr val="FFFFFF"/>
                </a:solidFill>
                <a:latin typeface="Meiryo UI" pitchFamily="34" charset="0"/>
                <a:ea typeface="Meiryo UI" pitchFamily="34" charset="-122"/>
                <a:cs typeface="Meiryo UI" pitchFamily="34" charset="-120"/>
              </a:rPr>
              <a:t>マジックバイト</a:t>
            </a:r>
            <a:endParaRPr lang="en-US" sz="1500" dirty="0">
              <a:latin typeface="Meiryo UI"/>
              <a:ea typeface="Meiryo UI"/>
            </a:endParaRPr>
          </a:p>
        </p:txBody>
      </p:sp>
      <p:sp>
        <p:nvSpPr>
          <p:cNvPr id="39" name="Shape 37"/>
          <p:cNvSpPr/>
          <p:nvPr/>
        </p:nvSpPr>
        <p:spPr>
          <a:xfrm>
            <a:off x="5897880" y="5696712"/>
            <a:ext cx="2194560" cy="365760"/>
          </a:xfrm>
          <a:prstGeom prst="rect">
            <a:avLst/>
          </a:prstGeom>
          <a:solidFill>
            <a:srgbClr val="FFFFFF"/>
          </a:solidFill>
          <a:ln/>
        </p:spPr>
        <p:txBody>
          <a:bodyPr/>
          <a:lstStyle/>
          <a:p>
            <a:endParaRPr lang="ja-JP" altLang="en-US">
              <a:latin typeface="Meiryo UI"/>
              <a:ea typeface="Meiryo UI"/>
            </a:endParaRPr>
          </a:p>
        </p:txBody>
      </p:sp>
      <p:sp>
        <p:nvSpPr>
          <p:cNvPr id="40" name="Text 38"/>
          <p:cNvSpPr/>
          <p:nvPr/>
        </p:nvSpPr>
        <p:spPr>
          <a:xfrm>
            <a:off x="5897880" y="5696712"/>
            <a:ext cx="2194560" cy="365760"/>
          </a:xfrm>
          <a:prstGeom prst="rect">
            <a:avLst/>
          </a:prstGeom>
          <a:noFill/>
          <a:ln/>
        </p:spPr>
        <p:txBody>
          <a:bodyPr wrap="square" lIns="0" tIns="0" rIns="0" bIns="0" rtlCol="0" anchor="ctr"/>
          <a:lstStyle/>
          <a:p>
            <a:pPr marL="0" indent="0" algn="ctr">
              <a:buNone/>
            </a:pPr>
            <a:r>
              <a:rPr lang="en-US" sz="1000" b="1" dirty="0">
                <a:solidFill>
                  <a:srgbClr val="EF4444"/>
                </a:solidFill>
                <a:latin typeface="Meiryo UI" pitchFamily="34" charset="0"/>
                <a:ea typeface="Meiryo UI" pitchFamily="34" charset="-122"/>
                <a:cs typeface="Meiryo UI" pitchFamily="34" charset="-120"/>
              </a:rPr>
              <a:t>%PDF- = 0x25...</a:t>
            </a:r>
            <a:endParaRPr lang="en-US" sz="1000" dirty="0">
              <a:latin typeface="Meiryo UI"/>
              <a:ea typeface="Meiryo UI"/>
            </a:endParaRPr>
          </a:p>
        </p:txBody>
      </p:sp>
      <p:sp>
        <p:nvSpPr>
          <p:cNvPr id="41" name="Shape 39"/>
          <p:cNvSpPr/>
          <p:nvPr/>
        </p:nvSpPr>
        <p:spPr>
          <a:xfrm>
            <a:off x="8458200" y="5166360"/>
            <a:ext cx="3154680" cy="1005840"/>
          </a:xfrm>
          <a:prstGeom prst="rect">
            <a:avLst/>
          </a:prstGeom>
          <a:solidFill>
            <a:srgbClr val="0F172A"/>
          </a:solidFill>
          <a:ln/>
        </p:spPr>
        <p:txBody>
          <a:bodyPr/>
          <a:lstStyle/>
          <a:p>
            <a:endParaRPr lang="ja-JP" altLang="en-US">
              <a:latin typeface="Meiryo UI"/>
              <a:ea typeface="Meiryo UI"/>
            </a:endParaRPr>
          </a:p>
        </p:txBody>
      </p:sp>
      <p:sp>
        <p:nvSpPr>
          <p:cNvPr id="42" name="Text 40"/>
          <p:cNvSpPr/>
          <p:nvPr/>
        </p:nvSpPr>
        <p:spPr>
          <a:xfrm>
            <a:off x="8549640" y="5166360"/>
            <a:ext cx="3017520" cy="274320"/>
          </a:xfrm>
          <a:prstGeom prst="rect">
            <a:avLst/>
          </a:prstGeom>
          <a:noFill/>
          <a:ln/>
        </p:spPr>
        <p:txBody>
          <a:bodyPr wrap="square" lIns="0" tIns="0" rIns="0" bIns="0" rtlCol="0" anchor="t"/>
          <a:lstStyle/>
          <a:p>
            <a:pPr marL="0" indent="0">
              <a:buNone/>
            </a:pPr>
            <a:r>
              <a:rPr lang="en-US" sz="1100" b="1" dirty="0">
                <a:solidFill>
                  <a:srgbClr val="EBC528"/>
                </a:solidFill>
                <a:latin typeface="Meiryo UI" pitchFamily="34" charset="0"/>
                <a:ea typeface="Meiryo UI" pitchFamily="34" charset="-122"/>
                <a:cs typeface="Meiryo UI" pitchFamily="34" charset="-120"/>
              </a:rPr>
              <a:t>API 強化</a:t>
            </a:r>
            <a:endParaRPr lang="en-US" sz="1100" dirty="0">
              <a:latin typeface="Meiryo UI"/>
              <a:ea typeface="Meiryo UI"/>
            </a:endParaRPr>
          </a:p>
        </p:txBody>
      </p:sp>
      <p:sp>
        <p:nvSpPr>
          <p:cNvPr id="43" name="Shape 41"/>
          <p:cNvSpPr/>
          <p:nvPr/>
        </p:nvSpPr>
        <p:spPr>
          <a:xfrm>
            <a:off x="8549640" y="5440680"/>
            <a:ext cx="960120" cy="274320"/>
          </a:xfrm>
          <a:prstGeom prst="rect">
            <a:avLst/>
          </a:prstGeom>
          <a:solidFill>
            <a:srgbClr val="EF4444"/>
          </a:solidFill>
          <a:ln/>
        </p:spPr>
        <p:txBody>
          <a:bodyPr/>
          <a:lstStyle/>
          <a:p>
            <a:endParaRPr lang="ja-JP" altLang="en-US">
              <a:latin typeface="Meiryo UI"/>
              <a:ea typeface="Meiryo UI"/>
            </a:endParaRPr>
          </a:p>
        </p:txBody>
      </p:sp>
      <p:sp>
        <p:nvSpPr>
          <p:cNvPr id="44" name="Text 42"/>
          <p:cNvSpPr/>
          <p:nvPr/>
        </p:nvSpPr>
        <p:spPr>
          <a:xfrm>
            <a:off x="854964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CSRF</a:t>
            </a:r>
            <a:endParaRPr lang="en-US" sz="900" dirty="0">
              <a:latin typeface="Meiryo UI"/>
              <a:ea typeface="Meiryo UI"/>
            </a:endParaRPr>
          </a:p>
        </p:txBody>
      </p:sp>
      <p:sp>
        <p:nvSpPr>
          <p:cNvPr id="45" name="Shape 43"/>
          <p:cNvSpPr/>
          <p:nvPr/>
        </p:nvSpPr>
        <p:spPr>
          <a:xfrm>
            <a:off x="9555480" y="5440680"/>
            <a:ext cx="960120" cy="274320"/>
          </a:xfrm>
          <a:prstGeom prst="rect">
            <a:avLst/>
          </a:prstGeom>
          <a:solidFill>
            <a:srgbClr val="F59E0B"/>
          </a:solidFill>
          <a:ln/>
        </p:spPr>
        <p:txBody>
          <a:bodyPr/>
          <a:lstStyle/>
          <a:p>
            <a:endParaRPr lang="ja-JP" altLang="en-US">
              <a:latin typeface="Meiryo UI"/>
              <a:ea typeface="Meiryo UI"/>
            </a:endParaRPr>
          </a:p>
        </p:txBody>
      </p:sp>
      <p:sp>
        <p:nvSpPr>
          <p:cNvPr id="46" name="Text 44"/>
          <p:cNvSpPr/>
          <p:nvPr/>
        </p:nvSpPr>
        <p:spPr>
          <a:xfrm>
            <a:off x="955548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405 拒否</a:t>
            </a:r>
            <a:endParaRPr lang="en-US" sz="900" dirty="0">
              <a:latin typeface="Meiryo UI"/>
              <a:ea typeface="Meiryo UI"/>
            </a:endParaRPr>
          </a:p>
        </p:txBody>
      </p:sp>
      <p:sp>
        <p:nvSpPr>
          <p:cNvPr id="47" name="Shape 45"/>
          <p:cNvSpPr/>
          <p:nvPr/>
        </p:nvSpPr>
        <p:spPr>
          <a:xfrm>
            <a:off x="10561320" y="5440680"/>
            <a:ext cx="960120" cy="274320"/>
          </a:xfrm>
          <a:prstGeom prst="rect">
            <a:avLst/>
          </a:prstGeom>
          <a:solidFill>
            <a:srgbClr val="2563EB"/>
          </a:solidFill>
          <a:ln/>
        </p:spPr>
        <p:txBody>
          <a:bodyPr/>
          <a:lstStyle/>
          <a:p>
            <a:endParaRPr lang="ja-JP" altLang="en-US">
              <a:latin typeface="Meiryo UI"/>
              <a:ea typeface="Meiryo UI"/>
            </a:endParaRPr>
          </a:p>
        </p:txBody>
      </p:sp>
      <p:sp>
        <p:nvSpPr>
          <p:cNvPr id="48" name="Text 46"/>
          <p:cNvSpPr/>
          <p:nvPr/>
        </p:nvSpPr>
        <p:spPr>
          <a:xfrm>
            <a:off x="1056132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CORS 非応答</a:t>
            </a:r>
            <a:endParaRPr lang="en-US" sz="900" dirty="0">
              <a:latin typeface="Meiryo UI"/>
              <a:ea typeface="Meiryo UI"/>
            </a:endParaRPr>
          </a:p>
        </p:txBody>
      </p:sp>
      <p:sp>
        <p:nvSpPr>
          <p:cNvPr id="49" name="Shape 47"/>
          <p:cNvSpPr/>
          <p:nvPr/>
        </p:nvSpPr>
        <p:spPr>
          <a:xfrm>
            <a:off x="8549640" y="5769864"/>
            <a:ext cx="960120" cy="274320"/>
          </a:xfrm>
          <a:prstGeom prst="rect">
            <a:avLst/>
          </a:prstGeom>
          <a:solidFill>
            <a:srgbClr val="10B981"/>
          </a:solidFill>
          <a:ln/>
        </p:spPr>
        <p:txBody>
          <a:bodyPr/>
          <a:lstStyle/>
          <a:p>
            <a:endParaRPr lang="ja-JP" altLang="en-US">
              <a:latin typeface="Meiryo UI"/>
              <a:ea typeface="Meiryo UI"/>
            </a:endParaRPr>
          </a:p>
        </p:txBody>
      </p:sp>
      <p:sp>
        <p:nvSpPr>
          <p:cNvPr id="50" name="Text 48"/>
          <p:cNvSpPr/>
          <p:nvPr/>
        </p:nvSpPr>
        <p:spPr>
          <a:xfrm>
            <a:off x="8549640" y="5769864"/>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no-store</a:t>
            </a:r>
            <a:endParaRPr lang="en-US" sz="900" dirty="0">
              <a:latin typeface="Meiryo UI"/>
              <a:ea typeface="Meiryo UI"/>
            </a:endParaRPr>
          </a:p>
        </p:txBody>
      </p:sp>
      <p:sp>
        <p:nvSpPr>
          <p:cNvPr id="51" name="Shape 49"/>
          <p:cNvSpPr/>
          <p:nvPr/>
        </p:nvSpPr>
        <p:spPr>
          <a:xfrm>
            <a:off x="9555480" y="5769864"/>
            <a:ext cx="960120" cy="274320"/>
          </a:xfrm>
          <a:prstGeom prst="rect">
            <a:avLst/>
          </a:prstGeom>
          <a:solidFill>
            <a:srgbClr val="7C3AED"/>
          </a:solidFill>
          <a:ln/>
        </p:spPr>
        <p:txBody>
          <a:bodyPr/>
          <a:lstStyle/>
          <a:p>
            <a:endParaRPr lang="ja-JP" altLang="en-US">
              <a:latin typeface="Meiryo UI"/>
              <a:ea typeface="Meiryo UI"/>
            </a:endParaRPr>
          </a:p>
        </p:txBody>
      </p:sp>
      <p:sp>
        <p:nvSpPr>
          <p:cNvPr id="52" name="Text 50"/>
          <p:cNvSpPr/>
          <p:nvPr/>
        </p:nvSpPr>
        <p:spPr>
          <a:xfrm>
            <a:off x="9555480" y="5769864"/>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noindex</a:t>
            </a:r>
            <a:endParaRPr lang="en-US" sz="900" dirty="0">
              <a:latin typeface="Meiryo UI"/>
              <a:ea typeface="Meiryo UI"/>
            </a:endParaRPr>
          </a:p>
        </p:txBody>
      </p:sp>
      <p:sp>
        <p:nvSpPr>
          <p:cNvPr id="53" name="Text 51"/>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4" name="Text 52"/>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7 / 10</a:t>
            </a:r>
            <a:endParaRPr lang="en-US" sz="1000" dirty="0">
              <a:latin typeface="Meiryo UI"/>
              <a:ea typeface="Meiryo UI"/>
            </a:endParaRPr>
          </a:p>
        </p:txBody>
      </p:sp>
      <p:pic>
        <p:nvPicPr>
          <p:cNvPr id="55" name="Picture 54"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07  SECURITY</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セキュリティ ②｜88 項目チェックリスト対応</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業界標準のセキュリティチェックリスト 88 項目をぜんぶ確認しました。</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本サイトに関係する項目には、すべて対応済みです。</a:t>
            </a:r>
            <a:endParaRPr lang="en-US" sz="1800" dirty="0">
              <a:latin typeface="Meiryo UI"/>
              <a:ea typeface="Meiryo UI"/>
            </a:endParaRPr>
          </a:p>
        </p:txBody>
      </p:sp>
      <p:sp>
        <p:nvSpPr>
          <p:cNvPr id="10" name="Shape 8"/>
          <p:cNvSpPr/>
          <p:nvPr/>
        </p:nvSpPr>
        <p:spPr>
          <a:xfrm>
            <a:off x="548640" y="2971800"/>
            <a:ext cx="3200400" cy="3246120"/>
          </a:xfrm>
          <a:prstGeom prst="rect">
            <a:avLst/>
          </a:prstGeom>
          <a:solidFill>
            <a:srgbClr val="0F172A"/>
          </a:solidFill>
          <a:ln/>
        </p:spPr>
        <p:txBody>
          <a:bodyPr/>
          <a:lstStyle/>
          <a:p>
            <a:endParaRPr lang="ja-JP" altLang="en-US">
              <a:latin typeface="Meiryo UI"/>
              <a:ea typeface="Meiryo UI"/>
            </a:endParaRPr>
          </a:p>
        </p:txBody>
      </p:sp>
      <p:sp>
        <p:nvSpPr>
          <p:cNvPr id="11" name="Text 9"/>
          <p:cNvSpPr/>
          <p:nvPr/>
        </p:nvSpPr>
        <p:spPr>
          <a:xfrm>
            <a:off x="548640" y="3017520"/>
            <a:ext cx="3200400" cy="1554480"/>
          </a:xfrm>
          <a:prstGeom prst="rect">
            <a:avLst/>
          </a:prstGeom>
          <a:noFill/>
          <a:ln/>
        </p:spPr>
        <p:txBody>
          <a:bodyPr wrap="square" lIns="0" tIns="0" rIns="0" bIns="0" rtlCol="0" anchor="ctr"/>
          <a:lstStyle/>
          <a:p>
            <a:pPr marL="0" indent="0" algn="ctr">
              <a:buNone/>
            </a:pPr>
            <a:r>
              <a:rPr lang="en-US" sz="9600" b="1" dirty="0">
                <a:solidFill>
                  <a:srgbClr val="EBC528"/>
                </a:solidFill>
                <a:latin typeface="Meiryo UI" pitchFamily="34" charset="0"/>
                <a:ea typeface="Meiryo UI" pitchFamily="34" charset="-122"/>
                <a:cs typeface="Meiryo UI" pitchFamily="34" charset="-120"/>
              </a:rPr>
              <a:t>88</a:t>
            </a:r>
            <a:endParaRPr lang="en-US" sz="9600" dirty="0">
              <a:latin typeface="Meiryo UI"/>
              <a:ea typeface="Meiryo UI"/>
            </a:endParaRPr>
          </a:p>
        </p:txBody>
      </p:sp>
      <p:sp>
        <p:nvSpPr>
          <p:cNvPr id="12" name="Text 10"/>
          <p:cNvSpPr/>
          <p:nvPr/>
        </p:nvSpPr>
        <p:spPr>
          <a:xfrm>
            <a:off x="548640" y="4526280"/>
            <a:ext cx="3200400" cy="365760"/>
          </a:xfrm>
          <a:prstGeom prst="rect">
            <a:avLst/>
          </a:prstGeom>
          <a:noFill/>
          <a:ln/>
        </p:spPr>
        <p:txBody>
          <a:bodyPr wrap="square" lIns="0" tIns="0" rIns="0" bIns="0" rtlCol="0" anchor="ctr"/>
          <a:lstStyle/>
          <a:p>
            <a:pPr marL="0" indent="0" algn="ctr">
              <a:buNone/>
            </a:pPr>
            <a:r>
              <a:rPr lang="en-US" sz="1300" b="1" kern="0" spc="600" dirty="0">
                <a:solidFill>
                  <a:srgbClr val="EBC528"/>
                </a:solidFill>
                <a:latin typeface="Meiryo UI" pitchFamily="34" charset="0"/>
                <a:ea typeface="Meiryo UI" pitchFamily="34" charset="-122"/>
                <a:cs typeface="Meiryo UI" pitchFamily="34" charset="-120"/>
              </a:rPr>
              <a:t>ITEMS AUDITED</a:t>
            </a:r>
            <a:endParaRPr lang="en-US" sz="1300" dirty="0">
              <a:latin typeface="Meiryo UI"/>
              <a:ea typeface="Meiryo UI"/>
            </a:endParaRPr>
          </a:p>
        </p:txBody>
      </p:sp>
      <p:sp>
        <p:nvSpPr>
          <p:cNvPr id="13" name="Text 11"/>
          <p:cNvSpPr/>
          <p:nvPr/>
        </p:nvSpPr>
        <p:spPr>
          <a:xfrm>
            <a:off x="548640" y="4937760"/>
            <a:ext cx="320040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Meiryo UI" pitchFamily="34" charset="0"/>
                <a:ea typeface="Meiryo UI" pitchFamily="34" charset="-122"/>
                <a:cs typeface="Meiryo UI" pitchFamily="34" charset="-120"/>
              </a:rPr>
              <a:t>OWASP 系の脆弱性チェックリスト</a:t>
            </a:r>
            <a:endParaRPr lang="en-US" sz="1100" dirty="0">
              <a:latin typeface="Meiryo UI"/>
              <a:ea typeface="Meiryo UI"/>
            </a:endParaRPr>
          </a:p>
        </p:txBody>
      </p:sp>
      <p:sp>
        <p:nvSpPr>
          <p:cNvPr id="14" name="Text 12"/>
          <p:cNvSpPr/>
          <p:nvPr/>
        </p:nvSpPr>
        <p:spPr>
          <a:xfrm>
            <a:off x="548640" y="5257800"/>
            <a:ext cx="3200400" cy="365760"/>
          </a:xfrm>
          <a:prstGeom prst="rect">
            <a:avLst/>
          </a:prstGeom>
          <a:noFill/>
          <a:ln/>
        </p:spPr>
        <p:txBody>
          <a:bodyPr wrap="square" lIns="0" tIns="0" rIns="0" bIns="0" rtlCol="0" anchor="ctr"/>
          <a:lstStyle/>
          <a:p>
            <a:pPr marL="0" indent="0" algn="ctr">
              <a:buNone/>
            </a:pPr>
            <a:r>
              <a:rPr lang="en-US" sz="1000" dirty="0">
                <a:solidFill>
                  <a:srgbClr val="94A3B8"/>
                </a:solidFill>
                <a:latin typeface="Meiryo UI" pitchFamily="34" charset="0"/>
                <a:ea typeface="Meiryo UI" pitchFamily="34" charset="-122"/>
                <a:cs typeface="Meiryo UI" pitchFamily="34" charset="-120"/>
              </a:rPr>
              <a:t>Critical / High / Medium / Low / Info</a:t>
            </a:r>
            <a:endParaRPr lang="en-US" sz="1000" dirty="0">
              <a:latin typeface="Meiryo UI"/>
              <a:ea typeface="Meiryo UI"/>
            </a:endParaRPr>
          </a:p>
        </p:txBody>
      </p:sp>
      <p:sp>
        <p:nvSpPr>
          <p:cNvPr id="15" name="Text 13"/>
          <p:cNvSpPr/>
          <p:nvPr/>
        </p:nvSpPr>
        <p:spPr>
          <a:xfrm>
            <a:off x="548640" y="5760720"/>
            <a:ext cx="3200400" cy="365760"/>
          </a:xfrm>
          <a:prstGeom prst="rect">
            <a:avLst/>
          </a:prstGeom>
          <a:noFill/>
          <a:ln/>
        </p:spPr>
        <p:txBody>
          <a:bodyPr wrap="square" lIns="0" tIns="0" rIns="0" bIns="0" rtlCol="0" anchor="ctr"/>
          <a:lstStyle/>
          <a:p>
            <a:pPr marL="0" indent="0" algn="ctr">
              <a:buNone/>
            </a:pPr>
            <a:r>
              <a:rPr lang="en-US" sz="1200" b="1" dirty="0">
                <a:solidFill>
                  <a:srgbClr val="EBC528"/>
                </a:solidFill>
                <a:latin typeface="Meiryo UI" pitchFamily="34" charset="0"/>
                <a:ea typeface="Meiryo UI" pitchFamily="34" charset="-122"/>
                <a:cs typeface="Meiryo UI" pitchFamily="34" charset="-120"/>
              </a:rPr>
              <a:t>→ 全 88 項目を照合</a:t>
            </a:r>
            <a:endParaRPr lang="en-US" sz="1200" dirty="0">
              <a:latin typeface="Meiryo UI"/>
              <a:ea typeface="Meiryo UI"/>
            </a:endParaRPr>
          </a:p>
        </p:txBody>
      </p:sp>
      <p:sp>
        <p:nvSpPr>
          <p:cNvPr id="16" name="Shape 14"/>
          <p:cNvSpPr/>
          <p:nvPr/>
        </p:nvSpPr>
        <p:spPr>
          <a:xfrm>
            <a:off x="3977640" y="2971800"/>
            <a:ext cx="7635240" cy="100584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7" name="Shape 15"/>
          <p:cNvSpPr/>
          <p:nvPr/>
        </p:nvSpPr>
        <p:spPr>
          <a:xfrm>
            <a:off x="3977640" y="2971800"/>
            <a:ext cx="109728" cy="1005840"/>
          </a:xfrm>
          <a:prstGeom prst="rect">
            <a:avLst/>
          </a:prstGeom>
          <a:solidFill>
            <a:srgbClr val="10B981"/>
          </a:solidFill>
          <a:ln/>
        </p:spPr>
        <p:txBody>
          <a:bodyPr/>
          <a:lstStyle/>
          <a:p>
            <a:endParaRPr lang="ja-JP" altLang="en-US">
              <a:latin typeface="Meiryo UI"/>
              <a:ea typeface="Meiryo UI"/>
            </a:endParaRPr>
          </a:p>
        </p:txBody>
      </p:sp>
      <p:sp>
        <p:nvSpPr>
          <p:cNvPr id="18" name="Text 16"/>
          <p:cNvSpPr/>
          <p:nvPr/>
        </p:nvSpPr>
        <p:spPr>
          <a:xfrm>
            <a:off x="4206240" y="308152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対応済</a:t>
            </a:r>
            <a:endParaRPr lang="en-US" sz="2000" dirty="0">
              <a:latin typeface="Meiryo UI"/>
              <a:ea typeface="Meiryo UI"/>
            </a:endParaRPr>
          </a:p>
        </p:txBody>
      </p:sp>
      <p:sp>
        <p:nvSpPr>
          <p:cNvPr id="19" name="Shape 17"/>
          <p:cNvSpPr/>
          <p:nvPr/>
        </p:nvSpPr>
        <p:spPr>
          <a:xfrm>
            <a:off x="9418320" y="3118104"/>
            <a:ext cx="2011680" cy="384048"/>
          </a:xfrm>
          <a:prstGeom prst="rect">
            <a:avLst/>
          </a:prstGeom>
          <a:solidFill>
            <a:srgbClr val="10B981"/>
          </a:solidFill>
          <a:ln/>
        </p:spPr>
        <p:txBody>
          <a:bodyPr/>
          <a:lstStyle/>
          <a:p>
            <a:endParaRPr lang="ja-JP" altLang="en-US">
              <a:latin typeface="Meiryo UI"/>
              <a:ea typeface="Meiryo UI"/>
            </a:endParaRPr>
          </a:p>
        </p:txBody>
      </p:sp>
      <p:sp>
        <p:nvSpPr>
          <p:cNvPr id="20" name="Text 18"/>
          <p:cNvSpPr/>
          <p:nvPr/>
        </p:nvSpPr>
        <p:spPr>
          <a:xfrm>
            <a:off x="9418320" y="311810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26 項目</a:t>
            </a:r>
            <a:endParaRPr lang="en-US" sz="1300" dirty="0">
              <a:latin typeface="Meiryo UI"/>
              <a:ea typeface="Meiryo UI"/>
            </a:endParaRPr>
          </a:p>
        </p:txBody>
      </p:sp>
      <p:sp>
        <p:nvSpPr>
          <p:cNvPr id="21" name="Text 19"/>
          <p:cNvSpPr/>
          <p:nvPr/>
        </p:nvSpPr>
        <p:spPr>
          <a:xfrm>
            <a:off x="4206240" y="348386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CSP・HSTS・XFO・PDF 3 層・CSRF・SSRF・エラー保護 等</a:t>
            </a:r>
            <a:endParaRPr lang="en-US" sz="1200" dirty="0">
              <a:latin typeface="Meiryo UI"/>
              <a:ea typeface="Meiryo UI"/>
            </a:endParaRPr>
          </a:p>
        </p:txBody>
      </p:sp>
      <p:sp>
        <p:nvSpPr>
          <p:cNvPr id="22" name="Shape 20"/>
          <p:cNvSpPr/>
          <p:nvPr/>
        </p:nvSpPr>
        <p:spPr>
          <a:xfrm>
            <a:off x="3977640" y="4069080"/>
            <a:ext cx="7635240" cy="100584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23" name="Shape 21"/>
          <p:cNvSpPr/>
          <p:nvPr/>
        </p:nvSpPr>
        <p:spPr>
          <a:xfrm>
            <a:off x="3977640" y="4069080"/>
            <a:ext cx="109728" cy="1005840"/>
          </a:xfrm>
          <a:prstGeom prst="rect">
            <a:avLst/>
          </a:prstGeom>
          <a:solidFill>
            <a:srgbClr val="334155"/>
          </a:solidFill>
          <a:ln/>
        </p:spPr>
        <p:txBody>
          <a:bodyPr/>
          <a:lstStyle/>
          <a:p>
            <a:endParaRPr lang="ja-JP" altLang="en-US">
              <a:latin typeface="Meiryo UI"/>
              <a:ea typeface="Meiryo UI"/>
            </a:endParaRPr>
          </a:p>
        </p:txBody>
      </p:sp>
      <p:sp>
        <p:nvSpPr>
          <p:cNvPr id="24" name="Text 22"/>
          <p:cNvSpPr/>
          <p:nvPr/>
        </p:nvSpPr>
        <p:spPr>
          <a:xfrm>
            <a:off x="4206240" y="417880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非該当</a:t>
            </a:r>
            <a:endParaRPr lang="en-US" sz="2000" dirty="0">
              <a:latin typeface="Meiryo UI"/>
              <a:ea typeface="Meiryo UI"/>
            </a:endParaRPr>
          </a:p>
        </p:txBody>
      </p:sp>
      <p:sp>
        <p:nvSpPr>
          <p:cNvPr id="25" name="Shape 23"/>
          <p:cNvSpPr/>
          <p:nvPr/>
        </p:nvSpPr>
        <p:spPr>
          <a:xfrm>
            <a:off x="9418320" y="4215384"/>
            <a:ext cx="2011680" cy="384048"/>
          </a:xfrm>
          <a:prstGeom prst="rect">
            <a:avLst/>
          </a:prstGeom>
          <a:solidFill>
            <a:srgbClr val="334155"/>
          </a:solidFill>
          <a:ln/>
        </p:spPr>
        <p:txBody>
          <a:bodyPr/>
          <a:lstStyle/>
          <a:p>
            <a:endParaRPr lang="ja-JP" altLang="en-US">
              <a:latin typeface="Meiryo UI"/>
              <a:ea typeface="Meiryo UI"/>
            </a:endParaRPr>
          </a:p>
        </p:txBody>
      </p:sp>
      <p:sp>
        <p:nvSpPr>
          <p:cNvPr id="26" name="Text 24"/>
          <p:cNvSpPr/>
          <p:nvPr/>
        </p:nvSpPr>
        <p:spPr>
          <a:xfrm>
            <a:off x="9418320" y="421538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56 項目</a:t>
            </a:r>
            <a:endParaRPr lang="en-US" sz="1300" dirty="0">
              <a:latin typeface="Meiryo UI"/>
              <a:ea typeface="Meiryo UI"/>
            </a:endParaRPr>
          </a:p>
        </p:txBody>
      </p:sp>
      <p:sp>
        <p:nvSpPr>
          <p:cNvPr id="27" name="Text 25"/>
          <p:cNvSpPr/>
          <p:nvPr/>
        </p:nvSpPr>
        <p:spPr>
          <a:xfrm>
            <a:off x="4206240" y="458114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認証・JWT・DB クエリ・Cookie・管理画面 など（機能なし）</a:t>
            </a:r>
            <a:endParaRPr lang="en-US" sz="1200" dirty="0">
              <a:latin typeface="Meiryo UI"/>
              <a:ea typeface="Meiryo UI"/>
            </a:endParaRPr>
          </a:p>
        </p:txBody>
      </p:sp>
      <p:sp>
        <p:nvSpPr>
          <p:cNvPr id="28" name="Shape 26"/>
          <p:cNvSpPr/>
          <p:nvPr/>
        </p:nvSpPr>
        <p:spPr>
          <a:xfrm>
            <a:off x="3977640" y="5166360"/>
            <a:ext cx="7635240" cy="100584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29" name="Shape 27"/>
          <p:cNvSpPr/>
          <p:nvPr/>
        </p:nvSpPr>
        <p:spPr>
          <a:xfrm>
            <a:off x="3977640" y="5166360"/>
            <a:ext cx="109728" cy="1005840"/>
          </a:xfrm>
          <a:prstGeom prst="rect">
            <a:avLst/>
          </a:prstGeom>
          <a:solidFill>
            <a:srgbClr val="F59E0B"/>
          </a:solidFill>
          <a:ln/>
        </p:spPr>
        <p:txBody>
          <a:bodyPr/>
          <a:lstStyle/>
          <a:p>
            <a:endParaRPr lang="ja-JP" altLang="en-US">
              <a:latin typeface="Meiryo UI"/>
              <a:ea typeface="Meiryo UI"/>
            </a:endParaRPr>
          </a:p>
        </p:txBody>
      </p:sp>
      <p:sp>
        <p:nvSpPr>
          <p:cNvPr id="30" name="Text 28"/>
          <p:cNvSpPr/>
          <p:nvPr/>
        </p:nvSpPr>
        <p:spPr>
          <a:xfrm>
            <a:off x="4206240" y="527608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運用補完</a:t>
            </a:r>
            <a:endParaRPr lang="en-US" sz="2000" dirty="0">
              <a:latin typeface="Meiryo UI"/>
              <a:ea typeface="Meiryo UI"/>
            </a:endParaRPr>
          </a:p>
        </p:txBody>
      </p:sp>
      <p:sp>
        <p:nvSpPr>
          <p:cNvPr id="31" name="Shape 29"/>
          <p:cNvSpPr/>
          <p:nvPr/>
        </p:nvSpPr>
        <p:spPr>
          <a:xfrm>
            <a:off x="9418320" y="5312664"/>
            <a:ext cx="2011680" cy="384048"/>
          </a:xfrm>
          <a:prstGeom prst="rect">
            <a:avLst/>
          </a:prstGeom>
          <a:solidFill>
            <a:srgbClr val="F59E0B"/>
          </a:solidFill>
          <a:ln/>
        </p:spPr>
        <p:txBody>
          <a:bodyPr/>
          <a:lstStyle/>
          <a:p>
            <a:endParaRPr lang="ja-JP" altLang="en-US">
              <a:latin typeface="Meiryo UI"/>
              <a:ea typeface="Meiryo UI"/>
            </a:endParaRPr>
          </a:p>
        </p:txBody>
      </p:sp>
      <p:sp>
        <p:nvSpPr>
          <p:cNvPr id="32" name="Text 30"/>
          <p:cNvSpPr/>
          <p:nvPr/>
        </p:nvSpPr>
        <p:spPr>
          <a:xfrm>
            <a:off x="9418320" y="531266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6 項目</a:t>
            </a:r>
            <a:endParaRPr lang="en-US" sz="1300" dirty="0">
              <a:latin typeface="Meiryo UI"/>
              <a:ea typeface="Meiryo UI"/>
            </a:endParaRPr>
          </a:p>
        </p:txBody>
      </p:sp>
      <p:sp>
        <p:nvSpPr>
          <p:cNvPr id="33" name="Text 31"/>
          <p:cNvSpPr/>
          <p:nvPr/>
        </p:nvSpPr>
        <p:spPr>
          <a:xfrm>
            <a:off x="4206240" y="567842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WAF・npm audit CI・AV スキャン・レート制限 等</a:t>
            </a:r>
            <a:endParaRPr lang="en-US" sz="1200" dirty="0">
              <a:latin typeface="Meiryo UI"/>
              <a:ea typeface="Meiryo UI"/>
            </a:endParaRPr>
          </a:p>
        </p:txBody>
      </p:sp>
      <p:sp>
        <p:nvSpPr>
          <p:cNvPr id="34" name="Text 3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35" name="Text 3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8 / 10</a:t>
            </a:r>
            <a:endParaRPr lang="en-US" sz="1000" dirty="0">
              <a:latin typeface="Meiryo UI"/>
              <a:ea typeface="Meiryo UI"/>
            </a:endParaRPr>
          </a:p>
        </p:txBody>
      </p:sp>
      <p:pic>
        <p:nvPicPr>
          <p:cNvPr id="36" name="Picture 35"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08  CODE &amp; PERF</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コードの工夫 ＋ パフォーマンス</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「1 か所直せば全部変わる」の徹底と、「サクサク動く」多角的最適化。</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画像は 50MB → 4MB、動画は 1/10、監視役は 20 個 → 1 個 まで削減しました。</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400" b="1" dirty="0">
                <a:solidFill>
                  <a:srgbClr val="0F172A"/>
                </a:solidFill>
                <a:latin typeface="Meiryo UI" pitchFamily="34" charset="0"/>
                <a:ea typeface="Meiryo UI" pitchFamily="34" charset="-122"/>
                <a:cs typeface="Meiryo UI" pitchFamily="34" charset="-120"/>
              </a:rPr>
              <a:t>日英切替（i18n）：JP/EN ボタン 1 つで全切替</a:t>
            </a:r>
            <a:endParaRPr lang="en-US" sz="1400" dirty="0">
              <a:latin typeface="Meiryo UI"/>
              <a:ea typeface="Meiryo UI"/>
            </a:endParaRPr>
          </a:p>
        </p:txBody>
      </p:sp>
      <p:sp>
        <p:nvSpPr>
          <p:cNvPr id="12" name="Shape 10"/>
          <p:cNvSpPr/>
          <p:nvPr/>
        </p:nvSpPr>
        <p:spPr>
          <a:xfrm>
            <a:off x="822960" y="3520440"/>
            <a:ext cx="1188720" cy="822960"/>
          </a:xfrm>
          <a:prstGeom prst="rect">
            <a:avLst/>
          </a:prstGeom>
          <a:solidFill>
            <a:srgbClr val="EBC528"/>
          </a:solidFill>
          <a:ln/>
        </p:spPr>
        <p:txBody>
          <a:bodyPr/>
          <a:lstStyle/>
          <a:p>
            <a:endParaRPr lang="ja-JP" altLang="en-US">
              <a:latin typeface="Meiryo UI"/>
              <a:ea typeface="Meiryo UI"/>
            </a:endParaRPr>
          </a:p>
        </p:txBody>
      </p:sp>
      <p:sp>
        <p:nvSpPr>
          <p:cNvPr id="13" name="Text 11"/>
          <p:cNvSpPr/>
          <p:nvPr/>
        </p:nvSpPr>
        <p:spPr>
          <a:xfrm>
            <a:off x="822960" y="3520440"/>
            <a:ext cx="1188720" cy="822960"/>
          </a:xfrm>
          <a:prstGeom prst="rect">
            <a:avLst/>
          </a:prstGeom>
          <a:noFill/>
          <a:ln/>
        </p:spPr>
        <p:txBody>
          <a:bodyPr wrap="square" lIns="0" tIns="0" rIns="0" bIns="0" rtlCol="0" anchor="ctr"/>
          <a:lstStyle/>
          <a:p>
            <a:pPr marL="0" indent="0" algn="ctr">
              <a:buNone/>
            </a:pPr>
            <a:r>
              <a:rPr lang="en-US" sz="1100" b="1" dirty="0">
                <a:solidFill>
                  <a:srgbClr val="0F172A"/>
                </a:solidFill>
                <a:latin typeface="Meiryo UI" pitchFamily="34" charset="0"/>
                <a:ea typeface="Meiryo UI" pitchFamily="34" charset="-122"/>
                <a:cs typeface="Meiryo UI" pitchFamily="34" charset="-120"/>
              </a:rPr>
              <a:t>[JP|EN]</a:t>
            </a:r>
            <a:endParaRPr lang="en-US" sz="1100" dirty="0">
              <a:latin typeface="Meiryo UI"/>
              <a:ea typeface="Meiryo UI"/>
            </a:endParaRPr>
          </a:p>
        </p:txBody>
      </p:sp>
      <p:sp>
        <p:nvSpPr>
          <p:cNvPr id="14" name="Text 12"/>
          <p:cNvSpPr/>
          <p:nvPr/>
        </p:nvSpPr>
        <p:spPr>
          <a:xfrm>
            <a:off x="201168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15" name="Shape 13"/>
          <p:cNvSpPr/>
          <p:nvPr/>
        </p:nvSpPr>
        <p:spPr>
          <a:xfrm>
            <a:off x="2103120" y="3520440"/>
            <a:ext cx="1188720" cy="822960"/>
          </a:xfrm>
          <a:prstGeom prst="rect">
            <a:avLst/>
          </a:prstGeom>
          <a:solidFill>
            <a:srgbClr val="F59E0B"/>
          </a:solidFill>
          <a:ln/>
        </p:spPr>
        <p:txBody>
          <a:bodyPr/>
          <a:lstStyle/>
          <a:p>
            <a:endParaRPr lang="ja-JP" altLang="en-US">
              <a:latin typeface="Meiryo UI"/>
              <a:ea typeface="Meiryo UI"/>
            </a:endParaRPr>
          </a:p>
        </p:txBody>
      </p:sp>
      <p:sp>
        <p:nvSpPr>
          <p:cNvPr id="16" name="Text 14"/>
          <p:cNvSpPr/>
          <p:nvPr/>
        </p:nvSpPr>
        <p:spPr>
          <a:xfrm>
            <a:off x="210312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Provider</a:t>
            </a:r>
            <a:endParaRPr lang="en-US" sz="1100" dirty="0">
              <a:latin typeface="Meiryo UI"/>
              <a:ea typeface="Meiryo UI"/>
            </a:endParaRPr>
          </a:p>
        </p:txBody>
      </p:sp>
      <p:sp>
        <p:nvSpPr>
          <p:cNvPr id="17" name="Text 15"/>
          <p:cNvSpPr/>
          <p:nvPr/>
        </p:nvSpPr>
        <p:spPr>
          <a:xfrm>
            <a:off x="329184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18" name="Shape 16"/>
          <p:cNvSpPr/>
          <p:nvPr/>
        </p:nvSpPr>
        <p:spPr>
          <a:xfrm>
            <a:off x="3383280" y="3520440"/>
            <a:ext cx="1188720" cy="822960"/>
          </a:xfrm>
          <a:prstGeom prst="rect">
            <a:avLst/>
          </a:prstGeom>
          <a:solidFill>
            <a:srgbClr val="10B981"/>
          </a:solidFill>
          <a:ln/>
        </p:spPr>
        <p:txBody>
          <a:bodyPr/>
          <a:lstStyle/>
          <a:p>
            <a:endParaRPr lang="ja-JP" altLang="en-US">
              <a:latin typeface="Meiryo UI"/>
              <a:ea typeface="Meiryo UI"/>
            </a:endParaRPr>
          </a:p>
        </p:txBody>
      </p:sp>
      <p:sp>
        <p:nvSpPr>
          <p:cNvPr id="19" name="Text 17"/>
          <p:cNvSpPr/>
          <p:nvPr/>
        </p:nvSpPr>
        <p:spPr>
          <a:xfrm>
            <a:off x="338328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useLanguage()</a:t>
            </a:r>
            <a:endParaRPr lang="en-US" sz="1100" dirty="0">
              <a:latin typeface="Meiryo UI"/>
              <a:ea typeface="Meiryo UI"/>
            </a:endParaRPr>
          </a:p>
        </p:txBody>
      </p:sp>
      <p:sp>
        <p:nvSpPr>
          <p:cNvPr id="20" name="Text 18"/>
          <p:cNvSpPr/>
          <p:nvPr/>
        </p:nvSpPr>
        <p:spPr>
          <a:xfrm>
            <a:off x="457200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21" name="Shape 19"/>
          <p:cNvSpPr/>
          <p:nvPr/>
        </p:nvSpPr>
        <p:spPr>
          <a:xfrm>
            <a:off x="4663440" y="3520440"/>
            <a:ext cx="1188720" cy="822960"/>
          </a:xfrm>
          <a:prstGeom prst="rect">
            <a:avLst/>
          </a:prstGeom>
          <a:solidFill>
            <a:srgbClr val="2563EB"/>
          </a:solidFill>
          <a:ln/>
        </p:spPr>
        <p:txBody>
          <a:bodyPr/>
          <a:lstStyle/>
          <a:p>
            <a:endParaRPr lang="ja-JP" altLang="en-US">
              <a:latin typeface="Meiryo UI"/>
              <a:ea typeface="Meiryo UI"/>
            </a:endParaRPr>
          </a:p>
        </p:txBody>
      </p:sp>
      <p:sp>
        <p:nvSpPr>
          <p:cNvPr id="22" name="Text 20"/>
          <p:cNvSpPr/>
          <p:nvPr/>
        </p:nvSpPr>
        <p:spPr>
          <a:xfrm>
            <a:off x="466344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ラベル/文/alt</a:t>
            </a:r>
            <a:endParaRPr lang="en-US" sz="1100" dirty="0">
              <a:latin typeface="Meiryo UI"/>
              <a:ea typeface="Meiryo UI"/>
            </a:endParaRPr>
          </a:p>
        </p:txBody>
      </p:sp>
      <p:sp>
        <p:nvSpPr>
          <p:cNvPr id="23" name="Text 21"/>
          <p:cNvSpPr/>
          <p:nvPr/>
        </p:nvSpPr>
        <p:spPr>
          <a:xfrm>
            <a:off x="822960" y="4480560"/>
            <a:ext cx="4937760" cy="155448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Localized&lt;T&gt; 型で ja/en を 1 データに</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英語表示時はふりがなを自動非表示</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初回訪問はブラウザ言語で自動判定</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localStorage に保存し次回も維持</a:t>
            </a:r>
            <a:endParaRPr lang="en-US" sz="1100" dirty="0">
              <a:latin typeface="Meiryo UI"/>
              <a:ea typeface="Meiryo UI"/>
            </a:endParaRPr>
          </a:p>
        </p:txBody>
      </p:sp>
      <p:sp>
        <p:nvSpPr>
          <p:cNvPr id="24" name="Text 22"/>
          <p:cNvSpPr/>
          <p:nvPr/>
        </p:nvSpPr>
        <p:spPr>
          <a:xfrm>
            <a:off x="6400800" y="3063240"/>
            <a:ext cx="5212080" cy="365760"/>
          </a:xfrm>
          <a:prstGeom prst="rect">
            <a:avLst/>
          </a:prstGeom>
          <a:noFill/>
          <a:ln/>
        </p:spPr>
        <p:txBody>
          <a:bodyPr wrap="square" lIns="0" tIns="0" rIns="0" bIns="0" rtlCol="0" anchor="ctr"/>
          <a:lstStyle/>
          <a:p>
            <a:pPr marL="0" indent="0">
              <a:buNone/>
            </a:pPr>
            <a:r>
              <a:rPr lang="en-US" sz="1400" b="1" dirty="0">
                <a:solidFill>
                  <a:srgbClr val="0F172A"/>
                </a:solidFill>
                <a:latin typeface="Meiryo UI" pitchFamily="34" charset="0"/>
                <a:ea typeface="Meiryo UI" pitchFamily="34" charset="-122"/>
                <a:cs typeface="Meiryo UI" pitchFamily="34" charset="-120"/>
              </a:rPr>
              <a:t>パフォーマンス最適化 6 項目</a:t>
            </a:r>
            <a:endParaRPr lang="en-US" sz="1400" dirty="0">
              <a:latin typeface="Meiryo UI"/>
              <a:ea typeface="Meiryo UI"/>
            </a:endParaRPr>
          </a:p>
        </p:txBody>
      </p:sp>
      <p:sp>
        <p:nvSpPr>
          <p:cNvPr id="25" name="Shape 23"/>
          <p:cNvSpPr/>
          <p:nvPr/>
        </p:nvSpPr>
        <p:spPr>
          <a:xfrm>
            <a:off x="6400800" y="3474720"/>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26" name="Shape 24"/>
          <p:cNvSpPr/>
          <p:nvPr/>
        </p:nvSpPr>
        <p:spPr>
          <a:xfrm>
            <a:off x="6400800" y="3474720"/>
            <a:ext cx="1005840" cy="393192"/>
          </a:xfrm>
          <a:prstGeom prst="rect">
            <a:avLst/>
          </a:prstGeom>
          <a:solidFill>
            <a:srgbClr val="0F172A"/>
          </a:solidFill>
          <a:ln/>
        </p:spPr>
        <p:txBody>
          <a:bodyPr/>
          <a:lstStyle/>
          <a:p>
            <a:endParaRPr lang="ja-JP" altLang="en-US">
              <a:latin typeface="Meiryo UI"/>
              <a:ea typeface="Meiryo UI"/>
            </a:endParaRPr>
          </a:p>
        </p:txBody>
      </p:sp>
      <p:sp>
        <p:nvSpPr>
          <p:cNvPr id="27" name="Text 25"/>
          <p:cNvSpPr/>
          <p:nvPr/>
        </p:nvSpPr>
        <p:spPr>
          <a:xfrm>
            <a:off x="6400800" y="3474720"/>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画像圧縮</a:t>
            </a:r>
            <a:endParaRPr lang="en-US" sz="1000" dirty="0">
              <a:latin typeface="Meiryo UI"/>
              <a:ea typeface="Meiryo UI"/>
            </a:endParaRPr>
          </a:p>
        </p:txBody>
      </p:sp>
      <p:sp>
        <p:nvSpPr>
          <p:cNvPr id="28" name="Text 26"/>
          <p:cNvSpPr/>
          <p:nvPr/>
        </p:nvSpPr>
        <p:spPr>
          <a:xfrm>
            <a:off x="7498080" y="3493008"/>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50MB → 4MB (sharp)</a:t>
            </a:r>
            <a:endParaRPr lang="en-US" sz="1100" dirty="0">
              <a:latin typeface="Meiryo UI"/>
              <a:ea typeface="Meiryo UI"/>
            </a:endParaRPr>
          </a:p>
        </p:txBody>
      </p:sp>
      <p:sp>
        <p:nvSpPr>
          <p:cNvPr id="29" name="Shape 27"/>
          <p:cNvSpPr/>
          <p:nvPr/>
        </p:nvSpPr>
        <p:spPr>
          <a:xfrm>
            <a:off x="10378440" y="3529584"/>
            <a:ext cx="1143000" cy="292608"/>
          </a:xfrm>
          <a:prstGeom prst="rect">
            <a:avLst/>
          </a:prstGeom>
          <a:solidFill>
            <a:srgbClr val="10B981"/>
          </a:solidFill>
          <a:ln/>
        </p:spPr>
        <p:txBody>
          <a:bodyPr/>
          <a:lstStyle/>
          <a:p>
            <a:endParaRPr lang="ja-JP" altLang="en-US">
              <a:latin typeface="Meiryo UI"/>
              <a:ea typeface="Meiryo UI"/>
            </a:endParaRPr>
          </a:p>
        </p:txBody>
      </p:sp>
      <p:sp>
        <p:nvSpPr>
          <p:cNvPr id="30" name="Text 28"/>
          <p:cNvSpPr/>
          <p:nvPr/>
        </p:nvSpPr>
        <p:spPr>
          <a:xfrm>
            <a:off x="10378440" y="3529584"/>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LCP 改善</a:t>
            </a:r>
            <a:endParaRPr lang="en-US" sz="900" dirty="0">
              <a:latin typeface="Meiryo UI"/>
              <a:ea typeface="Meiryo UI"/>
            </a:endParaRPr>
          </a:p>
        </p:txBody>
      </p:sp>
      <p:sp>
        <p:nvSpPr>
          <p:cNvPr id="31" name="Shape 29"/>
          <p:cNvSpPr/>
          <p:nvPr/>
        </p:nvSpPr>
        <p:spPr>
          <a:xfrm>
            <a:off x="6400800" y="3913632"/>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32" name="Shape 30"/>
          <p:cNvSpPr/>
          <p:nvPr/>
        </p:nvSpPr>
        <p:spPr>
          <a:xfrm>
            <a:off x="6400800" y="3913632"/>
            <a:ext cx="1005840" cy="393192"/>
          </a:xfrm>
          <a:prstGeom prst="rect">
            <a:avLst/>
          </a:prstGeom>
          <a:solidFill>
            <a:srgbClr val="0F172A"/>
          </a:solidFill>
          <a:ln/>
        </p:spPr>
        <p:txBody>
          <a:bodyPr/>
          <a:lstStyle/>
          <a:p>
            <a:endParaRPr lang="ja-JP" altLang="en-US">
              <a:latin typeface="Meiryo UI"/>
              <a:ea typeface="Meiryo UI"/>
            </a:endParaRPr>
          </a:p>
        </p:txBody>
      </p:sp>
      <p:sp>
        <p:nvSpPr>
          <p:cNvPr id="33" name="Text 31"/>
          <p:cNvSpPr/>
          <p:nvPr/>
        </p:nvSpPr>
        <p:spPr>
          <a:xfrm>
            <a:off x="6400800" y="3913632"/>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next/image</a:t>
            </a:r>
            <a:endParaRPr lang="en-US" sz="1000" dirty="0">
              <a:latin typeface="Meiryo UI"/>
              <a:ea typeface="Meiryo UI"/>
            </a:endParaRPr>
          </a:p>
        </p:txBody>
      </p:sp>
      <p:sp>
        <p:nvSpPr>
          <p:cNvPr id="34" name="Text 32"/>
          <p:cNvSpPr/>
          <p:nvPr/>
        </p:nvSpPr>
        <p:spPr>
          <a:xfrm>
            <a:off x="7498080" y="3931920"/>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AVIF→WebP 自動配信</a:t>
            </a:r>
            <a:endParaRPr lang="en-US" sz="1100" dirty="0">
              <a:latin typeface="Meiryo UI"/>
              <a:ea typeface="Meiryo UI"/>
            </a:endParaRPr>
          </a:p>
        </p:txBody>
      </p:sp>
      <p:sp>
        <p:nvSpPr>
          <p:cNvPr id="35" name="Shape 33"/>
          <p:cNvSpPr/>
          <p:nvPr/>
        </p:nvSpPr>
        <p:spPr>
          <a:xfrm>
            <a:off x="10378440" y="3968496"/>
            <a:ext cx="1143000" cy="292608"/>
          </a:xfrm>
          <a:prstGeom prst="rect">
            <a:avLst/>
          </a:prstGeom>
          <a:solidFill>
            <a:srgbClr val="10B981"/>
          </a:solidFill>
          <a:ln/>
        </p:spPr>
        <p:txBody>
          <a:bodyPr/>
          <a:lstStyle/>
          <a:p>
            <a:endParaRPr lang="ja-JP" altLang="en-US">
              <a:latin typeface="Meiryo UI"/>
              <a:ea typeface="Meiryo UI"/>
            </a:endParaRPr>
          </a:p>
        </p:txBody>
      </p:sp>
      <p:sp>
        <p:nvSpPr>
          <p:cNvPr id="36" name="Text 34"/>
          <p:cNvSpPr/>
          <p:nvPr/>
        </p:nvSpPr>
        <p:spPr>
          <a:xfrm>
            <a:off x="10378440" y="3968496"/>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通信短縮</a:t>
            </a:r>
            <a:endParaRPr lang="en-US" sz="900" dirty="0">
              <a:latin typeface="Meiryo UI"/>
              <a:ea typeface="Meiryo UI"/>
            </a:endParaRPr>
          </a:p>
        </p:txBody>
      </p:sp>
      <p:sp>
        <p:nvSpPr>
          <p:cNvPr id="37" name="Shape 35"/>
          <p:cNvSpPr/>
          <p:nvPr/>
        </p:nvSpPr>
        <p:spPr>
          <a:xfrm>
            <a:off x="6400800" y="4352544"/>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38" name="Shape 36"/>
          <p:cNvSpPr/>
          <p:nvPr/>
        </p:nvSpPr>
        <p:spPr>
          <a:xfrm>
            <a:off x="6400800" y="4352544"/>
            <a:ext cx="1005840" cy="393192"/>
          </a:xfrm>
          <a:prstGeom prst="rect">
            <a:avLst/>
          </a:prstGeom>
          <a:solidFill>
            <a:srgbClr val="0F172A"/>
          </a:solidFill>
          <a:ln/>
        </p:spPr>
        <p:txBody>
          <a:bodyPr/>
          <a:lstStyle/>
          <a:p>
            <a:endParaRPr lang="ja-JP" altLang="en-US">
              <a:latin typeface="Meiryo UI"/>
              <a:ea typeface="Meiryo UI"/>
            </a:endParaRPr>
          </a:p>
        </p:txBody>
      </p:sp>
      <p:sp>
        <p:nvSpPr>
          <p:cNvPr id="39" name="Text 37"/>
          <p:cNvSpPr/>
          <p:nvPr/>
        </p:nvSpPr>
        <p:spPr>
          <a:xfrm>
            <a:off x="6400800" y="4352544"/>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Observer</a:t>
            </a:r>
            <a:endParaRPr lang="en-US" sz="1000" dirty="0">
              <a:latin typeface="Meiryo UI"/>
              <a:ea typeface="Meiryo UI"/>
            </a:endParaRPr>
          </a:p>
        </p:txBody>
      </p:sp>
      <p:sp>
        <p:nvSpPr>
          <p:cNvPr id="40" name="Text 38"/>
          <p:cNvSpPr/>
          <p:nvPr/>
        </p:nvSpPr>
        <p:spPr>
          <a:xfrm>
            <a:off x="7498080" y="4370832"/>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20個 → 1個 共有化</a:t>
            </a:r>
            <a:endParaRPr lang="en-US" sz="1100" dirty="0">
              <a:latin typeface="Meiryo UI"/>
              <a:ea typeface="Meiryo UI"/>
            </a:endParaRPr>
          </a:p>
        </p:txBody>
      </p:sp>
      <p:sp>
        <p:nvSpPr>
          <p:cNvPr id="41" name="Shape 39"/>
          <p:cNvSpPr/>
          <p:nvPr/>
        </p:nvSpPr>
        <p:spPr>
          <a:xfrm>
            <a:off x="10378440" y="4407408"/>
            <a:ext cx="1143000" cy="292608"/>
          </a:xfrm>
          <a:prstGeom prst="rect">
            <a:avLst/>
          </a:prstGeom>
          <a:solidFill>
            <a:srgbClr val="10B981"/>
          </a:solidFill>
          <a:ln/>
        </p:spPr>
        <p:txBody>
          <a:bodyPr/>
          <a:lstStyle/>
          <a:p>
            <a:endParaRPr lang="ja-JP" altLang="en-US">
              <a:latin typeface="Meiryo UI"/>
              <a:ea typeface="Meiryo UI"/>
            </a:endParaRPr>
          </a:p>
        </p:txBody>
      </p:sp>
      <p:sp>
        <p:nvSpPr>
          <p:cNvPr id="42" name="Text 40"/>
          <p:cNvSpPr/>
          <p:nvPr/>
        </p:nvSpPr>
        <p:spPr>
          <a:xfrm>
            <a:off x="10378440" y="4407408"/>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JS 軽量化</a:t>
            </a:r>
            <a:endParaRPr lang="en-US" sz="900" dirty="0">
              <a:latin typeface="Meiryo UI"/>
              <a:ea typeface="Meiryo UI"/>
            </a:endParaRPr>
          </a:p>
        </p:txBody>
      </p:sp>
      <p:sp>
        <p:nvSpPr>
          <p:cNvPr id="43" name="Shape 41"/>
          <p:cNvSpPr/>
          <p:nvPr/>
        </p:nvSpPr>
        <p:spPr>
          <a:xfrm>
            <a:off x="6400800" y="4791456"/>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44" name="Shape 42"/>
          <p:cNvSpPr/>
          <p:nvPr/>
        </p:nvSpPr>
        <p:spPr>
          <a:xfrm>
            <a:off x="6400800" y="4791456"/>
            <a:ext cx="1005840" cy="393192"/>
          </a:xfrm>
          <a:prstGeom prst="rect">
            <a:avLst/>
          </a:prstGeom>
          <a:solidFill>
            <a:srgbClr val="0F172A"/>
          </a:solidFill>
          <a:ln/>
        </p:spPr>
        <p:txBody>
          <a:bodyPr/>
          <a:lstStyle/>
          <a:p>
            <a:endParaRPr lang="ja-JP" altLang="en-US">
              <a:latin typeface="Meiryo UI"/>
              <a:ea typeface="Meiryo UI"/>
            </a:endParaRPr>
          </a:p>
        </p:txBody>
      </p:sp>
      <p:sp>
        <p:nvSpPr>
          <p:cNvPr id="45" name="Text 43"/>
          <p:cNvSpPr/>
          <p:nvPr/>
        </p:nvSpPr>
        <p:spPr>
          <a:xfrm>
            <a:off x="6400800" y="4791456"/>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動画</a:t>
            </a:r>
            <a:endParaRPr lang="en-US" sz="1000" dirty="0">
              <a:latin typeface="Meiryo UI"/>
              <a:ea typeface="Meiryo UI"/>
            </a:endParaRPr>
          </a:p>
        </p:txBody>
      </p:sp>
      <p:sp>
        <p:nvSpPr>
          <p:cNvPr id="46" name="Text 44"/>
          <p:cNvSpPr/>
          <p:nvPr/>
        </p:nvSpPr>
        <p:spPr>
          <a:xfrm>
            <a:off x="7498080" y="4809744"/>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6.4MB → 676KB</a:t>
            </a:r>
            <a:endParaRPr lang="en-US" sz="1100" dirty="0">
              <a:latin typeface="Meiryo UI"/>
              <a:ea typeface="Meiryo UI"/>
            </a:endParaRPr>
          </a:p>
        </p:txBody>
      </p:sp>
      <p:sp>
        <p:nvSpPr>
          <p:cNvPr id="47" name="Shape 45"/>
          <p:cNvSpPr/>
          <p:nvPr/>
        </p:nvSpPr>
        <p:spPr>
          <a:xfrm>
            <a:off x="10378440" y="4846320"/>
            <a:ext cx="1143000" cy="292608"/>
          </a:xfrm>
          <a:prstGeom prst="rect">
            <a:avLst/>
          </a:prstGeom>
          <a:solidFill>
            <a:srgbClr val="10B981"/>
          </a:solidFill>
          <a:ln/>
        </p:spPr>
        <p:txBody>
          <a:bodyPr/>
          <a:lstStyle/>
          <a:p>
            <a:endParaRPr lang="ja-JP" altLang="en-US">
              <a:latin typeface="Meiryo UI"/>
              <a:ea typeface="Meiryo UI"/>
            </a:endParaRPr>
          </a:p>
        </p:txBody>
      </p:sp>
      <p:sp>
        <p:nvSpPr>
          <p:cNvPr id="48" name="Text 46"/>
          <p:cNvSpPr/>
          <p:nvPr/>
        </p:nvSpPr>
        <p:spPr>
          <a:xfrm>
            <a:off x="10378440" y="4846320"/>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高速読込</a:t>
            </a:r>
            <a:endParaRPr lang="en-US" sz="900" dirty="0">
              <a:latin typeface="Meiryo UI"/>
              <a:ea typeface="Meiryo UI"/>
            </a:endParaRPr>
          </a:p>
        </p:txBody>
      </p:sp>
      <p:sp>
        <p:nvSpPr>
          <p:cNvPr id="49" name="Shape 47"/>
          <p:cNvSpPr/>
          <p:nvPr/>
        </p:nvSpPr>
        <p:spPr>
          <a:xfrm>
            <a:off x="6400800" y="5230368"/>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50" name="Shape 48"/>
          <p:cNvSpPr/>
          <p:nvPr/>
        </p:nvSpPr>
        <p:spPr>
          <a:xfrm>
            <a:off x="6400800" y="5230368"/>
            <a:ext cx="1005840" cy="393192"/>
          </a:xfrm>
          <a:prstGeom prst="rect">
            <a:avLst/>
          </a:prstGeom>
          <a:solidFill>
            <a:srgbClr val="0F172A"/>
          </a:solidFill>
          <a:ln/>
        </p:spPr>
        <p:txBody>
          <a:bodyPr/>
          <a:lstStyle/>
          <a:p>
            <a:endParaRPr lang="ja-JP" altLang="en-US">
              <a:latin typeface="Meiryo UI"/>
              <a:ea typeface="Meiryo UI"/>
            </a:endParaRPr>
          </a:p>
        </p:txBody>
      </p:sp>
      <p:sp>
        <p:nvSpPr>
          <p:cNvPr id="51" name="Text 49"/>
          <p:cNvSpPr/>
          <p:nvPr/>
        </p:nvSpPr>
        <p:spPr>
          <a:xfrm>
            <a:off x="6400800" y="5230368"/>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PNG→JPG</a:t>
            </a:r>
            <a:endParaRPr lang="en-US" sz="1000" dirty="0">
              <a:latin typeface="Meiryo UI"/>
              <a:ea typeface="Meiryo UI"/>
            </a:endParaRPr>
          </a:p>
        </p:txBody>
      </p:sp>
      <p:sp>
        <p:nvSpPr>
          <p:cNvPr id="52" name="Text 50"/>
          <p:cNvSpPr/>
          <p:nvPr/>
        </p:nvSpPr>
        <p:spPr>
          <a:xfrm>
            <a:off x="7498080" y="5248656"/>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employee5,6 で 1/10</a:t>
            </a:r>
            <a:endParaRPr lang="en-US" sz="1100" dirty="0">
              <a:latin typeface="Meiryo UI"/>
              <a:ea typeface="Meiryo UI"/>
            </a:endParaRPr>
          </a:p>
        </p:txBody>
      </p:sp>
      <p:sp>
        <p:nvSpPr>
          <p:cNvPr id="53" name="Shape 51"/>
          <p:cNvSpPr/>
          <p:nvPr/>
        </p:nvSpPr>
        <p:spPr>
          <a:xfrm>
            <a:off x="10378440" y="5285232"/>
            <a:ext cx="1143000" cy="292608"/>
          </a:xfrm>
          <a:prstGeom prst="rect">
            <a:avLst/>
          </a:prstGeom>
          <a:solidFill>
            <a:srgbClr val="10B981"/>
          </a:solidFill>
          <a:ln/>
        </p:spPr>
        <p:txBody>
          <a:bodyPr/>
          <a:lstStyle/>
          <a:p>
            <a:endParaRPr lang="ja-JP" altLang="en-US">
              <a:latin typeface="Meiryo UI"/>
              <a:ea typeface="Meiryo UI"/>
            </a:endParaRPr>
          </a:p>
        </p:txBody>
      </p:sp>
      <p:sp>
        <p:nvSpPr>
          <p:cNvPr id="54" name="Text 52"/>
          <p:cNvSpPr/>
          <p:nvPr/>
        </p:nvSpPr>
        <p:spPr>
          <a:xfrm>
            <a:off x="10378440" y="5285232"/>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帯域節約</a:t>
            </a:r>
            <a:endParaRPr lang="en-US" sz="900" dirty="0">
              <a:latin typeface="Meiryo UI"/>
              <a:ea typeface="Meiryo UI"/>
            </a:endParaRPr>
          </a:p>
        </p:txBody>
      </p:sp>
      <p:sp>
        <p:nvSpPr>
          <p:cNvPr id="55" name="Shape 53"/>
          <p:cNvSpPr/>
          <p:nvPr/>
        </p:nvSpPr>
        <p:spPr>
          <a:xfrm>
            <a:off x="6400800" y="5669280"/>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56" name="Shape 54"/>
          <p:cNvSpPr/>
          <p:nvPr/>
        </p:nvSpPr>
        <p:spPr>
          <a:xfrm>
            <a:off x="6400800" y="5669280"/>
            <a:ext cx="1005840" cy="393192"/>
          </a:xfrm>
          <a:prstGeom prst="rect">
            <a:avLst/>
          </a:prstGeom>
          <a:solidFill>
            <a:srgbClr val="0F172A"/>
          </a:solidFill>
          <a:ln/>
        </p:spPr>
        <p:txBody>
          <a:bodyPr/>
          <a:lstStyle/>
          <a:p>
            <a:endParaRPr lang="ja-JP" altLang="en-US">
              <a:latin typeface="Meiryo UI"/>
              <a:ea typeface="Meiryo UI"/>
            </a:endParaRPr>
          </a:p>
        </p:txBody>
      </p:sp>
      <p:sp>
        <p:nvSpPr>
          <p:cNvPr id="57" name="Text 55"/>
          <p:cNvSpPr/>
          <p:nvPr/>
        </p:nvSpPr>
        <p:spPr>
          <a:xfrm>
            <a:off x="6400800" y="5669280"/>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prefetch</a:t>
            </a:r>
            <a:endParaRPr lang="en-US" sz="1000" dirty="0">
              <a:latin typeface="Meiryo UI"/>
              <a:ea typeface="Meiryo UI"/>
            </a:endParaRPr>
          </a:p>
        </p:txBody>
      </p:sp>
      <p:sp>
        <p:nvSpPr>
          <p:cNvPr id="58" name="Text 56"/>
          <p:cNvSpPr/>
          <p:nvPr/>
        </p:nvSpPr>
        <p:spPr>
          <a:xfrm>
            <a:off x="7498080" y="5687568"/>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DNS+preconnect</a:t>
            </a:r>
            <a:endParaRPr lang="en-US" sz="1100" dirty="0">
              <a:latin typeface="Meiryo UI"/>
              <a:ea typeface="Meiryo UI"/>
            </a:endParaRPr>
          </a:p>
        </p:txBody>
      </p:sp>
      <p:sp>
        <p:nvSpPr>
          <p:cNvPr id="59" name="Shape 57"/>
          <p:cNvSpPr/>
          <p:nvPr/>
        </p:nvSpPr>
        <p:spPr>
          <a:xfrm>
            <a:off x="10378440" y="5724144"/>
            <a:ext cx="1143000" cy="292608"/>
          </a:xfrm>
          <a:prstGeom prst="rect">
            <a:avLst/>
          </a:prstGeom>
          <a:solidFill>
            <a:srgbClr val="10B981"/>
          </a:solidFill>
          <a:ln/>
        </p:spPr>
        <p:txBody>
          <a:bodyPr/>
          <a:lstStyle/>
          <a:p>
            <a:endParaRPr lang="ja-JP" altLang="en-US">
              <a:latin typeface="Meiryo UI"/>
              <a:ea typeface="Meiryo UI"/>
            </a:endParaRPr>
          </a:p>
        </p:txBody>
      </p:sp>
      <p:sp>
        <p:nvSpPr>
          <p:cNvPr id="60" name="Text 58"/>
          <p:cNvSpPr/>
          <p:nvPr/>
        </p:nvSpPr>
        <p:spPr>
          <a:xfrm>
            <a:off x="10378440" y="5724144"/>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通信短縮</a:t>
            </a:r>
            <a:endParaRPr lang="en-US" sz="900" dirty="0">
              <a:latin typeface="Meiryo UI"/>
              <a:ea typeface="Meiryo UI"/>
            </a:endParaRPr>
          </a:p>
        </p:txBody>
      </p:sp>
      <p:sp>
        <p:nvSpPr>
          <p:cNvPr id="61" name="Text 59"/>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62" name="Text 60"/>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9 / 10</a:t>
            </a:r>
            <a:endParaRPr lang="en-US" sz="1000" dirty="0">
              <a:latin typeface="Meiryo UI"/>
              <a:ea typeface="Meiryo UI"/>
            </a:endParaRPr>
          </a:p>
        </p:txBody>
      </p:sp>
      <p:pic>
        <p:nvPicPr>
          <p:cNvPr id="63" name="Picture 62"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1097280" y="914400"/>
            <a:ext cx="10058400" cy="457200"/>
          </a:xfrm>
          <a:prstGeom prst="rect">
            <a:avLst/>
          </a:prstGeom>
          <a:noFill/>
          <a:ln/>
        </p:spPr>
        <p:txBody>
          <a:bodyPr wrap="square" lIns="0" tIns="0" rIns="0" bIns="0" rtlCol="0" anchor="ctr"/>
          <a:lstStyle/>
          <a:p>
            <a:pPr marL="0" indent="0">
              <a:buNone/>
            </a:pPr>
            <a:r>
              <a:rPr lang="en-US" sz="1600" b="1" kern="0" spc="600" dirty="0">
                <a:solidFill>
                  <a:srgbClr val="EBC528"/>
                </a:solidFill>
                <a:latin typeface="Meiryo UI" pitchFamily="34" charset="0"/>
                <a:ea typeface="Meiryo UI" pitchFamily="34" charset="-122"/>
                <a:cs typeface="Meiryo UI" pitchFamily="34" charset="-120"/>
              </a:rPr>
              <a:t>SUMMARY</a:t>
            </a:r>
            <a:endParaRPr lang="en-US" sz="1600" dirty="0">
              <a:latin typeface="Meiryo UI"/>
              <a:ea typeface="Meiryo UI"/>
            </a:endParaRPr>
          </a:p>
        </p:txBody>
      </p:sp>
      <p:sp>
        <p:nvSpPr>
          <p:cNvPr id="4" name="Text 2"/>
          <p:cNvSpPr/>
          <p:nvPr/>
        </p:nvSpPr>
        <p:spPr>
          <a:xfrm>
            <a:off x="1097280" y="1463040"/>
            <a:ext cx="10058400" cy="914400"/>
          </a:xfrm>
          <a:prstGeom prst="rect">
            <a:avLst/>
          </a:prstGeom>
          <a:noFill/>
          <a:ln/>
        </p:spPr>
        <p:txBody>
          <a:bodyPr wrap="square" lIns="0" tIns="0" rIns="0" bIns="0" rtlCol="0" anchor="ctr"/>
          <a:lstStyle/>
          <a:p>
            <a:pPr marL="0" indent="0">
              <a:buNone/>
            </a:pPr>
            <a:r>
              <a:rPr lang="en-US" sz="4000" b="1" dirty="0">
                <a:solidFill>
                  <a:srgbClr val="FFFFFF"/>
                </a:solidFill>
                <a:latin typeface="Meiryo UI" pitchFamily="34" charset="0"/>
                <a:ea typeface="Meiryo UI" pitchFamily="34" charset="-122"/>
                <a:cs typeface="Meiryo UI" pitchFamily="34" charset="-120"/>
              </a:rPr>
              <a:t>5 つの軸で作りました。</a:t>
            </a:r>
            <a:endParaRPr lang="en-US" sz="4000" dirty="0">
              <a:latin typeface="Meiryo UI"/>
              <a:ea typeface="Meiryo UI"/>
            </a:endParaRPr>
          </a:p>
        </p:txBody>
      </p:sp>
      <p:sp>
        <p:nvSpPr>
          <p:cNvPr id="5" name="Shape 3"/>
          <p:cNvSpPr/>
          <p:nvPr/>
        </p:nvSpPr>
        <p:spPr>
          <a:xfrm>
            <a:off x="1097280" y="2697480"/>
            <a:ext cx="2377440" cy="457200"/>
          </a:xfrm>
          <a:prstGeom prst="rect">
            <a:avLst/>
          </a:prstGeom>
          <a:solidFill>
            <a:srgbClr val="EBC528"/>
          </a:solidFill>
          <a:ln/>
        </p:spPr>
        <p:txBody>
          <a:bodyPr/>
          <a:lstStyle/>
          <a:p>
            <a:endParaRPr lang="ja-JP" altLang="en-US">
              <a:latin typeface="Meiryo UI"/>
              <a:ea typeface="Meiryo UI"/>
            </a:endParaRPr>
          </a:p>
        </p:txBody>
      </p:sp>
      <p:sp>
        <p:nvSpPr>
          <p:cNvPr id="6" name="Text 4"/>
          <p:cNvSpPr/>
          <p:nvPr/>
        </p:nvSpPr>
        <p:spPr>
          <a:xfrm>
            <a:off x="1097280" y="269748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セキュリティ</a:t>
            </a:r>
            <a:endParaRPr lang="en-US" sz="1300" dirty="0">
              <a:latin typeface="Meiryo UI"/>
              <a:ea typeface="Meiryo UI"/>
            </a:endParaRPr>
          </a:p>
        </p:txBody>
      </p:sp>
      <p:sp>
        <p:nvSpPr>
          <p:cNvPr id="7" name="Text 5"/>
          <p:cNvSpPr/>
          <p:nvPr/>
        </p:nvSpPr>
        <p:spPr>
          <a:xfrm>
            <a:off x="3611880" y="269748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88項目 監査 / CSP / PDF 3層検証 / CSRF / SSRF</a:t>
            </a:r>
            <a:endParaRPr lang="en-US" sz="1400" dirty="0">
              <a:latin typeface="Meiryo UI"/>
              <a:ea typeface="Meiryo UI"/>
            </a:endParaRPr>
          </a:p>
        </p:txBody>
      </p:sp>
      <p:sp>
        <p:nvSpPr>
          <p:cNvPr id="8" name="Shape 6"/>
          <p:cNvSpPr/>
          <p:nvPr/>
        </p:nvSpPr>
        <p:spPr>
          <a:xfrm>
            <a:off x="1097280" y="3246120"/>
            <a:ext cx="2377440" cy="457200"/>
          </a:xfrm>
          <a:prstGeom prst="rect">
            <a:avLst/>
          </a:prstGeom>
          <a:solidFill>
            <a:srgbClr val="EBC528"/>
          </a:solidFill>
          <a:ln/>
        </p:spPr>
        <p:txBody>
          <a:bodyPr/>
          <a:lstStyle/>
          <a:p>
            <a:endParaRPr lang="ja-JP" altLang="en-US">
              <a:latin typeface="Meiryo UI"/>
              <a:ea typeface="Meiryo UI"/>
            </a:endParaRPr>
          </a:p>
        </p:txBody>
      </p:sp>
      <p:sp>
        <p:nvSpPr>
          <p:cNvPr id="9" name="Text 7"/>
          <p:cNvSpPr/>
          <p:nvPr/>
        </p:nvSpPr>
        <p:spPr>
          <a:xfrm>
            <a:off x="1097280" y="324612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モバイル UX</a:t>
            </a:r>
            <a:endParaRPr lang="en-US" sz="1300" dirty="0">
              <a:latin typeface="Meiryo UI"/>
              <a:ea typeface="Meiryo UI"/>
            </a:endParaRPr>
          </a:p>
        </p:txBody>
      </p:sp>
      <p:sp>
        <p:nvSpPr>
          <p:cNvPr id="10" name="Text 8"/>
          <p:cNvSpPr/>
          <p:nvPr/>
        </p:nvSpPr>
        <p:spPr>
          <a:xfrm>
            <a:off x="3611880" y="324612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ドロワー・背景固定・タップ拡大</a:t>
            </a:r>
            <a:endParaRPr lang="en-US" sz="1400" dirty="0">
              <a:latin typeface="Meiryo UI"/>
              <a:ea typeface="Meiryo UI"/>
            </a:endParaRPr>
          </a:p>
        </p:txBody>
      </p:sp>
      <p:sp>
        <p:nvSpPr>
          <p:cNvPr id="11" name="Shape 9"/>
          <p:cNvSpPr/>
          <p:nvPr/>
        </p:nvSpPr>
        <p:spPr>
          <a:xfrm>
            <a:off x="1097280" y="3794760"/>
            <a:ext cx="2377440" cy="457200"/>
          </a:xfrm>
          <a:prstGeom prst="rect">
            <a:avLst/>
          </a:prstGeom>
          <a:solidFill>
            <a:srgbClr val="EBC528"/>
          </a:solidFill>
          <a:ln/>
        </p:spPr>
        <p:txBody>
          <a:bodyPr/>
          <a:lstStyle/>
          <a:p>
            <a:endParaRPr lang="ja-JP" altLang="en-US">
              <a:latin typeface="Meiryo UI"/>
              <a:ea typeface="Meiryo UI"/>
            </a:endParaRPr>
          </a:p>
        </p:txBody>
      </p:sp>
      <p:sp>
        <p:nvSpPr>
          <p:cNvPr id="12" name="Text 10"/>
          <p:cNvSpPr/>
          <p:nvPr/>
        </p:nvSpPr>
        <p:spPr>
          <a:xfrm>
            <a:off x="1097280" y="379476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ビジュアル</a:t>
            </a:r>
            <a:endParaRPr lang="en-US" sz="1300" dirty="0">
              <a:latin typeface="Meiryo UI"/>
              <a:ea typeface="Meiryo UI"/>
            </a:endParaRPr>
          </a:p>
        </p:txBody>
      </p:sp>
      <p:sp>
        <p:nvSpPr>
          <p:cNvPr id="13" name="Text 11"/>
          <p:cNvSpPr/>
          <p:nvPr/>
        </p:nvSpPr>
        <p:spPr>
          <a:xfrm>
            <a:off x="3611880" y="379476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歯車動画 1 回再生・6 枚マーキー・縦棒見出し</a:t>
            </a:r>
            <a:endParaRPr lang="en-US" sz="1400" dirty="0">
              <a:latin typeface="Meiryo UI"/>
              <a:ea typeface="Meiryo UI"/>
            </a:endParaRPr>
          </a:p>
        </p:txBody>
      </p:sp>
      <p:sp>
        <p:nvSpPr>
          <p:cNvPr id="14" name="Shape 12"/>
          <p:cNvSpPr/>
          <p:nvPr/>
        </p:nvSpPr>
        <p:spPr>
          <a:xfrm>
            <a:off x="1097280" y="4343400"/>
            <a:ext cx="2377440" cy="457200"/>
          </a:xfrm>
          <a:prstGeom prst="rect">
            <a:avLst/>
          </a:prstGeom>
          <a:solidFill>
            <a:srgbClr val="EBC528"/>
          </a:solidFill>
          <a:ln/>
        </p:spPr>
        <p:txBody>
          <a:bodyPr/>
          <a:lstStyle/>
          <a:p>
            <a:endParaRPr lang="ja-JP" altLang="en-US">
              <a:latin typeface="Meiryo UI"/>
              <a:ea typeface="Meiryo UI"/>
            </a:endParaRPr>
          </a:p>
        </p:txBody>
      </p:sp>
      <p:sp>
        <p:nvSpPr>
          <p:cNvPr id="15" name="Text 13"/>
          <p:cNvSpPr/>
          <p:nvPr/>
        </p:nvSpPr>
        <p:spPr>
          <a:xfrm>
            <a:off x="1097280" y="434340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国際化</a:t>
            </a:r>
            <a:endParaRPr lang="en-US" sz="1300" dirty="0">
              <a:latin typeface="Meiryo UI"/>
              <a:ea typeface="Meiryo UI"/>
            </a:endParaRPr>
          </a:p>
        </p:txBody>
      </p:sp>
      <p:sp>
        <p:nvSpPr>
          <p:cNvPr id="16" name="Text 14"/>
          <p:cNvSpPr/>
          <p:nvPr/>
        </p:nvSpPr>
        <p:spPr>
          <a:xfrm>
            <a:off x="3611880" y="434340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JP/EN ボタン 1 つで全切替</a:t>
            </a:r>
            <a:endParaRPr lang="en-US" sz="1400" dirty="0">
              <a:latin typeface="Meiryo UI"/>
              <a:ea typeface="Meiryo UI"/>
            </a:endParaRPr>
          </a:p>
        </p:txBody>
      </p:sp>
      <p:sp>
        <p:nvSpPr>
          <p:cNvPr id="17" name="Shape 15"/>
          <p:cNvSpPr/>
          <p:nvPr/>
        </p:nvSpPr>
        <p:spPr>
          <a:xfrm>
            <a:off x="1097280" y="4892040"/>
            <a:ext cx="2377440" cy="457200"/>
          </a:xfrm>
          <a:prstGeom prst="rect">
            <a:avLst/>
          </a:prstGeom>
          <a:solidFill>
            <a:srgbClr val="EBC528"/>
          </a:solidFill>
          <a:ln/>
        </p:spPr>
        <p:txBody>
          <a:bodyPr/>
          <a:lstStyle/>
          <a:p>
            <a:endParaRPr lang="ja-JP" altLang="en-US">
              <a:latin typeface="Meiryo UI"/>
              <a:ea typeface="Meiryo UI"/>
            </a:endParaRPr>
          </a:p>
        </p:txBody>
      </p:sp>
      <p:sp>
        <p:nvSpPr>
          <p:cNvPr id="18" name="Text 16"/>
          <p:cNvSpPr/>
          <p:nvPr/>
        </p:nvSpPr>
        <p:spPr>
          <a:xfrm>
            <a:off x="1097280" y="489204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性能・表示保証</a:t>
            </a:r>
            <a:endParaRPr lang="en-US" sz="1300" dirty="0">
              <a:latin typeface="Meiryo UI"/>
              <a:ea typeface="Meiryo UI"/>
            </a:endParaRPr>
          </a:p>
        </p:txBody>
      </p:sp>
      <p:sp>
        <p:nvSpPr>
          <p:cNvPr id="19" name="Text 17"/>
          <p:cNvSpPr/>
          <p:nvPr/>
        </p:nvSpPr>
        <p:spPr>
          <a:xfrm>
            <a:off x="3611880" y="489204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画像 50MB→4MB / Observer 集約 / 消えない設計</a:t>
            </a:r>
            <a:endParaRPr lang="en-US" sz="1400" dirty="0">
              <a:latin typeface="Meiryo UI"/>
              <a:ea typeface="Meiryo UI"/>
            </a:endParaRPr>
          </a:p>
        </p:txBody>
      </p:sp>
      <p:sp>
        <p:nvSpPr>
          <p:cNvPr id="20" name="Text 18"/>
          <p:cNvSpPr/>
          <p:nvPr/>
        </p:nvSpPr>
        <p:spPr>
          <a:xfrm>
            <a:off x="1097280" y="5852160"/>
            <a:ext cx="10058400" cy="457200"/>
          </a:xfrm>
          <a:prstGeom prst="rect">
            <a:avLst/>
          </a:prstGeom>
          <a:noFill/>
          <a:ln/>
        </p:spPr>
        <p:txBody>
          <a:bodyPr wrap="square" lIns="0" tIns="0" rIns="0" bIns="0" rtlCol="0" anchor="ctr"/>
          <a:lstStyle/>
          <a:p>
            <a:pPr marL="0" indent="0">
              <a:buNone/>
            </a:pPr>
            <a:r>
              <a:rPr lang="en-US" sz="1800" dirty="0">
                <a:solidFill>
                  <a:srgbClr val="CBD5E1"/>
                </a:solidFill>
                <a:latin typeface="Meiryo UI" pitchFamily="34" charset="0"/>
                <a:ea typeface="Meiryo UI" pitchFamily="34" charset="-122"/>
                <a:cs typeface="Meiryo UI" pitchFamily="34" charset="-120"/>
              </a:rPr>
              <a:t>ご清聴ありがとうございました。</a:t>
            </a:r>
            <a:endParaRPr lang="en-US" sz="1800" dirty="0">
              <a:latin typeface="Meiryo UI"/>
              <a:ea typeface="Meiryo UI"/>
            </a:endParaRPr>
          </a:p>
        </p:txBody>
      </p:sp>
      <p:sp>
        <p:nvSpPr>
          <p:cNvPr id="21" name="Text 19"/>
          <p:cNvSpPr/>
          <p:nvPr/>
        </p:nvSpPr>
        <p:spPr>
          <a:xfrm>
            <a:off x="1097280" y="6355080"/>
            <a:ext cx="10058400" cy="320040"/>
          </a:xfrm>
          <a:prstGeom prst="rect">
            <a:avLst/>
          </a:prstGeom>
          <a:noFill/>
          <a:ln/>
        </p:spPr>
        <p:txBody>
          <a:bodyPr wrap="square" lIns="0" tIns="0" rIns="0" bIns="0" rtlCol="0" anchor="ctr"/>
          <a:lstStyle/>
          <a:p>
            <a:pPr marL="0" indent="0">
              <a:buNone/>
            </a:pPr>
            <a:r>
              <a:rPr lang="en-US" sz="1100" dirty="0">
                <a:solidFill>
                  <a:srgbClr val="94A3B8"/>
                </a:solidFill>
                <a:latin typeface="Meiryo UI" pitchFamily="34" charset="0"/>
                <a:ea typeface="Meiryo UI" pitchFamily="34" charset="-122"/>
                <a:cs typeface="Meiryo UI" pitchFamily="34" charset="-120"/>
              </a:rPr>
              <a:t>株式会社ライトパス｜サイト構築ピッチ v6</a:t>
            </a:r>
            <a:endParaRPr lang="en-US" sz="1100" dirty="0">
              <a:latin typeface="Meiryo UI"/>
              <a:ea typeface="Meiryo U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1737</TotalTime>
  <Words>1565</Words>
  <Application>Microsoft Office PowerPoint</Application>
  <PresentationFormat>ワイド画面</PresentationFormat>
  <Paragraphs>316</Paragraphs>
  <Slides>10</Slides>
  <Notes>10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10</vt:i4>
      </vt:variant>
    </vt:vector>
  </HeadingPairs>
  <TitlesOfParts>
    <vt:vector size="13" baseType="lpstr">
      <vt:lpstr>Meiryo UI</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サイト構築ピッチ v6</dc:title>
  <dc:subject>PptxGenJS Presentation</dc:subject>
  <dc:creator>株式会社ライトパス</dc:creator>
  <cp:lastModifiedBy>公一 奥村</cp:lastModifiedBy>
  <cp:revision>7</cp:revision>
  <dcterms:created xsi:type="dcterms:W3CDTF">2026-07-02T06:01:33Z</dcterms:created>
  <dcterms:modified xsi:type="dcterms:W3CDTF">2026-07-03T11:38:10Z</dcterms:modified>
</cp:coreProperties>
</file>